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World-level paper. Country-level mechanism analysis is the follow-on paper, referenced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sympathetically, then set up the decomposition that structures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methodology slide. If asked for detail: two-segment regression with an autocorrelation-robust test, BIC for model choice, and a placebo sweep over candidate years.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countries, 90.6% of 2015 global CO2, 14 interpolated cells. The missing 9% is almost entirely post-Soviet and Eastern-bloc states, which did not exist as separate series in 1980 - the robustness slide adds them back. The 2022-23 cliff is a reporting lag, not a real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 after: GDP +3.1 → +2.1; fuel mix +0.0 → -0.4; efficiency -0.6 → -0.9; CO2 +2.5 → +0.8. Roughly 56% of the slowdown is the economy, 44% is decarbonization.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Against the 1980-2015 trend: overall intensity -1.5 pp/yr (t = 4.5); efficiency -1.0 (t = 5.5); fuel mix -0.6 (t = 2.7). All three significant on this panel - but see the robustness slide, where efficiency does not survive adding the post-Soviet states.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Rio: 7th percentile for overall intensity, 34th for efficiency, 69th for fuel mix. Paris: 97th, 86th, 90th. Same panel and same window as every other result now - no window-switching to make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in 1990 adds 27 countries and 9% of global CO2, almost all post-Soviet and Eastern-bloc. Their post-1990 efficiency catch-up raises the pre-Paris baseline and absorbs the efficiency gain. We report both panels rather than choose.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one sentence survives, it is the bolded one. Neither vindication nor indictment.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Forward-looking. Hands off to the national paper without previewing its results.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window sensitivity — a referee will look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reframed headline.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554480"/>
            <a:ext cx="10515600" cy="3291840"/>
          </a:xfrm>
          <a:prstGeom prst="rect">
            <a:avLst/>
          </a:prstGeom>
          <a:noFill/>
        </p:spPr>
        <p:txBody>
          <a:bodyPr wrap="square">
            <a:spAutoFit/>
          </a:bodyPr>
          <a:lstStyle/>
          <a:p>
            <a:pPr algn="l">
              <a:spcAft>
                <a:spcPts val="800"/>
              </a:spcAft>
            </a:pPr>
            <a:r>
              <a:rPr sz="4600" b="1" i="0">
                <a:solidFill>
                  <a:srgbClr val="212121"/>
                </a:solidFill>
                <a:latin typeface="Calibri"/>
              </a:rPr>
              <a:t>Paris at Ten</a:t>
            </a:r>
          </a:p>
          <a:p>
            <a:pPr algn="l">
              <a:spcAft>
                <a:spcPts val="1400"/>
              </a:spcAft>
            </a:pPr>
            <a:r>
              <a:rPr sz="1900" b="0" i="0">
                <a:solidFill>
                  <a:srgbClr val="555555"/>
                </a:solidFill>
                <a:latin typeface="Calibri"/>
              </a:rPr>
              <a:t>Emissions growth has fallen by two thirds since the Paris Agreement. We ask what the global record can, and cannot, credit the treaty for.</a:t>
            </a:r>
          </a:p>
          <a:p>
            <a:pPr>
              <a:spcAft>
                <a:spcPts val="600"/>
              </a:spcAft>
            </a:pPr>
            <a:r>
              <a:rPr sz="1400" b="1" i="0">
                <a:solidFill>
                  <a:srgbClr val="1B7837"/>
                </a:solidFill>
                <a:latin typeface="Calibri"/>
              </a:rPr>
              <a:t>155 countries · 90.6% of global CO2 · 1980-2021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QUESTION</a:t>
            </a:r>
          </a:p>
          <a:p>
            <a:pPr algn="l">
              <a:spcAft>
                <a:spcPts val="0"/>
              </a:spcAft>
            </a:pPr>
            <a:r>
              <a:rPr sz="2400" b="1" i="0">
                <a:solidFill>
                  <a:srgbClr val="212121"/>
                </a:solidFill>
                <a:latin typeface="Calibri"/>
              </a:rPr>
              <a:t>Something changed after Paris. Was it Paris?</a:t>
            </a:r>
          </a:p>
        </p:txBody>
      </p:sp>
      <p:sp>
        <p:nvSpPr>
          <p:cNvPr id="3" name="TextBox 2"/>
          <p:cNvSpPr txBox="1"/>
          <p:nvPr/>
        </p:nvSpPr>
        <p:spPr>
          <a:xfrm>
            <a:off x="502920" y="1463040"/>
            <a:ext cx="6766560" cy="4937760"/>
          </a:xfrm>
          <a:prstGeom prst="rect">
            <a:avLst/>
          </a:prstGeom>
          <a:noFill/>
        </p:spPr>
        <p:txBody>
          <a:bodyPr wrap="square">
            <a:spAutoFit/>
          </a:bodyPr>
          <a:lstStyle/>
          <a:p>
            <a:pPr algn="l">
              <a:spcAft>
                <a:spcPts val="1400"/>
              </a:spcAft>
            </a:pPr>
            <a:r>
              <a:rPr sz="1500" b="0" i="0">
                <a:solidFill>
                  <a:srgbClr val="555555"/>
                </a:solidFill>
                <a:latin typeface="Calibri"/>
              </a:rPr>
              <a:t>The good news is real. Across the countries we can track consistently since 1980, CO2 growth fell from +2.5% a year over the Rio-to-Paris quarter century to +0.8% a year since. Worst-case scenarios have moved off the table.</a:t>
            </a:r>
          </a:p>
          <a:p>
            <a:pPr algn="l">
              <a:spcAft>
                <a:spcPts val="1400"/>
              </a:spcAft>
            </a:pPr>
            <a:r>
              <a:rPr sz="1500" b="0" i="0">
                <a:solidFill>
                  <a:srgbClr val="555555"/>
                </a:solidFill>
                <a:latin typeface="Calibri"/>
              </a:rPr>
              <a:t>But the obvious reading — that the agreement did it — is exactly the reading the data is worst at supporting. Carbon intensity has been falling for fifty years. Renewable costs collapsed on almost the same schedule as the treaty. And a slowdown in emissions can come simply from a slowdown in the economy.</a:t>
            </a:r>
          </a:p>
          <a:p>
            <a:pPr algn="l">
              <a:spcAft>
                <a:spcPts val="0"/>
              </a:spcAft>
            </a:pPr>
            <a:r>
              <a:rPr sz="1500" b="1" i="0">
                <a:solidFill>
                  <a:srgbClr val="212121"/>
                </a:solidFill>
                <a:latin typeface="Calibri"/>
              </a:rPr>
              <a:t>So we ask a narrow question: what actually changed after 2015, and is 2015 a special year in the record — or just a year that happens to sit near one?</a:t>
            </a:r>
          </a:p>
        </p:txBody>
      </p:sp>
      <p:sp>
        <p:nvSpPr>
          <p:cNvPr id="4" name="TextBox 3"/>
          <p:cNvSpPr txBox="1"/>
          <p:nvPr/>
        </p:nvSpPr>
        <p:spPr>
          <a:xfrm>
            <a:off x="7635240" y="1463040"/>
            <a:ext cx="4069080" cy="4937760"/>
          </a:xfrm>
          <a:prstGeom prst="rect">
            <a:avLst/>
          </a:prstGeom>
          <a:noFill/>
        </p:spPr>
        <p:txBody>
          <a:bodyPr wrap="square">
            <a:spAutoFit/>
          </a:bodyPr>
          <a:lstStyle/>
          <a:p>
            <a:pPr algn="l">
              <a:spcAft>
                <a:spcPts val="600"/>
              </a:spcAft>
            </a:pPr>
            <a:r>
              <a:rPr sz="1500" b="1" i="0">
                <a:solidFill>
                  <a:srgbClr val="1B7837"/>
                </a:solidFill>
                <a:latin typeface="Calibri"/>
              </a:rPr>
              <a:t>Why we look at intensity</a:t>
            </a:r>
          </a:p>
          <a:p>
            <a:pPr algn="l">
              <a:spcAft>
                <a:spcPts val="600"/>
              </a:spcAft>
            </a:pPr>
            <a:r>
              <a:rPr sz="1350" b="0" i="0">
                <a:solidFill>
                  <a:srgbClr val="555555"/>
                </a:solidFill>
                <a:latin typeface="Calibri"/>
              </a:rPr>
              <a:t>Emissions have three moving parts:</a:t>
            </a:r>
          </a:p>
          <a:p>
            <a:pPr algn="l">
              <a:spcAft>
                <a:spcPts val="800"/>
              </a:spcAft>
            </a:pPr>
            <a:r>
              <a:rPr sz="1350" b="1" i="0">
                <a:solidFill>
                  <a:srgbClr val="212121"/>
                </a:solidFill>
                <a:latin typeface="Calibri"/>
              </a:rPr>
              <a:t>economic growth  +  fuel mix  +  energy efficiency</a:t>
            </a:r>
          </a:p>
          <a:p>
            <a:pPr algn="l">
              <a:spcAft>
                <a:spcPts val="0"/>
              </a:spcAft>
            </a:pPr>
            <a:r>
              <a:rPr sz="1350" b="0" i="0">
                <a:solidFill>
                  <a:srgbClr val="555555"/>
                </a:solidFill>
                <a:latin typeface="Calibri"/>
              </a:rPr>
              <a:t>Growth pushes emissions up. The fuel mix and efficiency are the only two things that push them down — so a policy effect has to show up in one of them before it can show up in emissions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WHAT WE DID</a:t>
            </a:r>
          </a:p>
          <a:p>
            <a:pPr algn="l">
              <a:spcAft>
                <a:spcPts val="0"/>
              </a:spcAft>
            </a:pPr>
            <a:r>
              <a:rPr sz="2400" b="1" i="0">
                <a:solidFill>
                  <a:srgbClr val="212121"/>
                </a:solidFill>
                <a:latin typeface="Calibri"/>
              </a:rPr>
              <a:t>Three steps</a:t>
            </a:r>
          </a:p>
        </p:txBody>
      </p:sp>
      <p:sp>
        <p:nvSpPr>
          <p:cNvPr id="3" name="TextBox 2"/>
          <p:cNvSpPr txBox="1"/>
          <p:nvPr/>
        </p:nvSpPr>
        <p:spPr>
          <a:xfrm>
            <a:off x="502920" y="1554480"/>
            <a:ext cx="3611880" cy="4480560"/>
          </a:xfrm>
          <a:prstGeom prst="rect">
            <a:avLst/>
          </a:prstGeom>
          <a:noFill/>
        </p:spPr>
        <p:txBody>
          <a:bodyPr wrap="square">
            <a:spAutoFit/>
          </a:bodyPr>
          <a:lstStyle/>
          <a:p>
            <a:pPr algn="l">
              <a:spcAft>
                <a:spcPts val="600"/>
              </a:spcAft>
            </a:pPr>
            <a:r>
              <a:rPr sz="3400" b="1" i="0">
                <a:solidFill>
                  <a:srgbClr val="3A66A5"/>
                </a:solidFill>
                <a:latin typeface="Calibri"/>
              </a:rPr>
              <a:t>1</a:t>
            </a:r>
          </a:p>
          <a:p>
            <a:pPr algn="l">
              <a:spcAft>
                <a:spcPts val="800"/>
              </a:spcAft>
            </a:pPr>
            <a:r>
              <a:rPr sz="1550" b="1" i="0">
                <a:solidFill>
                  <a:srgbClr val="212121"/>
                </a:solidFill>
                <a:latin typeface="Calibri"/>
              </a:rPr>
              <a:t>Build a consistent world series</a:t>
            </a:r>
          </a:p>
          <a:p>
            <a:pPr algn="l">
              <a:spcAft>
                <a:spcPts val="0"/>
              </a:spcAft>
            </a:pPr>
            <a:r>
              <a:rPr sz="1300" b="0" i="0">
                <a:solidFill>
                  <a:srgbClr val="555555"/>
                </a:solidFill>
                <a:latin typeface="Calibri"/>
              </a:rPr>
              <a:t>Take every country still reporting in 2021 with almost complete data back to 1980, fill the handful of gaps, and add them up. That is 155 countries and 91% of global CO2. We stop at 2021 because most countries have not reported 2022-23 yet.</a:t>
            </a:r>
          </a:p>
        </p:txBody>
      </p:sp>
      <p:sp>
        <p:nvSpPr>
          <p:cNvPr id="4" name="TextBox 3"/>
          <p:cNvSpPr txBox="1"/>
          <p:nvPr/>
        </p:nvSpPr>
        <p:spPr>
          <a:xfrm>
            <a:off x="4251959" y="1554480"/>
            <a:ext cx="3611880" cy="4480560"/>
          </a:xfrm>
          <a:prstGeom prst="rect">
            <a:avLst/>
          </a:prstGeom>
          <a:noFill/>
        </p:spPr>
        <p:txBody>
          <a:bodyPr wrap="square">
            <a:spAutoFit/>
          </a:bodyPr>
          <a:lstStyle/>
          <a:p>
            <a:pPr algn="l">
              <a:spcAft>
                <a:spcPts val="600"/>
              </a:spcAft>
            </a:pPr>
            <a:r>
              <a:rPr sz="3400" b="1" i="0">
                <a:solidFill>
                  <a:srgbClr val="3A66A5"/>
                </a:solidFill>
                <a:latin typeface="Calibri"/>
              </a:rPr>
              <a:t>2</a:t>
            </a:r>
          </a:p>
          <a:p>
            <a:pPr algn="l">
              <a:spcAft>
                <a:spcPts val="800"/>
              </a:spcAft>
            </a:pPr>
            <a:r>
              <a:rPr sz="1550" b="1" i="0">
                <a:solidFill>
                  <a:srgbClr val="212121"/>
                </a:solidFill>
                <a:latin typeface="Calibri"/>
              </a:rPr>
              <a:t>Let the data pick the turning point</a:t>
            </a:r>
          </a:p>
          <a:p>
            <a:pPr algn="l">
              <a:spcAft>
                <a:spcPts val="0"/>
              </a:spcAft>
            </a:pPr>
            <a:r>
              <a:rPr sz="1300" b="0" i="0">
                <a:solidFill>
                  <a:srgbClr val="555555"/>
                </a:solidFill>
                <a:latin typeface="Calibri"/>
              </a:rPr>
              <a:t>Plot each series so a straight line means a steady percentage change per year, then fit two lines meeting at a kink. Try every possible kink year and keep the one that fits best. Nothing about a treaty enters this step.</a:t>
            </a:r>
          </a:p>
        </p:txBody>
      </p:sp>
      <p:sp>
        <p:nvSpPr>
          <p:cNvPr id="5" name="TextBox 4"/>
          <p:cNvSpPr txBox="1"/>
          <p:nvPr/>
        </p:nvSpPr>
        <p:spPr>
          <a:xfrm>
            <a:off x="8001000" y="1554480"/>
            <a:ext cx="3611880" cy="4480560"/>
          </a:xfrm>
          <a:prstGeom prst="rect">
            <a:avLst/>
          </a:prstGeom>
          <a:noFill/>
        </p:spPr>
        <p:txBody>
          <a:bodyPr wrap="square">
            <a:spAutoFit/>
          </a:bodyPr>
          <a:lstStyle/>
          <a:p>
            <a:pPr algn="l">
              <a:spcAft>
                <a:spcPts val="600"/>
              </a:spcAft>
            </a:pPr>
            <a:r>
              <a:rPr sz="3400" b="1" i="0">
                <a:solidFill>
                  <a:srgbClr val="3A66A5"/>
                </a:solidFill>
                <a:latin typeface="Calibri"/>
              </a:rPr>
              <a:t>3</a:t>
            </a:r>
          </a:p>
          <a:p>
            <a:pPr algn="l">
              <a:spcAft>
                <a:spcPts val="800"/>
              </a:spcAft>
            </a:pPr>
            <a:r>
              <a:rPr sz="1550" b="1" i="0">
                <a:solidFill>
                  <a:srgbClr val="212121"/>
                </a:solidFill>
                <a:latin typeface="Calibri"/>
              </a:rPr>
              <a:t>Ask whether the treaty year is special</a:t>
            </a:r>
          </a:p>
          <a:p>
            <a:pPr algn="l">
              <a:spcAft>
                <a:spcPts val="0"/>
              </a:spcAft>
            </a:pPr>
            <a:r>
              <a:rPr sz="1300" b="0" i="0">
                <a:solidFill>
                  <a:srgbClr val="555555"/>
                </a:solidFill>
                <a:latin typeface="Calibri"/>
              </a:rPr>
              <a:t>A gently curving trend makes almost any year look significant, so significance alone proves nothing. We rank 2015 against every other candidate year. A treaty earns credit only if its year beats the years around it.</a:t>
            </a:r>
          </a:p>
        </p:txBody>
      </p:sp>
      <p:sp>
        <p:nvSpPr>
          <p:cNvPr id="6" name="TextBox 5"/>
          <p:cNvSpPr txBox="1"/>
          <p:nvPr/>
        </p:nvSpPr>
        <p:spPr>
          <a:xfrm>
            <a:off x="502920" y="5989320"/>
            <a:ext cx="11201400" cy="548640"/>
          </a:xfrm>
          <a:prstGeom prst="rect">
            <a:avLst/>
          </a:prstGeom>
          <a:noFill/>
        </p:spPr>
        <p:txBody>
          <a:bodyPr wrap="square">
            <a:spAutoFit/>
          </a:bodyPr>
          <a:lstStyle/>
          <a:p>
            <a:pPr>
              <a:spcAft>
                <a:spcPts val="600"/>
              </a:spcAft>
            </a:pPr>
            <a:r>
              <a:rPr sz="1350" b="1" i="0">
                <a:solidFill>
                  <a:srgbClr val="212121"/>
                </a:solidFill>
                <a:latin typeface="Calibri"/>
              </a:rPr>
              <a:t>A turning point tells us when a trend changed — never, by itself, why. </a:t>
            </a:r>
            <a:r>
              <a:rPr sz="1350" b="0" i="0">
                <a:solidFill>
                  <a:srgbClr val="555555"/>
                </a:solidFill>
                <a:latin typeface="Calibri"/>
              </a:rPr>
              <a:t>That is the whole method.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WHAT WE DID · THE DATA</a:t>
            </a:r>
          </a:p>
          <a:p>
            <a:pPr algn="l">
              <a:spcAft>
                <a:spcPts val="0"/>
              </a:spcAft>
            </a:pPr>
            <a:r>
              <a:rPr sz="2400" b="1" i="0">
                <a:solidFill>
                  <a:srgbClr val="212121"/>
                </a:solidFill>
                <a:latin typeface="Calibri"/>
              </a:rPr>
              <a:t>We use every country that reports, for as long as it reports</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3A66A5"/>
                </a:solidFill>
                <a:latin typeface="Calibri"/>
              </a:rPr>
              <a:t>Takeaway:  </a:t>
            </a:r>
            <a:r>
              <a:rPr sz="1400" b="1" i="0">
                <a:solidFill>
                  <a:srgbClr val="212121"/>
                </a:solidFill>
                <a:latin typeface="Calibri"/>
              </a:rPr>
              <a:t>Near-complete coverage — and the last two years are dropped because most countries have not reported them.</a:t>
            </a:r>
          </a:p>
        </p:txBody>
      </p:sp>
      <p:pic>
        <p:nvPicPr>
          <p:cNvPr id="4" name="Picture 3" descr="w2_fig5_panel_construction.png"/>
          <p:cNvPicPr>
            <a:picLocks noChangeAspect="1"/>
          </p:cNvPicPr>
          <p:nvPr/>
        </p:nvPicPr>
        <p:blipFill>
          <a:blip r:embed="rId2"/>
          <a:stretch>
            <a:fillRect/>
          </a:stretch>
        </p:blipFill>
        <p:spPr>
          <a:xfrm>
            <a:off x="832734" y="1700784"/>
            <a:ext cx="10523482" cy="488289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WE FIND · 1 OF 4</a:t>
            </a:r>
          </a:p>
          <a:p>
            <a:pPr algn="l">
              <a:spcAft>
                <a:spcPts val="0"/>
              </a:spcAft>
            </a:pPr>
            <a:r>
              <a:rPr sz="2400" b="1" i="0">
                <a:solidFill>
                  <a:srgbClr val="212121"/>
                </a:solidFill>
                <a:latin typeface="Calibri"/>
              </a:rPr>
              <a:t>Emissions growth fell — and over half of that is slower growth</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1B7837"/>
                </a:solidFill>
                <a:latin typeface="Calibri"/>
              </a:rPr>
              <a:t>Takeaway:  </a:t>
            </a:r>
            <a:r>
              <a:rPr sz="1400" b="1" i="0">
                <a:solidFill>
                  <a:srgbClr val="212121"/>
                </a:solidFill>
                <a:latin typeface="Calibri"/>
              </a:rPr>
              <a:t>Of the 1.8-point slowdown, 1.0 point is a slower economy. The remaining 0.7 is real decarbonization, split between cleaner fuel and efficiency.</a:t>
            </a:r>
          </a:p>
        </p:txBody>
      </p:sp>
      <p:pic>
        <p:nvPicPr>
          <p:cNvPr id="4" name="Picture 3" descr="w2_fig1_what_changed.png"/>
          <p:cNvPicPr>
            <a:picLocks noChangeAspect="1"/>
          </p:cNvPicPr>
          <p:nvPr/>
        </p:nvPicPr>
        <p:blipFill>
          <a:blip r:embed="rId2"/>
          <a:stretch>
            <a:fillRect/>
          </a:stretch>
        </p:blipFill>
        <p:spPr>
          <a:xfrm>
            <a:off x="1326022" y="1700784"/>
            <a:ext cx="9536906" cy="48828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WE FIND · 2 OF 4</a:t>
            </a:r>
          </a:p>
          <a:p>
            <a:pPr algn="l">
              <a:spcAft>
                <a:spcPts val="0"/>
              </a:spcAft>
            </a:pPr>
            <a:r>
              <a:rPr sz="2400" b="1" i="0">
                <a:solidFill>
                  <a:srgbClr val="212121"/>
                </a:solidFill>
                <a:latin typeface="Calibri"/>
              </a:rPr>
              <a:t>Since Paris the world has beaten its own long-run trend</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1B7837"/>
                </a:solidFill>
                <a:latin typeface="Calibri"/>
              </a:rPr>
              <a:t>Takeaway:  </a:t>
            </a:r>
            <a:r>
              <a:rPr sz="1400" b="1" i="0">
                <a:solidFill>
                  <a:srgbClr val="212121"/>
                </a:solidFill>
                <a:latin typeface="Calibri"/>
              </a:rPr>
              <a:t>All three measures are improving faster than 35 years of trend predicted — and the effect is largest on overall carbon intensity.</a:t>
            </a:r>
          </a:p>
        </p:txBody>
      </p:sp>
      <p:pic>
        <p:nvPicPr>
          <p:cNvPr id="4" name="Picture 3" descr="w2_fig2_anniversary_test.png"/>
          <p:cNvPicPr>
            <a:picLocks noChangeAspect="1"/>
          </p:cNvPicPr>
          <p:nvPr/>
        </p:nvPicPr>
        <p:blipFill>
          <a:blip r:embed="rId2"/>
          <a:stretch>
            <a:fillRect/>
          </a:stretch>
        </p:blipFill>
        <p:spPr>
          <a:xfrm>
            <a:off x="804672" y="1700784"/>
            <a:ext cx="10579607" cy="488289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WHAT WE FIND · 3 OF 4</a:t>
            </a:r>
          </a:p>
          <a:p>
            <a:pPr algn="l">
              <a:spcAft>
                <a:spcPts val="0"/>
              </a:spcAft>
            </a:pPr>
            <a:r>
              <a:rPr sz="2400" b="1" i="0">
                <a:solidFill>
                  <a:srgbClr val="212121"/>
                </a:solidFill>
                <a:latin typeface="Calibri"/>
              </a:rPr>
              <a:t>Rio fails the placebo test. Paris passes it.</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C77F00"/>
                </a:solidFill>
                <a:latin typeface="Calibri"/>
              </a:rPr>
              <a:t>Takeaway:  </a:t>
            </a:r>
            <a:r>
              <a:rPr sz="1400" b="1" i="0">
                <a:solidFill>
                  <a:srgbClr val="212121"/>
                </a:solidFill>
                <a:latin typeface="Calibri"/>
              </a:rPr>
              <a:t>Paris is the first treaty date the global record does not reject — it ranks in the top tenth of all candidate years.</a:t>
            </a:r>
          </a:p>
        </p:txBody>
      </p:sp>
      <p:sp>
        <p:nvSpPr>
          <p:cNvPr id="4" name="TextBox 3"/>
          <p:cNvSpPr txBox="1"/>
          <p:nvPr/>
        </p:nvSpPr>
        <p:spPr>
          <a:xfrm>
            <a:off x="502920" y="1700784"/>
            <a:ext cx="11201400" cy="384048"/>
          </a:xfrm>
          <a:prstGeom prst="rect">
            <a:avLst/>
          </a:prstGeom>
          <a:noFill/>
        </p:spPr>
        <p:txBody>
          <a:bodyPr wrap="square">
            <a:spAutoFit/>
          </a:bodyPr>
          <a:lstStyle/>
          <a:p>
            <a:pPr>
              <a:spcAft>
                <a:spcPts val="0"/>
              </a:spcAft>
            </a:pPr>
            <a:r>
              <a:rPr sz="1200" b="1" i="0">
                <a:solidFill>
                  <a:srgbClr val="B33A3A"/>
                </a:solidFill>
                <a:latin typeface="Calibri"/>
              </a:rPr>
              <a:t>But:  </a:t>
            </a:r>
            <a:r>
              <a:rPr sz="1200" b="0" i="0">
                <a:solidFill>
                  <a:srgbClr val="555555"/>
                </a:solidFill>
                <a:latin typeface="Calibri"/>
              </a:rPr>
              <a:t>the best-fitting year is 2014, not 2015, and the fuel mix prefers an older shift in the late 1980s — so the evidence is a plateau, not a spike, and it coincides with the clean-energy cost collapse.</a:t>
            </a:r>
          </a:p>
        </p:txBody>
      </p:sp>
      <p:pic>
        <p:nvPicPr>
          <p:cNvPr id="5" name="Picture 4" descr="w2_fig3_rio_vs_paris.png"/>
          <p:cNvPicPr>
            <a:picLocks noChangeAspect="1"/>
          </p:cNvPicPr>
          <p:nvPr/>
        </p:nvPicPr>
        <p:blipFill>
          <a:blip r:embed="rId2"/>
          <a:stretch>
            <a:fillRect/>
          </a:stretch>
        </p:blipFill>
        <p:spPr>
          <a:xfrm>
            <a:off x="1260348" y="2121408"/>
            <a:ext cx="9668256" cy="446227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WHAT WE FIND · 4 OF 4</a:t>
            </a:r>
          </a:p>
          <a:p>
            <a:pPr algn="l">
              <a:spcAft>
                <a:spcPts val="0"/>
              </a:spcAft>
            </a:pPr>
            <a:r>
              <a:rPr sz="2400" b="1" i="0">
                <a:solidFill>
                  <a:srgbClr val="212121"/>
                </a:solidFill>
                <a:latin typeface="Calibri"/>
              </a:rPr>
              <a:t>One result depends on which countries you include</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C77F00"/>
                </a:solidFill>
                <a:latin typeface="Calibri"/>
              </a:rPr>
              <a:t>Takeaway:  </a:t>
            </a:r>
            <a:r>
              <a:rPr sz="1400" b="1" i="0">
                <a:solidFill>
                  <a:srgbClr val="212121"/>
                </a:solidFill>
                <a:latin typeface="Calibri"/>
              </a:rPr>
              <a:t>The overall acceleration holds on every panel. Whether efficiency contributed depends on whether post-Soviet economies are in the sample.</a:t>
            </a:r>
          </a:p>
        </p:txBody>
      </p:sp>
      <p:sp>
        <p:nvSpPr>
          <p:cNvPr id="4" name="TextBox 3"/>
          <p:cNvSpPr txBox="1"/>
          <p:nvPr/>
        </p:nvSpPr>
        <p:spPr>
          <a:xfrm>
            <a:off x="502920" y="1700784"/>
            <a:ext cx="11201400" cy="384048"/>
          </a:xfrm>
          <a:prstGeom prst="rect">
            <a:avLst/>
          </a:prstGeom>
          <a:noFill/>
        </p:spPr>
        <p:txBody>
          <a:bodyPr wrap="square">
            <a:spAutoFit/>
          </a:bodyPr>
          <a:lstStyle/>
          <a:p>
            <a:pPr>
              <a:spcAft>
                <a:spcPts val="0"/>
              </a:spcAft>
            </a:pPr>
            <a:r>
              <a:rPr sz="1200" b="1" i="0">
                <a:solidFill>
                  <a:srgbClr val="B33A3A"/>
                </a:solidFill>
                <a:latin typeface="Calibri"/>
              </a:rPr>
              <a:t>But:  </a:t>
            </a:r>
            <a:r>
              <a:rPr sz="1200" b="0" i="0">
                <a:solidFill>
                  <a:srgbClr val="555555"/>
                </a:solidFill>
                <a:latin typeface="Calibri"/>
              </a:rPr>
              <a:t>those economies cannot be carried back to 1980 — they did not exist as separate series — so this is a genuine trade-off between history and coverage, not a modelling choice.</a:t>
            </a:r>
          </a:p>
        </p:txBody>
      </p:sp>
      <p:pic>
        <p:nvPicPr>
          <p:cNvPr id="5" name="Picture 4" descr="w2_fig6_panel_robustness.png"/>
          <p:cNvPicPr>
            <a:picLocks noChangeAspect="1"/>
          </p:cNvPicPr>
          <p:nvPr/>
        </p:nvPicPr>
        <p:blipFill>
          <a:blip r:embed="rId2"/>
          <a:stretch>
            <a:fillRect/>
          </a:stretch>
        </p:blipFill>
        <p:spPr>
          <a:xfrm>
            <a:off x="1285993" y="2121408"/>
            <a:ext cx="9616965" cy="446227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IT ADDS UP TO</a:t>
            </a:r>
          </a:p>
          <a:p>
            <a:pPr algn="l">
              <a:spcAft>
                <a:spcPts val="0"/>
              </a:spcAft>
            </a:pPr>
            <a:r>
              <a:rPr sz="2400" b="1" i="0">
                <a:solidFill>
                  <a:srgbClr val="212121"/>
                </a:solidFill>
                <a:latin typeface="Calibri"/>
              </a:rPr>
              <a:t>Consistent with Paris. Not attributable to it.</a:t>
            </a:r>
          </a:p>
        </p:txBody>
      </p:sp>
      <p:sp>
        <p:nvSpPr>
          <p:cNvPr id="3" name="TextBox 2"/>
          <p:cNvSpPr txBox="1"/>
          <p:nvPr/>
        </p:nvSpPr>
        <p:spPr>
          <a:xfrm>
            <a:off x="502920" y="1463040"/>
            <a:ext cx="5532120" cy="4937760"/>
          </a:xfrm>
          <a:prstGeom prst="rect">
            <a:avLst/>
          </a:prstGeom>
          <a:noFill/>
        </p:spPr>
        <p:txBody>
          <a:bodyPr wrap="square">
            <a:spAutoFit/>
          </a:bodyPr>
          <a:lstStyle/>
          <a:p>
            <a:pPr algn="l">
              <a:spcAft>
                <a:spcPts val="600"/>
              </a:spcAft>
            </a:pPr>
            <a:r>
              <a:rPr sz="1500" b="1" i="0">
                <a:solidFill>
                  <a:srgbClr val="1B7837"/>
                </a:solidFill>
                <a:latin typeface="Calibri"/>
              </a:rPr>
              <a:t>What we can say</a:t>
            </a:r>
          </a:p>
          <a:p>
            <a:pPr algn="l">
              <a:spcAft>
                <a:spcPts val="0"/>
              </a:spcAft>
            </a:pPr>
            <a:r>
              <a:rPr sz="1350" b="0" i="0">
                <a:solidFill>
                  <a:srgbClr val="555555"/>
                </a:solidFill>
                <a:latin typeface="Calibri"/>
              </a:rPr>
              <a:t>Emissions growth has fallen by two thirds, and roughly 0.7 points of that is genuine decarbonization rather than a slower economy. Carbon intensity is improving significantly faster than 35 years of trend predicted, on every panel we build. And 2015 ranks near the top of all candidate turning-point years — a test the 1992 Rio agreement fails badly.</a:t>
            </a:r>
          </a:p>
        </p:txBody>
      </p:sp>
      <p:sp>
        <p:nvSpPr>
          <p:cNvPr id="4" name="TextBox 3"/>
          <p:cNvSpPr txBox="1"/>
          <p:nvPr/>
        </p:nvSpPr>
        <p:spPr>
          <a:xfrm>
            <a:off x="6400800" y="1463040"/>
            <a:ext cx="5303520" cy="4937760"/>
          </a:xfrm>
          <a:prstGeom prst="rect">
            <a:avLst/>
          </a:prstGeom>
          <a:noFill/>
        </p:spPr>
        <p:txBody>
          <a:bodyPr wrap="square">
            <a:spAutoFit/>
          </a:bodyPr>
          <a:lstStyle/>
          <a:p>
            <a:pPr algn="l">
              <a:spcAft>
                <a:spcPts val="600"/>
              </a:spcAft>
            </a:pPr>
            <a:r>
              <a:rPr sz="1500" b="1" i="0">
                <a:solidFill>
                  <a:srgbClr val="B33A3A"/>
                </a:solidFill>
                <a:latin typeface="Calibri"/>
              </a:rPr>
              <a:t>What we cannot</a:t>
            </a:r>
          </a:p>
          <a:p>
            <a:pPr algn="l">
              <a:spcAft>
                <a:spcPts val="1000"/>
              </a:spcAft>
            </a:pPr>
            <a:r>
              <a:rPr sz="1350" b="0" i="0">
                <a:solidFill>
                  <a:srgbClr val="555555"/>
                </a:solidFill>
                <a:latin typeface="Calibri"/>
              </a:rPr>
              <a:t>Over half the emissions slowdown is slower economic growth, not decarbonization. The best-fitting turning point is 2014 rather than 2015, and the evidence is a plateau the test cannot resolve. That plateau coincides exactly with the collapse in clean-energy costs. And the efficiency contribution disappears once post-Soviet economies are added back.</a:t>
            </a:r>
          </a:p>
          <a:p>
            <a:pPr algn="l">
              <a:spcAft>
                <a:spcPts val="0"/>
              </a:spcAft>
            </a:pPr>
            <a:r>
              <a:rPr sz="1350" b="1" i="0">
                <a:solidFill>
                  <a:srgbClr val="212121"/>
                </a:solidFill>
                <a:latin typeface="Calibri"/>
              </a:rPr>
              <a:t>The change is real, and it arrives exactly when cheap clean energy did. The record cannot tell those two apart.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WOULD SETTLE IT</a:t>
            </a:r>
          </a:p>
          <a:p>
            <a:pPr algn="l">
              <a:spcAft>
                <a:spcPts val="0"/>
              </a:spcAft>
            </a:pPr>
            <a:r>
              <a:rPr sz="2400" b="1" i="0">
                <a:solidFill>
                  <a:srgbClr val="212121"/>
                </a:solidFill>
                <a:latin typeface="Calibri"/>
              </a:rPr>
              <a:t>Three things — and two of them are not at the world level</a:t>
            </a:r>
          </a:p>
        </p:txBody>
      </p:sp>
      <p:sp>
        <p:nvSpPr>
          <p:cNvPr id="3" name="TextBox 2"/>
          <p:cNvSpPr txBox="1"/>
          <p:nvPr/>
        </p:nvSpPr>
        <p:spPr>
          <a:xfrm>
            <a:off x="502920" y="1508760"/>
            <a:ext cx="10881360" cy="4572000"/>
          </a:xfrm>
          <a:prstGeom prst="rect">
            <a:avLst/>
          </a:prstGeom>
          <a:noFill/>
        </p:spPr>
        <p:txBody>
          <a:bodyPr wrap="square">
            <a:spAutoFit/>
          </a:bodyPr>
          <a:lstStyle/>
          <a:p>
            <a:pPr algn="l">
              <a:spcAft>
                <a:spcPts val="1200"/>
              </a:spcAft>
            </a:pPr>
            <a:r>
              <a:rPr sz="1500" b="0" i="0">
                <a:solidFill>
                  <a:srgbClr val="555555"/>
                </a:solidFill>
                <a:latin typeface="Calibri"/>
              </a:rPr>
              <a:t>Persistence. The size of the change is already detectable — the test could pick up an effect half this large within a couple more years of data. What it cannot yet tell us is whether the new fuel-mix trend holds. If it survives to Paris+20, a one-off technology shock becomes a much weaker explanation.</a:t>
            </a:r>
          </a:p>
          <a:p>
            <a:pPr algn="l">
              <a:spcAft>
                <a:spcPts val="1200"/>
              </a:spcAft>
            </a:pPr>
            <a:r>
              <a:rPr sz="1500" b="0" i="0">
                <a:solidFill>
                  <a:srgbClr val="555555"/>
                </a:solidFill>
                <a:latin typeface="Calibri"/>
              </a:rPr>
              <a:t>The demand side. Efficiency is the more informative half precisely because it has not moved: cheap solar explains a cleaner fuel mix, but it does not explain how much energy the world uses per unit of output. If efficiency accelerates over the next decade, that is much harder to attribute to technology alone.</a:t>
            </a:r>
          </a:p>
          <a:p>
            <a:pPr algn="l">
              <a:spcAft>
                <a:spcPts val="1400"/>
              </a:spcAft>
            </a:pPr>
            <a:r>
              <a:rPr sz="1500" b="0" i="0">
                <a:solidFill>
                  <a:srgbClr val="555555"/>
                </a:solidFill>
                <a:latin typeface="Calibri"/>
              </a:rPr>
              <a:t>Disaggregation. Paris works through national pledges, so its signature should appear country by country — where series are longer, placebo tests are independent, and a documentary record exists to say what accompanied each turn. That is the companion paper.</a:t>
            </a:r>
          </a:p>
          <a:p>
            <a:pPr algn="l">
              <a:spcAft>
                <a:spcPts val="0"/>
              </a:spcAft>
            </a:pPr>
            <a:r>
              <a:rPr sz="1500" b="1" i="0">
                <a:solidFill>
                  <a:srgbClr val="212121"/>
                </a:solidFill>
                <a:latin typeface="Calibri"/>
              </a:rPr>
              <a:t>The question we would put to the field: should treaty assessment be built on intensity turning points and placebo discipline, rather than on emissions levels and anniversaries?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B33A3A"/>
                </a:solidFill>
                <a:latin typeface="Calibri"/>
              </a:rPr>
              <a:t>LIMITS</a:t>
            </a:r>
          </a:p>
          <a:p>
            <a:pPr algn="l">
              <a:spcAft>
                <a:spcPts val="0"/>
              </a:spcAft>
            </a:pPr>
            <a:r>
              <a:rPr sz="2400" b="1" i="0">
                <a:solidFill>
                  <a:srgbClr val="212121"/>
                </a:solidFill>
                <a:latin typeface="Calibri"/>
              </a:rPr>
              <a:t>What we are not claiming</a:t>
            </a:r>
          </a:p>
        </p:txBody>
      </p:sp>
      <p:sp>
        <p:nvSpPr>
          <p:cNvPr id="3" name="TextBox 2"/>
          <p:cNvSpPr txBox="1"/>
          <p:nvPr/>
        </p:nvSpPr>
        <p:spPr>
          <a:xfrm>
            <a:off x="502920" y="1463040"/>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This is not causal</a:t>
            </a:r>
          </a:p>
          <a:p>
            <a:pPr algn="l">
              <a:spcAft>
                <a:spcPts val="0"/>
              </a:spcAft>
            </a:pPr>
            <a:r>
              <a:rPr sz="1200" b="0" i="0">
                <a:solidFill>
                  <a:srgbClr val="555555"/>
                </a:solidFill>
                <a:latin typeface="Calibri"/>
              </a:rPr>
              <a:t>A turning point identifies when a trend changed, never why. Even a perfect fit at 2015 would be a coincidence of timing. And an agreement that prevented backsliding would leave no turning point at all — so the absence of one is not the absence of an effect.</a:t>
            </a:r>
          </a:p>
        </p:txBody>
      </p:sp>
      <p:sp>
        <p:nvSpPr>
          <p:cNvPr id="4" name="TextBox 3"/>
          <p:cNvSpPr txBox="1"/>
          <p:nvPr/>
        </p:nvSpPr>
        <p:spPr>
          <a:xfrm>
            <a:off x="6400800" y="1463040"/>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Which countries, and how far back</a:t>
            </a:r>
          </a:p>
          <a:p>
            <a:pPr algn="l">
              <a:spcAft>
                <a:spcPts val="0"/>
              </a:spcAft>
            </a:pPr>
            <a:r>
              <a:rPr sz="1200" b="0" i="0">
                <a:solidFill>
                  <a:srgbClr val="555555"/>
                </a:solidFill>
                <a:latin typeface="Calibri"/>
              </a:rPr>
              <a:t>Starting in 1980 buys 35 years of pre-treaty history but drops 27 countries and 9% of global CO2 — nearly all post-Soviet states, which have no separate 1980 series. Starting in 1990 recovers them and removes the efficiency result. Both are reported.</a:t>
            </a:r>
          </a:p>
        </p:txBody>
      </p:sp>
      <p:sp>
        <p:nvSpPr>
          <p:cNvPr id="5" name="TextBox 4"/>
          <p:cNvSpPr txBox="1"/>
          <p:nvPr/>
        </p:nvSpPr>
        <p:spPr>
          <a:xfrm>
            <a:off x="502920" y="3977639"/>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Coverage and vintage</a:t>
            </a:r>
          </a:p>
          <a:p>
            <a:pPr algn="l">
              <a:spcAft>
                <a:spcPts val="0"/>
              </a:spcAft>
            </a:pPr>
            <a:r>
              <a:rPr sz="1200" b="0" i="0">
                <a:solidFill>
                  <a:srgbClr val="555555"/>
                </a:solidFill>
                <a:latin typeface="Calibri"/>
              </a:rPr>
              <a:t>155 countries and 91% of CO2, with only 14 gaps interpolated. The series stops in 2021 because 2022-23 reporting is incomplete — adding those years on partial coverage would overstate the acceleration.</a:t>
            </a:r>
          </a:p>
        </p:txBody>
      </p:sp>
      <p:sp>
        <p:nvSpPr>
          <p:cNvPr id="6" name="TextBox 5"/>
          <p:cNvSpPr txBox="1"/>
          <p:nvPr/>
        </p:nvSpPr>
        <p:spPr>
          <a:xfrm>
            <a:off x="6400800" y="3977639"/>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Production-based accounting</a:t>
            </a:r>
          </a:p>
          <a:p>
            <a:pPr algn="l">
              <a:spcAft>
                <a:spcPts val="0"/>
              </a:spcAft>
            </a:pPr>
            <a:r>
              <a:rPr sz="1200" b="0" i="0">
                <a:solidFill>
                  <a:srgbClr val="555555"/>
                </a:solidFill>
                <a:latin typeface="Calibri"/>
              </a:rPr>
              <a:t>Emissions are counted where they are produced. At the world level that is the right frame — global production equals global consumption — but it matters for the national work that follows.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463040"/>
            <a:ext cx="10515600" cy="1828800"/>
          </a:xfrm>
          <a:prstGeom prst="rect">
            <a:avLst/>
          </a:prstGeom>
          <a:noFill/>
        </p:spPr>
        <p:txBody>
          <a:bodyPr wrap="square">
            <a:spAutoFit/>
          </a:bodyPr>
          <a:lstStyle/>
          <a:p>
            <a:pPr algn="l">
              <a:spcAft>
                <a:spcPts val="200"/>
              </a:spcAft>
            </a:pPr>
            <a:r>
              <a:rPr sz="2800" b="1" i="0">
                <a:solidFill>
                  <a:srgbClr val="212121"/>
                </a:solidFill>
                <a:latin typeface="Calibri"/>
              </a:rPr>
              <a:t>The curve is bending.</a:t>
            </a:r>
          </a:p>
          <a:p>
            <a:pPr algn="l">
              <a:spcAft>
                <a:spcPts val="0"/>
              </a:spcAft>
            </a:pPr>
            <a:r>
              <a:rPr sz="2800" b="1" i="0">
                <a:solidFill>
                  <a:srgbClr val="1B7837"/>
                </a:solidFill>
                <a:latin typeface="Calibri"/>
              </a:rPr>
              <a:t>The record cannot yet tell us who bent it.</a:t>
            </a:r>
          </a:p>
        </p:txBody>
      </p:sp>
      <p:sp>
        <p:nvSpPr>
          <p:cNvPr id="3" name="TextBox 2"/>
          <p:cNvSpPr txBox="1"/>
          <p:nvPr/>
        </p:nvSpPr>
        <p:spPr>
          <a:xfrm>
            <a:off x="822960" y="3383280"/>
            <a:ext cx="10515600" cy="2651760"/>
          </a:xfrm>
          <a:prstGeom prst="rect">
            <a:avLst/>
          </a:prstGeom>
          <a:noFill/>
        </p:spPr>
        <p:txBody>
          <a:bodyPr wrap="square">
            <a:spAutoFit/>
          </a:bodyPr>
          <a:lstStyle/>
          <a:p/>
          <a:p>
            <a:pPr>
              <a:spcAft>
                <a:spcPts val="1000"/>
              </a:spcAft>
            </a:pPr>
            <a:r>
              <a:rPr sz="1500" b="1" i="0">
                <a:solidFill>
                  <a:srgbClr val="1B7837"/>
                </a:solidFill>
                <a:latin typeface="Calibri"/>
              </a:rPr>
              <a:t>—  </a:t>
            </a:r>
            <a:r>
              <a:rPr sz="1500" b="0" i="0">
                <a:solidFill>
                  <a:srgbClr val="555555"/>
                </a:solidFill>
                <a:latin typeface="Calibri"/>
              </a:rPr>
              <a:t>Emissions growth fell by two thirds after Paris — but over half of that is a slower economy.</a:t>
            </a:r>
          </a:p>
          <a:p>
            <a:pPr>
              <a:spcAft>
                <a:spcPts val="1000"/>
              </a:spcAft>
            </a:pPr>
            <a:r>
              <a:rPr sz="1500" b="1" i="0">
                <a:solidFill>
                  <a:srgbClr val="1B7837"/>
                </a:solidFill>
                <a:latin typeface="Calibri"/>
              </a:rPr>
              <a:t>—  </a:t>
            </a:r>
            <a:r>
              <a:rPr sz="1500" b="0" i="0">
                <a:solidFill>
                  <a:srgbClr val="555555"/>
                </a:solidFill>
                <a:latin typeface="Calibri"/>
              </a:rPr>
              <a:t>Carbon intensity is beating 35 years of trend, significantly, on every panel we build.</a:t>
            </a:r>
          </a:p>
          <a:p>
            <a:pPr>
              <a:spcAft>
                <a:spcPts val="1000"/>
              </a:spcAft>
            </a:pPr>
            <a:r>
              <a:rPr sz="1500" b="1" i="0">
                <a:solidFill>
                  <a:srgbClr val="1B7837"/>
                </a:solidFill>
                <a:latin typeface="Calibri"/>
              </a:rPr>
              <a:t>—  </a:t>
            </a:r>
            <a:r>
              <a:rPr sz="1500" b="0" i="0">
                <a:solidFill>
                  <a:srgbClr val="555555"/>
                </a:solidFill>
                <a:latin typeface="Calibri"/>
              </a:rPr>
              <a:t>Rio fails the placebo test; Paris passes it — the first treaty date the record does not reject.</a:t>
            </a:r>
          </a:p>
          <a:p>
            <a:pPr>
              <a:spcAft>
                <a:spcPts val="1000"/>
              </a:spcAft>
            </a:pPr>
            <a:r>
              <a:rPr sz="1500" b="1" i="0">
                <a:solidFill>
                  <a:srgbClr val="1B7837"/>
                </a:solidFill>
                <a:latin typeface="Calibri"/>
              </a:rPr>
              <a:t>—  </a:t>
            </a:r>
            <a:r>
              <a:rPr sz="1500" b="0" i="0">
                <a:solidFill>
                  <a:srgbClr val="555555"/>
                </a:solidFill>
                <a:latin typeface="Calibri"/>
              </a:rPr>
              <a:t>But the best fit is 2014, not 2015, and the turn coincides with the clean-energy cost collapse.</a:t>
            </a:r>
          </a:p>
        </p:txBody>
      </p:sp>
      <p:sp>
        <p:nvSpPr>
          <p:cNvPr id="4" name="TextBox 3"/>
          <p:cNvSpPr txBox="1"/>
          <p:nvPr/>
        </p:nvSpPr>
        <p:spPr>
          <a:xfrm>
            <a:off x="822960" y="6035040"/>
            <a:ext cx="10515600" cy="640080"/>
          </a:xfrm>
          <a:prstGeom prst="rect">
            <a:avLst/>
          </a:prstGeom>
          <a:noFill/>
        </p:spPr>
        <p:txBody>
          <a:bodyPr wrap="square">
            <a:spAutoFit/>
          </a:bodyPr>
          <a:lstStyle/>
          <a:p>
            <a:pPr algn="ctr">
              <a:spcAft>
                <a:spcPts val="600"/>
              </a:spcAft>
            </a:pPr>
            <a:r>
              <a:rPr sz="1300" b="0" i="1">
                <a:solidFill>
                  <a:srgbClr val="8A8A8A"/>
                </a:solidFill>
                <a:latin typeface="Calibri"/>
              </a:rPr>
              <a:t>Turning points say when · the Kaya split says through which door · placebo tests say whether the date is special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