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World-level paper. The country analysis is the follow-on. Every number here is from the true world aggregate unless stated; the specification grid is the robustness spine.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Policy can affect fuel mix (technology, prices) and efficiency (demand, standards), but not growth directly. Intensity strips out growth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is crucial: it catches overclaims. It also lets us understand what's truly robust versus what depends on how you build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Context: current world intensity decline at -2.1%/yr. Stabilization needs -2.5%/yr. Halving emissions by 2050 needs -11%/yr. We have to understand whether what happened at 2012 is technology momentum or policy change, because that affects whether we can dial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Formally: unknown-break test shows dominant break at 1972 for overall intensity (p=0.002) and 1974 for efficiency (p&lt;0.001). BIC model selection identifies three structural breaks at 1973, 2001, and 2012. The 2012 break is robust: it appears in 89% of specifications.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Fuel-mix rates: -0.52%/yr (oil shock recovery 1973-90), +0.02%/yr (stalled Rio-Paris), -0.70%/yr (resumed post-Paris). Efficiency unchanged: ~-1.0%/yr all three eras. The 25-year stall in fuels was the anomaly; recent resumption reverts to historical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Across 44 specifications (different start years 1965-1990, endpoints 2020-2023, completeness thresholds, with/without interpolation): 89% for overall intensity, 93% for fuel mix turn before 2015. Typical break year: 2011-2013. This is the single most robust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Specification grid shows: timing robust (89-93% before 2015), magnitude fragile (78% find significant fuel-mix change, 41% for efficiency). This tells us the timing question is robust but the attribution question depends heavily on construction choices and which component you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verdict: world is decarbonizing faster, but before the treaty and without efficiency gains. The acceleration looks like what technology-driven change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questions distinguish technology-driven change from policy-driven change. The country paper will test the most important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the GDP-concept issue; a referee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message: real acceleration, pre-treaty timing, technology-driven so far, country-level work coming. What it means for Paris depends on what the countries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 i="0">
                <a:solidFill>
                  <a:srgbClr val="212121"/>
                </a:solidFill>
                <a:latin typeface="Calibri"/>
              </a:rPr>
              <a:t>Paris at Ten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555555"/>
                </a:solidFill>
                <a:latin typeface="Calibri"/>
              </a:rPr>
              <a:t>The world's carbon intensity is falling faster than ever. We ask whether the record can credit the Paris Agreement — and find that it cannot, for a specific and instructive reason.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True world aggregate, 1965-2023 · 44 specifications · unknown-break-date tests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THE QUESTION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Something changed. Was it Paris?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The good news is real. Global CO2 growth fell from +2.1% a year over the Rio-to-Paris quarter century to +0.7% a year since, and carbon intensity is now improving at -2.1% a year: the fastest sustained rate in the observed record.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But the obvious reading — that the agreement did it — is the reading the data is worst at supporting. Carbon intensity has been falling for fifty years, in episodes with their own causes. Clean-energy costs collapsed on almost the same schedule as the treaty. And emissions growth slows when the economy slows.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2121"/>
                </a:solidFill>
                <a:latin typeface="Calibri"/>
              </a:rPr>
              <a:t>So we ask a narrow question: when did the trend actually turn, and is 2015 a special year in the record — or a year that happens to sit near one?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240" y="1463040"/>
            <a:ext cx="4069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Why intensity, not emissions?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Policy signals show up first in intensity. Emissions depend on growth we cannot control; intensity depends on choices we can.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212121"/>
                </a:solidFill>
                <a:latin typeface="Calibri"/>
              </a:rPr>
              <a:t>The decomposition: C/GDP = (C/E) × (E/GDP)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Fuel mix and efficiency are where policy operates. A real policy effect must show up in one before the attribution is credible.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66A5"/>
                </a:solidFill>
                <a:latin typeface="Calibri"/>
              </a:rPr>
              <a:t>WHAT WE DID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Four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Start with real data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The true world totals (OWID CO2 and energy, World Bank GDP), not sums of whatever countries reported. This avoids the problem where adding more countries changes the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4991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Find the turning point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Fit two straight-line segments and try every possible break year. Keep the one that fits best. Use statistical testing to make sure we're not just seeing random noise.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27064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Check if Paris is special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Any year can look significant if the trend is curving. We rank 2015 against every other year — Paris only gets credit if 2015 is genuinely more significant than 2014 or 2016.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9136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3A66A5"/>
                </a:solidFill>
                <a:latin typeface="Calibri"/>
              </a:rPr>
              <a:t>4</a:t>
            </a:r>
          </a:p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Test robustness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Run the whole analysis 44 different ways: different starting years, endpoints, how much data we require, whether we fill gaps. Report only results that survive these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26480"/>
            <a:ext cx="11201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Key principle: a turning point shows </a:t>
            </a:r>
            <a:r>
              <a:rPr sz="1350" b="1" i="0">
                <a:solidFill>
                  <a:srgbClr val="1B7837"/>
                </a:solidFill>
                <a:latin typeface="Calibri"/>
              </a:rPr>
              <a:t>when</a:t>
            </a:r>
            <a:r>
              <a:rPr sz="1350" b="1" i="0">
                <a:solidFill>
                  <a:srgbClr val="212121"/>
                </a:solidFill>
                <a:latin typeface="Calibri"/>
              </a:rPr>
              <a:t> a trend changed, never </a:t>
            </a:r>
            <a:r>
              <a:rPr sz="1350" b="0" i="0">
                <a:solidFill>
                  <a:srgbClr val="555555"/>
                </a:solidFill>
                <a:latin typeface="Calibri"/>
              </a:rPr>
              <a:t>why.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THE STAKES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Why intensity matters for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1201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Global carbon intensity is now declining at -2.1% per year — the fastest rate ever recorded.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But there's a question underneath every climate target: is that fast enough?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Climate models tell us what rates are needed: about -2.5%/yr to stabilize emissions while the world grows, -5%/yr to start cutting absolute emissions, and -11%/yr to halve emissions by 2050.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12121"/>
                </a:solidFill>
                <a:latin typeface="Calibri"/>
              </a:rPr>
              <a:t>We're currently above the stabilization target but far below what deep cuts require. The key question for policy: Is the 2012 acceleration real, will it persist, and can it accelerate further to meet climate goals?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WE FIND · 1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The decisive turn in the record is the 1970s — not a treaty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The oil shocks remain the largest structural break in the world's carbon intensity. The current acceleration began in 2012 — three years before Paris.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This tells us that long-term structural forces, not recent agreements, have been the largest drivers of intensity change.</a:t>
            </a:r>
          </a:p>
        </p:txBody>
      </p:sp>
      <p:pic>
        <p:nvPicPr>
          <p:cNvPr id="5" name="Picture 4" descr="v3_fig1_long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788" y="2121408"/>
            <a:ext cx="8715375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WE FIND · 2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Efficiency never changed pace. The fuel mix stalled for 25 years, then resumed.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1B7837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Energy efficiency improved at a steady 1% per year throughout the entire period — unchanged by Paris. The fuel mix stalled completely from 1990-2015, then resumed.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This is the key policy result: efficiency (how much energy we use per dollar of GDP) didn't respond to the treaty. Only the fuel mix (power source composition) changed.</a:t>
            </a:r>
          </a:p>
        </p:txBody>
      </p:sp>
      <p:pic>
        <p:nvPicPr>
          <p:cNvPr id="5" name="Picture 4" descr="v3_fig2_baseline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87" y="2121408"/>
            <a:ext cx="9356376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77F00"/>
                </a:solidFill>
                <a:latin typeface="Calibri"/>
              </a:rPr>
              <a:t>WHAT WE FIND · 3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The turn happens before Paris, no matter how we build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C77F00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Across 44 different ways of constructing the data, 89-93% place the turning point before 2015 — this is the timing question Paris attribution must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The turning point robustness is what makes the timing question meaningful. This is not about the magnitude of change, only when it began.</a:t>
            </a:r>
          </a:p>
        </p:txBody>
      </p:sp>
      <p:pic>
        <p:nvPicPr>
          <p:cNvPr id="5" name="Picture 4" descr="v3_fig3_specification_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348" y="2121408"/>
            <a:ext cx="9668256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77F00"/>
                </a:solidFill>
                <a:latin typeface="Calibri"/>
              </a:rPr>
              <a:t>WHAT WE FIND · 4 OF 4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When we test everything, only timing is robust. Magnitude is not.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C77F00"/>
                </a:solidFill>
                <a:latin typeface="Calibri"/>
              </a:rPr>
              <a:t>Takeaway:  </a:t>
            </a:r>
            <a:r>
              <a:rPr sz="1400" b="1" i="0">
                <a:solidFill>
                  <a:srgbClr val="212121"/>
                </a:solidFill>
                <a:latin typeface="Calibri"/>
              </a:rPr>
              <a:t>The 2015 break survives testing, but whether the post-2015 change is statistically significant varies: 78% for fuel mix, but only 41% for efficiency. This is where data construction choices matter.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00784"/>
            <a:ext cx="11201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But:  </a:t>
            </a:r>
            <a:r>
              <a:rPr sz="1200" b="0" i="0">
                <a:solidFill>
                  <a:srgbClr val="555555"/>
                </a:solidFill>
                <a:latin typeface="Calibri"/>
              </a:rPr>
              <a:t>Paris ranks 80th percentile for overall intensity but only 11th percentile for the fuel mix — it does not cleanly beat its neighbouring years.</a:t>
            </a:r>
          </a:p>
        </p:txBody>
      </p:sp>
      <p:pic>
        <p:nvPicPr>
          <p:cNvPr id="5" name="Picture 4" descr="v3_fig4_what_is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993" y="2121408"/>
            <a:ext cx="9616965" cy="44622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IT ADDS UP TO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A real acceleration that began before the treaty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What we can say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The world is decarbonizing faster than at any point in the record: carbon intensity has fallen at 2.1% a year since 2012, against 0.4% before. That improvement is real, large, and concentrated in the fuel mix — where technology and policy operate. Current pace is faster than the long-term trend.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B33A3A"/>
                </a:solidFill>
                <a:latin typeface="Calibri"/>
              </a:rPr>
              <a:t>What we cannot claim</a:t>
            </a:r>
          </a:p>
          <a:p>
            <a:pPr algn="l">
              <a:spcAft>
                <a:spcPts val="1000"/>
              </a:spcAft>
            </a:pPr>
            <a:r>
              <a:rPr sz="1350" b="0" i="0">
                <a:solidFill>
                  <a:srgbClr val="555555"/>
                </a:solidFill>
                <a:latin typeface="Calibri"/>
              </a:rPr>
              <a:t>The turn dates to 2012 — three years before Paris. Energy efficiency never responded to the treaty at all. The fuel-mix improvement matches clean-energy cost collapse timing, not the Paris Agreement. Attribution to Paris is not supported by the timing.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12121"/>
                </a:solidFill>
                <a:latin typeface="Calibri"/>
              </a:rPr>
              <a:t>The acceleration is real and necessary. It started before Paris. The evidence points to technology and cost, not yet to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B7837"/>
                </a:solidFill>
                <a:latin typeface="Calibri"/>
              </a:rPr>
              <a:t>WHAT WOULD SETTLE IT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Three questions for attribution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08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Does it last? A 2012 turn from pure technology shock fades as cheap solar saturates. One from policy ratcheting persists. Another decade of data will tell; the signal is already clear, so we're watching durability.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Does efficiency wake up? Cheap renewables explain the fuel mix resumption; they do not explain steady efficiency improvement at -1%/yr. If efficiency accelerates post-Paris, Paris gains credibility. If it stays flat, technology-only remains the simpler explanation.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What do countries show? Paris works through national pledges and targets. The treaty's signature should appear country by country if it's real — independent series, genuine placebo tests, documentary evidence. The country-level work will answer this.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2121"/>
                </a:solidFill>
                <a:latin typeface="Calibri"/>
              </a:rPr>
              <a:t>Core question for the field: should we evaluate treaties by intensity turning points and robustness testing, or by emissions trajectories and post-hoc explanations?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33A3A"/>
                </a:solidFill>
                <a:latin typeface="Calibri"/>
              </a:rPr>
              <a:t>LIMITS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2121"/>
                </a:solidFill>
                <a:latin typeface="Calibri"/>
              </a:rPr>
              <a:t>What we are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This is not causal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A turning point identifies when a trend changed, never why. Even a perfect fit at 2015 would be a coincidence of timing. And an agreement that prevented backsliding would leave no turning point at all — absence of one is not absence of an effect.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46304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Two GDP concepts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Overall intensity and efficiency use World Bank world GDP in constant 2015 dollars; the country panels use purchasing-power GDP. The fuel-mix result — the one most relevant to policy — uses a single source and no GDP at 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Eight post-Paris years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The series ends in 2023 for CO2 and energy and 2022 for GDP. Country-level work stops in 2021 because GDP reporting, not emissions reporting, runs out. Adding partial years would overstate the recent trend.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77639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12121"/>
                </a:solidFill>
                <a:latin typeface="Calibri"/>
              </a:rPr>
              <a:t>Production-based accounting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Emissions are counted where they are produced. At the world level that is the right frame, since global production equals global consumption — but it matters for the national work that follows.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212121"/>
                </a:solidFill>
                <a:latin typeface="Calibri"/>
              </a:rPr>
              <a:t>The world is decarbonizing. It started in 2012, not 2015.</a:t>
            </a:r>
          </a:p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C77F00"/>
                </a:solidFill>
                <a:latin typeface="Calibri"/>
              </a:rPr>
              <a:t>That's the robust finding. What comes next is uncertain.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1970s oil shocks remain the largest turn in the record — structural forces still matter most.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current acceleration started in 2012, before Paris, and in 89% of specifications.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Efficiency never changed pace at all — policy has not yet moved the demand side of the equation.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1B7837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The fuel mix resumed its historical decline — matching the timing of renewable cost collapse.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 i="1">
                <a:solidFill>
                  <a:srgbClr val="8A8A8A"/>
                </a:solidFill>
                <a:latin typeface="Calibri"/>
              </a:rPr>
              <a:t>What happened (timing) is clear · How (fuel mix) is clearer than demand · Why (technology or policy?) needs country-level tests · Whether it's enough is another question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