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World-level paper. The country analysis is the follow-on. Every number here is from the true world aggregate unless stated; the specification grid is the robustness spine.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Sympathetic frame, then the decomposition that structures 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is the addition that matters: it caught an earlier overclaim of ours, which is exactly what it is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Unknown-break test: dominant break 1972 for carbon intensity (p = 0.002) and 1974 for efficiency (p &lt; 0.001); the fuel mix has no statistically significant single break at all (p = 0.14). BIC selects three breaks: 1973, 2001, 2012. Note this reproduces the frozen 1973 result on an independently built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Fuel mix: -0.52%/yr after the oil shocks, +0.02 from Rio to Paris, -0.70 since. Efficiency: -0.95, -1.02, -1.08. The 1990-2015 fuel-mix stall is the anomaly, not the recent improvement.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89% of specifications for overall intensity, 93% for the fuel mix, 64% for efficiency. This is the single most robust finding in the paper and it does not depend on any construction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corrects an earlier draft that reported Paris at the 97th percentile — that figure came from one constructed panel and does not survive the grid. Neither treaty year robustly outperforms its neighbours.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honest verdict. Neither vindication nor indictment — a dating result that happens to be inconvenient for attribution.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Forward-looking, and hands off to the national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the GDP-concept issue; a referee will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dating result, which is the robust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55448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600" b="1" i="0">
                <a:solidFill>
                  <a:srgbClr val="212121"/>
                </a:solidFill>
                <a:latin typeface="Calibri"/>
              </a:rPr>
              <a:t>Paris at Ten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555555"/>
                </a:solidFill>
                <a:latin typeface="Calibri"/>
              </a:rPr>
              <a:t>The world's carbon intensity is falling faster than ever. We ask whether the record can credit the Paris Agreement — and find that it cannot, for a specific and instructive reason.</a:t>
            </a:r>
          </a:p>
          <a:p>
            <a:pPr>
              <a:spcAft>
                <a:spcPts val="600"/>
              </a:spcAft>
            </a:pPr>
            <a:r>
              <a:rPr sz="1400" b="1" i="0">
                <a:solidFill>
                  <a:srgbClr val="1B7837"/>
                </a:solidFill>
                <a:latin typeface="Calibri"/>
              </a:rPr>
              <a:t>True world aggregate, 1965-2023 · 44 specifications · unknown-break-date tests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B7837"/>
                </a:solidFill>
                <a:latin typeface="Calibri"/>
              </a:rPr>
              <a:t>THE QUESTION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12121"/>
                </a:solidFill>
                <a:latin typeface="Calibri"/>
              </a:rPr>
              <a:t>Something changed. Was it Paris?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6766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The good news is real. Global CO2 growth fell from +2.1% a year over the Rio-to-Paris quarter century to +0.7% a year since, and carbon intensity is now improving at -2.1% a year: the fastest sustained rate in the observed record.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But the obvious reading — that the agreement did it — is the reading the data is worst at supporting. Carbon intensity has been falling for fifty years, in episodes with their own causes. Clean-energy costs collapsed on almost the same schedule as the treaty. And emissions growth slows when the economy slows.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12121"/>
                </a:solidFill>
                <a:latin typeface="Calibri"/>
              </a:rPr>
              <a:t>So we ask a narrow question: when did the trend actually turn, and is 2015 a special year in the record — or a year that happens to sit near one?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35240" y="1463040"/>
            <a:ext cx="4069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7837"/>
                </a:solidFill>
                <a:latin typeface="Calibri"/>
              </a:rPr>
              <a:t>Why we look at intensity</a:t>
            </a:r>
          </a:p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555555"/>
                </a:solidFill>
                <a:latin typeface="Calibri"/>
              </a:rPr>
              <a:t>Emissions have three moving parts:</a:t>
            </a:r>
          </a:p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212121"/>
                </a:solidFill>
                <a:latin typeface="Calibri"/>
              </a:rPr>
              <a:t>economic growth  +  fuel mix  +  energy efficiency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55555"/>
                </a:solidFill>
                <a:latin typeface="Calibri"/>
              </a:rPr>
              <a:t>Growth pushes emissions up; the fuel mix and efficiency are the only two things that push them down. A policy effect has to show up in one of them before it can show up in emissions at all.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66A5"/>
                </a:solidFill>
                <a:latin typeface="Calibri"/>
              </a:rPr>
              <a:t>WHAT WE DID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12121"/>
                </a:solidFill>
                <a:latin typeface="Calibri"/>
              </a:rPr>
              <a:t>Four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554480"/>
            <a:ext cx="274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3A66A5"/>
                </a:solidFill>
                <a:latin typeface="Calibri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212121"/>
                </a:solidFill>
                <a:latin typeface="Calibri"/>
              </a:rPr>
              <a:t>Use a true world series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Not a sum over whichever countries reported. The published world totals for CO2 and energy, 1965-2023, with World Bank world GDP. No composition drift, no interpolation, eight post-Paris years.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64991" y="1554480"/>
            <a:ext cx="274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3A66A5"/>
                </a:solidFill>
                <a:latin typeface="Calibri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212121"/>
                </a:solidFill>
                <a:latin typeface="Calibri"/>
              </a:rPr>
              <a:t>Let the data pick the turn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Fit two straight lines meeting at a kink, try every possible kink year, keep the best. Then a formal unknown-break-date test with bootstrapped critical values, so searching over years does not manufacture significance.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27064" y="1554480"/>
            <a:ext cx="274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3A66A5"/>
                </a:solidFill>
                <a:latin typeface="Calibri"/>
              </a:rPr>
              <a:t>3</a:t>
            </a:r>
          </a:p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212121"/>
                </a:solidFill>
                <a:latin typeface="Calibri"/>
              </a:rPr>
              <a:t>Ask if the treaty year is special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A curving trend makes almost any year look significant. We rank 2015 against every other candidate year — a treaty earns credit only if its year beats its neighbours.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9136" y="1554480"/>
            <a:ext cx="274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3A66A5"/>
                </a:solidFill>
                <a:latin typeface="Calibri"/>
              </a:rPr>
              <a:t>4</a:t>
            </a:r>
          </a:p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212121"/>
                </a:solidFill>
                <a:latin typeface="Calibri"/>
              </a:rPr>
              <a:t>Re-run everything 44 ways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World aggregate or country panel, four start years, three endpoints, four completeness thresholds, with and without interpolation. We report only what survives.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26480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1" i="0">
                <a:solidFill>
                  <a:srgbClr val="212121"/>
                </a:solidFill>
                <a:latin typeface="Calibri"/>
              </a:rPr>
              <a:t>A turning point tells us when a trend changed — never, by itself, why. </a:t>
            </a:r>
            <a:r>
              <a:rPr sz="1350" b="0" i="0">
                <a:solidFill>
                  <a:srgbClr val="555555"/>
                </a:solidFill>
                <a:latin typeface="Calibri"/>
              </a:rPr>
              <a:t>That is the whole method.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B7837"/>
                </a:solidFill>
                <a:latin typeface="Calibri"/>
              </a:rPr>
              <a:t>WHAT WE FIND · 1 OF 4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12121"/>
                </a:solidFill>
                <a:latin typeface="Calibri"/>
              </a:rPr>
              <a:t>The decisive turn in the record is the 1970s — not a treaty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 i="0">
                <a:solidFill>
                  <a:srgbClr val="1B7837"/>
                </a:solidFill>
                <a:latin typeface="Calibri"/>
              </a:rPr>
              <a:t>Takeaway:  </a:t>
            </a:r>
            <a:r>
              <a:rPr sz="1400" b="1" i="0">
                <a:solidFill>
                  <a:srgbClr val="212121"/>
                </a:solidFill>
                <a:latin typeface="Calibri"/>
              </a:rPr>
              <a:t>The oil shocks remain the largest structural break in the world's carbon intensity, and the current fast episode began in 2012.</a:t>
            </a:r>
          </a:p>
        </p:txBody>
      </p:sp>
      <p:pic>
        <p:nvPicPr>
          <p:cNvPr id="4" name="Picture 3" descr="v3_fig1_long_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022" y="1700784"/>
            <a:ext cx="9536906" cy="48828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B7837"/>
                </a:solidFill>
                <a:latin typeface="Calibri"/>
              </a:rPr>
              <a:t>WHAT WE FIND · 2 OF 4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12121"/>
                </a:solidFill>
                <a:latin typeface="Calibri"/>
              </a:rPr>
              <a:t>Efficiency never changed pace. The fuel mix stalled, then resumed.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 i="0">
                <a:solidFill>
                  <a:srgbClr val="1B7837"/>
                </a:solidFill>
                <a:latin typeface="Calibri"/>
              </a:rPr>
              <a:t>Takeaway:  </a:t>
            </a:r>
            <a:r>
              <a:rPr sz="1400" b="1" i="0">
                <a:solidFill>
                  <a:srgbClr val="212121"/>
                </a:solidFill>
                <a:latin typeface="Calibri"/>
              </a:rPr>
              <a:t>Energy efficiency has improved at about 1% a year for fifty years. The whole story is the fuel mix, which stalled completely from Rio to Paris.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00784"/>
            <a:ext cx="11201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B33A3A"/>
                </a:solidFill>
                <a:latin typeface="Calibri"/>
              </a:rPr>
              <a:t>But:  </a:t>
            </a:r>
            <a:r>
              <a:rPr sz="1200" b="0" i="0">
                <a:solidFill>
                  <a:srgbClr val="555555"/>
                </a:solidFill>
                <a:latin typeface="Calibri"/>
              </a:rPr>
              <a:t>this is why the size of the 'Paris effect' depends on the baseline: against the 2000s stall it looks dramatic, against the post-1973 record it is a resumption.</a:t>
            </a:r>
          </a:p>
        </p:txBody>
      </p:sp>
      <p:pic>
        <p:nvPicPr>
          <p:cNvPr id="5" name="Picture 4" descr="v3_fig2_baseline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287" y="2121408"/>
            <a:ext cx="9356376" cy="44622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C77F00"/>
                </a:solidFill>
                <a:latin typeface="Calibri"/>
              </a:rPr>
              <a:t>WHAT WE FIND · 3 OF 4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12121"/>
                </a:solidFill>
                <a:latin typeface="Calibri"/>
              </a:rPr>
              <a:t>However we build the series, the turn comes before Paris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 i="0">
                <a:solidFill>
                  <a:srgbClr val="C77F00"/>
                </a:solidFill>
                <a:latin typeface="Calibri"/>
              </a:rPr>
              <a:t>Takeaway:  </a:t>
            </a:r>
            <a:r>
              <a:rPr sz="1400" b="1" i="0">
                <a:solidFill>
                  <a:srgbClr val="212121"/>
                </a:solidFill>
                <a:latin typeface="Calibri"/>
              </a:rPr>
              <a:t>In roughly nine specifications out of ten, the best-fitting turning point lands before 2015 — usually 2011 to 2013.</a:t>
            </a:r>
          </a:p>
        </p:txBody>
      </p:sp>
      <p:pic>
        <p:nvPicPr>
          <p:cNvPr id="4" name="Picture 3" descr="v3_fig3_specification_in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00784"/>
            <a:ext cx="10579607" cy="48828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C77F00"/>
                </a:solidFill>
                <a:latin typeface="Calibri"/>
              </a:rPr>
              <a:t>WHAT WE FIND · 4 OF 4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12121"/>
                </a:solidFill>
                <a:latin typeface="Calibri"/>
              </a:rPr>
              <a:t>The timing result is robust. The rest is not.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 i="0">
                <a:solidFill>
                  <a:srgbClr val="C77F00"/>
                </a:solidFill>
                <a:latin typeface="Calibri"/>
              </a:rPr>
              <a:t>Takeaway:  </a:t>
            </a:r>
            <a:r>
              <a:rPr sz="1400" b="1" i="0">
                <a:solidFill>
                  <a:srgbClr val="212121"/>
                </a:solidFill>
                <a:latin typeface="Calibri"/>
              </a:rPr>
              <a:t>Whether the post-2015 change is statistically significant depends on the component and on how the series is built — for efficiency, only 41% of specifications agree.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00784"/>
            <a:ext cx="11201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B33A3A"/>
                </a:solidFill>
                <a:latin typeface="Calibri"/>
              </a:rPr>
              <a:t>But:  </a:t>
            </a:r>
            <a:r>
              <a:rPr sz="1200" b="0" i="0">
                <a:solidFill>
                  <a:srgbClr val="555555"/>
                </a:solidFill>
                <a:latin typeface="Calibri"/>
              </a:rPr>
              <a:t>and Paris does not cleanly beat its neighbouring years: on the true world aggregate it ranks 80th percentile for overall intensity but only 11th for the fuel mix.</a:t>
            </a:r>
          </a:p>
        </p:txBody>
      </p:sp>
      <p:pic>
        <p:nvPicPr>
          <p:cNvPr id="5" name="Picture 4" descr="v3_fig4_what_is_rob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993" y="2121408"/>
            <a:ext cx="9616965" cy="44622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B7837"/>
                </a:solidFill>
                <a:latin typeface="Calibri"/>
              </a:rPr>
              <a:t>WHAT IT ADDS UP TO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12121"/>
                </a:solidFill>
                <a:latin typeface="Calibri"/>
              </a:rPr>
              <a:t>A real acceleration that began before the treaty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5532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7837"/>
                </a:solidFill>
                <a:latin typeface="Calibri"/>
              </a:rPr>
              <a:t>What we can say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55555"/>
                </a:solidFill>
                <a:latin typeface="Calibri"/>
              </a:rPr>
              <a:t>The world is decarbonizing faster than at any point in the record: carbon intensity has fallen at 2.1% a year since 2012, against 0.4% in the decade before. That improvement is real, it is large, and it is concentrated in the fuel mix — exactly where clean technology and energy policy operate.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46304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B33A3A"/>
                </a:solidFill>
                <a:latin typeface="Calibri"/>
              </a:rPr>
              <a:t>What we cannot</a:t>
            </a:r>
          </a:p>
          <a:p>
            <a:pPr algn="l">
              <a:spcAft>
                <a:spcPts val="1000"/>
              </a:spcAft>
            </a:pPr>
            <a:r>
              <a:rPr sz="1350" b="0" i="0">
                <a:solidFill>
                  <a:srgbClr val="555555"/>
                </a:solidFill>
                <a:latin typeface="Calibri"/>
              </a:rPr>
              <a:t>The turn is dated to 2012 in almost every specification — three years before the agreement. Energy efficiency did not respond at all. The fuel-mix improvement is a return to its pre-1990 pace rather than something new. And the timing coincides exactly with the collapse in clean-energy costs.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12121"/>
                </a:solidFill>
                <a:latin typeface="Calibri"/>
              </a:rPr>
              <a:t>The acceleration is real. It started before Paris, and it looks like what cheap clean energy would produce.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B7837"/>
                </a:solidFill>
                <a:latin typeface="Calibri"/>
              </a:rPr>
              <a:t>WHAT WOULD SETTLE IT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12121"/>
                </a:solidFill>
                <a:latin typeface="Calibri"/>
              </a:rPr>
              <a:t>Three things — and two are not at the world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5087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Persistence. A 2012 turn driven by a one-off technology shock should decay as the cheap-solar transition matures. One that reflects policy ratcheting should not. Another decade of data distinguishes them; the size of the change is already detectable, so this is about durability rather than power.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The demand side. Efficiency is the informative half precisely because it has not moved. Cheap solar explains a cleaner fuel mix; it does not explain how much energy the world uses per unit of output. If efficiency accelerates, technology alone stops being a sufficient explanation.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Disaggregation. Paris works through national pledges, so its signature should appear country by country — where series are independent, placebo tests are genuinely separate, and a documentary record exists for what accompanied each turn. That is the companion paper.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12121"/>
                </a:solidFill>
                <a:latin typeface="Calibri"/>
              </a:rPr>
              <a:t>The question we would put to the field: should treaty assessment be built on intensity turning points and placebo discipline, rather than on emissions levels and anniversaries?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B33A3A"/>
                </a:solidFill>
                <a:latin typeface="Calibri"/>
              </a:rPr>
              <a:t>LIMITS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12121"/>
                </a:solidFill>
                <a:latin typeface="Calibri"/>
              </a:rPr>
              <a:t>What we are not claiming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121"/>
                </a:solidFill>
                <a:latin typeface="Calibri"/>
              </a:rPr>
              <a:t>This is not causal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A turning point identifies when a trend changed, never why. Even a perfect fit at 2015 would be a coincidence of timing. And an agreement that prevented backsliding would leave no turning point at all — absence of one is not absence of an effect.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46304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121"/>
                </a:solidFill>
                <a:latin typeface="Calibri"/>
              </a:rPr>
              <a:t>Two GDP concepts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Overall intensity and efficiency use World Bank world GDP in constant 2015 dollars; the country panels use purchasing-power GDP. The fuel-mix result — the one most relevant to policy — uses a single source and no GDP at 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77639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121"/>
                </a:solidFill>
                <a:latin typeface="Calibri"/>
              </a:rPr>
              <a:t>Eight post-Paris years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The series ends in 2023 for CO2 and energy and 2022 for GDP. Country-level work stops in 2021 because GDP reporting, not emissions reporting, runs out. Adding partial years would overstate the recent trend.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77639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121"/>
                </a:solidFill>
                <a:latin typeface="Calibri"/>
              </a:rPr>
              <a:t>Production-based accounting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Emissions are counted where they are produced. At the world level that is the right frame, since global production equals global consumption — but it matters for the national work that follows.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212121"/>
                </a:solidFill>
                <a:latin typeface="Calibri"/>
              </a:rPr>
              <a:t>The curve is bending faster than ever.</a:t>
            </a:r>
          </a:p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B7837"/>
                </a:solidFill>
                <a:latin typeface="Calibri"/>
              </a:rPr>
              <a:t>It started bending in 2012.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</a:pPr>
            <a:r>
              <a:rPr sz="1500" b="1" i="0">
                <a:solidFill>
                  <a:srgbClr val="1B7837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555555"/>
                </a:solidFill>
                <a:latin typeface="Calibri"/>
              </a:rPr>
              <a:t>The largest break in the world's carbon-intensity record is still the 1970s oil shocks.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1B7837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555555"/>
                </a:solidFill>
                <a:latin typeface="Calibri"/>
              </a:rPr>
              <a:t>The current fast episode begins in 2012 — in nine specifications out of ten, before Paris.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1B7837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555555"/>
                </a:solidFill>
                <a:latin typeface="Calibri"/>
              </a:rPr>
              <a:t>Energy efficiency has improved at about 1% a year for fifty years and did not respond to the treaty era.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1B7837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555555"/>
                </a:solidFill>
                <a:latin typeface="Calibri"/>
              </a:rPr>
              <a:t>The fuel mix stalled from Rio to Paris and has since resumed — which is what cheap clean energy would produce.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035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0" i="1">
                <a:solidFill>
                  <a:srgbClr val="8A8A8A"/>
                </a:solidFill>
                <a:latin typeface="Calibri"/>
              </a:rPr>
              <a:t>Turning points say when · the Kaya split says through which door · placebo tests say whether the date is special · the specification grid says whether any of it holds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