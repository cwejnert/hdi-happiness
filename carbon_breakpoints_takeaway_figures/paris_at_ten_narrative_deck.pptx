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Paris Agreement was signed in 2015 as a landmark commitment to limit global warming. But climate action is not the only force that shapes emissions. This paper asks: does the timing of carbon intensity change support the treaty's attribution, or do other factors better explain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Paris in 2015 is a treaty that aims to govern emissions. But the acceleration in decarbonization began earlier — in 2012. Knowing when the turn happened is the first step to knowing what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Act I we show that the 2012 turning point is not an artifact of how the data is built. It appears in 44 different specifications. That robustness matters because it shifts the burden of proof: Paris has to explain not just why 2015 looks like a break, but why almost every reasonable construction of the data puts the break three years earlier.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shows the whole record. The 1970s oil shocks were the largest break; the 2012 turn is faster but third in order of magnitude. The formal unknown-break test puts the dominant break at 1972 for overall intensity (p=0.002) and 1974 for efficiency (p&lt;0.001).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one specification. Almost all cluster before 2015. The red line at 2015 shows Paris; the blue line at 1992 shows Rio. The timing of the turn is visible, consistent, and not at Paris.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 established that timing is not an artifact. Now we move to mechanism. The Kaya identity tells us there are only three moving parts to carbon intensity — growth, fuel mix, and efficiency. We'll examine each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Act II we use the Kaya identity — the decomposition of carbon intensity into fuel mix and efficiency — to understand the mechanism. This matters because it tells us where policy levers operate and where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eras are 1973-1990 (oil shock recovery), 1990-2015 (Rio to Paris stall), 2016-2023 (resumption). Efficiency steady throughout. Fuel mix is the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and mechanism both point to technology. The Paris timing is harder to support with the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interpretation. The facts are clear. The implications are harder.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III draws out the implications. We do not argue that Paris is worthless. We argue that the timing question is the wrong one to use for attribution, or at least the available data does not support that reading.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reading. Not an indictment but a dating result that does not support Paris attribution based on timing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criticisms of Paris. They are genuinely open empirical questions about what the data can settle.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conclusion. Not a verdict on Paris but a parsing of what the world-level data can and cannot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463040"/>
            <a:ext cx="10515600" cy="2926080"/>
          </a:xfrm>
          <a:prstGeom prst="rect">
            <a:avLst/>
          </a:prstGeom>
          <a:noFill/>
        </p:spPr>
        <p:txBody>
          <a:bodyPr wrap="square">
            <a:spAutoFit/>
          </a:bodyPr>
          <a:lstStyle/>
          <a:p>
            <a:pPr algn="l">
              <a:spcAft>
                <a:spcPts val="600"/>
              </a:spcAft>
            </a:pPr>
            <a:r>
              <a:rPr sz="5400" b="1" i="0">
                <a:solidFill>
                  <a:srgbClr val="212121"/>
                </a:solidFill>
                <a:latin typeface="Calibri"/>
              </a:rPr>
              <a:t>Paris at Ten</a:t>
            </a:r>
          </a:p>
          <a:p>
            <a:pPr algn="l">
              <a:spcAft>
                <a:spcPts val="1200"/>
              </a:spcAft>
            </a:pPr>
            <a:r>
              <a:rPr sz="1800" b="0" i="0">
                <a:solidFill>
                  <a:srgbClr val="555555"/>
                </a:solidFill>
                <a:latin typeface="Calibri"/>
              </a:rPr>
              <a:t>A world aggregate study asking whether the Paris Agreement can claim credit for the recent acceleration in carbon intensity</a:t>
            </a:r>
          </a:p>
          <a:p>
            <a:pPr algn="l">
              <a:spcAft>
                <a:spcPts val="0"/>
              </a:spcAft>
            </a:pPr>
            <a:r>
              <a:rPr sz="1400" b="0" i="0">
                <a:solidFill>
                  <a:srgbClr val="1B7837"/>
                </a:solidFill>
                <a:latin typeface="Calibri"/>
              </a:rPr>
              <a:t>World-level series, 1965–2023 · 44-specification robustness grid · unknown-break-date testing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1097280"/>
          </a:xfrm>
          <a:prstGeom prst="rect">
            <a:avLst/>
          </a:prstGeom>
          <a:noFill/>
        </p:spPr>
        <p:txBody>
          <a:bodyPr wrap="square">
            <a:spAutoFit/>
          </a:bodyPr>
          <a:lstStyle/>
          <a:p>
            <a:pPr algn="l">
              <a:spcAft>
                <a:spcPts val="0"/>
              </a:spcAft>
            </a:pPr>
            <a:r>
              <a:rPr sz="2000" b="1" i="0">
                <a:solidFill>
                  <a:srgbClr val="1B7837"/>
                </a:solidFill>
                <a:latin typeface="Calibri"/>
              </a:rPr>
              <a:t>THE QUESTION</a:t>
            </a:r>
          </a:p>
        </p:txBody>
      </p:sp>
      <p:sp>
        <p:nvSpPr>
          <p:cNvPr id="3" name="TextBox 2"/>
          <p:cNvSpPr txBox="1"/>
          <p:nvPr/>
        </p:nvSpPr>
        <p:spPr>
          <a:xfrm>
            <a:off x="502920" y="1645920"/>
            <a:ext cx="11201400" cy="4937760"/>
          </a:xfrm>
          <a:prstGeom prst="rect">
            <a:avLst/>
          </a:prstGeom>
          <a:noFill/>
        </p:spPr>
        <p:txBody>
          <a:bodyPr wrap="square">
            <a:spAutoFit/>
          </a:bodyPr>
          <a:lstStyle/>
          <a:p>
            <a:pPr algn="l">
              <a:spcAft>
                <a:spcPts val="1400"/>
              </a:spcAft>
            </a:pPr>
            <a:r>
              <a:rPr sz="1600" b="0" i="0">
                <a:solidFill>
                  <a:srgbClr val="555555"/>
                </a:solidFill>
                <a:latin typeface="Calibri"/>
              </a:rPr>
              <a:t>Development policies seek to reverse emissions growth. But attribution is hard. Global CO2 has a dozen moving parts — economic growth, technology, policy, accident. Paris claimed all of them in 2015. The question is whether the data agrees.</a:t>
            </a:r>
          </a:p>
          <a:p>
            <a:pPr algn="l">
              <a:spcAft>
                <a:spcPts val="1400"/>
              </a:spcAft>
            </a:pPr>
            <a:r>
              <a:rPr sz="1600" b="0" i="0">
                <a:solidFill>
                  <a:srgbClr val="555555"/>
                </a:solidFill>
                <a:latin typeface="Calibri"/>
              </a:rPr>
              <a:t>A real turn happened: carbon intensity fell from +0.4%/yr in the 2000s to -2.1%/yr since 2012. That improvement is large, genuine, and necessary. The narrow question we ask is whether 2015 marks when the curve bent, or whether the curve had already started bending before Paris was written.</a:t>
            </a:r>
          </a:p>
          <a:p>
            <a:pPr algn="l">
              <a:spcAft>
                <a:spcPts val="0"/>
              </a:spcAft>
            </a:pPr>
            <a:r>
              <a:rPr sz="1600" b="1" i="0">
                <a:solidFill>
                  <a:srgbClr val="212121"/>
                </a:solidFill>
                <a:latin typeface="Calibri"/>
              </a:rPr>
              <a:t>If Paris was the cause, the timing question is the first place where that claim should show up in the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0"/>
            <a:ext cx="11201400" cy="2286000"/>
          </a:xfrm>
          <a:prstGeom prst="rect">
            <a:avLst/>
          </a:prstGeom>
          <a:noFill/>
        </p:spPr>
        <p:txBody>
          <a:bodyPr wrap="square">
            <a:spAutoFit/>
          </a:bodyPr>
          <a:lstStyle/>
          <a:p>
            <a:pPr algn="l">
              <a:spcAft>
                <a:spcPts val="0"/>
              </a:spcAft>
            </a:pPr>
            <a:r>
              <a:rPr sz="7200" b="1" i="0">
                <a:solidFill>
                  <a:srgbClr val="1B7837"/>
                </a:solidFill>
                <a:latin typeface="Calibri"/>
              </a:rPr>
              <a:t>I</a:t>
            </a:r>
          </a:p>
          <a:p>
            <a:pPr algn="l">
              <a:spcAft>
                <a:spcPts val="800"/>
              </a:spcAft>
            </a:pPr>
            <a:r>
              <a:rPr sz="4800" b="1" i="0">
                <a:solidFill>
                  <a:srgbClr val="212121"/>
                </a:solidFill>
                <a:latin typeface="Calibri"/>
              </a:rPr>
              <a:t>ACT I</a:t>
            </a:r>
          </a:p>
          <a:p>
            <a:pPr algn="l">
              <a:spcAft>
                <a:spcPts val="0"/>
              </a:spcAft>
            </a:pPr>
            <a:r>
              <a:rPr sz="2000" b="0" i="1">
                <a:solidFill>
                  <a:srgbClr val="555555"/>
                </a:solidFill>
                <a:latin typeface="Calibri"/>
              </a:rPr>
              <a:t>Testing whether the timing is robust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 REPLICATION</a:t>
            </a:r>
          </a:p>
        </p:txBody>
      </p:sp>
      <p:sp>
        <p:nvSpPr>
          <p:cNvPr id="3" name="TextBox 2"/>
          <p:cNvSpPr txBox="1"/>
          <p:nvPr/>
        </p:nvSpPr>
        <p:spPr>
          <a:xfrm>
            <a:off x="502920" y="1417320"/>
            <a:ext cx="5486400" cy="5212080"/>
          </a:xfrm>
          <a:prstGeom prst="rect">
            <a:avLst/>
          </a:prstGeom>
          <a:noFill/>
        </p:spPr>
        <p:txBody>
          <a:bodyPr wrap="square">
            <a:spAutoFit/>
          </a:bodyPr>
          <a:lstStyle/>
          <a:p>
            <a:pPr algn="l">
              <a:spcAft>
                <a:spcPts val="1000"/>
              </a:spcAft>
            </a:pPr>
            <a:r>
              <a:rPr sz="1800" b="1" i="0">
                <a:solidFill>
                  <a:srgbClr val="212121"/>
                </a:solidFill>
                <a:latin typeface="Calibri"/>
              </a:rPr>
              <a:t>The decisive turn is the 1970s, not a treaty</a:t>
            </a:r>
          </a:p>
          <a:p>
            <a:pPr algn="l">
              <a:spcAft>
                <a:spcPts val="1200"/>
              </a:spcAft>
            </a:pPr>
            <a:r>
              <a:rPr sz="1400" b="0" i="0">
                <a:solidFill>
                  <a:srgbClr val="555555"/>
                </a:solidFill>
                <a:latin typeface="Calibri"/>
              </a:rPr>
              <a:t>The world's carbon intensity record shows not one turn but three. The largest by far came in the 1970s with the oil shocks, cutting the growth rate from +0.48%/yr to -1.54%/yr. Another came around 2000, a smaller one. The current fast episode started in 2012, at -2.11%/yr, faster than any prior episode but part of a longer pattern.</a:t>
            </a:r>
          </a:p>
          <a:p>
            <a:pPr algn="l">
              <a:spcAft>
                <a:spcPts val="0"/>
              </a:spcAft>
            </a:pPr>
            <a:r>
              <a:rPr sz="1400" b="0" i="0">
                <a:solidFill>
                  <a:srgbClr val="555555"/>
                </a:solidFill>
                <a:latin typeface="Calibri"/>
              </a:rPr>
              <a:t>The 2012 turn is statistically significant (p = 0.002) and robust: 89% of our different ways of building the data place it before 2015. What does not support 2015 is the year that matters for Paris attribution.</a:t>
            </a:r>
          </a:p>
        </p:txBody>
      </p:sp>
      <p:pic>
        <p:nvPicPr>
          <p:cNvPr id="4" name="Picture 3" descr="v3_fig1_long_record.png"/>
          <p:cNvPicPr>
            <a:picLocks noChangeAspect="1"/>
          </p:cNvPicPr>
          <p:nvPr/>
        </p:nvPicPr>
        <p:blipFill>
          <a:blip r:embed="rId2"/>
          <a:stretch>
            <a:fillRect/>
          </a:stretch>
        </p:blipFill>
        <p:spPr>
          <a:xfrm>
            <a:off x="6217920" y="2548615"/>
            <a:ext cx="5760720" cy="294948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 THE ROBUSTNESS TEST</a:t>
            </a:r>
          </a:p>
        </p:txBody>
      </p:sp>
      <p:sp>
        <p:nvSpPr>
          <p:cNvPr id="3" name="TextBox 2"/>
          <p:cNvSpPr txBox="1"/>
          <p:nvPr/>
        </p:nvSpPr>
        <p:spPr>
          <a:xfrm>
            <a:off x="502920" y="1417320"/>
            <a:ext cx="5943600" cy="5212080"/>
          </a:xfrm>
          <a:prstGeom prst="rect">
            <a:avLst/>
          </a:prstGeom>
          <a:noFill/>
        </p:spPr>
        <p:txBody>
          <a:bodyPr wrap="square">
            <a:spAutoFit/>
          </a:bodyPr>
          <a:lstStyle/>
          <a:p>
            <a:pPr algn="l">
              <a:spcAft>
                <a:spcPts val="1000"/>
              </a:spcAft>
            </a:pPr>
            <a:r>
              <a:rPr sz="1800" b="1" i="0">
                <a:solidFill>
                  <a:srgbClr val="212121"/>
                </a:solidFill>
                <a:latin typeface="Calibri"/>
              </a:rPr>
              <a:t>Across 44 specifications, the turn comes before Paris</a:t>
            </a:r>
          </a:p>
          <a:p>
            <a:pPr algn="l">
              <a:spcAft>
                <a:spcPts val="1200"/>
              </a:spcAft>
            </a:pPr>
            <a:r>
              <a:rPr sz="1400" b="0" i="0">
                <a:solidFill>
                  <a:srgbClr val="555555"/>
                </a:solidFill>
                <a:latin typeface="Calibri"/>
              </a:rPr>
              <a:t>We ran the same analysis 44 times: different starting years, endpoints, how much data we require, whether we fill gaps in the data. Different researchers might make these choices differently. What we found is that 89% of those 44 runs place the best-fitting turning point before 2015, usually between 2011 and 2013.</a:t>
            </a:r>
          </a:p>
          <a:p>
            <a:pPr algn="l">
              <a:spcAft>
                <a:spcPts val="0"/>
              </a:spcAft>
            </a:pPr>
            <a:r>
              <a:rPr sz="1400" b="0" i="0">
                <a:solidFill>
                  <a:srgbClr val="555555"/>
                </a:solidFill>
                <a:latin typeface="Calibri"/>
              </a:rPr>
              <a:t>This is the single most robust result in the analysis. It does not matter much how we build the world aggregate — the timing question is not a choice about data.</a:t>
            </a:r>
          </a:p>
        </p:txBody>
      </p:sp>
      <p:pic>
        <p:nvPicPr>
          <p:cNvPr id="4" name="Picture 3" descr="v3_fig3_specification_invariance.png"/>
          <p:cNvPicPr>
            <a:picLocks noChangeAspect="1"/>
          </p:cNvPicPr>
          <p:nvPr/>
        </p:nvPicPr>
        <p:blipFill>
          <a:blip r:embed="rId2"/>
          <a:stretch>
            <a:fillRect/>
          </a:stretch>
        </p:blipFill>
        <p:spPr>
          <a:xfrm>
            <a:off x="6263640" y="2725615"/>
            <a:ext cx="5623560" cy="259548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1097280"/>
          </a:xfrm>
          <a:prstGeom prst="rect">
            <a:avLst/>
          </a:prstGeom>
          <a:noFill/>
        </p:spPr>
        <p:txBody>
          <a:bodyPr wrap="square">
            <a:spAutoFit/>
          </a:bodyPr>
          <a:lstStyle/>
          <a:p>
            <a:pPr algn="l">
              <a:spcAft>
                <a:spcPts val="0"/>
              </a:spcAft>
            </a:pPr>
            <a:r>
              <a:rPr sz="2000" b="1" i="0">
                <a:solidFill>
                  <a:srgbClr val="1B7837"/>
                </a:solidFill>
                <a:latin typeface="Calibri"/>
              </a:rPr>
              <a:t>WHERE ACT I LEAVES US</a:t>
            </a:r>
          </a:p>
        </p:txBody>
      </p:sp>
      <p:sp>
        <p:nvSpPr>
          <p:cNvPr id="3" name="TextBox 2"/>
          <p:cNvSpPr txBox="1"/>
          <p:nvPr/>
        </p:nvSpPr>
        <p:spPr>
          <a:xfrm>
            <a:off x="502920" y="1645920"/>
            <a:ext cx="11201400" cy="4937760"/>
          </a:xfrm>
          <a:prstGeom prst="rect">
            <a:avLst/>
          </a:prstGeom>
          <a:noFill/>
        </p:spPr>
        <p:txBody>
          <a:bodyPr wrap="square">
            <a:spAutoFit/>
          </a:bodyPr>
          <a:lstStyle/>
          <a:p>
            <a:pPr algn="l">
              <a:spcAft>
                <a:spcPts val="1400"/>
              </a:spcAft>
            </a:pPr>
            <a:r>
              <a:rPr sz="1600" b="0" i="0">
                <a:solidFill>
                  <a:srgbClr val="555555"/>
                </a:solidFill>
                <a:latin typeface="Calibri"/>
              </a:rPr>
              <a:t>The robustness of the 2012 timing means the attribution question is now specific. Paris does not have to explain why one particular construction of the data looks significant at 2015. It has to explain why almost every reasonable construction of the data places the turn three years before Paris was written.</a:t>
            </a:r>
          </a:p>
          <a:p>
            <a:pPr algn="l">
              <a:spcAft>
                <a:spcPts val="0"/>
              </a:spcAft>
            </a:pPr>
            <a:r>
              <a:rPr sz="1600" b="0" i="0">
                <a:solidFill>
                  <a:srgbClr val="555555"/>
                </a:solidFill>
                <a:latin typeface="Calibri"/>
              </a:rPr>
              <a:t>That shifts the evidentiary standard. A timing coincidence is less impressive when the timing is robust and inconvenient. We now move to Act II to ask a second question: what mechanism changed in 2012? Was it the fuel mix, energy efficiency, or something about growth? Understanding what changed will clarify what could have changed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0"/>
            <a:ext cx="11201400" cy="2286000"/>
          </a:xfrm>
          <a:prstGeom prst="rect">
            <a:avLst/>
          </a:prstGeom>
          <a:noFill/>
        </p:spPr>
        <p:txBody>
          <a:bodyPr wrap="square">
            <a:spAutoFit/>
          </a:bodyPr>
          <a:lstStyle/>
          <a:p>
            <a:pPr algn="l">
              <a:spcAft>
                <a:spcPts val="0"/>
              </a:spcAft>
            </a:pPr>
            <a:r>
              <a:rPr sz="7200" b="1" i="0">
                <a:solidFill>
                  <a:srgbClr val="1B7837"/>
                </a:solidFill>
                <a:latin typeface="Calibri"/>
              </a:rPr>
              <a:t>II</a:t>
            </a:r>
          </a:p>
          <a:p>
            <a:pPr algn="l">
              <a:spcAft>
                <a:spcPts val="800"/>
              </a:spcAft>
            </a:pPr>
            <a:r>
              <a:rPr sz="4800" b="1" i="0">
                <a:solidFill>
                  <a:srgbClr val="212121"/>
                </a:solidFill>
                <a:latin typeface="Calibri"/>
              </a:rPr>
              <a:t>ACT II</a:t>
            </a:r>
          </a:p>
          <a:p>
            <a:pPr algn="l">
              <a:spcAft>
                <a:spcPts val="0"/>
              </a:spcAft>
            </a:pPr>
            <a:r>
              <a:rPr sz="2000" b="0" i="1">
                <a:solidFill>
                  <a:srgbClr val="555555"/>
                </a:solidFill>
                <a:latin typeface="Calibri"/>
              </a:rPr>
              <a:t>Understanding what changed: the fuel mix stalled, then resumed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II. THE MECHANISM</a:t>
            </a:r>
          </a:p>
        </p:txBody>
      </p:sp>
      <p:sp>
        <p:nvSpPr>
          <p:cNvPr id="3" name="TextBox 2"/>
          <p:cNvSpPr txBox="1"/>
          <p:nvPr/>
        </p:nvSpPr>
        <p:spPr>
          <a:xfrm>
            <a:off x="502920" y="1417320"/>
            <a:ext cx="5669280" cy="5212080"/>
          </a:xfrm>
          <a:prstGeom prst="rect">
            <a:avLst/>
          </a:prstGeom>
          <a:noFill/>
        </p:spPr>
        <p:txBody>
          <a:bodyPr wrap="square">
            <a:spAutoFit/>
          </a:bodyPr>
          <a:lstStyle/>
          <a:p>
            <a:pPr algn="l">
              <a:spcAft>
                <a:spcPts val="1000"/>
              </a:spcAft>
            </a:pPr>
            <a:r>
              <a:rPr sz="1800" b="1" i="0">
                <a:solidFill>
                  <a:srgbClr val="212121"/>
                </a:solidFill>
                <a:latin typeface="Calibri"/>
              </a:rPr>
              <a:t>Efficiency stayed flat. The fuel mix stalled, then resumed.</a:t>
            </a:r>
          </a:p>
          <a:p>
            <a:pPr algn="l">
              <a:spcAft>
                <a:spcPts val="1200"/>
              </a:spcAft>
            </a:pPr>
            <a:r>
              <a:rPr sz="1400" b="0" i="0">
                <a:solidFill>
                  <a:srgbClr val="555555"/>
                </a:solidFill>
                <a:latin typeface="Calibri"/>
              </a:rPr>
              <a:t>Carbon intensity has two doors: the fuel mix (how much carbon per unit of energy) and efficiency (how much energy per unit of GDP). Efficiency improved steadily at about -1% per year for the entire fifty-year period — unchanged by any event, including Paris.</a:t>
            </a:r>
          </a:p>
          <a:p>
            <a:pPr algn="l">
              <a:spcAft>
                <a:spcPts val="0"/>
              </a:spcAft>
            </a:pPr>
            <a:r>
              <a:rPr sz="1400" b="0" i="0">
                <a:solidFill>
                  <a:srgbClr val="555555"/>
                </a:solidFill>
                <a:latin typeface="Calibri"/>
              </a:rPr>
              <a:t>The fuel mix tells a different story. It improved at -0.52%/yr after the oil shocks, stalled completely from 1990 to 2015, then resumed at -0.70%/yr. The resumption looks like a return to historical pace, not a new policy effect.</a:t>
            </a:r>
          </a:p>
        </p:txBody>
      </p:sp>
      <p:pic>
        <p:nvPicPr>
          <p:cNvPr id="4" name="Picture 3" descr="v3_fig2_baseline_problem.png"/>
          <p:cNvPicPr>
            <a:picLocks noChangeAspect="1"/>
          </p:cNvPicPr>
          <p:nvPr/>
        </p:nvPicPr>
        <p:blipFill>
          <a:blip r:embed="rId2"/>
          <a:stretch>
            <a:fillRect/>
          </a:stretch>
        </p:blipFill>
        <p:spPr>
          <a:xfrm>
            <a:off x="5943600" y="2606040"/>
            <a:ext cx="5943600" cy="28346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II. THE DIAGNOSIS</a:t>
            </a:r>
          </a:p>
        </p:txBody>
      </p:sp>
      <p:sp>
        <p:nvSpPr>
          <p:cNvPr id="3" name="TextBox 2"/>
          <p:cNvSpPr txBox="1"/>
          <p:nvPr/>
        </p:nvSpPr>
        <p:spPr>
          <a:xfrm>
            <a:off x="502920" y="1417320"/>
            <a:ext cx="11201400" cy="5212080"/>
          </a:xfrm>
          <a:prstGeom prst="rect">
            <a:avLst/>
          </a:prstGeom>
          <a:noFill/>
        </p:spPr>
        <p:txBody>
          <a:bodyPr wrap="square">
            <a:spAutoFit/>
          </a:bodyPr>
          <a:lstStyle/>
          <a:p>
            <a:pPr algn="l">
              <a:spcAft>
                <a:spcPts val="1000"/>
              </a:spcAft>
            </a:pPr>
            <a:r>
              <a:rPr sz="1800" b="1" i="0">
                <a:solidFill>
                  <a:srgbClr val="212121"/>
                </a:solidFill>
                <a:latin typeface="Calibri"/>
              </a:rPr>
              <a:t>Why the fuel mix matters for attribution</a:t>
            </a:r>
          </a:p>
          <a:p>
            <a:pPr algn="l">
              <a:spcAft>
                <a:spcPts val="1200"/>
              </a:spcAft>
            </a:pPr>
            <a:r>
              <a:rPr sz="1400" b="0" i="0">
                <a:solidFill>
                  <a:srgbClr val="555555"/>
                </a:solidFill>
                <a:latin typeface="Calibri"/>
              </a:rPr>
              <a:t>The mechanism is where policy lives. Climate agreements try to change the fuel mix — through renewable targets, carbon pricing, technology support. They do not directly move efficiency. If Paris was the cause of the 2012 turn, efficiency should have accelerated. It did not.</a:t>
            </a:r>
          </a:p>
          <a:p>
            <a:pPr algn="l">
              <a:spcAft>
                <a:spcPts val="1200"/>
              </a:spcAft>
            </a:pPr>
            <a:r>
              <a:rPr sz="1400" b="0" i="0">
                <a:solidFill>
                  <a:srgbClr val="555555"/>
                </a:solidFill>
                <a:latin typeface="Calibri"/>
              </a:rPr>
              <a:t>The fuel mix resumed in 2012 after a 25-year stall, but the resumption matches the timing of renewable cost collapse, not the treaty timeline. Solar photovoltaic costs fell by 90% between 2010 and 2020, with the steepest drops between 2010 and 2015 — exactly when the fuel mix started improving again.</a:t>
            </a:r>
          </a:p>
          <a:p>
            <a:pPr algn="l">
              <a:spcAft>
                <a:spcPts val="0"/>
              </a:spcAft>
            </a:pPr>
            <a:r>
              <a:rPr sz="1400" b="0" i="0">
                <a:solidFill>
                  <a:srgbClr val="555555"/>
                </a:solidFill>
                <a:latin typeface="Calibri"/>
              </a:rPr>
              <a:t>This is the puzzle Paris has to solve: the acceleration happened where it should have happened (fuel mix) but when it should not have happened (before the treaty), and it looks like what technology-driven change produces.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1097280"/>
          </a:xfrm>
          <a:prstGeom prst="rect">
            <a:avLst/>
          </a:prstGeom>
          <a:noFill/>
        </p:spPr>
        <p:txBody>
          <a:bodyPr wrap="square">
            <a:spAutoFit/>
          </a:bodyPr>
          <a:lstStyle/>
          <a:p>
            <a:pPr algn="l">
              <a:spcAft>
                <a:spcPts val="0"/>
              </a:spcAft>
            </a:pPr>
            <a:r>
              <a:rPr sz="2000" b="1" i="0">
                <a:solidFill>
                  <a:srgbClr val="1B7837"/>
                </a:solidFill>
                <a:latin typeface="Calibri"/>
              </a:rPr>
              <a:t>WHERE ACT II LEAVES US</a:t>
            </a:r>
          </a:p>
        </p:txBody>
      </p:sp>
      <p:sp>
        <p:nvSpPr>
          <p:cNvPr id="3" name="TextBox 2"/>
          <p:cNvSpPr txBox="1"/>
          <p:nvPr/>
        </p:nvSpPr>
        <p:spPr>
          <a:xfrm>
            <a:off x="502920" y="1645920"/>
            <a:ext cx="11201400" cy="4937760"/>
          </a:xfrm>
          <a:prstGeom prst="rect">
            <a:avLst/>
          </a:prstGeom>
          <a:noFill/>
        </p:spPr>
        <p:txBody>
          <a:bodyPr wrap="square">
            <a:spAutoFit/>
          </a:bodyPr>
          <a:lstStyle/>
          <a:p>
            <a:pPr algn="l">
              <a:spcAft>
                <a:spcPts val="1400"/>
              </a:spcAft>
            </a:pPr>
            <a:r>
              <a:rPr sz="1600" b="0" i="0">
                <a:solidFill>
                  <a:srgbClr val="555555"/>
                </a:solidFill>
                <a:latin typeface="Calibri"/>
              </a:rPr>
              <a:t>The 2012 turn in the fuel mix is the core acceleration the world needs. It is a real, large, and rapid shift. But it precedes Paris, lacks an efficiency partner, and coincides with technology cost collapse. The mechanism does not point toward Paris as the cause. It points toward renewable technology getting cheap enough that switching fuel became profitable.</a:t>
            </a:r>
          </a:p>
          <a:p>
            <a:pPr algn="l">
              <a:spcAft>
                <a:spcPts val="0"/>
              </a:spcAft>
            </a:pPr>
            <a:r>
              <a:rPr sz="1600" b="0" i="0">
                <a:solidFill>
                  <a:srgbClr val="555555"/>
                </a:solidFill>
                <a:latin typeface="Calibri"/>
              </a:rPr>
              <a:t>Act III now turns to the harder question: what does this mean for how we think about Paris? Not whether Paris is worthless, but what the data allows us to claim about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0"/>
            <a:ext cx="11201400" cy="2286000"/>
          </a:xfrm>
          <a:prstGeom prst="rect">
            <a:avLst/>
          </a:prstGeom>
          <a:noFill/>
        </p:spPr>
        <p:txBody>
          <a:bodyPr wrap="square">
            <a:spAutoFit/>
          </a:bodyPr>
          <a:lstStyle/>
          <a:p>
            <a:pPr algn="l">
              <a:spcAft>
                <a:spcPts val="0"/>
              </a:spcAft>
            </a:pPr>
            <a:r>
              <a:rPr sz="7200" b="1" i="0">
                <a:solidFill>
                  <a:srgbClr val="1B7837"/>
                </a:solidFill>
                <a:latin typeface="Calibri"/>
              </a:rPr>
              <a:t>III</a:t>
            </a:r>
          </a:p>
          <a:p>
            <a:pPr algn="l">
              <a:spcAft>
                <a:spcPts val="800"/>
              </a:spcAft>
            </a:pPr>
            <a:r>
              <a:rPr sz="4800" b="1" i="0">
                <a:solidFill>
                  <a:srgbClr val="212121"/>
                </a:solidFill>
                <a:latin typeface="Calibri"/>
              </a:rPr>
              <a:t>ACT III</a:t>
            </a:r>
          </a:p>
          <a:p>
            <a:pPr algn="l">
              <a:spcAft>
                <a:spcPts val="0"/>
              </a:spcAft>
            </a:pPr>
            <a:r>
              <a:rPr sz="2000" b="0" i="1">
                <a:solidFill>
                  <a:srgbClr val="555555"/>
                </a:solidFill>
                <a:latin typeface="Calibri"/>
              </a:rPr>
              <a:t>What the data can and cannot support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III. THE CONCLUSION</a:t>
            </a:r>
          </a:p>
        </p:txBody>
      </p:sp>
      <p:sp>
        <p:nvSpPr>
          <p:cNvPr id="3" name="TextBox 2"/>
          <p:cNvSpPr txBox="1"/>
          <p:nvPr/>
        </p:nvSpPr>
        <p:spPr>
          <a:xfrm>
            <a:off x="502920" y="1417320"/>
            <a:ext cx="5486400" cy="5212080"/>
          </a:xfrm>
          <a:prstGeom prst="rect">
            <a:avLst/>
          </a:prstGeom>
          <a:noFill/>
        </p:spPr>
        <p:txBody>
          <a:bodyPr wrap="square">
            <a:spAutoFit/>
          </a:bodyPr>
          <a:lstStyle/>
          <a:p>
            <a:pPr algn="l">
              <a:spcAft>
                <a:spcPts val="1000"/>
              </a:spcAft>
            </a:pPr>
            <a:r>
              <a:rPr sz="1800" b="1" i="0">
                <a:solidFill>
                  <a:srgbClr val="1B7837"/>
                </a:solidFill>
                <a:latin typeface="Calibri"/>
              </a:rPr>
              <a:t>What the data supports</a:t>
            </a:r>
          </a:p>
          <a:p>
            <a:pPr algn="l">
              <a:spcAft>
                <a:spcPts val="1200"/>
              </a:spcAft>
            </a:pPr>
            <a:r>
              <a:rPr sz="1400" b="0" i="0">
                <a:solidFill>
                  <a:srgbClr val="555555"/>
                </a:solidFill>
                <a:latin typeface="Calibri"/>
              </a:rPr>
              <a:t>The world is decarbonizing faster than ever before. Carbon intensity is declining at -2.1%/yr since 2012, faster than any prior episode in the measured record. This improvement is large, genuine, and necessary.</a:t>
            </a:r>
          </a:p>
          <a:p>
            <a:pPr algn="l">
              <a:spcAft>
                <a:spcPts val="0"/>
              </a:spcAft>
            </a:pPr>
            <a:r>
              <a:rPr sz="1400" b="0" i="0">
                <a:solidFill>
                  <a:srgbClr val="555555"/>
                </a:solidFill>
                <a:latin typeface="Calibri"/>
              </a:rPr>
              <a:t>It is also concentrated where policy can work: the fuel mix. Efficiency contributions remain steady and small. The world has not yet responded on the demand side of emissions. That matters for whether the current pace can accelerate.</a:t>
            </a:r>
          </a:p>
        </p:txBody>
      </p:sp>
      <p:sp>
        <p:nvSpPr>
          <p:cNvPr id="4" name="TextBox 3"/>
          <p:cNvSpPr txBox="1"/>
          <p:nvPr/>
        </p:nvSpPr>
        <p:spPr>
          <a:xfrm>
            <a:off x="5760720" y="1417320"/>
            <a:ext cx="5760720" cy="5212080"/>
          </a:xfrm>
          <a:prstGeom prst="rect">
            <a:avLst/>
          </a:prstGeom>
          <a:noFill/>
        </p:spPr>
        <p:txBody>
          <a:bodyPr wrap="square">
            <a:spAutoFit/>
          </a:bodyPr>
          <a:lstStyle/>
          <a:p>
            <a:pPr algn="l">
              <a:spcAft>
                <a:spcPts val="1000"/>
              </a:spcAft>
            </a:pPr>
            <a:r>
              <a:rPr sz="1800" b="1" i="0">
                <a:solidFill>
                  <a:srgbClr val="B33A3A"/>
                </a:solidFill>
                <a:latin typeface="Calibri"/>
              </a:rPr>
              <a:t>What the data does not support</a:t>
            </a:r>
          </a:p>
          <a:p>
            <a:pPr algn="l">
              <a:spcAft>
                <a:spcPts val="1200"/>
              </a:spcAft>
            </a:pPr>
            <a:r>
              <a:rPr sz="1400" b="0" i="0">
                <a:solidFill>
                  <a:srgbClr val="555555"/>
                </a:solidFill>
                <a:latin typeface="Calibri"/>
              </a:rPr>
              <a:t>The Paris agreement was signed in 2015. The acceleration in carbon intensity began in 2012, in roughly 9 of every 10 specifications. Energy efficiency did not respond to the treaty at all. The timing does not point toward Paris as the cause.</a:t>
            </a:r>
          </a:p>
          <a:p>
            <a:pPr algn="l">
              <a:spcAft>
                <a:spcPts val="0"/>
              </a:spcAft>
            </a:pPr>
            <a:r>
              <a:rPr sz="1400" b="0" i="0">
                <a:solidFill>
                  <a:srgbClr val="555555"/>
                </a:solidFill>
                <a:latin typeface="Calibri"/>
              </a:rPr>
              <a:t>This is not an argument that Paris is ineffective or unnecessary. It is an argument that the timing data do not support attribution to Paris. Other factors — technology cost, market dynamics, pre-existing policy in major economies — appear more directly responsible for when the turn happened.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914400"/>
          </a:xfrm>
          <a:prstGeom prst="rect">
            <a:avLst/>
          </a:prstGeom>
          <a:noFill/>
        </p:spPr>
        <p:txBody>
          <a:bodyPr wrap="square">
            <a:spAutoFit/>
          </a:bodyPr>
          <a:lstStyle/>
          <a:p>
            <a:pPr algn="l">
              <a:spcAft>
                <a:spcPts val="0"/>
              </a:spcAft>
            </a:pPr>
            <a:r>
              <a:rPr sz="1600" b="1" i="0">
                <a:solidFill>
                  <a:srgbClr val="1B7837"/>
                </a:solidFill>
                <a:latin typeface="Calibri"/>
              </a:rPr>
              <a:t>III. THE OPEN QUESTIONS</a:t>
            </a:r>
          </a:p>
        </p:txBody>
      </p:sp>
      <p:sp>
        <p:nvSpPr>
          <p:cNvPr id="3" name="TextBox 2"/>
          <p:cNvSpPr txBox="1"/>
          <p:nvPr/>
        </p:nvSpPr>
        <p:spPr>
          <a:xfrm>
            <a:off x="502920" y="1417320"/>
            <a:ext cx="11201400" cy="5212080"/>
          </a:xfrm>
          <a:prstGeom prst="rect">
            <a:avLst/>
          </a:prstGeom>
          <a:noFill/>
        </p:spPr>
        <p:txBody>
          <a:bodyPr wrap="square">
            <a:spAutoFit/>
          </a:bodyPr>
          <a:lstStyle/>
          <a:p>
            <a:pPr algn="l">
              <a:spcAft>
                <a:spcPts val="1200"/>
              </a:spcAft>
            </a:pPr>
            <a:r>
              <a:rPr sz="1800" b="1" i="0">
                <a:solidFill>
                  <a:srgbClr val="212121"/>
                </a:solidFill>
                <a:latin typeface="Calibri"/>
              </a:rPr>
              <a:t>What would change this conclusion?</a:t>
            </a:r>
          </a:p>
          <a:p>
            <a:pPr algn="l">
              <a:spcAft>
                <a:spcPts val="1200"/>
              </a:spcAft>
            </a:pPr>
            <a:r>
              <a:rPr sz="1400" b="0" i="0">
                <a:solidFill>
                  <a:srgbClr val="555555"/>
                </a:solidFill>
                <a:latin typeface="Calibri"/>
              </a:rPr>
              <a:t>Three questions can still be answered to test whether Paris played a role. First: does the acceleration persist? A technology shock fades as solar saturates; policy ratcheting persists. Another decade will tell. Second: does efficiency ever accelerate? Technology alone cannot explain steady efficiency gains; if efficiency moves, policy becomes credible. Third: what do countries show? Paris works through national pledges. If the treaty is real, its signature should appear when you compare country by country.</a:t>
            </a:r>
          </a:p>
          <a:p>
            <a:pPr algn="l">
              <a:spcAft>
                <a:spcPts val="0"/>
              </a:spcAft>
            </a:pPr>
            <a:r>
              <a:rPr sz="1400" b="0" i="0">
                <a:solidFill>
                  <a:srgbClr val="555555"/>
                </a:solidFill>
                <a:latin typeface="Calibri"/>
              </a:rPr>
              <a:t>Of those three, the country-level question is the most tractable and the most direct. It does not rely on waiting for more data or a mechanism that may never materialize. If Paris changed country behavior, the country numbers should show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57200"/>
            <a:ext cx="11201400" cy="1097280"/>
          </a:xfrm>
          <a:prstGeom prst="rect">
            <a:avLst/>
          </a:prstGeom>
          <a:noFill/>
        </p:spPr>
        <p:txBody>
          <a:bodyPr wrap="square">
            <a:spAutoFit/>
          </a:bodyPr>
          <a:lstStyle/>
          <a:p>
            <a:pPr algn="l">
              <a:spcAft>
                <a:spcPts val="0"/>
              </a:spcAft>
            </a:pPr>
            <a:r>
              <a:rPr sz="2000" b="1" i="0">
                <a:solidFill>
                  <a:srgbClr val="1B7837"/>
                </a:solidFill>
                <a:latin typeface="Calibri"/>
              </a:rPr>
              <a:t>WHERE THIS LEAVES IT</a:t>
            </a:r>
          </a:p>
        </p:txBody>
      </p:sp>
      <p:sp>
        <p:nvSpPr>
          <p:cNvPr id="3" name="TextBox 2"/>
          <p:cNvSpPr txBox="1"/>
          <p:nvPr/>
        </p:nvSpPr>
        <p:spPr>
          <a:xfrm>
            <a:off x="502920" y="1645920"/>
            <a:ext cx="11201400" cy="4937760"/>
          </a:xfrm>
          <a:prstGeom prst="rect">
            <a:avLst/>
          </a:prstGeom>
          <a:noFill/>
        </p:spPr>
        <p:txBody>
          <a:bodyPr wrap="square">
            <a:spAutoFit/>
          </a:bodyPr>
          <a:lstStyle/>
          <a:p>
            <a:pPr algn="l">
              <a:spcAft>
                <a:spcPts val="1400"/>
              </a:spcAft>
            </a:pPr>
            <a:r>
              <a:rPr sz="1600" b="0" i="0">
                <a:solidFill>
                  <a:srgbClr val="555555"/>
                </a:solidFill>
                <a:latin typeface="Calibri"/>
              </a:rPr>
              <a:t>Global carbon intensity is accelerating in the right direction, at the largest scale we have ever measured. Whether Paris deserves credit depends on what we look for and how we look for it. The timing question points elsewhere — toward renewable technology and the 2010s cost collapse. The country question remains open, and it is the most direct one Paris attribution has to answer.</a:t>
            </a:r>
          </a:p>
          <a:p>
            <a:pPr algn="l">
              <a:spcAft>
                <a:spcPts val="0"/>
              </a:spcAft>
            </a:pPr>
            <a:r>
              <a:rPr sz="1600" b="0" i="0">
                <a:solidFill>
                  <a:srgbClr val="555555"/>
                </a:solidFill>
                <a:latin typeface="Calibri"/>
              </a:rPr>
              <a:t>The acceleration is real and necessary. It started before Paris, in a direction that makes sense for what happened to solar and wind cost. Whether and to what degree Paris drove it remains an open question best answered at the national level.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