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up front: this is a pro-Paris paper that takes measurement seriously. The question is not whether Paris matters, but what the observed record can attribute — and where the policy signal actually lives.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sympathetic frame, then pivot to the identity: the mathematically required location of any policy signal is the intensity slopes. That justifies the paper's whole design.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conversational: two lines and a kink, tried at every year; then shake the data to see if the date holds still. The 'two doors' framing sets up the mechanism logic used throughout Acts II-III.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placebo idea in one line: a significant result at the treaty year means little if 1990 and 1994 are just as 'significant'. The ladder is the paper's discipline — and Act I applies it to Paris.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I is reframed: not 'treaties failed' but 'the record shows a real recent acceleration whose timing cannot yet separate Paris from the renewables cost decline.'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C/GDP breaks ~1973, E/GDP ~1974 — the oil-shock era. C/E's point estimate is 1992 but its interval spans 1978–2011: it does not uniquely identify Rio. Robust to consumption-based emissions, excluding former Soviet economies, PPP GDP.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supply-side acceleration (C/E −0.7 pp/yr, NW t=4.3; C/GDP −0.9, t=2.9). But onsets from 2011–2016 fit the full record about equally well (best 2013), and E/GDP shows no acceleration. What an effective Paris should look like — and not yet separable from the renewables cost collapse that preceded the treaty.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Emissions growth slowed from +2.1 to +0.4%/yr after 2015 — but roughly two-thirds of the slowdown is slower GDP growth; one-third is the cleaner fuel mix. The gap to the dotted line is the remaining task.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Nominal treaty-date significance is common (48–69% of series); date-uniqueness is rare (Rio: 10/21/34 series by component; Paris: 14/5/6). The same discipline applied to Paris's decade dates the global acceleration's onset to ~2013.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hinge of the talk: the non-attribution is not a failure of Paris — it is the reason the analysis must descend to the national level, where attribution machinery has power.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common treaty era: breaks scatter 1970–2013 and pile up around oil shocks, post-Cold-War upheaval, crises, and the renewables era. Event alignment: 45% vs 17% within 2 years; 80% vs 37% within 5; 70% vs 33% inside the episode.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Fuel and energy markets 22, restructuring 18, political disruption 11, macro shocks 9, development and access 6, policy 9, unresolved 22. Author-coded against authoritative sources with a stopping rule — interpretations, not causal estimates.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reading key for everything that follows. Note the two distinct 22s: mechanism-unresolved and outcome-unclassifiable are different sets.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Shocks flow into contraction; restructuring often ends in 'intensity gain, CO2 rising'. Only nine countries end in constructive persistent decarbonization.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Raw counts: 55 favorable bends with rising CO2; 19 with falling CO2. The stricter classification narrows these to 12 and 9. Green triangles: the 9 policy-enabled cases — Bhutan and Paraguay improve intensity while emissions still rise, so policy-enabled and constructive are overlapping but different sets.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of nine are policy-enabled; Hungary, Nauru, and Ireland arrived via restructuring. Caveat: Nauru is a micro-state whose 'restructuring' is the phosphate collapse — treat with care.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Routes around the constructive verdict: fuel substitution (5), evidence limits (4), collapse (1). Netherlands 1975: gas substitution forty years before US shale. Somalia 1985: collapse mimics decarbonization in every raw statistic; only the persistence screen catches it. Breaks span 1975–2012 — no treaty era here either.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Fuel-market transformations cluster in the Americas and MENA; restructuring across Asia-Pacific; policy-enabled cases in northern Europe. Right: much of the map is contraction, incompleteness, or intensity gains overwhelmed by growth.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Median CAT percentile ~64 vs 34; CCPI ~91 vs 44. Corroborative, not definitive.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credibility slide. If asked about causality: the design lock is explicit about supported vs unsupported claims — lean on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this heterogeneity aligns on a treaty date. The treaty question dissolves into 97 national stories; nine end in unambiguous decarbonization.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closing line and the four-part method signature.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554480"/>
            <a:ext cx="10515600" cy="3291840"/>
          </a:xfrm>
          <a:prstGeom prst="rect">
            <a:avLst/>
          </a:prstGeom>
          <a:noFill/>
        </p:spPr>
        <p:txBody>
          <a:bodyPr wrap="square">
            <a:spAutoFit/>
          </a:bodyPr>
          <a:lstStyle/>
          <a:p>
            <a:pPr algn="l">
              <a:spcAft>
                <a:spcPts val="800"/>
              </a:spcAft>
            </a:pPr>
            <a:r>
              <a:rPr sz="4800" b="1" i="0">
                <a:solidFill>
                  <a:srgbClr val="212121"/>
                </a:solidFill>
                <a:latin typeface="Calibri"/>
              </a:rPr>
              <a:t>WHAT BENDS THE CURVE?</a:t>
            </a:r>
          </a:p>
          <a:p>
            <a:pPr algn="l">
              <a:spcAft>
                <a:spcPts val="1600"/>
              </a:spcAft>
            </a:pPr>
            <a:r>
              <a:rPr sz="2000" b="0" i="0">
                <a:solidFill>
                  <a:srgbClr val="555555"/>
                </a:solidFill>
                <a:latin typeface="Calibri"/>
              </a:rPr>
              <a:t>Paris at ten: long trends, a new acceleration, and the national transformations that carry the signal</a:t>
            </a:r>
          </a:p>
          <a:p>
            <a:pPr algn="l">
              <a:spcAft>
                <a:spcPts val="600"/>
              </a:spcAft>
            </a:pPr>
            <a:r>
              <a:rPr sz="1500" b="1" i="0">
                <a:solidFill>
                  <a:srgbClr val="1B7837"/>
                </a:solidFill>
                <a:latin typeface="Calibri"/>
              </a:rPr>
              <a:t>Structural breaks · Kaya pathways · five decades of national decarbonization</a:t>
            </a:r>
          </a:p>
        </p:txBody>
      </p:sp>
      <p:sp>
        <p:nvSpPr>
          <p:cNvPr id="3" name="TextBox 2"/>
          <p:cNvSpPr txBox="1"/>
          <p:nvPr/>
        </p:nvSpPr>
        <p:spPr>
          <a:xfrm>
            <a:off x="822960" y="5394960"/>
            <a:ext cx="10515600" cy="822960"/>
          </a:xfrm>
          <a:prstGeom prst="rect">
            <a:avLst/>
          </a:prstGeom>
          <a:noFill/>
        </p:spPr>
        <p:txBody>
          <a:bodyPr wrap="square">
            <a:spAutoFit/>
          </a:bodyPr>
          <a:lstStyle/>
          <a:p>
            <a:pPr algn="l">
              <a:spcAft>
                <a:spcPts val="600"/>
              </a:spcAft>
            </a:pPr>
            <a:r>
              <a:rPr sz="1350" b="1" i="0">
                <a:solidFill>
                  <a:srgbClr val="212121"/>
                </a:solidFill>
                <a:latin typeface="Calibri"/>
              </a:rPr>
              <a:t>204 jurisdictions     </a:t>
            </a:r>
            <a:r>
              <a:rPr sz="1350" b="1" i="0">
                <a:solidFill>
                  <a:srgbClr val="212121"/>
                </a:solidFill>
                <a:latin typeface="Calibri"/>
              </a:rPr>
              <a:t>97 eligible national breaks     </a:t>
            </a:r>
            <a:r>
              <a:rPr sz="1350" b="1" i="0">
                <a:solidFill>
                  <a:srgbClr val="212121"/>
                </a:solidFill>
                <a:latin typeface="Calibri"/>
              </a:rPr>
              <a:t>7 mechanism families     </a:t>
            </a:r>
            <a:r>
              <a:rPr sz="1350" b="1" i="0">
                <a:solidFill>
                  <a:srgbClr val="1B7837"/>
                </a:solidFill>
                <a:latin typeface="Calibri"/>
              </a:rPr>
              <a:t>9 constructive decarbonizations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THE QUESTION</a:t>
            </a:r>
          </a:p>
          <a:p>
            <a:pPr algn="l">
              <a:spcAft>
                <a:spcPts val="0"/>
              </a:spcAft>
            </a:pPr>
            <a:r>
              <a:rPr sz="2400" b="1" i="0">
                <a:solidFill>
                  <a:srgbClr val="212121"/>
                </a:solidFill>
                <a:latin typeface="Calibri"/>
              </a:rPr>
              <a:t>Paris is working — but through what?</a:t>
            </a:r>
          </a:p>
        </p:txBody>
      </p:sp>
      <p:sp>
        <p:nvSpPr>
          <p:cNvPr id="3" name="TextBox 2"/>
          <p:cNvSpPr txBox="1"/>
          <p:nvPr/>
        </p:nvSpPr>
        <p:spPr>
          <a:xfrm>
            <a:off x="502920" y="1463040"/>
            <a:ext cx="6675120" cy="4937760"/>
          </a:xfrm>
          <a:prstGeom prst="rect">
            <a:avLst/>
          </a:prstGeom>
          <a:noFill/>
        </p:spPr>
        <p:txBody>
          <a:bodyPr wrap="square">
            <a:spAutoFit/>
          </a:bodyPr>
          <a:lstStyle/>
          <a:p>
            <a:pPr algn="l">
              <a:spcAft>
                <a:spcPts val="400"/>
              </a:spcAft>
            </a:pPr>
            <a:r>
              <a:rPr sz="1700" b="1" i="0">
                <a:solidFill>
                  <a:srgbClr val="212121"/>
                </a:solidFill>
                <a:latin typeface="Calibri"/>
              </a:rPr>
              <a:t>The good news is real.</a:t>
            </a:r>
          </a:p>
          <a:p>
            <a:pPr algn="l">
              <a:spcAft>
                <a:spcPts val="1400"/>
              </a:spcAft>
            </a:pPr>
            <a:r>
              <a:rPr sz="1500" b="0" i="0">
                <a:solidFill>
                  <a:srgbClr val="555555"/>
                </a:solidFill>
                <a:latin typeface="Calibri"/>
              </a:rPr>
              <a:t>Worst-case emissions scenarios have moved off the table, and global CO2 growth has slowed from +2.1% per year (1990–2015) to +0.4% per year since Paris.</a:t>
            </a:r>
          </a:p>
          <a:p>
            <a:pPr algn="l">
              <a:spcAft>
                <a:spcPts val="400"/>
              </a:spcAft>
            </a:pPr>
            <a:r>
              <a:rPr sz="1700" b="1" i="0">
                <a:solidFill>
                  <a:srgbClr val="212121"/>
                </a:solidFill>
                <a:latin typeface="Calibri"/>
              </a:rPr>
              <a:t>The open question:</a:t>
            </a:r>
          </a:p>
          <a:p>
            <a:pPr algn="l">
              <a:spcAft>
                <a:spcPts val="1400"/>
              </a:spcAft>
            </a:pPr>
            <a:r>
              <a:rPr sz="1500" b="0" i="0">
                <a:solidFill>
                  <a:srgbClr val="555555"/>
                </a:solidFill>
                <a:latin typeface="Calibri"/>
              </a:rPr>
              <a:t>Is the global improvement a direct effect of the agreement — or the continuation of trends rooted decades earlier, which Paris coordinates and reinforces?</a:t>
            </a:r>
          </a:p>
          <a:p>
            <a:pPr algn="l">
              <a:spcAft>
                <a:spcPts val="400"/>
              </a:spcAft>
            </a:pPr>
            <a:r>
              <a:rPr sz="1700" b="1" i="0">
                <a:solidFill>
                  <a:srgbClr val="212121"/>
                </a:solidFill>
                <a:latin typeface="Calibri"/>
              </a:rPr>
              <a:t>Our approach:</a:t>
            </a:r>
          </a:p>
          <a:p>
            <a:pPr algn="l">
              <a:spcAft>
                <a:spcPts val="0"/>
              </a:spcAft>
            </a:pPr>
            <a:r>
              <a:rPr sz="1500" b="0" i="0">
                <a:solidFill>
                  <a:srgbClr val="555555"/>
                </a:solidFill>
                <a:latin typeface="Calibri"/>
              </a:rPr>
              <a:t>Rather than assuming treaty years are turning points, we let the data tell us when trends actually changed — globally and for every country with enough annual data — and then use historical evidence to ask why.</a:t>
            </a:r>
          </a:p>
        </p:txBody>
      </p:sp>
      <p:sp>
        <p:nvSpPr>
          <p:cNvPr id="4" name="TextBox 3"/>
          <p:cNvSpPr txBox="1"/>
          <p:nvPr/>
        </p:nvSpPr>
        <p:spPr>
          <a:xfrm>
            <a:off x="7452360" y="1463040"/>
            <a:ext cx="4251960" cy="4937760"/>
          </a:xfrm>
          <a:prstGeom prst="rect">
            <a:avLst/>
          </a:prstGeom>
          <a:noFill/>
        </p:spPr>
        <p:txBody>
          <a:bodyPr wrap="square">
            <a:spAutoFit/>
          </a:bodyPr>
          <a:lstStyle/>
          <a:p>
            <a:pPr algn="l">
              <a:spcAft>
                <a:spcPts val="600"/>
              </a:spcAft>
            </a:pPr>
            <a:r>
              <a:rPr sz="1700" b="1" i="0">
                <a:solidFill>
                  <a:srgbClr val="1B7837"/>
                </a:solidFill>
                <a:latin typeface="Calibri"/>
              </a:rPr>
              <a:t>Why intensity comes first</a:t>
            </a:r>
          </a:p>
          <a:p>
            <a:pPr algn="l">
              <a:spcAft>
                <a:spcPts val="400"/>
              </a:spcAft>
            </a:pPr>
            <a:r>
              <a:rPr sz="1400" b="0" i="0">
                <a:solidFill>
                  <a:srgbClr val="555555"/>
                </a:solidFill>
                <a:latin typeface="Calibri"/>
              </a:rPr>
              <a:t>Emissions can be split into three moving parts:</a:t>
            </a:r>
          </a:p>
          <a:p>
            <a:pPr algn="l">
              <a:spcAft>
                <a:spcPts val="1000"/>
              </a:spcAft>
            </a:pPr>
            <a:r>
              <a:rPr sz="1400" b="1" i="0">
                <a:solidFill>
                  <a:srgbClr val="212121"/>
                </a:solidFill>
                <a:latin typeface="Calibri"/>
              </a:rPr>
              <a:t>CO2 growth = economic growth + change in fuel mix + change in energy efficiency</a:t>
            </a:r>
          </a:p>
          <a:p>
            <a:pPr algn="l">
              <a:spcAft>
                <a:spcPts val="800"/>
              </a:spcAft>
            </a:pPr>
            <a:r>
              <a:rPr sz="1400" b="0" i="0">
                <a:solidFill>
                  <a:srgbClr val="555555"/>
                </a:solidFill>
                <a:latin typeface="Calibri"/>
              </a:rPr>
              <a:t>Emissions cannot bend until the fuel mix or efficiency improves faster. Intensity is the leading indicator: any policy effect must show up there first — before it can ever show up in emissions.</a:t>
            </a:r>
          </a:p>
          <a:p>
            <a:pPr algn="l">
              <a:spcAft>
                <a:spcPts val="0"/>
              </a:spcAft>
            </a:pPr>
            <a:r>
              <a:rPr sz="1400" b="1" i="0">
                <a:solidFill>
                  <a:srgbClr val="212121"/>
                </a:solidFill>
                <a:latin typeface="Calibri"/>
              </a:rPr>
              <a:t>Unless intensity improves faster than the economy grows, emissions cannot stabilize.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3A66A5"/>
                </a:solidFill>
                <a:latin typeface="Calibri"/>
              </a:rPr>
              <a:t>HOW WE MEASURE IT</a:t>
            </a:r>
          </a:p>
          <a:p>
            <a:pPr algn="l">
              <a:spcAft>
                <a:spcPts val="0"/>
              </a:spcAft>
            </a:pPr>
            <a:r>
              <a:rPr sz="2400" b="1" i="0">
                <a:solidFill>
                  <a:srgbClr val="212121"/>
                </a:solidFill>
                <a:latin typeface="Calibri"/>
              </a:rPr>
              <a:t>Finding the bend: two straight lines and a kink</a:t>
            </a:r>
          </a:p>
        </p:txBody>
      </p:sp>
      <p:sp>
        <p:nvSpPr>
          <p:cNvPr id="3" name="TextBox 2"/>
          <p:cNvSpPr txBox="1"/>
          <p:nvPr/>
        </p:nvSpPr>
        <p:spPr>
          <a:xfrm>
            <a:off x="502920" y="1417320"/>
            <a:ext cx="5577840" cy="5029200"/>
          </a:xfrm>
          <a:prstGeom prst="rect">
            <a:avLst/>
          </a:prstGeom>
          <a:noFill/>
        </p:spPr>
        <p:txBody>
          <a:bodyPr wrap="square">
            <a:spAutoFit/>
          </a:bodyPr>
          <a:lstStyle/>
          <a:p>
            <a:pPr algn="l">
              <a:spcAft>
                <a:spcPts val="800"/>
              </a:spcAft>
            </a:pPr>
            <a:r>
              <a:rPr sz="1550" b="1" i="0">
                <a:solidFill>
                  <a:srgbClr val="212121"/>
                </a:solidFill>
                <a:latin typeface="Calibri"/>
              </a:rPr>
              <a:t>Three steps, no assumptions about treaty years</a:t>
            </a:r>
          </a:p>
          <a:p>
            <a:pPr algn="l">
              <a:spcAft>
                <a:spcPts val="800"/>
              </a:spcAft>
            </a:pPr>
            <a:r>
              <a:rPr sz="1350" b="1" i="0">
                <a:solidFill>
                  <a:srgbClr val="3A66A5"/>
                </a:solidFill>
                <a:latin typeface="Calibri"/>
              </a:rPr>
              <a:t>1.  </a:t>
            </a:r>
            <a:r>
              <a:rPr sz="1350" b="0" i="0">
                <a:solidFill>
                  <a:srgbClr val="555555"/>
                </a:solidFill>
                <a:latin typeface="Calibri"/>
              </a:rPr>
              <a:t>Plot each series on a log scale, so a straight line means a steady percentage change per year.</a:t>
            </a:r>
          </a:p>
          <a:p>
            <a:pPr algn="l">
              <a:spcAft>
                <a:spcPts val="800"/>
              </a:spcAft>
            </a:pPr>
            <a:r>
              <a:rPr sz="1350" b="1" i="0">
                <a:solidFill>
                  <a:srgbClr val="3A66A5"/>
                </a:solidFill>
                <a:latin typeface="Calibri"/>
              </a:rPr>
              <a:t>2.  </a:t>
            </a:r>
            <a:r>
              <a:rPr sz="1350" b="0" i="0">
                <a:solidFill>
                  <a:srgbClr val="555555"/>
                </a:solidFill>
                <a:latin typeface="Calibri"/>
              </a:rPr>
              <a:t>Fit two straight lines that meet at a kink — the 'breakpoint'. Try every possible kink year and keep the one that fits the data best. That year is the estimate of when the trend changed.</a:t>
            </a:r>
          </a:p>
          <a:p>
            <a:pPr algn="l">
              <a:spcAft>
                <a:spcPts val="1200"/>
              </a:spcAft>
            </a:pPr>
            <a:r>
              <a:rPr sz="1350" b="1" i="0">
                <a:solidFill>
                  <a:srgbClr val="3A66A5"/>
                </a:solidFill>
                <a:latin typeface="Calibri"/>
              </a:rPr>
              <a:t>3.  </a:t>
            </a:r>
            <a:r>
              <a:rPr sz="1350" b="0" i="0">
                <a:solidFill>
                  <a:srgbClr val="555555"/>
                </a:solidFill>
                <a:latin typeface="Calibri"/>
              </a:rPr>
              <a:t>Stress-test the date: re-estimate it on many statistically reshuffled versions of the series. If the estimated year barely moves, the break is credible; if it jumps around, we say so.</a:t>
            </a:r>
          </a:p>
          <a:p>
            <a:pPr algn="l">
              <a:spcAft>
                <a:spcPts val="800"/>
              </a:spcAft>
            </a:pPr>
            <a:r>
              <a:rPr sz="1350" b="1" i="0">
                <a:solidFill>
                  <a:srgbClr val="212121"/>
                </a:solidFill>
                <a:latin typeface="Calibri"/>
              </a:rPr>
              <a:t>A breakpoint tells us when a trend changed — never, by itself, why. Historical evidence answers that separately.</a:t>
            </a:r>
          </a:p>
          <a:p>
            <a:pPr algn="l">
              <a:spcAft>
                <a:spcPts val="0"/>
              </a:spcAft>
            </a:pPr>
            <a:r>
              <a:rPr sz="1050" b="0" i="1">
                <a:solidFill>
                  <a:srgbClr val="8A8A8A"/>
                </a:solidFill>
                <a:latin typeface="Calibri"/>
              </a:rPr>
              <a:t>(Formally: y(t) = a + b·t + d·max(t−k, 0); slope b before year k, b+d after. Uncertainty via moving-block bootstrap; autocorrelation-robust standard errors for fixed-date tests.)</a:t>
            </a:r>
          </a:p>
        </p:txBody>
      </p:sp>
      <p:sp>
        <p:nvSpPr>
          <p:cNvPr id="4" name="TextBox 3"/>
          <p:cNvSpPr txBox="1"/>
          <p:nvPr/>
        </p:nvSpPr>
        <p:spPr>
          <a:xfrm>
            <a:off x="6400800" y="1417320"/>
            <a:ext cx="5303520" cy="5029200"/>
          </a:xfrm>
          <a:prstGeom prst="rect">
            <a:avLst/>
          </a:prstGeom>
          <a:noFill/>
        </p:spPr>
        <p:txBody>
          <a:bodyPr wrap="square">
            <a:spAutoFit/>
          </a:bodyPr>
          <a:lstStyle/>
          <a:p>
            <a:pPr algn="l">
              <a:spcAft>
                <a:spcPts val="800"/>
              </a:spcAft>
            </a:pPr>
            <a:r>
              <a:rPr sz="1550" b="1" i="0">
                <a:solidFill>
                  <a:srgbClr val="212121"/>
                </a:solidFill>
                <a:latin typeface="Calibri"/>
              </a:rPr>
              <a:t>Two doors for any improvement</a:t>
            </a:r>
          </a:p>
          <a:p>
            <a:pPr algn="l">
              <a:spcAft>
                <a:spcPts val="800"/>
              </a:spcAft>
            </a:pPr>
            <a:r>
              <a:rPr sz="1350" b="0" i="0">
                <a:solidFill>
                  <a:srgbClr val="555555"/>
                </a:solidFill>
                <a:latin typeface="Calibri"/>
              </a:rPr>
              <a:t>Carbon intensity — CO2 per dollar of output — can only improve through one of two doors:</a:t>
            </a:r>
          </a:p>
          <a:p>
            <a:pPr algn="l">
              <a:spcAft>
                <a:spcPts val="800"/>
              </a:spcAft>
            </a:pPr>
            <a:r>
              <a:rPr sz="1350" b="1" i="0">
                <a:solidFill>
                  <a:srgbClr val="1B7837"/>
                </a:solidFill>
                <a:latin typeface="Calibri"/>
              </a:rPr>
              <a:t>Cleaner energy (C/E):  </a:t>
            </a:r>
            <a:r>
              <a:rPr sz="1350" b="0" i="0">
                <a:solidFill>
                  <a:srgbClr val="555555"/>
                </a:solidFill>
                <a:latin typeface="Calibri"/>
              </a:rPr>
              <a:t>less CO2 per unit of energy — fuel switching, nuclear, renewables, the power system.</a:t>
            </a:r>
          </a:p>
          <a:p>
            <a:pPr algn="l">
              <a:spcAft>
                <a:spcPts val="1000"/>
              </a:spcAft>
            </a:pPr>
            <a:r>
              <a:rPr sz="1350" b="1" i="0">
                <a:solidFill>
                  <a:srgbClr val="C77F00"/>
                </a:solidFill>
                <a:latin typeface="Calibri"/>
              </a:rPr>
              <a:t>Less energy per dollar (E/GDP):  </a:t>
            </a:r>
            <a:r>
              <a:rPr sz="1350" b="0" i="0">
                <a:solidFill>
                  <a:srgbClr val="555555"/>
                </a:solidFill>
                <a:latin typeface="Calibri"/>
              </a:rPr>
              <a:t>efficiency, and changes in what the economy makes — industry versus services.</a:t>
            </a:r>
          </a:p>
          <a:p>
            <a:pPr algn="l">
              <a:spcAft>
                <a:spcPts val="0"/>
              </a:spcAft>
            </a:pPr>
            <a:r>
              <a:rPr sz="1350" b="0" i="0">
                <a:solidFill>
                  <a:srgbClr val="212121"/>
                </a:solidFill>
                <a:latin typeface="Calibri"/>
              </a:rPr>
              <a:t>We estimate the bend in the overall series and in both doors, for the world and for every country, with one identical procedure. Which door moved tells us what kind of transition happened — a fuel-mix bend points to energy policy or markets; an efficiency bend often points to economic change.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3A66A5"/>
                </a:solidFill>
                <a:latin typeface="Calibri"/>
              </a:rPr>
              <a:t>HOW WE MEASURE IT</a:t>
            </a:r>
          </a:p>
          <a:p>
            <a:pPr algn="l">
              <a:spcAft>
                <a:spcPts val="0"/>
              </a:spcAft>
            </a:pPr>
            <a:r>
              <a:rPr sz="2400" b="1" i="0">
                <a:solidFill>
                  <a:srgbClr val="212121"/>
                </a:solidFill>
                <a:latin typeface="Calibri"/>
              </a:rPr>
              <a:t>Which breaks do we trust — and when does a treaty get credit?</a:t>
            </a:r>
          </a:p>
        </p:txBody>
      </p:sp>
      <p:sp>
        <p:nvSpPr>
          <p:cNvPr id="3" name="TextBox 2"/>
          <p:cNvSpPr txBox="1"/>
          <p:nvPr/>
        </p:nvSpPr>
        <p:spPr>
          <a:xfrm>
            <a:off x="502920" y="1417320"/>
            <a:ext cx="5029200" cy="5029200"/>
          </a:xfrm>
          <a:prstGeom prst="rect">
            <a:avLst/>
          </a:prstGeom>
          <a:noFill/>
        </p:spPr>
        <p:txBody>
          <a:bodyPr wrap="square">
            <a:spAutoFit/>
          </a:bodyPr>
          <a:lstStyle/>
          <a:p>
            <a:pPr algn="l">
              <a:spcAft>
                <a:spcPts val="800"/>
              </a:spcAft>
            </a:pPr>
            <a:r>
              <a:rPr sz="1550" b="1" i="0">
                <a:solidFill>
                  <a:srgbClr val="212121"/>
                </a:solidFill>
                <a:latin typeface="Calibri"/>
              </a:rPr>
              <a:t>A country's break counts only if:</a:t>
            </a:r>
          </a:p>
          <a:p>
            <a:pPr algn="l">
              <a:spcAft>
                <a:spcPts val="700"/>
              </a:spcAft>
            </a:pPr>
            <a:r>
              <a:rPr sz="1350" b="1" i="0">
                <a:solidFill>
                  <a:srgbClr val="1B7837"/>
                </a:solidFill>
                <a:latin typeface="Calibri"/>
              </a:rPr>
              <a:t>•  </a:t>
            </a:r>
            <a:r>
              <a:rPr sz="1350" b="0" i="0">
                <a:solidFill>
                  <a:srgbClr val="555555"/>
                </a:solidFill>
                <a:latin typeface="Calibri"/>
              </a:rPr>
              <a:t>the series is long enough (40+ years, with at least 10 on each side of the break);</a:t>
            </a:r>
          </a:p>
          <a:p>
            <a:pPr algn="l">
              <a:spcAft>
                <a:spcPts val="700"/>
              </a:spcAft>
            </a:pPr>
            <a:r>
              <a:rPr sz="1350" b="1" i="0">
                <a:solidFill>
                  <a:srgbClr val="1B7837"/>
                </a:solidFill>
                <a:latin typeface="Calibri"/>
              </a:rPr>
              <a:t>•  </a:t>
            </a:r>
            <a:r>
              <a:rPr sz="1350" b="0" i="0">
                <a:solidFill>
                  <a:srgbClr val="555555"/>
                </a:solidFill>
                <a:latin typeface="Calibri"/>
              </a:rPr>
              <a:t>the two-line model fits clearly better than a single straight line;</a:t>
            </a:r>
          </a:p>
          <a:p>
            <a:pPr algn="l">
              <a:spcAft>
                <a:spcPts val="700"/>
              </a:spcAft>
            </a:pPr>
            <a:r>
              <a:rPr sz="1350" b="1" i="0">
                <a:solidFill>
                  <a:srgbClr val="1B7837"/>
                </a:solidFill>
                <a:latin typeface="Calibri"/>
              </a:rPr>
              <a:t>•  </a:t>
            </a:r>
            <a:r>
              <a:rPr sz="1350" b="0" i="0">
                <a:solidFill>
                  <a:srgbClr val="555555"/>
                </a:solidFill>
                <a:latin typeface="Calibri"/>
              </a:rPr>
              <a:t>the estimated year stays put when the data are reshuffled; and</a:t>
            </a:r>
          </a:p>
          <a:p>
            <a:pPr algn="l">
              <a:spcAft>
                <a:spcPts val="700"/>
              </a:spcAft>
            </a:pPr>
            <a:r>
              <a:rPr sz="1350" b="1" i="0">
                <a:solidFill>
                  <a:srgbClr val="1B7837"/>
                </a:solidFill>
                <a:latin typeface="Calibri"/>
              </a:rPr>
              <a:t>•  </a:t>
            </a:r>
            <a:r>
              <a:rPr sz="1350" b="0" i="0">
                <a:solidFill>
                  <a:srgbClr val="555555"/>
                </a:solidFill>
                <a:latin typeface="Calibri"/>
              </a:rPr>
              <a:t>the change in slope is big enough to matter, not a statistical whisker.</a:t>
            </a:r>
          </a:p>
          <a:p>
            <a:pPr algn="l">
              <a:spcAft>
                <a:spcPts val="0"/>
              </a:spcAft>
            </a:pPr>
            <a:r>
              <a:rPr sz="1350" b="0" i="0">
                <a:solidFill>
                  <a:srgbClr val="212121"/>
                </a:solidFill>
                <a:latin typeface="Calibri"/>
              </a:rPr>
              <a:t>204 jurisdictions → 158 with estimable series → 97 countries with a break that passes every test. Breaks close together in time are read as one national transition: 107 episodes in all.</a:t>
            </a:r>
          </a:p>
        </p:txBody>
      </p:sp>
      <p:sp>
        <p:nvSpPr>
          <p:cNvPr id="4" name="TextBox 3"/>
          <p:cNvSpPr txBox="1"/>
          <p:nvPr/>
        </p:nvSpPr>
        <p:spPr>
          <a:xfrm>
            <a:off x="5806440" y="1417320"/>
            <a:ext cx="5897880" cy="5029200"/>
          </a:xfrm>
          <a:prstGeom prst="rect">
            <a:avLst/>
          </a:prstGeom>
          <a:noFill/>
        </p:spPr>
        <p:txBody>
          <a:bodyPr wrap="square">
            <a:spAutoFit/>
          </a:bodyPr>
          <a:lstStyle/>
          <a:p>
            <a:pPr algn="l">
              <a:spcAft>
                <a:spcPts val="800"/>
              </a:spcAft>
            </a:pPr>
            <a:r>
              <a:rPr sz="1550" b="1" i="0">
                <a:solidFill>
                  <a:srgbClr val="212121"/>
                </a:solidFill>
                <a:latin typeface="Calibri"/>
              </a:rPr>
              <a:t>A treaty year gets credit only if all five hold:</a:t>
            </a:r>
          </a:p>
          <a:p>
            <a:pPr algn="l">
              <a:spcAft>
                <a:spcPts val="700"/>
              </a:spcAft>
            </a:pPr>
            <a:r>
              <a:rPr sz="1350" b="1" i="0">
                <a:solidFill>
                  <a:srgbClr val="3A66A5"/>
                </a:solidFill>
                <a:latin typeface="Calibri"/>
              </a:rPr>
              <a:t>1.  </a:t>
            </a:r>
            <a:r>
              <a:rPr sz="1350" b="0" i="0">
                <a:solidFill>
                  <a:srgbClr val="555555"/>
                </a:solidFill>
                <a:latin typeface="Calibri"/>
              </a:rPr>
              <a:t>the slope genuinely changes at the treaty year (by a robust statistical test);</a:t>
            </a:r>
          </a:p>
          <a:p>
            <a:pPr algn="l">
              <a:spcAft>
                <a:spcPts val="700"/>
              </a:spcAft>
            </a:pPr>
            <a:r>
              <a:rPr sz="1350" b="1" i="0">
                <a:solidFill>
                  <a:srgbClr val="3A66A5"/>
                </a:solidFill>
                <a:latin typeface="Calibri"/>
              </a:rPr>
              <a:t>2.  </a:t>
            </a:r>
            <a:r>
              <a:rPr sz="1350" b="0" i="0">
                <a:solidFill>
                  <a:srgbClr val="555555"/>
                </a:solidFill>
                <a:latin typeface="Calibri"/>
              </a:rPr>
              <a:t>the treaty year beats nearly all nearby 'placebo' years — because when a trend curves gently, almost any year looks significant;</a:t>
            </a:r>
          </a:p>
          <a:p>
            <a:pPr algn="l">
              <a:spcAft>
                <a:spcPts val="700"/>
              </a:spcAft>
            </a:pPr>
            <a:r>
              <a:rPr sz="1350" b="1" i="0">
                <a:solidFill>
                  <a:srgbClr val="3A66A5"/>
                </a:solidFill>
                <a:latin typeface="Calibri"/>
              </a:rPr>
              <a:t>3.  </a:t>
            </a:r>
            <a:r>
              <a:rPr sz="1350" b="0" i="0">
                <a:solidFill>
                  <a:srgbClr val="555555"/>
                </a:solidFill>
                <a:latin typeface="Calibri"/>
              </a:rPr>
              <a:t>the best-fitting year is within three years of the treaty;</a:t>
            </a:r>
          </a:p>
          <a:p>
            <a:pPr algn="l">
              <a:spcAft>
                <a:spcPts val="700"/>
              </a:spcAft>
            </a:pPr>
            <a:r>
              <a:rPr sz="1350" b="1" i="0">
                <a:solidFill>
                  <a:srgbClr val="3A66A5"/>
                </a:solidFill>
                <a:latin typeface="Calibri"/>
              </a:rPr>
              <a:t>4.  </a:t>
            </a:r>
            <a:r>
              <a:rPr sz="1350" b="0" i="0">
                <a:solidFill>
                  <a:srgbClr val="555555"/>
                </a:solidFill>
                <a:latin typeface="Calibri"/>
              </a:rPr>
              <a:t>the data-chosen break agrees with it; and</a:t>
            </a:r>
          </a:p>
          <a:p>
            <a:pPr algn="l">
              <a:spcAft>
                <a:spcPts val="700"/>
              </a:spcAft>
            </a:pPr>
            <a:r>
              <a:rPr sz="1350" b="1" i="0">
                <a:solidFill>
                  <a:srgbClr val="3A66A5"/>
                </a:solidFill>
                <a:latin typeface="Calibri"/>
              </a:rPr>
              <a:t>5.  </a:t>
            </a:r>
            <a:r>
              <a:rPr sz="1350" b="0" i="0">
                <a:solidFill>
                  <a:srgbClr val="555555"/>
                </a:solidFill>
                <a:latin typeface="Calibri"/>
              </a:rPr>
              <a:t>there is a documented domestic policy story that fits.</a:t>
            </a:r>
          </a:p>
          <a:p>
            <a:pPr algn="l">
              <a:spcAft>
                <a:spcPts val="0"/>
              </a:spcAft>
            </a:pPr>
            <a:r>
              <a:rPr sz="1350" b="1" i="0">
                <a:solidFill>
                  <a:srgbClr val="212121"/>
                </a:solidFill>
                <a:latin typeface="Calibri"/>
              </a:rPr>
              <a:t>This ladder is deliberately hard to climb. Many series pass step 1; few pass them all. We hold Paris itself to the same standard.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THE ARGUMENT</a:t>
            </a:r>
          </a:p>
          <a:p>
            <a:pPr algn="l">
              <a:spcAft>
                <a:spcPts val="0"/>
              </a:spcAft>
            </a:pPr>
            <a:r>
              <a:rPr sz="2400" b="1" i="0">
                <a:solidFill>
                  <a:srgbClr val="212121"/>
                </a:solidFill>
                <a:latin typeface="Calibri"/>
              </a:rPr>
              <a:t>Four acts</a:t>
            </a:r>
          </a:p>
        </p:txBody>
      </p:sp>
      <p:sp>
        <p:nvSpPr>
          <p:cNvPr id="3" name="TextBox 2"/>
          <p:cNvSpPr txBox="1"/>
          <p:nvPr/>
        </p:nvSpPr>
        <p:spPr>
          <a:xfrm>
            <a:off x="502920" y="1600200"/>
            <a:ext cx="2697480" cy="4206240"/>
          </a:xfrm>
          <a:prstGeom prst="rect">
            <a:avLst/>
          </a:prstGeom>
          <a:noFill/>
        </p:spPr>
        <p:txBody>
          <a:bodyPr wrap="square">
            <a:spAutoFit/>
          </a:bodyPr>
          <a:lstStyle/>
          <a:p>
            <a:pPr algn="l">
              <a:spcAft>
                <a:spcPts val="600"/>
              </a:spcAft>
            </a:pPr>
            <a:r>
              <a:rPr sz="4000" b="1" i="0">
                <a:solidFill>
                  <a:srgbClr val="1B7837"/>
                </a:solidFill>
                <a:latin typeface="Calibri"/>
              </a:rPr>
              <a:t>I</a:t>
            </a:r>
          </a:p>
          <a:p>
            <a:pPr algn="l">
              <a:spcAft>
                <a:spcPts val="800"/>
              </a:spcAft>
            </a:pPr>
            <a:r>
              <a:rPr sz="1600" b="1" i="0">
                <a:solidFill>
                  <a:srgbClr val="212121"/>
                </a:solidFill>
                <a:latin typeface="Calibri"/>
              </a:rPr>
              <a:t>Is the global bend Paris?</a:t>
            </a:r>
          </a:p>
          <a:p>
            <a:pPr algn="l">
              <a:spcAft>
                <a:spcPts val="0"/>
              </a:spcAft>
            </a:pPr>
            <a:r>
              <a:rPr sz="1250" b="0" i="0">
                <a:solidFill>
                  <a:srgbClr val="555555"/>
                </a:solidFill>
                <a:latin typeface="Calibri"/>
              </a:rPr>
              <a:t>Global curves bent in the 1970s; since ~2013 they are bending faster. The acceleration is real — its attribution is not yet identified.</a:t>
            </a:r>
          </a:p>
        </p:txBody>
      </p:sp>
      <p:sp>
        <p:nvSpPr>
          <p:cNvPr id="4" name="TextBox 3"/>
          <p:cNvSpPr txBox="1"/>
          <p:nvPr/>
        </p:nvSpPr>
        <p:spPr>
          <a:xfrm>
            <a:off x="3355848" y="1600200"/>
            <a:ext cx="2697480" cy="4206240"/>
          </a:xfrm>
          <a:prstGeom prst="rect">
            <a:avLst/>
          </a:prstGeom>
          <a:noFill/>
        </p:spPr>
        <p:txBody>
          <a:bodyPr wrap="square">
            <a:spAutoFit/>
          </a:bodyPr>
          <a:lstStyle/>
          <a:p>
            <a:pPr algn="l">
              <a:spcAft>
                <a:spcPts val="600"/>
              </a:spcAft>
            </a:pPr>
            <a:r>
              <a:rPr sz="4000" b="1" i="0">
                <a:solidFill>
                  <a:srgbClr val="1B7837"/>
                </a:solidFill>
                <a:latin typeface="Calibri"/>
              </a:rPr>
              <a:t>II</a:t>
            </a:r>
          </a:p>
          <a:p>
            <a:pPr algn="l">
              <a:spcAft>
                <a:spcPts val="800"/>
              </a:spcAft>
            </a:pPr>
            <a:r>
              <a:rPr sz="1600" b="1" i="0">
                <a:solidFill>
                  <a:srgbClr val="212121"/>
                </a:solidFill>
                <a:latin typeface="Calibri"/>
              </a:rPr>
              <a:t>What bends national curves?</a:t>
            </a:r>
          </a:p>
          <a:p>
            <a:pPr algn="l">
              <a:spcAft>
                <a:spcPts val="0"/>
              </a:spcAft>
            </a:pPr>
            <a:r>
              <a:rPr sz="1250" b="0" i="0">
                <a:solidFill>
                  <a:srgbClr val="555555"/>
                </a:solidFill>
                <a:latin typeface="Calibri"/>
              </a:rPr>
              <a:t>97 eligible breaks scattered across five decades and seven historically validated mechanism families.</a:t>
            </a:r>
          </a:p>
        </p:txBody>
      </p:sp>
      <p:sp>
        <p:nvSpPr>
          <p:cNvPr id="5" name="TextBox 4"/>
          <p:cNvSpPr txBox="1"/>
          <p:nvPr/>
        </p:nvSpPr>
        <p:spPr>
          <a:xfrm>
            <a:off x="6208776" y="1600200"/>
            <a:ext cx="2697480" cy="4206240"/>
          </a:xfrm>
          <a:prstGeom prst="rect">
            <a:avLst/>
          </a:prstGeom>
          <a:noFill/>
        </p:spPr>
        <p:txBody>
          <a:bodyPr wrap="square">
            <a:spAutoFit/>
          </a:bodyPr>
          <a:lstStyle/>
          <a:p>
            <a:pPr algn="l">
              <a:spcAft>
                <a:spcPts val="600"/>
              </a:spcAft>
            </a:pPr>
            <a:r>
              <a:rPr sz="4000" b="1" i="0">
                <a:solidFill>
                  <a:srgbClr val="1B7837"/>
                </a:solidFill>
                <a:latin typeface="Calibri"/>
              </a:rPr>
              <a:t>III</a:t>
            </a:r>
          </a:p>
          <a:p>
            <a:pPr algn="l">
              <a:spcAft>
                <a:spcPts val="800"/>
              </a:spcAft>
            </a:pPr>
            <a:r>
              <a:rPr sz="1600" b="1" i="0">
                <a:solidFill>
                  <a:srgbClr val="212121"/>
                </a:solidFill>
                <a:latin typeface="Calibri"/>
              </a:rPr>
              <a:t>Did the bends count?</a:t>
            </a:r>
          </a:p>
          <a:p>
            <a:pPr algn="l">
              <a:spcAft>
                <a:spcPts val="0"/>
              </a:spcAft>
            </a:pPr>
            <a:r>
              <a:rPr sz="1250" b="0" i="0">
                <a:solidFill>
                  <a:srgbClr val="555555"/>
                </a:solidFill>
                <a:latin typeface="Calibri"/>
              </a:rPr>
              <a:t>Transition quality separates genuine decarbonization from recessions, disruption, offshoring, and growth that outruns efficiency.</a:t>
            </a:r>
          </a:p>
        </p:txBody>
      </p:sp>
      <p:sp>
        <p:nvSpPr>
          <p:cNvPr id="6" name="TextBox 5"/>
          <p:cNvSpPr txBox="1"/>
          <p:nvPr/>
        </p:nvSpPr>
        <p:spPr>
          <a:xfrm>
            <a:off x="9061704" y="1600200"/>
            <a:ext cx="2697480" cy="4206240"/>
          </a:xfrm>
          <a:prstGeom prst="rect">
            <a:avLst/>
          </a:prstGeom>
          <a:noFill/>
        </p:spPr>
        <p:txBody>
          <a:bodyPr wrap="square">
            <a:spAutoFit/>
          </a:bodyPr>
          <a:lstStyle/>
          <a:p>
            <a:pPr algn="l">
              <a:spcAft>
                <a:spcPts val="600"/>
              </a:spcAft>
            </a:pPr>
            <a:r>
              <a:rPr sz="4000" b="1" i="0">
                <a:solidFill>
                  <a:srgbClr val="1B7837"/>
                </a:solidFill>
                <a:latin typeface="Calibri"/>
              </a:rPr>
              <a:t>IV</a:t>
            </a:r>
          </a:p>
          <a:p>
            <a:pPr algn="l">
              <a:spcAft>
                <a:spcPts val="800"/>
              </a:spcAft>
            </a:pPr>
            <a:r>
              <a:rPr sz="1600" b="1" i="0">
                <a:solidFill>
                  <a:srgbClr val="212121"/>
                </a:solidFill>
                <a:latin typeface="Calibri"/>
              </a:rPr>
              <a:t>Can we trust the story?</a:t>
            </a:r>
          </a:p>
          <a:p>
            <a:pPr algn="l">
              <a:spcAft>
                <a:spcPts val="0"/>
              </a:spcAft>
            </a:pPr>
            <a:r>
              <a:rPr sz="1250" b="0" i="0">
                <a:solidFill>
                  <a:srgbClr val="555555"/>
                </a:solidFill>
                <a:latin typeface="Calibri"/>
              </a:rPr>
              <a:t>Event-timing tests against chance, external ratings, consumption-based accounting — and unresolved cases reported as such.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ACT I · IS THE GLOBAL BEND PARIS?</a:t>
            </a:r>
          </a:p>
          <a:p>
            <a:pPr algn="l">
              <a:spcAft>
                <a:spcPts val="0"/>
              </a:spcAft>
            </a:pPr>
            <a:r>
              <a:rPr sz="2400" b="1" i="0">
                <a:solidFill>
                  <a:srgbClr val="212121"/>
                </a:solidFill>
                <a:latin typeface="Calibri"/>
              </a:rPr>
              <a:t>Global curves first bent in the 1970s</a:t>
            </a:r>
          </a:p>
        </p:txBody>
      </p:sp>
      <p:sp>
        <p:nvSpPr>
          <p:cNvPr id="3" name="TextBox 2"/>
          <p:cNvSpPr txBox="1"/>
          <p:nvPr/>
        </p:nvSpPr>
        <p:spPr>
          <a:xfrm>
            <a:off x="502920" y="1207008"/>
            <a:ext cx="11201400" cy="603504"/>
          </a:xfrm>
          <a:prstGeom prst="rect">
            <a:avLst/>
          </a:prstGeom>
          <a:noFill/>
        </p:spPr>
        <p:txBody>
          <a:bodyPr wrap="square">
            <a:spAutoFit/>
          </a:bodyPr>
          <a:lstStyle/>
          <a:p>
            <a:pPr algn="l">
              <a:spcAft>
                <a:spcPts val="0"/>
              </a:spcAft>
            </a:pPr>
            <a:r>
              <a:rPr sz="1250" b="1" i="0">
                <a:solidFill>
                  <a:srgbClr val="3A66A5"/>
                </a:solidFill>
                <a:latin typeface="Calibri"/>
              </a:rPr>
              <a:t>How to read it:  </a:t>
            </a:r>
            <a:r>
              <a:rPr sz="1250" b="0" i="0">
                <a:solidFill>
                  <a:srgbClr val="555555"/>
                </a:solidFill>
                <a:latin typeface="Calibri"/>
              </a:rPr>
              <a:t>Gray dots are the world's CO2 per dollar of output each year (1965 = 100). The red line is the best-fitting pair of straight lines; where they meet — 1973 — is the estimated break. Rio and Paris are marked for comparison: both come long after the bend. The lower panel repeats the estimate for each component; the whiskers show how uncertain each break year is.</a:t>
            </a:r>
          </a:p>
        </p:txBody>
      </p:sp>
      <p:pic>
        <p:nvPicPr>
          <p:cNvPr id="4" name="Picture 3" descr="takeaway_fig01_global_bend_predates_treaties.png"/>
          <p:cNvPicPr>
            <a:picLocks noChangeAspect="1"/>
          </p:cNvPicPr>
          <p:nvPr/>
        </p:nvPicPr>
        <p:blipFill>
          <a:blip r:embed="rId2"/>
          <a:stretch>
            <a:fillRect/>
          </a:stretch>
        </p:blipFill>
        <p:spPr>
          <a:xfrm>
            <a:off x="3102944" y="1865376"/>
            <a:ext cx="5983063" cy="473659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ACT I · IS THE GLOBAL BEND PARIS?</a:t>
            </a:r>
          </a:p>
          <a:p>
            <a:pPr algn="l">
              <a:spcAft>
                <a:spcPts val="0"/>
              </a:spcAft>
            </a:pPr>
            <a:r>
              <a:rPr sz="2400" b="1" i="0">
                <a:solidFill>
                  <a:srgbClr val="212121"/>
                </a:solidFill>
                <a:latin typeface="Calibri"/>
              </a:rPr>
              <a:t>Paris at ten: ahead of trend — but the bend began earlier</a:t>
            </a:r>
          </a:p>
        </p:txBody>
      </p:sp>
      <p:sp>
        <p:nvSpPr>
          <p:cNvPr id="3" name="TextBox 2"/>
          <p:cNvSpPr txBox="1"/>
          <p:nvPr/>
        </p:nvSpPr>
        <p:spPr>
          <a:xfrm>
            <a:off x="502920" y="1207008"/>
            <a:ext cx="11201400" cy="603504"/>
          </a:xfrm>
          <a:prstGeom prst="rect">
            <a:avLst/>
          </a:prstGeom>
          <a:noFill/>
        </p:spPr>
        <p:txBody>
          <a:bodyPr wrap="square">
            <a:spAutoFit/>
          </a:bodyPr>
          <a:lstStyle/>
          <a:p>
            <a:pPr algn="l">
              <a:spcAft>
                <a:spcPts val="0"/>
              </a:spcAft>
            </a:pPr>
            <a:r>
              <a:rPr sz="1250" b="1" i="0">
                <a:solidFill>
                  <a:srgbClr val="3A66A5"/>
                </a:solidFill>
                <a:latin typeface="Calibri"/>
              </a:rPr>
              <a:t>How to read it:  </a:t>
            </a:r>
            <a:r>
              <a:rPr sz="1250" b="0" i="0">
                <a:solidFill>
                  <a:srgbClr val="555555"/>
                </a:solidFill>
                <a:latin typeface="Calibri"/>
              </a:rPr>
              <a:t>We draw the 1990–2015 trend, then extend it past Paris (dashed line) with a band showing where future years should fall if nothing changed. Red dots are the actual years since Paris. Dots below the band mean the world is now improving faster than its old trend — clearly so for the fuel mix, not at all for energy efficiency.</a:t>
            </a:r>
          </a:p>
        </p:txBody>
      </p:sp>
      <p:pic>
        <p:nvPicPr>
          <p:cNvPr id="4" name="Picture 3" descr="takeaway_fig02a_paris_and_the_long_trend.png"/>
          <p:cNvPicPr>
            <a:picLocks noChangeAspect="1"/>
          </p:cNvPicPr>
          <p:nvPr/>
        </p:nvPicPr>
        <p:blipFill>
          <a:blip r:embed="rId2"/>
          <a:stretch>
            <a:fillRect/>
          </a:stretch>
        </p:blipFill>
        <p:spPr>
          <a:xfrm>
            <a:off x="963168" y="1865376"/>
            <a:ext cx="10262616" cy="473659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ACT I · IS THE GLOBAL BEND PARIS?</a:t>
            </a:r>
          </a:p>
          <a:p>
            <a:pPr algn="l">
              <a:spcAft>
                <a:spcPts val="0"/>
              </a:spcAft>
            </a:pPr>
            <a:r>
              <a:rPr sz="2400" b="1" i="0">
                <a:solidFill>
                  <a:srgbClr val="212121"/>
                </a:solidFill>
                <a:latin typeface="Calibri"/>
              </a:rPr>
              <a:t>The arithmetic: intensity must fall as fast as GDP grows</a:t>
            </a:r>
          </a:p>
        </p:txBody>
      </p:sp>
      <p:sp>
        <p:nvSpPr>
          <p:cNvPr id="3" name="TextBox 2"/>
          <p:cNvSpPr txBox="1"/>
          <p:nvPr/>
        </p:nvSpPr>
        <p:spPr>
          <a:xfrm>
            <a:off x="502920" y="1207008"/>
            <a:ext cx="11201400" cy="603504"/>
          </a:xfrm>
          <a:prstGeom prst="rect">
            <a:avLst/>
          </a:prstGeom>
          <a:noFill/>
        </p:spPr>
        <p:txBody>
          <a:bodyPr wrap="square">
            <a:spAutoFit/>
          </a:bodyPr>
          <a:lstStyle/>
          <a:p>
            <a:pPr algn="l">
              <a:spcAft>
                <a:spcPts val="0"/>
              </a:spcAft>
            </a:pPr>
            <a:r>
              <a:rPr sz="1250" b="1" i="0">
                <a:solidFill>
                  <a:srgbClr val="3A66A5"/>
                </a:solidFill>
                <a:latin typeface="Calibri"/>
              </a:rPr>
              <a:t>How to read it:  </a:t>
            </a:r>
            <a:r>
              <a:rPr sz="1250" b="0" i="0">
                <a:solidFill>
                  <a:srgbClr val="555555"/>
                </a:solidFill>
                <a:latin typeface="Calibri"/>
              </a:rPr>
              <a:t>Each bar is an average annual growth rate. By construction, the red emissions bar equals the gray GDP bar plus the two colored intensity bars. Emissions stop growing only when the colored bars together are as long as the gray one — the dotted line marks that target. We are closer than before Paris, but not there.</a:t>
            </a:r>
          </a:p>
        </p:txBody>
      </p:sp>
      <p:pic>
        <p:nvPicPr>
          <p:cNvPr id="4" name="Picture 3" descr="takeaway_fig02b_stabilization_arithmetic.png"/>
          <p:cNvPicPr>
            <a:picLocks noChangeAspect="1"/>
          </p:cNvPicPr>
          <p:nvPr/>
        </p:nvPicPr>
        <p:blipFill>
          <a:blip r:embed="rId2"/>
          <a:stretch>
            <a:fillRect/>
          </a:stretch>
        </p:blipFill>
        <p:spPr>
          <a:xfrm>
            <a:off x="963168" y="1865376"/>
            <a:ext cx="10262616" cy="473659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ACT I · IS THE GLOBAL BEND PARIS?</a:t>
            </a:r>
          </a:p>
          <a:p>
            <a:pPr algn="l">
              <a:spcAft>
                <a:spcPts val="0"/>
              </a:spcAft>
            </a:pPr>
            <a:r>
              <a:rPr sz="2400" b="1" i="0">
                <a:solidFill>
                  <a:srgbClr val="212121"/>
                </a:solidFill>
                <a:latin typeface="Calibri"/>
              </a:rPr>
              <a:t>Why a treaty-year result needs a placebo test</a:t>
            </a:r>
          </a:p>
        </p:txBody>
      </p:sp>
      <p:sp>
        <p:nvSpPr>
          <p:cNvPr id="3" name="TextBox 2"/>
          <p:cNvSpPr txBox="1"/>
          <p:nvPr/>
        </p:nvSpPr>
        <p:spPr>
          <a:xfrm>
            <a:off x="502920" y="1207008"/>
            <a:ext cx="11201400" cy="603504"/>
          </a:xfrm>
          <a:prstGeom prst="rect">
            <a:avLst/>
          </a:prstGeom>
          <a:noFill/>
        </p:spPr>
        <p:txBody>
          <a:bodyPr wrap="square">
            <a:spAutoFit/>
          </a:bodyPr>
          <a:lstStyle/>
          <a:p>
            <a:pPr algn="l">
              <a:spcAft>
                <a:spcPts val="0"/>
              </a:spcAft>
            </a:pPr>
            <a:r>
              <a:rPr sz="1250" b="1" i="0">
                <a:solidFill>
                  <a:srgbClr val="3A66A5"/>
                </a:solidFill>
                <a:latin typeface="Calibri"/>
              </a:rPr>
              <a:t>How to read it:  </a:t>
            </a:r>
            <a:r>
              <a:rPr sz="1250" b="0" i="0">
                <a:solidFill>
                  <a:srgbClr val="555555"/>
                </a:solidFill>
                <a:latin typeface="Calibri"/>
              </a:rPr>
              <a:t>Top: we place the break at every possible year, one at a time, and record how much better the model fits. Rio fits well — but so do many neighboring years, which is why a good fit at a treaty year proves little on its own. Bottom: the share of country series with a significant change at each treaty year (left point) versus the share where the treaty year also beats its neighbors (right point).</a:t>
            </a:r>
          </a:p>
        </p:txBody>
      </p:sp>
      <p:pic>
        <p:nvPicPr>
          <p:cNvPr id="4" name="Picture 3" descr="takeaway_fig02_placebo_test.png"/>
          <p:cNvPicPr>
            <a:picLocks noChangeAspect="1"/>
          </p:cNvPicPr>
          <p:nvPr/>
        </p:nvPicPr>
        <p:blipFill>
          <a:blip r:embed="rId2"/>
          <a:stretch>
            <a:fillRect/>
          </a:stretch>
        </p:blipFill>
        <p:spPr>
          <a:xfrm>
            <a:off x="3252520" y="1865376"/>
            <a:ext cx="5683910" cy="473659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ACT I · VERDICT</a:t>
            </a:r>
          </a:p>
          <a:p>
            <a:pPr algn="l">
              <a:spcAft>
                <a:spcPts val="0"/>
              </a:spcAft>
            </a:pPr>
            <a:r>
              <a:rPr sz="2400" b="1" i="0">
                <a:solidFill>
                  <a:srgbClr val="212121"/>
                </a:solidFill>
                <a:latin typeface="Calibri"/>
              </a:rPr>
              <a:t>The global record can show an acceleration — not yet its author</a:t>
            </a:r>
          </a:p>
        </p:txBody>
      </p:sp>
      <p:sp>
        <p:nvSpPr>
          <p:cNvPr id="3" name="TextBox 2"/>
          <p:cNvSpPr txBox="1"/>
          <p:nvPr/>
        </p:nvSpPr>
        <p:spPr>
          <a:xfrm>
            <a:off x="502920" y="1463040"/>
            <a:ext cx="5532120" cy="4937760"/>
          </a:xfrm>
          <a:prstGeom prst="rect">
            <a:avLst/>
          </a:prstGeom>
          <a:noFill/>
        </p:spPr>
        <p:txBody>
          <a:bodyPr wrap="square">
            <a:spAutoFit/>
          </a:bodyPr>
          <a:lstStyle/>
          <a:p>
            <a:pPr algn="l">
              <a:spcAft>
                <a:spcPts val="600"/>
              </a:spcAft>
            </a:pPr>
            <a:r>
              <a:rPr sz="1600" b="1" i="0">
                <a:solidFill>
                  <a:srgbClr val="1B7837"/>
                </a:solidFill>
                <a:latin typeface="Calibri"/>
              </a:rPr>
              <a:t>What the data establishes</a:t>
            </a:r>
          </a:p>
          <a:p>
            <a:pPr algn="l">
              <a:spcAft>
                <a:spcPts val="700"/>
              </a:spcAft>
            </a:pPr>
            <a:r>
              <a:rPr sz="1350" b="1" i="0">
                <a:solidFill>
                  <a:srgbClr val="1B7837"/>
                </a:solidFill>
                <a:latin typeface="Calibri"/>
              </a:rPr>
              <a:t>•  </a:t>
            </a:r>
            <a:r>
              <a:rPr sz="1350" b="0" i="0">
                <a:solidFill>
                  <a:srgbClr val="555555"/>
                </a:solidFill>
                <a:latin typeface="Calibri"/>
              </a:rPr>
              <a:t>A real post-2013 supply-side acceleration: the fuel mix is improving −0.5%/yr after a flat quarter-century; overall intensity is falling ~0.9 pp/yr faster than its Rio-to-Paris trend.</a:t>
            </a:r>
          </a:p>
          <a:p>
            <a:pPr algn="l">
              <a:spcAft>
                <a:spcPts val="700"/>
              </a:spcAft>
            </a:pPr>
            <a:r>
              <a:rPr sz="1350" b="1" i="0">
                <a:solidFill>
                  <a:srgbClr val="1B7837"/>
                </a:solidFill>
                <a:latin typeface="Calibri"/>
              </a:rPr>
              <a:t>•  </a:t>
            </a:r>
            <a:r>
              <a:rPr sz="1350" b="0" i="0">
                <a:solidFill>
                  <a:srgbClr val="555555"/>
                </a:solidFill>
                <a:latin typeface="Calibri"/>
              </a:rPr>
              <a:t>Emissions growth slowed from +2.1 to +0.4%/yr — the direction an effective Paris requires.</a:t>
            </a:r>
          </a:p>
          <a:p>
            <a:pPr algn="l">
              <a:spcAft>
                <a:spcPts val="700"/>
              </a:spcAft>
            </a:pPr>
            <a:r>
              <a:rPr sz="1350" b="1" i="0">
                <a:solidFill>
                  <a:srgbClr val="1B7837"/>
                </a:solidFill>
                <a:latin typeface="Calibri"/>
              </a:rPr>
              <a:t>•  </a:t>
            </a:r>
            <a:r>
              <a:rPr sz="1350" b="0" i="0">
                <a:solidFill>
                  <a:srgbClr val="555555"/>
                </a:solidFill>
                <a:latin typeface="Calibri"/>
              </a:rPr>
              <a:t>No acceleration on the demand side: energy efficiency continues its 50-year trend, no faster.</a:t>
            </a:r>
          </a:p>
        </p:txBody>
      </p:sp>
      <p:sp>
        <p:nvSpPr>
          <p:cNvPr id="4" name="TextBox 3"/>
          <p:cNvSpPr txBox="1"/>
          <p:nvPr/>
        </p:nvSpPr>
        <p:spPr>
          <a:xfrm>
            <a:off x="6400800" y="1463040"/>
            <a:ext cx="5303520" cy="4937760"/>
          </a:xfrm>
          <a:prstGeom prst="rect">
            <a:avLst/>
          </a:prstGeom>
          <a:noFill/>
        </p:spPr>
        <p:txBody>
          <a:bodyPr wrap="square">
            <a:spAutoFit/>
          </a:bodyPr>
          <a:lstStyle/>
          <a:p>
            <a:pPr algn="l">
              <a:spcAft>
                <a:spcPts val="600"/>
              </a:spcAft>
            </a:pPr>
            <a:r>
              <a:rPr sz="1600" b="1" i="0">
                <a:solidFill>
                  <a:srgbClr val="B33A3A"/>
                </a:solidFill>
                <a:latin typeface="Calibri"/>
              </a:rPr>
              <a:t>Why attribution stays open</a:t>
            </a:r>
          </a:p>
          <a:p>
            <a:pPr algn="l">
              <a:spcAft>
                <a:spcPts val="700"/>
              </a:spcAft>
            </a:pPr>
            <a:r>
              <a:rPr sz="1350" b="1" i="0">
                <a:solidFill>
                  <a:srgbClr val="B33A3A"/>
                </a:solidFill>
                <a:latin typeface="Calibri"/>
              </a:rPr>
              <a:t>•  </a:t>
            </a:r>
            <a:r>
              <a:rPr sz="1350" b="0" i="0">
                <a:solidFill>
                  <a:srgbClr val="555555"/>
                </a:solidFill>
                <a:latin typeface="Calibri"/>
              </a:rPr>
              <a:t>Timing: start years from 2011 to 2016 fit about equally well (best: 2013) — indistinguishable from the renewables cost collapse that preceded Paris.</a:t>
            </a:r>
          </a:p>
          <a:p>
            <a:pPr algn="l">
              <a:spcAft>
                <a:spcPts val="700"/>
              </a:spcAft>
            </a:pPr>
            <a:r>
              <a:rPr sz="1350" b="1" i="0">
                <a:solidFill>
                  <a:srgbClr val="B33A3A"/>
                </a:solidFill>
                <a:latin typeface="Calibri"/>
              </a:rPr>
              <a:t>•  </a:t>
            </a:r>
            <a:r>
              <a:rPr sz="1350" b="0" i="0">
                <a:solidFill>
                  <a:srgbClr val="555555"/>
                </a:solidFill>
                <a:latin typeface="Calibri"/>
              </a:rPr>
              <a:t>Power: with only 8 post-Paris years, we could only detect a very large acceleration — Paris would have had to double a 50-year trend to prove itself already.</a:t>
            </a:r>
          </a:p>
          <a:p>
            <a:pPr algn="l">
              <a:spcAft>
                <a:spcPts val="700"/>
              </a:spcAft>
            </a:pPr>
            <a:r>
              <a:rPr sz="1350" b="1" i="0">
                <a:solidFill>
                  <a:srgbClr val="B33A3A"/>
                </a:solidFill>
                <a:latin typeface="Calibri"/>
              </a:rPr>
              <a:t>•  </a:t>
            </a:r>
            <a:r>
              <a:rPr sz="1350" b="0" i="0">
                <a:solidFill>
                  <a:srgbClr val="555555"/>
                </a:solidFill>
                <a:latin typeface="Calibri"/>
              </a:rPr>
              <a:t>Aggregation: China's WTO-era coal boom flattened the global fuel-mix baseline; the world series is a China-weighted average that hides national signals.</a:t>
            </a:r>
          </a:p>
          <a:p>
            <a:pPr algn="l">
              <a:spcAft>
                <a:spcPts val="700"/>
              </a:spcAft>
            </a:pPr>
            <a:r>
              <a:rPr sz="1350" b="1" i="0">
                <a:solidFill>
                  <a:srgbClr val="B33A3A"/>
                </a:solidFill>
                <a:latin typeface="Calibri"/>
              </a:rPr>
              <a:t>•  </a:t>
            </a:r>
            <a:r>
              <a:rPr sz="1350" b="0" i="0">
                <a:solidFill>
                  <a:srgbClr val="555555"/>
                </a:solidFill>
                <a:latin typeface="Calibri"/>
              </a:rPr>
              <a:t>Design: Paris works through national pledges and national transformation — its signature should appear country by country. So we look there.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ACT II · WHAT BENDS NATIONAL CURVES?</a:t>
            </a:r>
          </a:p>
          <a:p>
            <a:pPr algn="l">
              <a:spcAft>
                <a:spcPts val="0"/>
              </a:spcAft>
            </a:pPr>
            <a:r>
              <a:rPr sz="2400" b="1" i="0">
                <a:solidFill>
                  <a:srgbClr val="212121"/>
                </a:solidFill>
                <a:latin typeface="Calibri"/>
              </a:rPr>
              <a:t>97 national breaks, five decades of economic history</a:t>
            </a:r>
          </a:p>
        </p:txBody>
      </p:sp>
      <p:sp>
        <p:nvSpPr>
          <p:cNvPr id="3" name="TextBox 2"/>
          <p:cNvSpPr txBox="1"/>
          <p:nvPr/>
        </p:nvSpPr>
        <p:spPr>
          <a:xfrm>
            <a:off x="502920" y="1207008"/>
            <a:ext cx="11201400" cy="603504"/>
          </a:xfrm>
          <a:prstGeom prst="rect">
            <a:avLst/>
          </a:prstGeom>
          <a:noFill/>
        </p:spPr>
        <p:txBody>
          <a:bodyPr wrap="square">
            <a:spAutoFit/>
          </a:bodyPr>
          <a:lstStyle/>
          <a:p>
            <a:pPr algn="l">
              <a:spcAft>
                <a:spcPts val="0"/>
              </a:spcAft>
            </a:pPr>
            <a:r>
              <a:rPr sz="1250" b="1" i="0">
                <a:solidFill>
                  <a:srgbClr val="3A66A5"/>
                </a:solidFill>
                <a:latin typeface="Calibri"/>
              </a:rPr>
              <a:t>How to read it:  </a:t>
            </a:r>
            <a:r>
              <a:rPr sz="1250" b="0" i="0">
                <a:solidFill>
                  <a:srgbClr val="555555"/>
                </a:solidFill>
                <a:latin typeface="Calibri"/>
              </a:rPr>
              <a:t>Top: each dot is one country, placed at its estimated break year; green triangles are the nine policy-enabled cases. Shaded bands mark major economic and political episodes; Rio and Paris are the two dashed lines. Bottom: how often a documented historical event falls near a country's break (red) versus what randomly chosen years would produce (blue).</a:t>
            </a:r>
          </a:p>
        </p:txBody>
      </p:sp>
      <p:pic>
        <p:nvPicPr>
          <p:cNvPr id="4" name="Picture 3" descr="takeaway_fig03_when_and_why_curves_bend.png"/>
          <p:cNvPicPr>
            <a:picLocks noChangeAspect="1"/>
          </p:cNvPicPr>
          <p:nvPr/>
        </p:nvPicPr>
        <p:blipFill>
          <a:blip r:embed="rId2"/>
          <a:stretch>
            <a:fillRect/>
          </a:stretch>
        </p:blipFill>
        <p:spPr>
          <a:xfrm>
            <a:off x="3015691" y="1865376"/>
            <a:ext cx="6157569" cy="473659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ACT II · WHAT BENDS NATIONAL CURVES?</a:t>
            </a:r>
          </a:p>
          <a:p>
            <a:pPr algn="l">
              <a:spcAft>
                <a:spcPts val="0"/>
              </a:spcAft>
            </a:pPr>
            <a:r>
              <a:rPr sz="2400" b="1" i="0">
                <a:solidFill>
                  <a:srgbClr val="212121"/>
                </a:solidFill>
                <a:latin typeface="Calibri"/>
              </a:rPr>
              <a:t>What accompanied the bends</a:t>
            </a:r>
          </a:p>
        </p:txBody>
      </p:sp>
      <p:sp>
        <p:nvSpPr>
          <p:cNvPr id="3" name="TextBox 2"/>
          <p:cNvSpPr txBox="1"/>
          <p:nvPr/>
        </p:nvSpPr>
        <p:spPr>
          <a:xfrm>
            <a:off x="502920" y="1207008"/>
            <a:ext cx="11201400" cy="603504"/>
          </a:xfrm>
          <a:prstGeom prst="rect">
            <a:avLst/>
          </a:prstGeom>
          <a:noFill/>
        </p:spPr>
        <p:txBody>
          <a:bodyPr wrap="square">
            <a:spAutoFit/>
          </a:bodyPr>
          <a:lstStyle/>
          <a:p>
            <a:pPr algn="l">
              <a:spcAft>
                <a:spcPts val="0"/>
              </a:spcAft>
            </a:pPr>
            <a:r>
              <a:rPr sz="1250" b="1" i="0">
                <a:solidFill>
                  <a:srgbClr val="3A66A5"/>
                </a:solidFill>
                <a:latin typeface="Calibri"/>
              </a:rPr>
              <a:t>How to read it:  </a:t>
            </a:r>
            <a:r>
              <a:rPr sz="1250" b="0" i="0">
                <a:solidFill>
                  <a:srgbClr val="555555"/>
                </a:solidFill>
                <a:latin typeface="Calibri"/>
              </a:rPr>
              <a:t>One square per country, grouped by the historical process best supported by documentary evidence around its break. Green marks the countries where climate policy and low-carbon technology are that best-supported process; light gray means the record cannot yet explain the break — reported honestly rather than forced into a category.</a:t>
            </a:r>
          </a:p>
        </p:txBody>
      </p:sp>
      <p:pic>
        <p:nvPicPr>
          <p:cNvPr id="4" name="Picture 3" descr="takeaway_fig04_mechanism_census.png"/>
          <p:cNvPicPr>
            <a:picLocks noChangeAspect="1"/>
          </p:cNvPicPr>
          <p:nvPr/>
        </p:nvPicPr>
        <p:blipFill>
          <a:blip r:embed="rId2"/>
          <a:stretch>
            <a:fillRect/>
          </a:stretch>
        </p:blipFill>
        <p:spPr>
          <a:xfrm>
            <a:off x="1194553" y="1865376"/>
            <a:ext cx="9799845" cy="473659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C77F00"/>
                </a:solidFill>
                <a:latin typeface="Calibri"/>
              </a:rPr>
              <a:t>ACT III · DID THE BENDS COUNT?</a:t>
            </a:r>
          </a:p>
          <a:p>
            <a:pPr algn="l">
              <a:spcAft>
                <a:spcPts val="0"/>
              </a:spcAft>
            </a:pPr>
            <a:r>
              <a:rPr sz="2400" b="1" i="0">
                <a:solidFill>
                  <a:srgbClr val="212121"/>
                </a:solidFill>
                <a:latin typeface="Calibri"/>
              </a:rPr>
              <a:t>Seven mechanisms, six verdicts</a:t>
            </a:r>
          </a:p>
        </p:txBody>
      </p:sp>
      <p:sp>
        <p:nvSpPr>
          <p:cNvPr id="3" name="TextBox 2"/>
          <p:cNvSpPr txBox="1"/>
          <p:nvPr/>
        </p:nvSpPr>
        <p:spPr>
          <a:xfrm>
            <a:off x="502920" y="1371600"/>
            <a:ext cx="5532120" cy="5212080"/>
          </a:xfrm>
          <a:prstGeom prst="rect">
            <a:avLst/>
          </a:prstGeom>
          <a:noFill/>
        </p:spPr>
        <p:txBody>
          <a:bodyPr wrap="square">
            <a:spAutoFit/>
          </a:bodyPr>
          <a:lstStyle/>
          <a:p>
            <a:pPr algn="l">
              <a:spcAft>
                <a:spcPts val="600"/>
              </a:spcAft>
            </a:pPr>
            <a:r>
              <a:rPr sz="1400" b="1" i="0">
                <a:solidFill>
                  <a:srgbClr val="212121"/>
                </a:solidFill>
                <a:latin typeface="Calibri"/>
              </a:rPr>
              <a:t>MECHANISMS — what accompanied the bend</a:t>
            </a:r>
          </a:p>
          <a:p>
            <a:pPr algn="l">
              <a:spcAft>
                <a:spcPts val="400"/>
              </a:spcAft>
            </a:pPr>
            <a:r>
              <a:rPr sz="1200" b="1" i="0">
                <a:solidFill>
                  <a:srgbClr val="212121"/>
                </a:solidFill>
                <a:latin typeface="Calibri"/>
              </a:rPr>
              <a:t>Policy-enabled low carbon — </a:t>
            </a:r>
            <a:r>
              <a:rPr sz="1200" b="0" i="0">
                <a:solidFill>
                  <a:srgbClr val="555555"/>
                </a:solidFill>
                <a:latin typeface="Calibri"/>
              </a:rPr>
              <a:t>deliberate climate/energy policy made physical: infrastructure, fuel mix, market design.</a:t>
            </a:r>
          </a:p>
          <a:p>
            <a:pPr algn="l">
              <a:spcAft>
                <a:spcPts val="400"/>
              </a:spcAft>
            </a:pPr>
            <a:r>
              <a:rPr sz="1200" b="1" i="0">
                <a:solidFill>
                  <a:srgbClr val="212121"/>
                </a:solidFill>
                <a:latin typeface="Calibri"/>
              </a:rPr>
              <a:t>Fuel &amp; energy markets — </a:t>
            </a:r>
            <a:r>
              <a:rPr sz="1200" b="0" i="0">
                <a:solidFill>
                  <a:srgbClr val="555555"/>
                </a:solidFill>
                <a:latin typeface="Calibri"/>
              </a:rPr>
              <a:t>market-driven fuel switching or supply transformation.</a:t>
            </a:r>
          </a:p>
          <a:p>
            <a:pPr algn="l">
              <a:spcAft>
                <a:spcPts val="400"/>
              </a:spcAft>
            </a:pPr>
            <a:r>
              <a:rPr sz="1200" b="1" i="0">
                <a:solidFill>
                  <a:srgbClr val="212121"/>
                </a:solidFill>
                <a:latin typeface="Calibri"/>
              </a:rPr>
              <a:t>Economic restructuring — </a:t>
            </a:r>
            <a:r>
              <a:rPr sz="1200" b="0" i="0">
                <a:solidFill>
                  <a:srgbClr val="555555"/>
                </a:solidFill>
                <a:latin typeface="Calibri"/>
              </a:rPr>
              <a:t>industry to services, liberalization, post-socialist transition.</a:t>
            </a:r>
          </a:p>
          <a:p>
            <a:pPr algn="l">
              <a:spcAft>
                <a:spcPts val="400"/>
              </a:spcAft>
            </a:pPr>
            <a:r>
              <a:rPr sz="1200" b="1" i="0">
                <a:solidFill>
                  <a:srgbClr val="212121"/>
                </a:solidFill>
                <a:latin typeface="Calibri"/>
              </a:rPr>
              <a:t>Macroeconomic shock — </a:t>
            </a:r>
            <a:r>
              <a:rPr sz="1200" b="0" i="0">
                <a:solidFill>
                  <a:srgbClr val="555555"/>
                </a:solidFill>
                <a:latin typeface="Calibri"/>
              </a:rPr>
              <a:t>recessions and financial crises that cut energy use.</a:t>
            </a:r>
          </a:p>
          <a:p>
            <a:pPr algn="l">
              <a:spcAft>
                <a:spcPts val="400"/>
              </a:spcAft>
            </a:pPr>
            <a:r>
              <a:rPr sz="1200" b="1" i="0">
                <a:solidFill>
                  <a:srgbClr val="212121"/>
                </a:solidFill>
                <a:latin typeface="Calibri"/>
              </a:rPr>
              <a:t>Political disruption — </a:t>
            </a:r>
            <a:r>
              <a:rPr sz="1200" b="0" i="0">
                <a:solidFill>
                  <a:srgbClr val="555555"/>
                </a:solidFill>
                <a:latin typeface="Calibri"/>
              </a:rPr>
              <a:t>wars, state collapse, sanctions, regime change.</a:t>
            </a:r>
          </a:p>
          <a:p>
            <a:pPr algn="l">
              <a:spcAft>
                <a:spcPts val="400"/>
              </a:spcAft>
            </a:pPr>
            <a:r>
              <a:rPr sz="1200" b="1" i="0">
                <a:solidFill>
                  <a:srgbClr val="212121"/>
                </a:solidFill>
                <a:latin typeface="Calibri"/>
              </a:rPr>
              <a:t>Development &amp; energy access — </a:t>
            </a:r>
            <a:r>
              <a:rPr sz="1200" b="0" i="0">
                <a:solidFill>
                  <a:srgbClr val="555555"/>
                </a:solidFill>
                <a:latin typeface="Calibri"/>
              </a:rPr>
              <a:t>electrification and modernization.</a:t>
            </a:r>
          </a:p>
          <a:p>
            <a:pPr algn="l">
              <a:spcAft>
                <a:spcPts val="400"/>
              </a:spcAft>
            </a:pPr>
            <a:r>
              <a:rPr sz="1200" b="1" i="0">
                <a:solidFill>
                  <a:srgbClr val="212121"/>
                </a:solidFill>
                <a:latin typeface="Calibri"/>
              </a:rPr>
              <a:t>No attributed mechanism — </a:t>
            </a:r>
            <a:r>
              <a:rPr sz="1200" b="0" i="0">
                <a:solidFill>
                  <a:srgbClr val="555555"/>
                </a:solidFill>
                <a:latin typeface="Calibri"/>
              </a:rPr>
              <a:t>a real, eligible break the record cannot yet explain (22 of 97).</a:t>
            </a:r>
          </a:p>
        </p:txBody>
      </p:sp>
      <p:sp>
        <p:nvSpPr>
          <p:cNvPr id="4" name="TextBox 3"/>
          <p:cNvSpPr txBox="1"/>
          <p:nvPr/>
        </p:nvSpPr>
        <p:spPr>
          <a:xfrm>
            <a:off x="6400800" y="1371600"/>
            <a:ext cx="5303520" cy="5212080"/>
          </a:xfrm>
          <a:prstGeom prst="rect">
            <a:avLst/>
          </a:prstGeom>
          <a:noFill/>
        </p:spPr>
        <p:txBody>
          <a:bodyPr wrap="square">
            <a:spAutoFit/>
          </a:bodyPr>
          <a:lstStyle/>
          <a:p>
            <a:pPr algn="l">
              <a:spcAft>
                <a:spcPts val="400"/>
              </a:spcAft>
            </a:pPr>
            <a:r>
              <a:rPr sz="1400" b="1" i="0">
                <a:solidFill>
                  <a:srgbClr val="212121"/>
                </a:solidFill>
                <a:latin typeface="Calibri"/>
              </a:rPr>
              <a:t>VERDICTS — four tests of the outcome</a:t>
            </a:r>
          </a:p>
          <a:p>
            <a:pPr algn="l">
              <a:spcAft>
                <a:spcPts val="800"/>
              </a:spcAft>
            </a:pPr>
            <a:r>
              <a:rPr sz="1250" b="0" i="1">
                <a:solidFill>
                  <a:srgbClr val="555555"/>
                </a:solidFill>
                <a:latin typeface="Calibri"/>
              </a:rPr>
              <a:t>Did the trend improve? Did it last? Did absolute CO2 actually fall? Was the underlying process constructive?</a:t>
            </a:r>
          </a:p>
          <a:p>
            <a:pPr algn="l">
              <a:spcAft>
                <a:spcPts val="400"/>
              </a:spcAft>
            </a:pPr>
            <a:r>
              <a:rPr sz="1200" b="1" i="0">
                <a:solidFill>
                  <a:srgbClr val="212121"/>
                </a:solidFill>
                <a:latin typeface="Calibri"/>
              </a:rPr>
              <a:t>Constructive persistent decarbonization </a:t>
            </a:r>
            <a:r>
              <a:rPr sz="1200" b="1" i="0">
                <a:solidFill>
                  <a:srgbClr val="1B7837"/>
                </a:solidFill>
                <a:latin typeface="Calibri"/>
              </a:rPr>
              <a:t>(9) — </a:t>
            </a:r>
            <a:r>
              <a:rPr sz="1200" b="0" i="0">
                <a:solidFill>
                  <a:srgbClr val="555555"/>
                </a:solidFill>
                <a:latin typeface="Calibri"/>
              </a:rPr>
              <a:t>passes all four — the gold standard.</a:t>
            </a:r>
          </a:p>
          <a:p>
            <a:pPr algn="l">
              <a:spcAft>
                <a:spcPts val="400"/>
              </a:spcAft>
            </a:pPr>
            <a:r>
              <a:rPr sz="1200" b="1" i="0">
                <a:solidFill>
                  <a:srgbClr val="212121"/>
                </a:solidFill>
                <a:latin typeface="Calibri"/>
              </a:rPr>
              <a:t>Persistent fuel substitution </a:t>
            </a:r>
            <a:r>
              <a:rPr sz="1200" b="1" i="0">
                <a:solidFill>
                  <a:srgbClr val="8A8A8A"/>
                </a:solidFill>
                <a:latin typeface="Calibri"/>
              </a:rPr>
              <a:t>(13) — </a:t>
            </a:r>
            <a:r>
              <a:rPr sz="1200" b="0" i="0">
                <a:solidFill>
                  <a:srgbClr val="555555"/>
                </a:solidFill>
                <a:latin typeface="Calibri"/>
              </a:rPr>
              <a:t>durable supply-side switch; narrower transformation.</a:t>
            </a:r>
          </a:p>
          <a:p>
            <a:pPr algn="l">
              <a:spcAft>
                <a:spcPts val="400"/>
              </a:spcAft>
            </a:pPr>
            <a:r>
              <a:rPr sz="1200" b="1" i="0">
                <a:solidFill>
                  <a:srgbClr val="212121"/>
                </a:solidFill>
                <a:latin typeface="Calibri"/>
              </a:rPr>
              <a:t>Intensity gain; CO2 still rising </a:t>
            </a:r>
            <a:r>
              <a:rPr sz="1200" b="1" i="0">
                <a:solidFill>
                  <a:srgbClr val="8A8A8A"/>
                </a:solidFill>
                <a:latin typeface="Calibri"/>
              </a:rPr>
              <a:t>(12) — </a:t>
            </a:r>
            <a:r>
              <a:rPr sz="1200" b="0" i="0">
                <a:solidFill>
                  <a:srgbClr val="555555"/>
                </a:solidFill>
                <a:latin typeface="Calibri"/>
              </a:rPr>
              <a:t>relative gain overwhelmed by growth.</a:t>
            </a:r>
          </a:p>
          <a:p>
            <a:pPr algn="l">
              <a:spcAft>
                <a:spcPts val="400"/>
              </a:spcAft>
            </a:pPr>
            <a:r>
              <a:rPr sz="1200" b="1" i="0">
                <a:solidFill>
                  <a:srgbClr val="212121"/>
                </a:solidFill>
                <a:latin typeface="Calibri"/>
              </a:rPr>
              <a:t>Contractionary / disruptive </a:t>
            </a:r>
            <a:r>
              <a:rPr sz="1200" b="1" i="0">
                <a:solidFill>
                  <a:srgbClr val="8A8A8A"/>
                </a:solidFill>
                <a:latin typeface="Calibri"/>
              </a:rPr>
              <a:t>(20) — </a:t>
            </a:r>
            <a:r>
              <a:rPr sz="1200" b="0" i="0">
                <a:solidFill>
                  <a:srgbClr val="555555"/>
                </a:solidFill>
                <a:latin typeface="Calibri"/>
              </a:rPr>
              <a:t>the 'improvement' is a crisis in disguise.</a:t>
            </a:r>
          </a:p>
          <a:p>
            <a:pPr algn="l">
              <a:spcAft>
                <a:spcPts val="400"/>
              </a:spcAft>
            </a:pPr>
            <a:r>
              <a:rPr sz="1200" b="1" i="0">
                <a:solidFill>
                  <a:srgbClr val="212121"/>
                </a:solidFill>
                <a:latin typeface="Calibri"/>
              </a:rPr>
              <a:t>Incomplete / nonpersistent </a:t>
            </a:r>
            <a:r>
              <a:rPr sz="1200" b="1" i="0">
                <a:solidFill>
                  <a:srgbClr val="8A8A8A"/>
                </a:solidFill>
                <a:latin typeface="Calibri"/>
              </a:rPr>
              <a:t>(21) — </a:t>
            </a:r>
            <a:r>
              <a:rPr sz="1200" b="0" i="0">
                <a:solidFill>
                  <a:srgbClr val="555555"/>
                </a:solidFill>
                <a:latin typeface="Calibri"/>
              </a:rPr>
              <a:t>the bend reversed or did not hold.</a:t>
            </a:r>
          </a:p>
          <a:p>
            <a:pPr algn="l">
              <a:spcAft>
                <a:spcPts val="400"/>
              </a:spcAft>
            </a:pPr>
            <a:r>
              <a:rPr sz="1200" b="1" i="0">
                <a:solidFill>
                  <a:srgbClr val="212121"/>
                </a:solidFill>
                <a:latin typeface="Calibri"/>
              </a:rPr>
              <a:t>Outcome not classifiable </a:t>
            </a:r>
            <a:r>
              <a:rPr sz="1200" b="1" i="0">
                <a:solidFill>
                  <a:srgbClr val="8A8A8A"/>
                </a:solidFill>
                <a:latin typeface="Calibri"/>
              </a:rPr>
              <a:t>(22) — </a:t>
            </a:r>
            <a:r>
              <a:rPr sz="1200" b="0" i="0">
                <a:solidFill>
                  <a:srgbClr val="555555"/>
                </a:solidFill>
                <a:latin typeface="Calibri"/>
              </a:rPr>
              <a:t>too little post-break evidence.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C77F00"/>
                </a:solidFill>
                <a:latin typeface="Calibri"/>
              </a:rPr>
              <a:t>ACT III · DID THE BENDS COUNT?</a:t>
            </a:r>
          </a:p>
          <a:p>
            <a:pPr algn="l">
              <a:spcAft>
                <a:spcPts val="0"/>
              </a:spcAft>
            </a:pPr>
            <a:r>
              <a:rPr sz="2400" b="1" i="0">
                <a:solidFill>
                  <a:srgbClr val="212121"/>
                </a:solidFill>
                <a:latin typeface="Calibri"/>
              </a:rPr>
              <a:t>From mechanism to verdict: 97 countries, six outcomes</a:t>
            </a:r>
          </a:p>
        </p:txBody>
      </p:sp>
      <p:sp>
        <p:nvSpPr>
          <p:cNvPr id="3" name="TextBox 2"/>
          <p:cNvSpPr txBox="1"/>
          <p:nvPr/>
        </p:nvSpPr>
        <p:spPr>
          <a:xfrm>
            <a:off x="502920" y="1207008"/>
            <a:ext cx="11201400" cy="603504"/>
          </a:xfrm>
          <a:prstGeom prst="rect">
            <a:avLst/>
          </a:prstGeom>
          <a:noFill/>
        </p:spPr>
        <p:txBody>
          <a:bodyPr wrap="square">
            <a:spAutoFit/>
          </a:bodyPr>
          <a:lstStyle/>
          <a:p>
            <a:pPr algn="l">
              <a:spcAft>
                <a:spcPts val="0"/>
              </a:spcAft>
            </a:pPr>
            <a:r>
              <a:rPr sz="1250" b="1" i="0">
                <a:solidFill>
                  <a:srgbClr val="3A66A5"/>
                </a:solidFill>
                <a:latin typeface="Calibri"/>
              </a:rPr>
              <a:t>How to read it:  </a:t>
            </a:r>
            <a:r>
              <a:rPr sz="1250" b="0" i="0">
                <a:solidFill>
                  <a:srgbClr val="555555"/>
                </a:solidFill>
                <a:latin typeface="Calibri"/>
              </a:rPr>
              <a:t>Each ribbon carries countries from the process that accompanied their break (left) to how the outcome is judged (right); ribbon width is the number of countries. Follow any left-hand category to see where those transitions actually ended up.</a:t>
            </a:r>
          </a:p>
        </p:txBody>
      </p:sp>
      <p:pic>
        <p:nvPicPr>
          <p:cNvPr id="4" name="Picture 3" descr="image4.png"/>
          <p:cNvPicPr>
            <a:picLocks noChangeAspect="1"/>
          </p:cNvPicPr>
          <p:nvPr/>
        </p:nvPicPr>
        <p:blipFill>
          <a:blip r:embed="rId2"/>
          <a:stretch>
            <a:fillRect/>
          </a:stretch>
        </p:blipFill>
        <p:spPr>
          <a:xfrm>
            <a:off x="2750999" y="1865376"/>
            <a:ext cx="6686953" cy="473659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C77F00"/>
                </a:solidFill>
                <a:latin typeface="Calibri"/>
              </a:rPr>
              <a:t>ACT III · DID THE BENDS COUNT?</a:t>
            </a:r>
          </a:p>
          <a:p>
            <a:pPr algn="l">
              <a:spcAft>
                <a:spcPts val="0"/>
              </a:spcAft>
            </a:pPr>
            <a:r>
              <a:rPr sz="2400" b="1" i="0">
                <a:solidFill>
                  <a:srgbClr val="212121"/>
                </a:solidFill>
                <a:latin typeface="Calibri"/>
              </a:rPr>
              <a:t>Lower intensity is not the same as falling emissions</a:t>
            </a:r>
          </a:p>
        </p:txBody>
      </p:sp>
      <p:sp>
        <p:nvSpPr>
          <p:cNvPr id="3" name="TextBox 2"/>
          <p:cNvSpPr txBox="1"/>
          <p:nvPr/>
        </p:nvSpPr>
        <p:spPr>
          <a:xfrm>
            <a:off x="502920" y="1207008"/>
            <a:ext cx="11201400" cy="603504"/>
          </a:xfrm>
          <a:prstGeom prst="rect">
            <a:avLst/>
          </a:prstGeom>
          <a:noFill/>
        </p:spPr>
        <p:txBody>
          <a:bodyPr wrap="square">
            <a:spAutoFit/>
          </a:bodyPr>
          <a:lstStyle/>
          <a:p>
            <a:pPr algn="l">
              <a:spcAft>
                <a:spcPts val="0"/>
              </a:spcAft>
            </a:pPr>
            <a:r>
              <a:rPr sz="1250" b="1" i="0">
                <a:solidFill>
                  <a:srgbClr val="3A66A5"/>
                </a:solidFill>
                <a:latin typeface="Calibri"/>
              </a:rPr>
              <a:t>How to read it:  </a:t>
            </a:r>
            <a:r>
              <a:rPr sz="1250" b="0" i="0">
                <a:solidFill>
                  <a:srgbClr val="555555"/>
                </a:solidFill>
                <a:latin typeface="Calibri"/>
              </a:rPr>
              <a:t>Each dot is a country. Further right means its intensity trend improved more after the break; below the dashed horizontal line means absolute emissions are actually falling. Success lives only in the lower right — and most improving countries sit above the line, where growth still outruns their gains.</a:t>
            </a:r>
          </a:p>
        </p:txBody>
      </p:sp>
      <p:pic>
        <p:nvPicPr>
          <p:cNvPr id="4" name="Picture 3" descr="takeaway_fig05_bend_vs_success.png"/>
          <p:cNvPicPr>
            <a:picLocks noChangeAspect="1"/>
          </p:cNvPicPr>
          <p:nvPr/>
        </p:nvPicPr>
        <p:blipFill>
          <a:blip r:embed="rId2"/>
          <a:stretch>
            <a:fillRect/>
          </a:stretch>
        </p:blipFill>
        <p:spPr>
          <a:xfrm>
            <a:off x="2542032" y="1865376"/>
            <a:ext cx="7104888" cy="473659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C77F00"/>
                </a:solidFill>
                <a:latin typeface="Calibri"/>
              </a:rPr>
              <a:t>ACT III · DID THE BENDS COUNT?</a:t>
            </a:r>
          </a:p>
          <a:p>
            <a:pPr algn="l">
              <a:spcAft>
                <a:spcPts val="0"/>
              </a:spcAft>
            </a:pPr>
            <a:r>
              <a:rPr sz="2400" b="1" i="0">
                <a:solidFill>
                  <a:srgbClr val="212121"/>
                </a:solidFill>
                <a:latin typeface="Calibri"/>
              </a:rPr>
              <a:t>The nine constructive persistent decarbonizations</a:t>
            </a:r>
          </a:p>
        </p:txBody>
      </p:sp>
      <p:sp>
        <p:nvSpPr>
          <p:cNvPr id="3" name="TextBox 2"/>
          <p:cNvSpPr txBox="1"/>
          <p:nvPr/>
        </p:nvSpPr>
        <p:spPr>
          <a:xfrm>
            <a:off x="502920" y="1207008"/>
            <a:ext cx="11201400" cy="384048"/>
          </a:xfrm>
          <a:prstGeom prst="rect">
            <a:avLst/>
          </a:prstGeom>
          <a:noFill/>
        </p:spPr>
        <p:txBody>
          <a:bodyPr wrap="square">
            <a:spAutoFit/>
          </a:bodyPr>
          <a:lstStyle/>
          <a:p>
            <a:pPr algn="l">
              <a:spcAft>
                <a:spcPts val="0"/>
              </a:spcAft>
            </a:pPr>
            <a:r>
              <a:rPr sz="1300" b="1" i="0">
                <a:solidFill>
                  <a:srgbClr val="212121"/>
                </a:solidFill>
                <a:latin typeface="Calibri"/>
              </a:rPr>
              <a:t>Sweden 1986 · Finland 1993 · Hungary 1996 · Switzerland 1999 · Nauru 1999 · Denmark 2002 · Portugal 2004 · United Kingdom 2010 · Ireland 2012</a:t>
            </a:r>
          </a:p>
        </p:txBody>
      </p:sp>
      <p:sp>
        <p:nvSpPr>
          <p:cNvPr id="4" name="TextBox 3"/>
          <p:cNvSpPr txBox="1"/>
          <p:nvPr/>
        </p:nvSpPr>
        <p:spPr>
          <a:xfrm>
            <a:off x="502920" y="1609344"/>
            <a:ext cx="11201400" cy="603504"/>
          </a:xfrm>
          <a:prstGeom prst="rect">
            <a:avLst/>
          </a:prstGeom>
          <a:noFill/>
        </p:spPr>
        <p:txBody>
          <a:bodyPr wrap="square">
            <a:spAutoFit/>
          </a:bodyPr>
          <a:lstStyle/>
          <a:p>
            <a:pPr algn="l">
              <a:spcAft>
                <a:spcPts val="0"/>
              </a:spcAft>
            </a:pPr>
            <a:r>
              <a:rPr sz="1250" b="1" i="0">
                <a:solidFill>
                  <a:srgbClr val="3A66A5"/>
                </a:solidFill>
                <a:latin typeface="Calibri"/>
              </a:rPr>
              <a:t>How to read it:  </a:t>
            </a:r>
            <a:r>
              <a:rPr sz="1250" b="0" i="0">
                <a:solidFill>
                  <a:srgbClr val="555555"/>
                </a:solidFill>
                <a:latin typeface="Calibri"/>
              </a:rPr>
              <a:t>Each panel is one country. Both lines are set to 100 at its break year: blue is carbon intensity, red is absolute CO2. The defining test is that both fall together after the break (shaded region) — intensity improved, and total emissions genuinely declined.</a:t>
            </a:r>
          </a:p>
        </p:txBody>
      </p:sp>
      <p:pic>
        <p:nvPicPr>
          <p:cNvPr id="5" name="Picture 4" descr="image7.png"/>
          <p:cNvPicPr>
            <a:picLocks noChangeAspect="1"/>
          </p:cNvPicPr>
          <p:nvPr/>
        </p:nvPicPr>
        <p:blipFill>
          <a:blip r:embed="rId2"/>
          <a:stretch>
            <a:fillRect/>
          </a:stretch>
        </p:blipFill>
        <p:spPr>
          <a:xfrm>
            <a:off x="3357051" y="2267712"/>
            <a:ext cx="5474849" cy="433425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C77F00"/>
                </a:solidFill>
                <a:latin typeface="Calibri"/>
              </a:rPr>
              <a:t>ACT III · DID THE BENDS COUNT?</a:t>
            </a:r>
          </a:p>
          <a:p>
            <a:pPr algn="l">
              <a:spcAft>
                <a:spcPts val="0"/>
              </a:spcAft>
            </a:pPr>
            <a:r>
              <a:rPr sz="2400" b="1" i="0">
                <a:solidFill>
                  <a:srgbClr val="212121"/>
                </a:solidFill>
                <a:latin typeface="Calibri"/>
              </a:rPr>
              <a:t>Nineteen countries cut emissions — ten don't earn the verdict</a:t>
            </a:r>
          </a:p>
        </p:txBody>
      </p:sp>
      <p:sp>
        <p:nvSpPr>
          <p:cNvPr id="3" name="TextBox 2"/>
          <p:cNvSpPr txBox="1"/>
          <p:nvPr/>
        </p:nvSpPr>
        <p:spPr>
          <a:xfrm>
            <a:off x="502920" y="1207008"/>
            <a:ext cx="11201400" cy="603504"/>
          </a:xfrm>
          <a:prstGeom prst="rect">
            <a:avLst/>
          </a:prstGeom>
          <a:noFill/>
        </p:spPr>
        <p:txBody>
          <a:bodyPr wrap="square">
            <a:spAutoFit/>
          </a:bodyPr>
          <a:lstStyle/>
          <a:p>
            <a:pPr algn="l">
              <a:spcAft>
                <a:spcPts val="0"/>
              </a:spcAft>
            </a:pPr>
            <a:r>
              <a:rPr sz="1250" b="1" i="0">
                <a:solidFill>
                  <a:srgbClr val="3A66A5"/>
                </a:solidFill>
                <a:latin typeface="Calibri"/>
              </a:rPr>
              <a:t>How to read it:  </a:t>
            </a:r>
            <a:r>
              <a:rPr sz="1250" b="0" i="0">
                <a:solidFill>
                  <a:srgbClr val="555555"/>
                </a:solidFill>
                <a:latin typeface="Calibri"/>
              </a:rPr>
              <a:t>Each row is a country where absolute CO2 fell after a favorable bend. The whisker is the uncertainty around its break year; rows are grouped by the verdict, and each label names the best-supported mechanism. Falling emissions alone are not enough — the route matters.</a:t>
            </a:r>
          </a:p>
        </p:txBody>
      </p:sp>
      <p:pic>
        <p:nvPicPr>
          <p:cNvPr id="4" name="Picture 3" descr="image8.png"/>
          <p:cNvPicPr>
            <a:picLocks noChangeAspect="1"/>
          </p:cNvPicPr>
          <p:nvPr/>
        </p:nvPicPr>
        <p:blipFill>
          <a:blip r:embed="rId2"/>
          <a:stretch>
            <a:fillRect/>
          </a:stretch>
        </p:blipFill>
        <p:spPr>
          <a:xfrm>
            <a:off x="2750999" y="1865376"/>
            <a:ext cx="6686953" cy="473659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C77F00"/>
                </a:solidFill>
                <a:latin typeface="Calibri"/>
              </a:rPr>
              <a:t>ACT III · THE GEOGRAPHY</a:t>
            </a:r>
          </a:p>
          <a:p>
            <a:pPr algn="l">
              <a:spcAft>
                <a:spcPts val="0"/>
              </a:spcAft>
            </a:pPr>
            <a:r>
              <a:rPr sz="2400" b="1" i="0">
                <a:solidFill>
                  <a:srgbClr val="212121"/>
                </a:solidFill>
                <a:latin typeface="Calibri"/>
              </a:rPr>
              <a:t>Mechanisms are regional; success is concentrated</a:t>
            </a:r>
          </a:p>
        </p:txBody>
      </p:sp>
      <p:sp>
        <p:nvSpPr>
          <p:cNvPr id="3" name="TextBox 2"/>
          <p:cNvSpPr txBox="1"/>
          <p:nvPr/>
        </p:nvSpPr>
        <p:spPr>
          <a:xfrm>
            <a:off x="502920" y="1207008"/>
            <a:ext cx="11201400" cy="603504"/>
          </a:xfrm>
          <a:prstGeom prst="rect">
            <a:avLst/>
          </a:prstGeom>
          <a:noFill/>
        </p:spPr>
        <p:txBody>
          <a:bodyPr wrap="square">
            <a:spAutoFit/>
          </a:bodyPr>
          <a:lstStyle/>
          <a:p>
            <a:pPr algn="l">
              <a:spcAft>
                <a:spcPts val="0"/>
              </a:spcAft>
            </a:pPr>
            <a:r>
              <a:rPr sz="1250" b="1" i="0">
                <a:solidFill>
                  <a:srgbClr val="3A66A5"/>
                </a:solidFill>
                <a:latin typeface="Calibri"/>
              </a:rPr>
              <a:t>How to read it:  </a:t>
            </a:r>
            <a:r>
              <a:rPr sz="1250" b="0" i="0">
                <a:solidFill>
                  <a:srgbClr val="555555"/>
                </a:solidFill>
                <a:latin typeface="Calibri"/>
              </a:rPr>
              <a:t>Left map: each country is colored by the process that accompanied its break. Right map: the same countries colored by outcome verdict — dark green marks the nine constructive cases, concentrated in northern Europe.</a:t>
            </a:r>
          </a:p>
        </p:txBody>
      </p:sp>
      <p:pic>
        <p:nvPicPr>
          <p:cNvPr id="4" name="Picture 3" descr="image9.png"/>
          <p:cNvPicPr>
            <a:picLocks noChangeAspect="1"/>
          </p:cNvPicPr>
          <p:nvPr/>
        </p:nvPicPr>
        <p:blipFill>
          <a:blip r:embed="rId2"/>
          <a:stretch>
            <a:fillRect/>
          </a:stretch>
        </p:blipFill>
        <p:spPr>
          <a:xfrm>
            <a:off x="274320" y="2781490"/>
            <a:ext cx="5806440" cy="2758059"/>
          </a:xfrm>
          <a:prstGeom prst="rect">
            <a:avLst/>
          </a:prstGeom>
        </p:spPr>
      </p:pic>
      <p:pic>
        <p:nvPicPr>
          <p:cNvPr id="5" name="Picture 4" descr="image10.png"/>
          <p:cNvPicPr>
            <a:picLocks noChangeAspect="1"/>
          </p:cNvPicPr>
          <p:nvPr/>
        </p:nvPicPr>
        <p:blipFill>
          <a:blip r:embed="rId3"/>
          <a:stretch>
            <a:fillRect/>
          </a:stretch>
        </p:blipFill>
        <p:spPr>
          <a:xfrm>
            <a:off x="6172200" y="2781490"/>
            <a:ext cx="5806440" cy="2758059"/>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B33A3A"/>
                </a:solidFill>
                <a:latin typeface="Calibri"/>
              </a:rPr>
              <a:t>ACT IV · CAN WE TRUST THE STORY?</a:t>
            </a:r>
          </a:p>
          <a:p>
            <a:pPr algn="l">
              <a:spcAft>
                <a:spcPts val="0"/>
              </a:spcAft>
            </a:pPr>
            <a:r>
              <a:rPr sz="2400" b="1" i="0">
                <a:solidFill>
                  <a:srgbClr val="212121"/>
                </a:solidFill>
                <a:latin typeface="Calibri"/>
              </a:rPr>
              <a:t>Independent raters recognize the same countries</a:t>
            </a:r>
          </a:p>
        </p:txBody>
      </p:sp>
      <p:sp>
        <p:nvSpPr>
          <p:cNvPr id="3" name="TextBox 2"/>
          <p:cNvSpPr txBox="1"/>
          <p:nvPr/>
        </p:nvSpPr>
        <p:spPr>
          <a:xfrm>
            <a:off x="502920" y="1207008"/>
            <a:ext cx="11201400" cy="603504"/>
          </a:xfrm>
          <a:prstGeom prst="rect">
            <a:avLst/>
          </a:prstGeom>
          <a:noFill/>
        </p:spPr>
        <p:txBody>
          <a:bodyPr wrap="square">
            <a:spAutoFit/>
          </a:bodyPr>
          <a:lstStyle/>
          <a:p>
            <a:pPr algn="l">
              <a:spcAft>
                <a:spcPts val="0"/>
              </a:spcAft>
            </a:pPr>
            <a:r>
              <a:rPr sz="1250" b="1" i="0">
                <a:solidFill>
                  <a:srgbClr val="3A66A5"/>
                </a:solidFill>
                <a:latin typeface="Calibri"/>
              </a:rPr>
              <a:t>How to read it:  </a:t>
            </a:r>
            <a:r>
              <a:rPr sz="1250" b="0" i="0">
                <a:solidFill>
                  <a:srgbClr val="555555"/>
                </a:solidFill>
                <a:latin typeface="Calibri"/>
              </a:rPr>
              <a:t>Each dot is a country covered by the rating, placed by where it ranks among covered countries (right = rated better). Green triangles are our policy-enabled cases; the vertical bars mark each group's median. The policy cases rank high on both ratings — but only 3 and 2 of them are covered, so we show every point rather than hide the small sample.</a:t>
            </a:r>
          </a:p>
        </p:txBody>
      </p:sp>
      <p:pic>
        <p:nvPicPr>
          <p:cNvPr id="4" name="Picture 3" descr="takeaway_fig06_external_corroboration.png"/>
          <p:cNvPicPr>
            <a:picLocks noChangeAspect="1"/>
          </p:cNvPicPr>
          <p:nvPr/>
        </p:nvPicPr>
        <p:blipFill>
          <a:blip r:embed="rId2"/>
          <a:stretch>
            <a:fillRect/>
          </a:stretch>
        </p:blipFill>
        <p:spPr>
          <a:xfrm>
            <a:off x="1019556" y="1865376"/>
            <a:ext cx="10149840" cy="473659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B33A3A"/>
                </a:solidFill>
                <a:latin typeface="Calibri"/>
              </a:rPr>
              <a:t>ACT IV · CAN WE TRUST THE STORY?</a:t>
            </a:r>
          </a:p>
          <a:p>
            <a:pPr algn="l">
              <a:spcAft>
                <a:spcPts val="0"/>
              </a:spcAft>
            </a:pPr>
            <a:r>
              <a:rPr sz="2400" b="1" i="0">
                <a:solidFill>
                  <a:srgbClr val="212121"/>
                </a:solidFill>
                <a:latin typeface="Calibri"/>
              </a:rPr>
              <a:t>Robustness, corroboration, and honest limits</a:t>
            </a:r>
          </a:p>
        </p:txBody>
      </p:sp>
      <p:sp>
        <p:nvSpPr>
          <p:cNvPr id="3" name="TextBox 2"/>
          <p:cNvSpPr txBox="1"/>
          <p:nvPr/>
        </p:nvSpPr>
        <p:spPr>
          <a:xfrm>
            <a:off x="502920" y="1417320"/>
            <a:ext cx="5394960" cy="2468880"/>
          </a:xfrm>
          <a:prstGeom prst="rect">
            <a:avLst/>
          </a:prstGeom>
          <a:noFill/>
        </p:spPr>
        <p:txBody>
          <a:bodyPr wrap="square">
            <a:spAutoFit/>
          </a:bodyPr>
          <a:lstStyle/>
          <a:p>
            <a:pPr algn="l">
              <a:spcAft>
                <a:spcPts val="400"/>
              </a:spcAft>
            </a:pPr>
            <a:r>
              <a:rPr sz="1500" b="1" i="0">
                <a:solidFill>
                  <a:srgbClr val="212121"/>
                </a:solidFill>
                <a:latin typeface="Calibri"/>
              </a:rPr>
              <a:t>Consumption-based accounting</a:t>
            </a:r>
          </a:p>
          <a:p>
            <a:pPr algn="l">
              <a:spcAft>
                <a:spcPts val="0"/>
              </a:spcAft>
            </a:pPr>
            <a:r>
              <a:rPr sz="1200" b="0" i="0">
                <a:solidFill>
                  <a:srgbClr val="555555"/>
                </a:solidFill>
                <a:latin typeface="Calibri"/>
              </a:rPr>
              <a:t>When emissions embodied in trade are assigned to consumers instead of producers, only 6 of 17 comparable countries keep a break within 5 years of their production-based date; the median shift is ~12 years. Some 'domestic' transitions partly reflect offshoring — a main result, not a footnote.</a:t>
            </a:r>
          </a:p>
        </p:txBody>
      </p:sp>
      <p:sp>
        <p:nvSpPr>
          <p:cNvPr id="4" name="TextBox 3"/>
          <p:cNvSpPr txBox="1"/>
          <p:nvPr/>
        </p:nvSpPr>
        <p:spPr>
          <a:xfrm>
            <a:off x="6400800" y="1417320"/>
            <a:ext cx="5394960" cy="2468880"/>
          </a:xfrm>
          <a:prstGeom prst="rect">
            <a:avLst/>
          </a:prstGeom>
          <a:noFill/>
        </p:spPr>
        <p:txBody>
          <a:bodyPr wrap="square">
            <a:spAutoFit/>
          </a:bodyPr>
          <a:lstStyle/>
          <a:p>
            <a:pPr algn="l">
              <a:spcAft>
                <a:spcPts val="400"/>
              </a:spcAft>
            </a:pPr>
            <a:r>
              <a:rPr sz="1500" b="1" i="0">
                <a:solidFill>
                  <a:srgbClr val="212121"/>
                </a:solidFill>
                <a:latin typeface="Calibri"/>
              </a:rPr>
              <a:t>Carbon pricing &amp; policy stringency</a:t>
            </a:r>
          </a:p>
          <a:p>
            <a:pPr algn="l">
              <a:spcAft>
                <a:spcPts val="0"/>
              </a:spcAft>
            </a:pPr>
            <a:r>
              <a:rPr sz="1200" b="0" i="0">
                <a:solidFill>
                  <a:srgbClr val="555555"/>
                </a:solidFill>
                <a:latin typeface="Calibri"/>
              </a:rPr>
              <a:t>Carbon pricing is associated with a cleaner fuel mix in panel models with country and year controls; effects on the other components are imprecise. Policy-stringency data cover only 15 of 28 focal countries. Associational, not causal.</a:t>
            </a:r>
          </a:p>
        </p:txBody>
      </p:sp>
      <p:sp>
        <p:nvSpPr>
          <p:cNvPr id="5" name="TextBox 4"/>
          <p:cNvSpPr txBox="1"/>
          <p:nvPr/>
        </p:nvSpPr>
        <p:spPr>
          <a:xfrm>
            <a:off x="502920" y="3977639"/>
            <a:ext cx="5394960" cy="2468880"/>
          </a:xfrm>
          <a:prstGeom prst="rect">
            <a:avLst/>
          </a:prstGeom>
          <a:noFill/>
        </p:spPr>
        <p:txBody>
          <a:bodyPr wrap="square">
            <a:spAutoFit/>
          </a:bodyPr>
          <a:lstStyle/>
          <a:p>
            <a:pPr algn="l">
              <a:spcAft>
                <a:spcPts val="400"/>
              </a:spcAft>
            </a:pPr>
            <a:r>
              <a:rPr sz="1500" b="1" i="0">
                <a:solidFill>
                  <a:srgbClr val="212121"/>
                </a:solidFill>
                <a:latin typeface="Calibri"/>
              </a:rPr>
              <a:t>Event-timing validation</a:t>
            </a:r>
          </a:p>
          <a:p>
            <a:pPr algn="l">
              <a:spcAft>
                <a:spcPts val="0"/>
              </a:spcAft>
            </a:pPr>
            <a:r>
              <a:rPr sz="1200" b="0" i="0">
                <a:solidFill>
                  <a:srgbClr val="555555"/>
                </a:solidFill>
                <a:latin typeface="Calibri"/>
              </a:rPr>
              <a:t>45% of documented events fall within 2 years of the estimated break versus ~17% if dates were drawn at random; 80% vs 37% within 5 years; 70% vs 33% inside the episode. The historical classifications carry real temporal information — far beyond retrospective storytelling.</a:t>
            </a:r>
          </a:p>
        </p:txBody>
      </p:sp>
      <p:sp>
        <p:nvSpPr>
          <p:cNvPr id="6" name="TextBox 5"/>
          <p:cNvSpPr txBox="1"/>
          <p:nvPr/>
        </p:nvSpPr>
        <p:spPr>
          <a:xfrm>
            <a:off x="6400800" y="3977639"/>
            <a:ext cx="5394960" cy="2468880"/>
          </a:xfrm>
          <a:prstGeom prst="rect">
            <a:avLst/>
          </a:prstGeom>
          <a:noFill/>
        </p:spPr>
        <p:txBody>
          <a:bodyPr wrap="square">
            <a:spAutoFit/>
          </a:bodyPr>
          <a:lstStyle/>
          <a:p>
            <a:pPr algn="l">
              <a:spcAft>
                <a:spcPts val="400"/>
              </a:spcAft>
            </a:pPr>
            <a:r>
              <a:rPr sz="1500" b="1" i="0">
                <a:solidFill>
                  <a:srgbClr val="212121"/>
                </a:solidFill>
                <a:latin typeface="Calibri"/>
              </a:rPr>
              <a:t>What breakpoints can't tell you</a:t>
            </a:r>
          </a:p>
          <a:p>
            <a:pPr algn="l">
              <a:spcAft>
                <a:spcPts val="0"/>
              </a:spcAft>
            </a:pPr>
            <a:r>
              <a:rPr sz="1200" b="0" i="0">
                <a:solidFill>
                  <a:srgbClr val="555555"/>
                </a:solidFill>
                <a:latin typeface="Calibri"/>
              </a:rPr>
              <a:t>Break timing identifies change, not cause. Attribution and outcome classification each leave 22 cases open — restraint that makes the resolved 75% credible. And there is no counterfactual: a treaty that prevents backsliding produces no break at all.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01400" cy="914400"/>
          </a:xfrm>
          <a:prstGeom prst="rect">
            <a:avLst/>
          </a:prstGeom>
          <a:noFill/>
        </p:spPr>
        <p:txBody>
          <a:bodyPr wrap="square">
            <a:spAutoFit/>
          </a:bodyPr>
          <a:lstStyle/>
          <a:p>
            <a:pPr algn="l">
              <a:spcAft>
                <a:spcPts val="200"/>
              </a:spcAft>
            </a:pPr>
            <a:r>
              <a:rPr sz="1200" b="1" i="0">
                <a:solidFill>
                  <a:srgbClr val="1B7837"/>
                </a:solidFill>
                <a:latin typeface="Calibri"/>
              </a:rPr>
              <a:t>THE VERDICT</a:t>
            </a:r>
          </a:p>
          <a:p>
            <a:pPr algn="l">
              <a:spcAft>
                <a:spcPts val="0"/>
              </a:spcAft>
            </a:pPr>
            <a:r>
              <a:rPr sz="2400" b="1" i="0">
                <a:solidFill>
                  <a:srgbClr val="212121"/>
                </a:solidFill>
                <a:latin typeface="Calibri"/>
              </a:rPr>
              <a:t>Curves bend everywhere; decarbonization is rare</a:t>
            </a:r>
          </a:p>
        </p:txBody>
      </p:sp>
      <p:sp>
        <p:nvSpPr>
          <p:cNvPr id="3" name="TextBox 2"/>
          <p:cNvSpPr txBox="1"/>
          <p:nvPr/>
        </p:nvSpPr>
        <p:spPr>
          <a:xfrm>
            <a:off x="502920" y="1207008"/>
            <a:ext cx="11201400" cy="603504"/>
          </a:xfrm>
          <a:prstGeom prst="rect">
            <a:avLst/>
          </a:prstGeom>
          <a:noFill/>
        </p:spPr>
        <p:txBody>
          <a:bodyPr wrap="square">
            <a:spAutoFit/>
          </a:bodyPr>
          <a:lstStyle/>
          <a:p>
            <a:pPr algn="l">
              <a:spcAft>
                <a:spcPts val="0"/>
              </a:spcAft>
            </a:pPr>
            <a:r>
              <a:rPr sz="1250" b="1" i="0">
                <a:solidFill>
                  <a:srgbClr val="3A66A5"/>
                </a:solidFill>
                <a:latin typeface="Calibri"/>
              </a:rPr>
              <a:t>How to read it:  </a:t>
            </a:r>
            <a:r>
              <a:rPr sz="1250" b="0" i="0">
                <a:solidFill>
                  <a:srgbClr val="555555"/>
                </a:solidFill>
                <a:latin typeface="Calibri"/>
              </a:rPr>
              <a:t>All 97 breaks looked statistically favorable. The colors show what they turned out to be once persistence, mechanism, and absolute emissions are checked — only the dark green block on the right is unambiguous decarbonization.</a:t>
            </a:r>
          </a:p>
        </p:txBody>
      </p:sp>
      <p:pic>
        <p:nvPicPr>
          <p:cNvPr id="4" name="Picture 3" descr="image12.png"/>
          <p:cNvPicPr>
            <a:picLocks noChangeAspect="1"/>
          </p:cNvPicPr>
          <p:nvPr/>
        </p:nvPicPr>
        <p:blipFill>
          <a:blip r:embed="rId2"/>
          <a:stretch>
            <a:fillRect/>
          </a:stretch>
        </p:blipFill>
        <p:spPr>
          <a:xfrm>
            <a:off x="320040" y="2293082"/>
            <a:ext cx="11548872" cy="3881178"/>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051560"/>
            <a:ext cx="10515600" cy="1737360"/>
          </a:xfrm>
          <a:prstGeom prst="rect">
            <a:avLst/>
          </a:prstGeom>
          <a:noFill/>
        </p:spPr>
        <p:txBody>
          <a:bodyPr wrap="square">
            <a:spAutoFit/>
          </a:bodyPr>
          <a:lstStyle/>
          <a:p>
            <a:pPr algn="l">
              <a:spcAft>
                <a:spcPts val="200"/>
              </a:spcAft>
            </a:pPr>
            <a:r>
              <a:rPr sz="2700" b="1" i="0">
                <a:solidFill>
                  <a:srgbClr val="212121"/>
                </a:solidFill>
                <a:latin typeface="Calibri"/>
              </a:rPr>
              <a:t>Global agreements can organize climate action —</a:t>
            </a:r>
          </a:p>
          <a:p>
            <a:pPr algn="l">
              <a:spcAft>
                <a:spcPts val="0"/>
              </a:spcAft>
            </a:pPr>
            <a:r>
              <a:rPr sz="2700" b="1" i="0">
                <a:solidFill>
                  <a:srgbClr val="1B7837"/>
                </a:solidFill>
                <a:latin typeface="Calibri"/>
              </a:rPr>
              <a:t>durable national transformations bend the curve.</a:t>
            </a:r>
          </a:p>
        </p:txBody>
      </p:sp>
      <p:sp>
        <p:nvSpPr>
          <p:cNvPr id="3" name="TextBox 2"/>
          <p:cNvSpPr txBox="1"/>
          <p:nvPr/>
        </p:nvSpPr>
        <p:spPr>
          <a:xfrm>
            <a:off x="822960" y="2880360"/>
            <a:ext cx="10515600" cy="3017520"/>
          </a:xfrm>
          <a:prstGeom prst="rect">
            <a:avLst/>
          </a:prstGeom>
          <a:noFill/>
        </p:spPr>
        <p:txBody>
          <a:bodyPr wrap="square">
            <a:spAutoFit/>
          </a:bodyPr>
          <a:lstStyle/>
          <a:p/>
          <a:p>
            <a:pPr algn="l">
              <a:spcAft>
                <a:spcPts val="800"/>
              </a:spcAft>
            </a:pPr>
            <a:r>
              <a:rPr sz="1400" b="1" i="0">
                <a:solidFill>
                  <a:srgbClr val="1B7837"/>
                </a:solidFill>
                <a:latin typeface="Calibri"/>
              </a:rPr>
              <a:t>—  </a:t>
            </a:r>
            <a:r>
              <a:rPr sz="1400" b="0" i="0">
                <a:solidFill>
                  <a:srgbClr val="555555"/>
                </a:solidFill>
                <a:latin typeface="Calibri"/>
              </a:rPr>
              <a:t>Global curves bent in the 1970s; since ~2013 they bend faster — a real supply-side acceleration whose timing cannot yet separate Paris from the renewables revolution it helped consolidate.</a:t>
            </a:r>
          </a:p>
          <a:p>
            <a:pPr algn="l">
              <a:spcAft>
                <a:spcPts val="800"/>
              </a:spcAft>
            </a:pPr>
            <a:r>
              <a:rPr sz="1400" b="1" i="0">
                <a:solidFill>
                  <a:srgbClr val="1B7837"/>
                </a:solidFill>
                <a:latin typeface="Calibri"/>
              </a:rPr>
              <a:t>—  </a:t>
            </a:r>
            <a:r>
              <a:rPr sz="1400" b="0" i="0">
                <a:solidFill>
                  <a:srgbClr val="555555"/>
                </a:solidFill>
                <a:latin typeface="Calibri"/>
              </a:rPr>
              <a:t>Treaty-adjacent signals exist — especially around Rio — but few survive placebo scrutiny, and national transitions scatter across five decades.</a:t>
            </a:r>
          </a:p>
          <a:p>
            <a:pPr algn="l">
              <a:spcAft>
                <a:spcPts val="800"/>
              </a:spcAft>
            </a:pPr>
            <a:r>
              <a:rPr sz="1400" b="1" i="0">
                <a:solidFill>
                  <a:srgbClr val="1B7837"/>
                </a:solidFill>
                <a:latin typeface="Calibri"/>
              </a:rPr>
              <a:t>—  </a:t>
            </a:r>
            <a:r>
              <a:rPr sz="1400" b="0" i="0">
                <a:solidFill>
                  <a:srgbClr val="555555"/>
                </a:solidFill>
                <a:latin typeface="Calibri"/>
              </a:rPr>
              <a:t>Favorable bends often reflect recession, disruption, deindustrialization, or offshoring; intensity gains are routinely overwhelmed by growth.</a:t>
            </a:r>
          </a:p>
          <a:p>
            <a:pPr algn="l">
              <a:spcAft>
                <a:spcPts val="800"/>
              </a:spcAft>
            </a:pPr>
            <a:r>
              <a:rPr sz="1400" b="1" i="0">
                <a:solidFill>
                  <a:srgbClr val="1B7837"/>
                </a:solidFill>
                <a:latin typeface="Calibri"/>
              </a:rPr>
              <a:t>—  </a:t>
            </a:r>
            <a:r>
              <a:rPr sz="1400" b="0" i="0">
                <a:solidFill>
                  <a:srgbClr val="555555"/>
                </a:solidFill>
                <a:latin typeface="Calibri"/>
              </a:rPr>
              <a:t>Nine countries pair persistent intensity declines with falling absolute CO2 — policy made physical in fuel mix, infrastructure, and economic structure.</a:t>
            </a:r>
          </a:p>
        </p:txBody>
      </p:sp>
      <p:sp>
        <p:nvSpPr>
          <p:cNvPr id="4" name="TextBox 3"/>
          <p:cNvSpPr txBox="1"/>
          <p:nvPr/>
        </p:nvSpPr>
        <p:spPr>
          <a:xfrm>
            <a:off x="822960" y="5989320"/>
            <a:ext cx="10515600" cy="640080"/>
          </a:xfrm>
          <a:prstGeom prst="rect">
            <a:avLst/>
          </a:prstGeom>
          <a:noFill/>
        </p:spPr>
        <p:txBody>
          <a:bodyPr wrap="square">
            <a:spAutoFit/>
          </a:bodyPr>
          <a:lstStyle/>
          <a:p>
            <a:pPr algn="ctr">
              <a:spcAft>
                <a:spcPts val="600"/>
              </a:spcAft>
            </a:pPr>
            <a:r>
              <a:rPr sz="1300" b="0" i="1">
                <a:solidFill>
                  <a:srgbClr val="8A8A8A"/>
                </a:solidFill>
                <a:latin typeface="Calibri"/>
              </a:rPr>
              <a:t>Structural breaks say when · Kaya says through which pathway · historical validation says what plausibly happened · transition quality says whether it mattered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