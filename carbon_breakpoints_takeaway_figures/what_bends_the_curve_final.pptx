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up front: this is a pro-Paris paper that takes measurement seriously. The question is not whether Paris matters, but what the observed record can attribute — and where the policy signal actually lives.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sympathetic frame, then pivot to the identity: the mathematically required location of any policy signal is the intensity slopes. That justifies the paper's whole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methods slide on the estimator, one on the sample. Emphasize: 'when, not why' — the design lock's central discipline.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figure is from the current deck. The five-step ladder is the frozen attribution standard — it returns in Act I applied to Paris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 is reframed relative to earlier drafts: not 'treaties failed' but 'the record shows a real recent acceleration whose timing cannot yet separate Paris from the renewables cost decline.'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C/GDP breaks ~1973, E/GDP ~1974 — the oil-shock era. C/E's point estimate is 1992 but its interval spans 1978–2011: it does not uniquely identify Rio. Multiple-break models show several episodes, not one intervention. Robust to consumption-based emissions, excluding former Soviet economies, PPP GDP.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post-2015 points fall below the extrapolated Rio-to-Paris trend: a real supply-side acceleration (C/E −0.7 pp/yr, NW t=4.3; C/GDP −0.9, t=2.9). But onsets from 2011–2016 fit the full record about equally well (best 2013), and E/GDP shows no acceleration. So the acceleration is what an effective Paris should look like — and it cannot yet be separated from the renewables cost collapse that preceded the treaty.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Kaya growth accounting by era. Emissions growth slowed from +2.1 to +0.4%/yr after 2015 — but roughly two-thirds of the slowdown is slower GDP growth; one-third is the cleaner fuel mix. The dotted line marks the intensity decline needed to hold emissions flat: the world is still short of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the model-fit profile across candidate break years is a plateau — why a significant treaty-year hinge is weak evidence alone. Bottom: the evidentiary funnel. Nominal treaty-date significance is common (48–69% of series); date-uniqueness is rare (Rio: 10 C/GDP, 21 C/E, 34 E/GDP series; Paris: 14, 5, 6). Applied to Paris's own decade, the same discipline dates the global acceleration's onset to ~2013.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talk: the non-attribution is not a failure of Paris — it is the reason the analysis must descend to the national level, where attribution machinery actually has power.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common treaty era: breaks scatter 1970–2013 and pile up around oil shocks, post-Cold-War upheaval, crises, and the renewables era. Bottom: among 71 documented episodes, events sit near the estimated breaks far more often than restricted random dates allow (45% vs 17% within 2 years; 80% vs 37% within 5; 70% vs 33% inside the episode) — the historical classifications carry real temporal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square per country. Fuel and energy markets 22, restructuring 18, political disruption 11, macro shocks 9, development and access 6 — and climate policy with low-carbon technology in 9 of 97. 22 remain honestly unresolved. Mechanisms are structured author-coded interpretations against documentary sources — not causal estimates.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reading key for everything that follows. Note the two distinct 22s: mechanism-unresolved and outcome-unclassifiable are different sets.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Shocks flow into contraction; restructuring often ends in 'intensity gain, CO2 rising'. Only nine countries end in constructive persistent decarbonization. The gray band on the left axis is the distinct 22 with no attributed mechanism.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quadrant counts: 55 favorable bends coincide with still-rising CO2; only 19 with falling CO2. The stricter quality classification — adding persistence and mechanism — narrows these to 12 improving-but-rising and 9 constructive. Green triangles are the 9 policy-enabled cases: Bhutan and Paraguay improve intensity while absolute emissions still rise — policy-enabled and constructive overlap but are not identical.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defining test: intensity AND absolute CO2 both fall after the break. Six of nine are policy-enabled; Hungary, Nauru, and Ireland arrived via restructuring. Caveat: Nauru is a micro-state whose 'restructuring' is the phosphate collapse — treat with care. This is the paper's constructive core: policy made physical in fuel mix, infrastructure, and economic structure.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routes around the constructive verdict: fuel substitution (5), evidence limits (4), collapse (1). Netherlands 1975 is gas-substitution decarbonization forty years before the US shale version. Somalia 1985 is the caution: collapse mimics decarbonization in every raw statistic; only the persistence screen catches it. Even genuine emission-cutters span 1975–2012 — no treaty era here either.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primary mechanism by country — fuel-market transformations cluster in the Americas and MENA, restructuring across Asia-Pacific, policy-enabled cases in northern Europe. Right: transition quality — dark-green outlines mark the nine; much of the map is contraction, incompleteness, or intensity gains overwhelmed by growth.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Policy-enabled cases rank high on independent assessments: median CAT percentile ~64 vs 34 for other classified breaks; CCPI ~91 vs 44. But CAT covers only 3 of the 9 and CCPI 2 — every covered country is shown as a dot so the thin coverage is visible. Corroborative, not definitive.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credibility slide. If asked about causality: the design lock is explicit about supported vs unsupported claims — lean on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97 eligible breaks classified by realized transition quality — and none of this heterogeneity aligns on a treaty date. The treaty question dissolves into 97 national stories; nine end in unambiguous decarbonization.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closing line and the four-part method signature. If one sentence survives the talk, it is this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554480"/>
            <a:ext cx="10515600" cy="3291840"/>
          </a:xfrm>
          <a:prstGeom prst="rect">
            <a:avLst/>
          </a:prstGeom>
          <a:noFill/>
        </p:spPr>
        <p:txBody>
          <a:bodyPr wrap="square">
            <a:spAutoFit/>
          </a:bodyPr>
          <a:lstStyle/>
          <a:p>
            <a:pPr algn="l">
              <a:spcAft>
                <a:spcPts val="800"/>
              </a:spcAft>
            </a:pPr>
            <a:r>
              <a:rPr sz="4800" b="1" i="0">
                <a:solidFill>
                  <a:srgbClr val="212121"/>
                </a:solidFill>
                <a:latin typeface="Calibri"/>
              </a:rPr>
              <a:t>WHAT BENDS THE CURVE?</a:t>
            </a:r>
          </a:p>
          <a:p>
            <a:pPr algn="l">
              <a:spcAft>
                <a:spcPts val="1600"/>
              </a:spcAft>
            </a:pPr>
            <a:r>
              <a:rPr sz="2000" b="0" i="0">
                <a:solidFill>
                  <a:srgbClr val="555555"/>
                </a:solidFill>
                <a:latin typeface="Calibri"/>
              </a:rPr>
              <a:t>Paris at ten: long trends, a new acceleration, and the national transformations that carry the signal</a:t>
            </a:r>
          </a:p>
          <a:p>
            <a:pPr algn="l">
              <a:spcAft>
                <a:spcPts val="600"/>
              </a:spcAft>
            </a:pPr>
            <a:r>
              <a:rPr sz="1500" b="1">
                <a:solidFill>
                  <a:srgbClr val="1B7837"/>
                </a:solidFill>
                <a:latin typeface="Calibri"/>
              </a:rPr>
              <a:t>Structural breaks · Kaya pathways · five decades of national decarbonization</a:t>
            </a:r>
          </a:p>
        </p:txBody>
      </p:sp>
      <p:sp>
        <p:nvSpPr>
          <p:cNvPr id="3" name="TextBox 2"/>
          <p:cNvSpPr txBox="1"/>
          <p:nvPr/>
        </p:nvSpPr>
        <p:spPr>
          <a:xfrm>
            <a:off x="822960" y="5394960"/>
            <a:ext cx="10515600" cy="822960"/>
          </a:xfrm>
          <a:prstGeom prst="rect">
            <a:avLst/>
          </a:prstGeom>
          <a:noFill/>
        </p:spPr>
        <p:txBody>
          <a:bodyPr wrap="square">
            <a:spAutoFit/>
          </a:bodyPr>
          <a:lstStyle/>
          <a:p>
            <a:pPr algn="l">
              <a:spcAft>
                <a:spcPts val="600"/>
              </a:spcAft>
            </a:pPr>
            <a:r>
              <a:rPr sz="1350" b="1">
                <a:solidFill>
                  <a:srgbClr val="212121"/>
                </a:solidFill>
                <a:latin typeface="Calibri"/>
              </a:rPr>
              <a:t>204 jurisdictions     </a:t>
            </a:r>
            <a:r>
              <a:rPr sz="1350" b="1">
                <a:solidFill>
                  <a:srgbClr val="212121"/>
                </a:solidFill>
                <a:latin typeface="Calibri"/>
              </a:rPr>
              <a:t>97 eligible national breaks     </a:t>
            </a:r>
            <a:r>
              <a:rPr sz="1350" b="1">
                <a:solidFill>
                  <a:srgbClr val="212121"/>
                </a:solidFill>
                <a:latin typeface="Calibri"/>
              </a:rPr>
              <a:t>7 mechanism families     </a:t>
            </a:r>
            <a:r>
              <a:rPr sz="1350" b="1">
                <a:solidFill>
                  <a:srgbClr val="1B7837"/>
                </a:solidFill>
                <a:latin typeface="Calibri"/>
              </a:rPr>
              <a:t>9 constructive decarbonizations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THE QUESTION</a:t>
            </a:r>
          </a:p>
          <a:p>
            <a:pPr algn="l">
              <a:spcAft>
                <a:spcPts val="0"/>
              </a:spcAft>
            </a:pPr>
            <a:r>
              <a:rPr sz="2700" b="1" i="0">
                <a:solidFill>
                  <a:srgbClr val="212121"/>
                </a:solidFill>
                <a:latin typeface="Calibri"/>
              </a:rPr>
              <a:t>Paris is working — but through what?</a:t>
            </a:r>
          </a:p>
        </p:txBody>
      </p:sp>
      <p:sp>
        <p:nvSpPr>
          <p:cNvPr id="3" name="TextBox 2"/>
          <p:cNvSpPr txBox="1"/>
          <p:nvPr/>
        </p:nvSpPr>
        <p:spPr>
          <a:xfrm>
            <a:off x="502920" y="1463040"/>
            <a:ext cx="6675120" cy="4937760"/>
          </a:xfrm>
          <a:prstGeom prst="rect">
            <a:avLst/>
          </a:prstGeom>
          <a:noFill/>
        </p:spPr>
        <p:txBody>
          <a:bodyPr wrap="square">
            <a:spAutoFit/>
          </a:bodyPr>
          <a:lstStyle/>
          <a:p>
            <a:pPr algn="l">
              <a:spcAft>
                <a:spcPts val="400"/>
              </a:spcAft>
            </a:pPr>
            <a:r>
              <a:rPr sz="1700" b="1" i="0">
                <a:solidFill>
                  <a:srgbClr val="212121"/>
                </a:solidFill>
                <a:latin typeface="Calibri"/>
              </a:rPr>
              <a:t>The good news is real.</a:t>
            </a:r>
          </a:p>
          <a:p>
            <a:pPr algn="l">
              <a:spcAft>
                <a:spcPts val="1400"/>
              </a:spcAft>
            </a:pPr>
            <a:r>
              <a:rPr sz="1500" b="0" i="0">
                <a:solidFill>
                  <a:srgbClr val="555555"/>
                </a:solidFill>
                <a:latin typeface="Calibri"/>
              </a:rPr>
              <a:t>Worst-case emissions scenarios have moved off the table, and global CO2 growth has slowed from +2.1% per year (1990–2015) to +0.4% per year since Paris.</a:t>
            </a:r>
          </a:p>
          <a:p>
            <a:pPr algn="l">
              <a:spcAft>
                <a:spcPts val="400"/>
              </a:spcAft>
            </a:pPr>
            <a:r>
              <a:rPr sz="1700" b="1" i="0">
                <a:solidFill>
                  <a:srgbClr val="212121"/>
                </a:solidFill>
                <a:latin typeface="Calibri"/>
              </a:rPr>
              <a:t>The open question:</a:t>
            </a:r>
          </a:p>
          <a:p>
            <a:pPr algn="l">
              <a:spcAft>
                <a:spcPts val="1400"/>
              </a:spcAft>
            </a:pPr>
            <a:r>
              <a:rPr sz="1500" b="0" i="0">
                <a:solidFill>
                  <a:srgbClr val="555555"/>
                </a:solidFill>
                <a:latin typeface="Calibri"/>
              </a:rPr>
              <a:t>Is the global improvement a direct effect of the agreement — or the continuation of trends rooted decades earlier, which Paris coordinates and reinforces?</a:t>
            </a:r>
          </a:p>
          <a:p>
            <a:pPr algn="l">
              <a:spcAft>
                <a:spcPts val="400"/>
              </a:spcAft>
            </a:pPr>
            <a:r>
              <a:rPr sz="1700" b="1" i="0">
                <a:solidFill>
                  <a:srgbClr val="212121"/>
                </a:solidFill>
                <a:latin typeface="Calibri"/>
              </a:rPr>
              <a:t>Our approach:</a:t>
            </a:r>
          </a:p>
          <a:p>
            <a:pPr algn="l">
              <a:spcAft>
                <a:spcPts val="0"/>
              </a:spcAft>
            </a:pPr>
            <a:r>
              <a:rPr sz="1500" b="0" i="0">
                <a:solidFill>
                  <a:srgbClr val="555555"/>
                </a:solidFill>
                <a:latin typeface="Calibri"/>
              </a:rPr>
              <a:t>Rather than assuming treaty years are turning points, we estimate structural breaks from the data — globally and for every country with adequate annual series — then use historical evidence to ask why the trend changed.</a:t>
            </a:r>
          </a:p>
        </p:txBody>
      </p:sp>
      <p:sp>
        <p:nvSpPr>
          <p:cNvPr id="4" name="TextBox 3"/>
          <p:cNvSpPr txBox="1"/>
          <p:nvPr/>
        </p:nvSpPr>
        <p:spPr>
          <a:xfrm>
            <a:off x="7452360" y="1463040"/>
            <a:ext cx="4251960" cy="4937760"/>
          </a:xfrm>
          <a:prstGeom prst="rect">
            <a:avLst/>
          </a:prstGeom>
          <a:noFill/>
        </p:spPr>
        <p:txBody>
          <a:bodyPr wrap="square">
            <a:spAutoFit/>
          </a:bodyPr>
          <a:lstStyle/>
          <a:p>
            <a:pPr algn="l">
              <a:spcAft>
                <a:spcPts val="600"/>
              </a:spcAft>
            </a:pPr>
            <a:r>
              <a:rPr sz="1700" b="1" i="0">
                <a:solidFill>
                  <a:srgbClr val="1B7837"/>
                </a:solidFill>
                <a:latin typeface="Calibri"/>
              </a:rPr>
              <a:t>Why intensity comes first</a:t>
            </a:r>
          </a:p>
          <a:p>
            <a:pPr algn="l">
              <a:spcAft>
                <a:spcPts val="0"/>
              </a:spcAft>
            </a:pPr>
            <a:r>
              <a:rPr sz="1400" b="0" i="0">
                <a:solidFill>
                  <a:srgbClr val="212121"/>
                </a:solidFill>
                <a:latin typeface="Consolas"/>
              </a:rPr>
              <a:t>growth of CO2  =  growth of GDP</a:t>
            </a:r>
          </a:p>
          <a:p>
            <a:pPr algn="l">
              <a:spcAft>
                <a:spcPts val="0"/>
              </a:spcAft>
            </a:pPr>
            <a:r>
              <a:rPr sz="1400" b="0" i="0">
                <a:solidFill>
                  <a:srgbClr val="212121"/>
                </a:solidFill>
                <a:latin typeface="Consolas"/>
              </a:rPr>
              <a:t>  +  change in C/E  (fuel mix)</a:t>
            </a:r>
          </a:p>
          <a:p>
            <a:pPr algn="l">
              <a:spcAft>
                <a:spcPts val="1000"/>
              </a:spcAft>
            </a:pPr>
            <a:r>
              <a:rPr sz="1400" b="0" i="0">
                <a:solidFill>
                  <a:srgbClr val="212121"/>
                </a:solidFill>
                <a:latin typeface="Consolas"/>
              </a:rPr>
              <a:t>  +  change in E/GDP  (efficiency)</a:t>
            </a:r>
          </a:p>
          <a:p>
            <a:pPr algn="l">
              <a:spcAft>
                <a:spcPts val="800"/>
              </a:spcAft>
            </a:pPr>
            <a:r>
              <a:rPr sz="1400" b="0" i="0">
                <a:solidFill>
                  <a:srgbClr val="555555"/>
                </a:solidFill>
                <a:latin typeface="Calibri"/>
              </a:rPr>
              <a:t>Emissions cannot bend until an intensity slope accelerates. Intensity is the leading indicator: any policy signal must appear there first — on carbon or energy intensity, not necessarily on emissions.</a:t>
            </a:r>
          </a:p>
          <a:p>
            <a:pPr algn="l">
              <a:spcAft>
                <a:spcPts val="0"/>
              </a:spcAft>
            </a:pPr>
            <a:r>
              <a:rPr sz="1400" b="1" i="0">
                <a:solidFill>
                  <a:srgbClr val="212121"/>
                </a:solidFill>
                <a:latin typeface="Calibri"/>
              </a:rPr>
              <a:t>Unless the intensity terms outpace GDP growth, emissions cannot stabilize.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3A66A5"/>
                </a:solidFill>
                <a:latin typeface="Calibri"/>
              </a:rPr>
              <a:t>METHODS</a:t>
            </a:r>
          </a:p>
          <a:p>
            <a:pPr algn="l">
              <a:spcAft>
                <a:spcPts val="0"/>
              </a:spcAft>
            </a:pPr>
            <a:r>
              <a:rPr sz="2700" b="1" i="0">
                <a:solidFill>
                  <a:srgbClr val="212121"/>
                </a:solidFill>
                <a:latin typeface="Calibri"/>
              </a:rPr>
              <a:t>What a breakpoint means — and the Kaya lens</a:t>
            </a:r>
          </a:p>
        </p:txBody>
      </p:sp>
      <p:sp>
        <p:nvSpPr>
          <p:cNvPr id="3" name="TextBox 2"/>
          <p:cNvSpPr txBox="1"/>
          <p:nvPr/>
        </p:nvSpPr>
        <p:spPr>
          <a:xfrm>
            <a:off x="502920" y="1463040"/>
            <a:ext cx="5577840" cy="4937760"/>
          </a:xfrm>
          <a:prstGeom prst="rect">
            <a:avLst/>
          </a:prstGeom>
          <a:noFill/>
        </p:spPr>
        <p:txBody>
          <a:bodyPr wrap="square">
            <a:spAutoFit/>
          </a:bodyPr>
          <a:lstStyle/>
          <a:p>
            <a:pPr algn="l">
              <a:spcAft>
                <a:spcPts val="600"/>
              </a:spcAft>
            </a:pPr>
            <a:r>
              <a:rPr sz="1600" b="1" i="0">
                <a:solidFill>
                  <a:srgbClr val="212121"/>
                </a:solidFill>
                <a:latin typeface="Calibri"/>
              </a:rPr>
              <a:t>The breakpoint model</a:t>
            </a:r>
          </a:p>
          <a:p>
            <a:pPr algn="l">
              <a:spcAft>
                <a:spcPts val="600"/>
              </a:spcAft>
            </a:pPr>
            <a:r>
              <a:rPr sz="1400" b="0" i="0">
                <a:solidFill>
                  <a:srgbClr val="212121"/>
                </a:solidFill>
                <a:latin typeface="Consolas"/>
              </a:rPr>
              <a:t>y(t) = a + b·t + d·max(t − k, 0) + e(t)</a:t>
            </a:r>
          </a:p>
          <a:p>
            <a:pPr algn="l">
              <a:spcAft>
                <a:spcPts val="1000"/>
              </a:spcAft>
            </a:pPr>
            <a:r>
              <a:rPr sz="1350" b="0" i="0">
                <a:solidFill>
                  <a:srgbClr val="555555"/>
                </a:solidFill>
                <a:latin typeface="Calibri"/>
              </a:rPr>
              <a:t>b is the pre-break slope; b + d the post-break slope; d the change. The unrestricted model searches all admissible years for the strongest slope change; a moving-block bootstrap describes how stable that date is under serially dependent noise.</a:t>
            </a:r>
          </a:p>
          <a:p>
            <a:pPr algn="l">
              <a:spcAft>
                <a:spcPts val="1000"/>
              </a:spcAft>
            </a:pPr>
            <a:r>
              <a:rPr sz="1350" b="0" i="0">
                <a:solidFill>
                  <a:srgbClr val="212121"/>
                </a:solidFill>
                <a:latin typeface="Calibri"/>
              </a:rPr>
              <a:t>A breakpoint identifies when a trend changed — with uncertainty. It is not a peak year, not a policy-adoption date, and never a causal estimate by itself. Historical and external evidence answers why.</a:t>
            </a:r>
          </a:p>
          <a:p>
            <a:pPr algn="l">
              <a:spcAft>
                <a:spcPts val="0"/>
              </a:spcAft>
            </a:pPr>
            <a:r>
              <a:rPr sz="1350" b="0" i="0">
                <a:solidFill>
                  <a:srgbClr val="555555"/>
                </a:solidFill>
                <a:latin typeface="Calibri"/>
              </a:rPr>
              <a:t>Inference: Newey–West standard errors for fixed-date tests; BIC for model evidence; moving-block bootstrap for date stability.</a:t>
            </a:r>
          </a:p>
        </p:txBody>
      </p:sp>
      <p:sp>
        <p:nvSpPr>
          <p:cNvPr id="4" name="TextBox 3"/>
          <p:cNvSpPr txBox="1"/>
          <p:nvPr/>
        </p:nvSpPr>
        <p:spPr>
          <a:xfrm>
            <a:off x="6400800" y="1463040"/>
            <a:ext cx="5303520" cy="4937760"/>
          </a:xfrm>
          <a:prstGeom prst="rect">
            <a:avLst/>
          </a:prstGeom>
          <a:noFill/>
        </p:spPr>
        <p:txBody>
          <a:bodyPr wrap="square">
            <a:spAutoFit/>
          </a:bodyPr>
          <a:lstStyle/>
          <a:p>
            <a:pPr algn="l">
              <a:spcAft>
                <a:spcPts val="600"/>
              </a:spcAft>
            </a:pPr>
            <a:r>
              <a:rPr sz="1600" b="1" i="0">
                <a:solidFill>
                  <a:srgbClr val="212121"/>
                </a:solidFill>
                <a:latin typeface="Calibri"/>
              </a:rPr>
              <a:t>The Kaya decomposition</a:t>
            </a:r>
          </a:p>
          <a:p>
            <a:pPr algn="l">
              <a:spcAft>
                <a:spcPts val="800"/>
              </a:spcAft>
            </a:pPr>
            <a:r>
              <a:rPr sz="1500" b="0" i="0">
                <a:solidFill>
                  <a:srgbClr val="212121"/>
                </a:solidFill>
                <a:latin typeface="Consolas"/>
              </a:rPr>
              <a:t>C/GDP = (C/E) × (E/GDP)</a:t>
            </a:r>
          </a:p>
          <a:p>
            <a:pPr algn="l">
              <a:spcAft>
                <a:spcPts val="600"/>
              </a:spcAft>
            </a:pPr>
            <a:r>
              <a:rPr sz="1350" b="1">
                <a:solidFill>
                  <a:srgbClr val="3A66A5"/>
                </a:solidFill>
                <a:latin typeface="Calibri"/>
              </a:rPr>
              <a:t>C/GDP — </a:t>
            </a:r>
            <a:r>
              <a:rPr sz="1350" b="0">
                <a:solidFill>
                  <a:srgbClr val="555555"/>
                </a:solidFill>
                <a:latin typeface="Calibri"/>
              </a:rPr>
              <a:t>aggregate carbon intensity of output: the observed outcome.</a:t>
            </a:r>
          </a:p>
          <a:p>
            <a:pPr algn="l">
              <a:spcAft>
                <a:spcPts val="600"/>
              </a:spcAft>
            </a:pPr>
            <a:r>
              <a:rPr sz="1350" b="1">
                <a:solidFill>
                  <a:srgbClr val="1B7837"/>
                </a:solidFill>
                <a:latin typeface="Calibri"/>
              </a:rPr>
              <a:t>C/E — </a:t>
            </a:r>
            <a:r>
              <a:rPr sz="1350" b="0">
                <a:solidFill>
                  <a:srgbClr val="555555"/>
                </a:solidFill>
                <a:latin typeface="Calibri"/>
              </a:rPr>
              <a:t>supply side: fuel mix, electricity systems, conversion technology.</a:t>
            </a:r>
          </a:p>
          <a:p>
            <a:pPr algn="l">
              <a:spcAft>
                <a:spcPts val="1000"/>
              </a:spcAft>
            </a:pPr>
            <a:r>
              <a:rPr sz="1350" b="1">
                <a:solidFill>
                  <a:srgbClr val="C77F00"/>
                </a:solidFill>
                <a:latin typeface="Calibri"/>
              </a:rPr>
              <a:t>E/GDP — </a:t>
            </a:r>
            <a:r>
              <a:rPr sz="1350" b="0">
                <a:solidFill>
                  <a:srgbClr val="555555"/>
                </a:solidFill>
                <a:latin typeface="Calibri"/>
              </a:rPr>
              <a:t>demand side: efficiency, sectoral structure, economic composition.</a:t>
            </a:r>
          </a:p>
          <a:p>
            <a:pPr algn="l">
              <a:spcAft>
                <a:spcPts val="0"/>
              </a:spcAft>
            </a:pPr>
            <a:r>
              <a:rPr sz="1350" b="0" i="0">
                <a:solidFill>
                  <a:srgbClr val="212121"/>
                </a:solidFill>
                <a:latin typeface="Calibri"/>
              </a:rPr>
              <a:t>We estimate all three, for the world aggregate and every country, with one harmonized procedure. The component pattern constrains which mechanisms are plausible.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3A66A5"/>
                </a:solidFill>
                <a:latin typeface="Calibri"/>
              </a:rPr>
              <a:t>METHODS</a:t>
            </a:r>
          </a:p>
          <a:p>
            <a:pPr algn="l">
              <a:spcAft>
                <a:spcPts val="0"/>
              </a:spcAft>
            </a:pPr>
            <a:r>
              <a:rPr sz="2700" b="1" i="0">
                <a:solidFill>
                  <a:srgbClr val="212121"/>
                </a:solidFill>
                <a:latin typeface="Calibri"/>
              </a:rPr>
              <a:t>From 204 jurisdictions to 97 eligible national breaks</a:t>
            </a:r>
          </a:p>
        </p:txBody>
      </p:sp>
      <p:sp>
        <p:nvSpPr>
          <p:cNvPr id="3" name="TextBox 2"/>
          <p:cNvSpPr txBox="1"/>
          <p:nvPr/>
        </p:nvSpPr>
        <p:spPr>
          <a:xfrm>
            <a:off x="502920" y="1371600"/>
            <a:ext cx="4937760" cy="5120640"/>
          </a:xfrm>
          <a:prstGeom prst="rect">
            <a:avLst/>
          </a:prstGeom>
          <a:noFill/>
        </p:spPr>
        <p:txBody>
          <a:bodyPr wrap="square">
            <a:spAutoFit/>
          </a:bodyPr>
          <a:lstStyle/>
          <a:p>
            <a:pPr algn="l">
              <a:spcAft>
                <a:spcPts val="600"/>
              </a:spcAft>
            </a:pPr>
            <a:r>
              <a:rPr sz="1600" b="1" i="0">
                <a:solidFill>
                  <a:srgbClr val="212121"/>
                </a:solidFill>
                <a:latin typeface="Calibri"/>
              </a:rPr>
              <a:t>Eligibility is strict by design</a:t>
            </a:r>
          </a:p>
          <a:p>
            <a:pPr algn="l">
              <a:spcAft>
                <a:spcPts val="500"/>
              </a:spcAft>
            </a:pPr>
            <a:r>
              <a:rPr sz="1300" b="1">
                <a:solidFill>
                  <a:srgbClr val="1B7837"/>
                </a:solidFill>
                <a:latin typeface="Calibri"/>
              </a:rPr>
              <a:t>•  </a:t>
            </a:r>
            <a:r>
              <a:rPr sz="1300" b="0">
                <a:solidFill>
                  <a:srgbClr val="555555"/>
                </a:solidFill>
                <a:latin typeface="Calibri"/>
              </a:rPr>
              <a:t>at least 40 annual observations, 10+ years on each side of the break, break 10+ years from the boundary</a:t>
            </a:r>
          </a:p>
          <a:p>
            <a:pPr algn="l">
              <a:spcAft>
                <a:spcPts val="500"/>
              </a:spcAft>
            </a:pPr>
            <a:r>
              <a:rPr sz="1300" b="1">
                <a:solidFill>
                  <a:srgbClr val="1B7837"/>
                </a:solidFill>
                <a:latin typeface="Calibri"/>
              </a:rPr>
              <a:t>•  </a:t>
            </a:r>
            <a:r>
              <a:rPr sz="1300" b="0">
                <a:solidFill>
                  <a:srgbClr val="555555"/>
                </a:solidFill>
                <a:latin typeface="Calibri"/>
              </a:rPr>
              <a:t>BIC improvement of at least 6 over the unbroken trend</a:t>
            </a:r>
          </a:p>
          <a:p>
            <a:pPr algn="l">
              <a:spcAft>
                <a:spcPts val="500"/>
              </a:spcAft>
            </a:pPr>
            <a:r>
              <a:rPr sz="1300" b="1">
                <a:solidFill>
                  <a:srgbClr val="1B7837"/>
                </a:solidFill>
                <a:latin typeface="Calibri"/>
              </a:rPr>
              <a:t>•  </a:t>
            </a:r>
            <a:r>
              <a:rPr sz="1300" b="0">
                <a:solidFill>
                  <a:srgbClr val="555555"/>
                </a:solidFill>
                <a:latin typeface="Calibri"/>
              </a:rPr>
              <a:t>70%+ of bootstrap dates within 5 years; interval no wider than 12 years</a:t>
            </a:r>
          </a:p>
          <a:p>
            <a:pPr algn="l">
              <a:spcAft>
                <a:spcPts val="500"/>
              </a:spcAft>
            </a:pPr>
            <a:r>
              <a:rPr sz="1300" b="1">
                <a:solidFill>
                  <a:srgbClr val="1B7837"/>
                </a:solidFill>
                <a:latin typeface="Calibri"/>
              </a:rPr>
              <a:t>•  </a:t>
            </a:r>
            <a:r>
              <a:rPr sz="1300" b="0">
                <a:solidFill>
                  <a:srgbClr val="555555"/>
                </a:solidFill>
                <a:latin typeface="Calibri"/>
              </a:rPr>
              <a:t>standardized slope change of at least 0.25</a:t>
            </a:r>
          </a:p>
          <a:p>
            <a:pPr algn="l">
              <a:spcAft>
                <a:spcPts val="800"/>
              </a:spcAft>
            </a:pPr>
            <a:r>
              <a:rPr sz="1300" b="0" i="0">
                <a:solidFill>
                  <a:srgbClr val="212121"/>
                </a:solidFill>
                <a:latin typeface="Calibri"/>
              </a:rPr>
              <a:t>204 jurisdictions → 158 estimable → 97 countries with an eligible, stable headline break; nearby component breaks consolidate into 107 transition episodes (15-year grouping; 10/20-year sensitivity).</a:t>
            </a:r>
          </a:p>
          <a:p>
            <a:pPr algn="l">
              <a:spcAft>
                <a:spcPts val="0"/>
              </a:spcAft>
            </a:pPr>
            <a:r>
              <a:rPr sz="1300" b="1" i="0">
                <a:solidFill>
                  <a:srgbClr val="212121"/>
                </a:solidFill>
                <a:latin typeface="Calibri"/>
              </a:rPr>
              <a:t>Treaty attribution ladder (all five required): Newey–West significance → top 10% vs nearby placebo dates → best date within 3 years of the treaty → compatible unrestricted break → plausible domestic mechanism.</a:t>
            </a:r>
          </a:p>
        </p:txBody>
      </p:sp>
      <p:pic>
        <p:nvPicPr>
          <p:cNvPr id="4" name="Picture 3" descr="image1.png"/>
          <p:cNvPicPr>
            <a:picLocks noChangeAspect="1"/>
          </p:cNvPicPr>
          <p:nvPr/>
        </p:nvPicPr>
        <p:blipFill>
          <a:blip r:embed="rId2"/>
          <a:stretch>
            <a:fillRect/>
          </a:stretch>
        </p:blipFill>
        <p:spPr>
          <a:xfrm>
            <a:off x="5623560" y="2835783"/>
            <a:ext cx="6263640" cy="219227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THE ARGUMENT</a:t>
            </a:r>
          </a:p>
          <a:p>
            <a:pPr algn="l">
              <a:spcAft>
                <a:spcPts val="0"/>
              </a:spcAft>
            </a:pPr>
            <a:r>
              <a:rPr sz="2700" b="1" i="0">
                <a:solidFill>
                  <a:srgbClr val="212121"/>
                </a:solidFill>
                <a:latin typeface="Calibri"/>
              </a:rPr>
              <a:t>Four acts</a:t>
            </a:r>
          </a:p>
        </p:txBody>
      </p:sp>
      <p:sp>
        <p:nvSpPr>
          <p:cNvPr id="3" name="TextBox 2"/>
          <p:cNvSpPr txBox="1"/>
          <p:nvPr/>
        </p:nvSpPr>
        <p:spPr>
          <a:xfrm>
            <a:off x="502920" y="1600200"/>
            <a:ext cx="2697480" cy="4206240"/>
          </a:xfrm>
          <a:prstGeom prst="rect">
            <a:avLst/>
          </a:prstGeom>
          <a:noFill/>
        </p:spPr>
        <p:txBody>
          <a:bodyPr wrap="square">
            <a:spAutoFit/>
          </a:bodyPr>
          <a:lstStyle/>
          <a:p>
            <a:pPr algn="l">
              <a:spcAft>
                <a:spcPts val="600"/>
              </a:spcAft>
            </a:pPr>
            <a:r>
              <a:rPr sz="4000" b="1" i="0">
                <a:solidFill>
                  <a:srgbClr val="1B7837"/>
                </a:solidFill>
                <a:latin typeface="Calibri"/>
              </a:rPr>
              <a:t>I</a:t>
            </a:r>
          </a:p>
          <a:p>
            <a:pPr algn="l">
              <a:spcAft>
                <a:spcPts val="800"/>
              </a:spcAft>
            </a:pPr>
            <a:r>
              <a:rPr sz="1600" b="1" i="0">
                <a:solidFill>
                  <a:srgbClr val="212121"/>
                </a:solidFill>
                <a:latin typeface="Calibri"/>
              </a:rPr>
              <a:t>Is the global bend Paris?</a:t>
            </a:r>
          </a:p>
          <a:p>
            <a:pPr algn="l">
              <a:spcAft>
                <a:spcPts val="0"/>
              </a:spcAft>
            </a:pPr>
            <a:r>
              <a:rPr sz="1250" b="0" i="0">
                <a:solidFill>
                  <a:srgbClr val="555555"/>
                </a:solidFill>
                <a:latin typeface="Calibri"/>
              </a:rPr>
              <a:t>Global curves bent in the 1970s; since ~2013 they are bending faster. The acceleration is real — its attribution is not yet identified.</a:t>
            </a:r>
          </a:p>
        </p:txBody>
      </p:sp>
      <p:sp>
        <p:nvSpPr>
          <p:cNvPr id="4" name="TextBox 3"/>
          <p:cNvSpPr txBox="1"/>
          <p:nvPr/>
        </p:nvSpPr>
        <p:spPr>
          <a:xfrm>
            <a:off x="3355848" y="1600200"/>
            <a:ext cx="2697480" cy="4206240"/>
          </a:xfrm>
          <a:prstGeom prst="rect">
            <a:avLst/>
          </a:prstGeom>
          <a:noFill/>
        </p:spPr>
        <p:txBody>
          <a:bodyPr wrap="square">
            <a:spAutoFit/>
          </a:bodyPr>
          <a:lstStyle/>
          <a:p>
            <a:pPr algn="l">
              <a:spcAft>
                <a:spcPts val="600"/>
              </a:spcAft>
            </a:pPr>
            <a:r>
              <a:rPr sz="4000" b="1" i="0">
                <a:solidFill>
                  <a:srgbClr val="1B7837"/>
                </a:solidFill>
                <a:latin typeface="Calibri"/>
              </a:rPr>
              <a:t>II</a:t>
            </a:r>
          </a:p>
          <a:p>
            <a:pPr algn="l">
              <a:spcAft>
                <a:spcPts val="800"/>
              </a:spcAft>
            </a:pPr>
            <a:r>
              <a:rPr sz="1600" b="1" i="0">
                <a:solidFill>
                  <a:srgbClr val="212121"/>
                </a:solidFill>
                <a:latin typeface="Calibri"/>
              </a:rPr>
              <a:t>What bends national curves?</a:t>
            </a:r>
          </a:p>
          <a:p>
            <a:pPr algn="l">
              <a:spcAft>
                <a:spcPts val="0"/>
              </a:spcAft>
            </a:pPr>
            <a:r>
              <a:rPr sz="1250" b="0" i="0">
                <a:solidFill>
                  <a:srgbClr val="555555"/>
                </a:solidFill>
                <a:latin typeface="Calibri"/>
              </a:rPr>
              <a:t>97 eligible breaks scattered across five decades and seven historically validated mechanism families.</a:t>
            </a:r>
          </a:p>
        </p:txBody>
      </p:sp>
      <p:sp>
        <p:nvSpPr>
          <p:cNvPr id="5" name="TextBox 4"/>
          <p:cNvSpPr txBox="1"/>
          <p:nvPr/>
        </p:nvSpPr>
        <p:spPr>
          <a:xfrm>
            <a:off x="6208776" y="1600200"/>
            <a:ext cx="2697480" cy="4206240"/>
          </a:xfrm>
          <a:prstGeom prst="rect">
            <a:avLst/>
          </a:prstGeom>
          <a:noFill/>
        </p:spPr>
        <p:txBody>
          <a:bodyPr wrap="square">
            <a:spAutoFit/>
          </a:bodyPr>
          <a:lstStyle/>
          <a:p>
            <a:pPr algn="l">
              <a:spcAft>
                <a:spcPts val="600"/>
              </a:spcAft>
            </a:pPr>
            <a:r>
              <a:rPr sz="4000" b="1" i="0">
                <a:solidFill>
                  <a:srgbClr val="1B7837"/>
                </a:solidFill>
                <a:latin typeface="Calibri"/>
              </a:rPr>
              <a:t>III</a:t>
            </a:r>
          </a:p>
          <a:p>
            <a:pPr algn="l">
              <a:spcAft>
                <a:spcPts val="800"/>
              </a:spcAft>
            </a:pPr>
            <a:r>
              <a:rPr sz="1600" b="1" i="0">
                <a:solidFill>
                  <a:srgbClr val="212121"/>
                </a:solidFill>
                <a:latin typeface="Calibri"/>
              </a:rPr>
              <a:t>Did the bends count?</a:t>
            </a:r>
          </a:p>
          <a:p>
            <a:pPr algn="l">
              <a:spcAft>
                <a:spcPts val="0"/>
              </a:spcAft>
            </a:pPr>
            <a:r>
              <a:rPr sz="1250" b="0" i="0">
                <a:solidFill>
                  <a:srgbClr val="555555"/>
                </a:solidFill>
                <a:latin typeface="Calibri"/>
              </a:rPr>
              <a:t>Transition quality separates genuine decarbonization from recessions, disruption, offshoring, and growth that outruns efficiency.</a:t>
            </a:r>
          </a:p>
        </p:txBody>
      </p:sp>
      <p:sp>
        <p:nvSpPr>
          <p:cNvPr id="6" name="TextBox 5"/>
          <p:cNvSpPr txBox="1"/>
          <p:nvPr/>
        </p:nvSpPr>
        <p:spPr>
          <a:xfrm>
            <a:off x="9061704" y="1600200"/>
            <a:ext cx="2697480" cy="4206240"/>
          </a:xfrm>
          <a:prstGeom prst="rect">
            <a:avLst/>
          </a:prstGeom>
          <a:noFill/>
        </p:spPr>
        <p:txBody>
          <a:bodyPr wrap="square">
            <a:spAutoFit/>
          </a:bodyPr>
          <a:lstStyle/>
          <a:p>
            <a:pPr algn="l">
              <a:spcAft>
                <a:spcPts val="600"/>
              </a:spcAft>
            </a:pPr>
            <a:r>
              <a:rPr sz="4000" b="1" i="0">
                <a:solidFill>
                  <a:srgbClr val="1B7837"/>
                </a:solidFill>
                <a:latin typeface="Calibri"/>
              </a:rPr>
              <a:t>IV</a:t>
            </a:r>
          </a:p>
          <a:p>
            <a:pPr algn="l">
              <a:spcAft>
                <a:spcPts val="800"/>
              </a:spcAft>
            </a:pPr>
            <a:r>
              <a:rPr sz="1600" b="1" i="0">
                <a:solidFill>
                  <a:srgbClr val="212121"/>
                </a:solidFill>
                <a:latin typeface="Calibri"/>
              </a:rPr>
              <a:t>Can we trust the story?</a:t>
            </a:r>
          </a:p>
          <a:p>
            <a:pPr algn="l">
              <a:spcAft>
                <a:spcPts val="0"/>
              </a:spcAft>
            </a:pPr>
            <a:r>
              <a:rPr sz="1250" b="0" i="0">
                <a:solidFill>
                  <a:srgbClr val="555555"/>
                </a:solidFill>
                <a:latin typeface="Calibri"/>
              </a:rPr>
              <a:t>Event-timing tests against chance, external ratings, consumption-based accounting — and unresolved cases reported as such.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 · IS THE GLOBAL BEND PARIS?</a:t>
            </a:r>
          </a:p>
          <a:p>
            <a:pPr algn="l">
              <a:spcAft>
                <a:spcPts val="0"/>
              </a:spcAft>
            </a:pPr>
            <a:r>
              <a:rPr sz="2700" b="1" i="0">
                <a:solidFill>
                  <a:srgbClr val="212121"/>
                </a:solidFill>
                <a:latin typeface="Calibri"/>
              </a:rPr>
              <a:t>Global curves first bent in the 1970s — decades before the climate regime</a:t>
            </a:r>
          </a:p>
        </p:txBody>
      </p:sp>
      <p:pic>
        <p:nvPicPr>
          <p:cNvPr id="3" name="Picture 2" descr="takeaway_fig01_global_bend_predates_treaties.png"/>
          <p:cNvPicPr>
            <a:picLocks noChangeAspect="1"/>
          </p:cNvPicPr>
          <p:nvPr/>
        </p:nvPicPr>
        <p:blipFill>
          <a:blip r:embed="rId2"/>
          <a:stretch>
            <a:fillRect/>
          </a:stretch>
        </p:blipFill>
        <p:spPr>
          <a:xfrm>
            <a:off x="2854612" y="1325879"/>
            <a:ext cx="6479727" cy="512978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 · IS THE GLOBAL BEND PARIS?</a:t>
            </a:r>
          </a:p>
          <a:p>
            <a:pPr algn="l">
              <a:spcAft>
                <a:spcPts val="0"/>
              </a:spcAft>
            </a:pPr>
            <a:r>
              <a:rPr sz="2700" b="1" i="0">
                <a:solidFill>
                  <a:srgbClr val="212121"/>
                </a:solidFill>
                <a:latin typeface="Calibri"/>
              </a:rPr>
              <a:t>Paris at ten: intensity is outrunning its old trend — but the bend began earlier</a:t>
            </a:r>
          </a:p>
        </p:txBody>
      </p:sp>
      <p:pic>
        <p:nvPicPr>
          <p:cNvPr id="3" name="Picture 2" descr="takeaway_fig02a_paris_and_the_long_trend.png"/>
          <p:cNvPicPr>
            <a:picLocks noChangeAspect="1"/>
          </p:cNvPicPr>
          <p:nvPr/>
        </p:nvPicPr>
        <p:blipFill>
          <a:blip r:embed="rId2"/>
          <a:stretch>
            <a:fillRect/>
          </a:stretch>
        </p:blipFill>
        <p:spPr>
          <a:xfrm>
            <a:off x="537210" y="1325880"/>
            <a:ext cx="11114532" cy="512978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 · IS THE GLOBAL BEND PARIS?</a:t>
            </a:r>
          </a:p>
          <a:p>
            <a:pPr algn="l">
              <a:spcAft>
                <a:spcPts val="0"/>
              </a:spcAft>
            </a:pPr>
            <a:r>
              <a:rPr sz="2700" b="1" i="0">
                <a:solidFill>
                  <a:srgbClr val="212121"/>
                </a:solidFill>
                <a:latin typeface="Calibri"/>
              </a:rPr>
              <a:t>The arithmetic of bending the curve: intensity must fall as fast as GDP grows</a:t>
            </a:r>
          </a:p>
        </p:txBody>
      </p:sp>
      <p:pic>
        <p:nvPicPr>
          <p:cNvPr id="3" name="Picture 2" descr="takeaway_fig02b_stabilization_arithmetic.png"/>
          <p:cNvPicPr>
            <a:picLocks noChangeAspect="1"/>
          </p:cNvPicPr>
          <p:nvPr/>
        </p:nvPicPr>
        <p:blipFill>
          <a:blip r:embed="rId2"/>
          <a:stretch>
            <a:fillRect/>
          </a:stretch>
        </p:blipFill>
        <p:spPr>
          <a:xfrm>
            <a:off x="537210" y="1325880"/>
            <a:ext cx="11114532" cy="512978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 · IS THE GLOBAL BEND PARIS?</a:t>
            </a:r>
          </a:p>
          <a:p>
            <a:pPr algn="l">
              <a:spcAft>
                <a:spcPts val="0"/>
              </a:spcAft>
            </a:pPr>
            <a:r>
              <a:rPr sz="2700" b="1" i="0">
                <a:solidFill>
                  <a:srgbClr val="212121"/>
                </a:solidFill>
                <a:latin typeface="Calibri"/>
              </a:rPr>
              <a:t>The placebo discipline: many years look like turning points</a:t>
            </a:r>
          </a:p>
        </p:txBody>
      </p:sp>
      <p:pic>
        <p:nvPicPr>
          <p:cNvPr id="3" name="Picture 2" descr="takeaway_fig02_placebo_test.png"/>
          <p:cNvPicPr>
            <a:picLocks noChangeAspect="1"/>
          </p:cNvPicPr>
          <p:nvPr/>
        </p:nvPicPr>
        <p:blipFill>
          <a:blip r:embed="rId2"/>
          <a:stretch>
            <a:fillRect/>
          </a:stretch>
        </p:blipFill>
        <p:spPr>
          <a:xfrm>
            <a:off x="3016605" y="1325880"/>
            <a:ext cx="6155740" cy="512978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 · VERDICT</a:t>
            </a:r>
          </a:p>
          <a:p>
            <a:pPr algn="l">
              <a:spcAft>
                <a:spcPts val="0"/>
              </a:spcAft>
            </a:pPr>
            <a:r>
              <a:rPr sz="2700" b="1" i="0">
                <a:solidFill>
                  <a:srgbClr val="212121"/>
                </a:solidFill>
                <a:latin typeface="Calibri"/>
              </a:rPr>
              <a:t>The global record can show an acceleration — not yet its author</a:t>
            </a:r>
          </a:p>
        </p:txBody>
      </p:sp>
      <p:sp>
        <p:nvSpPr>
          <p:cNvPr id="3" name="TextBox 2"/>
          <p:cNvSpPr txBox="1"/>
          <p:nvPr/>
        </p:nvSpPr>
        <p:spPr>
          <a:xfrm>
            <a:off x="502920" y="1463040"/>
            <a:ext cx="5532120" cy="4937760"/>
          </a:xfrm>
          <a:prstGeom prst="rect">
            <a:avLst/>
          </a:prstGeom>
          <a:noFill/>
        </p:spPr>
        <p:txBody>
          <a:bodyPr wrap="square">
            <a:spAutoFit/>
          </a:bodyPr>
          <a:lstStyle/>
          <a:p>
            <a:pPr algn="l">
              <a:spcAft>
                <a:spcPts val="600"/>
              </a:spcAft>
            </a:pPr>
            <a:r>
              <a:rPr sz="1600" b="1" i="0">
                <a:solidFill>
                  <a:srgbClr val="1B7837"/>
                </a:solidFill>
                <a:latin typeface="Calibri"/>
              </a:rPr>
              <a:t>What the data establishes</a:t>
            </a:r>
          </a:p>
          <a:p>
            <a:pPr algn="l">
              <a:spcAft>
                <a:spcPts val="700"/>
              </a:spcAft>
            </a:pPr>
            <a:r>
              <a:rPr sz="1350" b="1">
                <a:solidFill>
                  <a:srgbClr val="1B7837"/>
                </a:solidFill>
                <a:latin typeface="Calibri"/>
              </a:rPr>
              <a:t>•  </a:t>
            </a:r>
            <a:r>
              <a:rPr sz="1350" b="0">
                <a:solidFill>
                  <a:srgbClr val="555555"/>
                </a:solidFill>
                <a:latin typeface="Calibri"/>
              </a:rPr>
              <a:t>A real post-2013 supply-side acceleration: C/E falling −0.5%/yr after a flat quarter-century; C/GDP −0.9 pp/yr faster than the Rio-to-Paris trend (Newey–West).</a:t>
            </a:r>
          </a:p>
          <a:p>
            <a:pPr algn="l">
              <a:spcAft>
                <a:spcPts val="700"/>
              </a:spcAft>
            </a:pPr>
            <a:r>
              <a:rPr sz="1350" b="1">
                <a:solidFill>
                  <a:srgbClr val="1B7837"/>
                </a:solidFill>
                <a:latin typeface="Calibri"/>
              </a:rPr>
              <a:t>•  </a:t>
            </a:r>
            <a:r>
              <a:rPr sz="1350" b="0">
                <a:solidFill>
                  <a:srgbClr val="555555"/>
                </a:solidFill>
                <a:latin typeface="Calibri"/>
              </a:rPr>
              <a:t>Emissions growth slowed from +2.1 to +0.4%/yr — the direction an effective Paris requires.</a:t>
            </a:r>
          </a:p>
          <a:p>
            <a:pPr algn="l">
              <a:spcAft>
                <a:spcPts val="700"/>
              </a:spcAft>
            </a:pPr>
            <a:r>
              <a:rPr sz="1350" b="1">
                <a:solidFill>
                  <a:srgbClr val="1B7837"/>
                </a:solidFill>
                <a:latin typeface="Calibri"/>
              </a:rPr>
              <a:t>•  </a:t>
            </a:r>
            <a:r>
              <a:rPr sz="1350" b="0">
                <a:solidFill>
                  <a:srgbClr val="555555"/>
                </a:solidFill>
                <a:latin typeface="Calibri"/>
              </a:rPr>
              <a:t>No acceleration on the demand side (E/GDP): efficiency and structure continue their 50-year trend.</a:t>
            </a:r>
          </a:p>
        </p:txBody>
      </p:sp>
      <p:sp>
        <p:nvSpPr>
          <p:cNvPr id="4" name="TextBox 3"/>
          <p:cNvSpPr txBox="1"/>
          <p:nvPr/>
        </p:nvSpPr>
        <p:spPr>
          <a:xfrm>
            <a:off x="6400800" y="1463040"/>
            <a:ext cx="5303520" cy="4937760"/>
          </a:xfrm>
          <a:prstGeom prst="rect">
            <a:avLst/>
          </a:prstGeom>
          <a:noFill/>
        </p:spPr>
        <p:txBody>
          <a:bodyPr wrap="square">
            <a:spAutoFit/>
          </a:bodyPr>
          <a:lstStyle/>
          <a:p>
            <a:pPr algn="l">
              <a:spcAft>
                <a:spcPts val="600"/>
              </a:spcAft>
            </a:pPr>
            <a:r>
              <a:rPr sz="1600" b="1" i="0">
                <a:solidFill>
                  <a:srgbClr val="B33A3A"/>
                </a:solidFill>
                <a:latin typeface="Calibri"/>
              </a:rPr>
              <a:t>Why attribution stays open</a:t>
            </a:r>
          </a:p>
          <a:p>
            <a:pPr algn="l">
              <a:spcAft>
                <a:spcPts val="700"/>
              </a:spcAft>
            </a:pPr>
            <a:r>
              <a:rPr sz="1350" b="1">
                <a:solidFill>
                  <a:srgbClr val="B33A3A"/>
                </a:solidFill>
                <a:latin typeface="Calibri"/>
              </a:rPr>
              <a:t>•  </a:t>
            </a:r>
            <a:r>
              <a:rPr sz="1350" b="0">
                <a:solidFill>
                  <a:srgbClr val="555555"/>
                </a:solidFill>
                <a:latin typeface="Calibri"/>
              </a:rPr>
              <a:t>Timing: candidate onsets 2011–2016 fit about equally well (best 2013) — indistinguishable from the renewables cost collapse that preceded Paris.</a:t>
            </a:r>
          </a:p>
          <a:p>
            <a:pPr algn="l">
              <a:spcAft>
                <a:spcPts val="700"/>
              </a:spcAft>
            </a:pPr>
            <a:r>
              <a:rPr sz="1350" b="1">
                <a:solidFill>
                  <a:srgbClr val="B33A3A"/>
                </a:solidFill>
                <a:latin typeface="Calibri"/>
              </a:rPr>
              <a:t>•  </a:t>
            </a:r>
            <a:r>
              <a:rPr sz="1350" b="0">
                <a:solidFill>
                  <a:srgbClr val="555555"/>
                </a:solidFill>
                <a:latin typeface="Calibri"/>
              </a:rPr>
              <a:t>Power: with 8 post-Paris years, only an acceleration ≈0.8 pp/yr is detectable at 80% power — Paris would have had to double a 50-year trend to prove itself already.</a:t>
            </a:r>
          </a:p>
          <a:p>
            <a:pPr algn="l">
              <a:spcAft>
                <a:spcPts val="700"/>
              </a:spcAft>
            </a:pPr>
            <a:r>
              <a:rPr sz="1350" b="1">
                <a:solidFill>
                  <a:srgbClr val="B33A3A"/>
                </a:solidFill>
                <a:latin typeface="Calibri"/>
              </a:rPr>
              <a:t>•  </a:t>
            </a:r>
            <a:r>
              <a:rPr sz="1350" b="0">
                <a:solidFill>
                  <a:srgbClr val="555555"/>
                </a:solidFill>
                <a:latin typeface="Calibri"/>
              </a:rPr>
              <a:t>Aggregation: China's WTO-era coal boom flattened the global fuel-mix baseline; the world series is a China-weighted average that hides national signals.</a:t>
            </a:r>
          </a:p>
          <a:p>
            <a:pPr algn="l">
              <a:spcAft>
                <a:spcPts val="700"/>
              </a:spcAft>
            </a:pPr>
            <a:r>
              <a:rPr sz="1350" b="1">
                <a:solidFill>
                  <a:srgbClr val="B33A3A"/>
                </a:solidFill>
                <a:latin typeface="Calibri"/>
              </a:rPr>
              <a:t>•  </a:t>
            </a:r>
            <a:r>
              <a:rPr sz="1350" b="0">
                <a:solidFill>
                  <a:srgbClr val="555555"/>
                </a:solidFill>
                <a:latin typeface="Calibri"/>
              </a:rPr>
              <a:t>Design: Paris works through NDCs and national transformation — its signature should appear country by country. So we look there.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II · WHAT BENDS NATIONAL CURVES?</a:t>
            </a:r>
          </a:p>
          <a:p>
            <a:pPr algn="l">
              <a:spcAft>
                <a:spcPts val="0"/>
              </a:spcAft>
            </a:pPr>
            <a:r>
              <a:rPr sz="2700" b="1" i="0">
                <a:solidFill>
                  <a:srgbClr val="212121"/>
                </a:solidFill>
                <a:latin typeface="Calibri"/>
              </a:rPr>
              <a:t>97 national breaks across five decades — tracking economic history</a:t>
            </a:r>
          </a:p>
        </p:txBody>
      </p:sp>
      <p:pic>
        <p:nvPicPr>
          <p:cNvPr id="3" name="Picture 2" descr="takeaway_fig03_when_and_why_curves_bend.png"/>
          <p:cNvPicPr>
            <a:picLocks noChangeAspect="1"/>
          </p:cNvPicPr>
          <p:nvPr/>
        </p:nvPicPr>
        <p:blipFill>
          <a:blip r:embed="rId2"/>
          <a:stretch>
            <a:fillRect/>
          </a:stretch>
        </p:blipFill>
        <p:spPr>
          <a:xfrm>
            <a:off x="2760116" y="1325880"/>
            <a:ext cx="6668719" cy="512978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II · WHAT BENDS NATIONAL CURVES?</a:t>
            </a:r>
          </a:p>
          <a:p>
            <a:pPr algn="l">
              <a:spcAft>
                <a:spcPts val="0"/>
              </a:spcAft>
            </a:pPr>
            <a:r>
              <a:rPr sz="2700" b="1" i="0">
                <a:solidFill>
                  <a:srgbClr val="212121"/>
                </a:solidFill>
                <a:latin typeface="Calibri"/>
              </a:rPr>
              <a:t>What accompanied the bends: mostly markets, restructuring, disruption</a:t>
            </a:r>
          </a:p>
        </p:txBody>
      </p:sp>
      <p:pic>
        <p:nvPicPr>
          <p:cNvPr id="3" name="Picture 2" descr="takeaway_fig04_mechanism_census.png"/>
          <p:cNvPicPr>
            <a:picLocks noChangeAspect="1"/>
          </p:cNvPicPr>
          <p:nvPr/>
        </p:nvPicPr>
        <p:blipFill>
          <a:blip r:embed="rId2"/>
          <a:stretch>
            <a:fillRect/>
          </a:stretch>
        </p:blipFill>
        <p:spPr>
          <a:xfrm>
            <a:off x="787802" y="1325880"/>
            <a:ext cx="10613346" cy="512978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C77F00"/>
                </a:solidFill>
                <a:latin typeface="Calibri"/>
              </a:rPr>
              <a:t>ACT III · DID THE BENDS COUNT?</a:t>
            </a:r>
          </a:p>
          <a:p>
            <a:pPr algn="l">
              <a:spcAft>
                <a:spcPts val="0"/>
              </a:spcAft>
            </a:pPr>
            <a:r>
              <a:rPr sz="2700" b="1" i="0">
                <a:solidFill>
                  <a:srgbClr val="212121"/>
                </a:solidFill>
                <a:latin typeface="Calibri"/>
              </a:rPr>
              <a:t>Seven mechanisms, six verdicts</a:t>
            </a:r>
          </a:p>
        </p:txBody>
      </p:sp>
      <p:sp>
        <p:nvSpPr>
          <p:cNvPr id="3" name="TextBox 2"/>
          <p:cNvSpPr txBox="1"/>
          <p:nvPr/>
        </p:nvSpPr>
        <p:spPr>
          <a:xfrm>
            <a:off x="502920" y="1371600"/>
            <a:ext cx="5532120" cy="5212080"/>
          </a:xfrm>
          <a:prstGeom prst="rect">
            <a:avLst/>
          </a:prstGeom>
          <a:noFill/>
        </p:spPr>
        <p:txBody>
          <a:bodyPr wrap="square">
            <a:spAutoFit/>
          </a:bodyPr>
          <a:lstStyle/>
          <a:p>
            <a:pPr algn="l">
              <a:spcAft>
                <a:spcPts val="600"/>
              </a:spcAft>
            </a:pPr>
            <a:r>
              <a:rPr sz="1400" b="1" i="0">
                <a:solidFill>
                  <a:srgbClr val="212121"/>
                </a:solidFill>
                <a:latin typeface="Calibri"/>
              </a:rPr>
              <a:t>MECHANISMS — what accompanied the bend</a:t>
            </a:r>
          </a:p>
          <a:p>
            <a:pPr algn="l">
              <a:spcAft>
                <a:spcPts val="400"/>
              </a:spcAft>
            </a:pPr>
            <a:r>
              <a:rPr sz="1200" b="1">
                <a:solidFill>
                  <a:srgbClr val="212121"/>
                </a:solidFill>
                <a:latin typeface="Calibri"/>
              </a:rPr>
              <a:t>Policy-enabled low carbon — </a:t>
            </a:r>
            <a:r>
              <a:rPr sz="1200" b="0">
                <a:solidFill>
                  <a:srgbClr val="555555"/>
                </a:solidFill>
                <a:latin typeface="Calibri"/>
              </a:rPr>
              <a:t>deliberate climate/energy policy made physical: infrastructure, fuel mix, market design.</a:t>
            </a:r>
          </a:p>
          <a:p>
            <a:pPr algn="l">
              <a:spcAft>
                <a:spcPts val="400"/>
              </a:spcAft>
            </a:pPr>
            <a:r>
              <a:rPr sz="1200" b="1">
                <a:solidFill>
                  <a:srgbClr val="212121"/>
                </a:solidFill>
                <a:latin typeface="Calibri"/>
              </a:rPr>
              <a:t>Fuel &amp; energy markets — </a:t>
            </a:r>
            <a:r>
              <a:rPr sz="1200" b="0">
                <a:solidFill>
                  <a:srgbClr val="555555"/>
                </a:solidFill>
                <a:latin typeface="Calibri"/>
              </a:rPr>
              <a:t>market-driven fuel switching or supply transformation.</a:t>
            </a:r>
          </a:p>
          <a:p>
            <a:pPr algn="l">
              <a:spcAft>
                <a:spcPts val="400"/>
              </a:spcAft>
            </a:pPr>
            <a:r>
              <a:rPr sz="1200" b="1">
                <a:solidFill>
                  <a:srgbClr val="212121"/>
                </a:solidFill>
                <a:latin typeface="Calibri"/>
              </a:rPr>
              <a:t>Economic restructuring — </a:t>
            </a:r>
            <a:r>
              <a:rPr sz="1200" b="0">
                <a:solidFill>
                  <a:srgbClr val="555555"/>
                </a:solidFill>
                <a:latin typeface="Calibri"/>
              </a:rPr>
              <a:t>industry to services, liberalization, post-socialist transition.</a:t>
            </a:r>
          </a:p>
          <a:p>
            <a:pPr algn="l">
              <a:spcAft>
                <a:spcPts val="400"/>
              </a:spcAft>
            </a:pPr>
            <a:r>
              <a:rPr sz="1200" b="1">
                <a:solidFill>
                  <a:srgbClr val="212121"/>
                </a:solidFill>
                <a:latin typeface="Calibri"/>
              </a:rPr>
              <a:t>Macroeconomic shock — </a:t>
            </a:r>
            <a:r>
              <a:rPr sz="1200" b="0">
                <a:solidFill>
                  <a:srgbClr val="555555"/>
                </a:solidFill>
                <a:latin typeface="Calibri"/>
              </a:rPr>
              <a:t>recessions and financial crises that cut energy use.</a:t>
            </a:r>
          </a:p>
          <a:p>
            <a:pPr algn="l">
              <a:spcAft>
                <a:spcPts val="400"/>
              </a:spcAft>
            </a:pPr>
            <a:r>
              <a:rPr sz="1200" b="1">
                <a:solidFill>
                  <a:srgbClr val="212121"/>
                </a:solidFill>
                <a:latin typeface="Calibri"/>
              </a:rPr>
              <a:t>Political disruption — </a:t>
            </a:r>
            <a:r>
              <a:rPr sz="1200" b="0">
                <a:solidFill>
                  <a:srgbClr val="555555"/>
                </a:solidFill>
                <a:latin typeface="Calibri"/>
              </a:rPr>
              <a:t>wars, state collapse, sanctions, regime change.</a:t>
            </a:r>
          </a:p>
          <a:p>
            <a:pPr algn="l">
              <a:spcAft>
                <a:spcPts val="400"/>
              </a:spcAft>
            </a:pPr>
            <a:r>
              <a:rPr sz="1200" b="1">
                <a:solidFill>
                  <a:srgbClr val="212121"/>
                </a:solidFill>
                <a:latin typeface="Calibri"/>
              </a:rPr>
              <a:t>Development &amp; energy access — </a:t>
            </a:r>
            <a:r>
              <a:rPr sz="1200" b="0">
                <a:solidFill>
                  <a:srgbClr val="555555"/>
                </a:solidFill>
                <a:latin typeface="Calibri"/>
              </a:rPr>
              <a:t>electrification and modernization.</a:t>
            </a:r>
          </a:p>
          <a:p>
            <a:pPr algn="l">
              <a:spcAft>
                <a:spcPts val="400"/>
              </a:spcAft>
            </a:pPr>
            <a:r>
              <a:rPr sz="1200" b="1">
                <a:solidFill>
                  <a:srgbClr val="212121"/>
                </a:solidFill>
                <a:latin typeface="Calibri"/>
              </a:rPr>
              <a:t>No attributed mechanism — </a:t>
            </a:r>
            <a:r>
              <a:rPr sz="1200" b="0">
                <a:solidFill>
                  <a:srgbClr val="555555"/>
                </a:solidFill>
                <a:latin typeface="Calibri"/>
              </a:rPr>
              <a:t>a real, eligible break the record cannot yet explain (22 of 97).</a:t>
            </a:r>
          </a:p>
        </p:txBody>
      </p:sp>
      <p:sp>
        <p:nvSpPr>
          <p:cNvPr id="4" name="TextBox 3"/>
          <p:cNvSpPr txBox="1"/>
          <p:nvPr/>
        </p:nvSpPr>
        <p:spPr>
          <a:xfrm>
            <a:off x="6400800" y="1371600"/>
            <a:ext cx="5303520" cy="5212080"/>
          </a:xfrm>
          <a:prstGeom prst="rect">
            <a:avLst/>
          </a:prstGeom>
          <a:noFill/>
        </p:spPr>
        <p:txBody>
          <a:bodyPr wrap="square">
            <a:spAutoFit/>
          </a:bodyPr>
          <a:lstStyle/>
          <a:p>
            <a:pPr algn="l">
              <a:spcAft>
                <a:spcPts val="400"/>
              </a:spcAft>
            </a:pPr>
            <a:r>
              <a:rPr sz="1400" b="1" i="0">
                <a:solidFill>
                  <a:srgbClr val="212121"/>
                </a:solidFill>
                <a:latin typeface="Calibri"/>
              </a:rPr>
              <a:t>VERDICTS — four tests of the outcome</a:t>
            </a:r>
          </a:p>
          <a:p>
            <a:pPr algn="l">
              <a:spcAft>
                <a:spcPts val="800"/>
              </a:spcAft>
            </a:pPr>
            <a:r>
              <a:rPr sz="1250" b="0" i="1">
                <a:solidFill>
                  <a:srgbClr val="555555"/>
                </a:solidFill>
                <a:latin typeface="Calibri"/>
              </a:rPr>
              <a:t>favorable? persistent? absolute CO2 falling? constructive mechanism?</a:t>
            </a:r>
          </a:p>
          <a:p>
            <a:pPr algn="l">
              <a:spcAft>
                <a:spcPts val="400"/>
              </a:spcAft>
            </a:pPr>
            <a:r>
              <a:rPr sz="1200" b="1">
                <a:solidFill>
                  <a:srgbClr val="212121"/>
                </a:solidFill>
                <a:latin typeface="Calibri"/>
              </a:rPr>
              <a:t>Constructive persistent decarbonization </a:t>
            </a:r>
            <a:r>
              <a:rPr sz="1200" b="1">
                <a:solidFill>
                  <a:srgbClr val="1B7837"/>
                </a:solidFill>
                <a:latin typeface="Calibri"/>
              </a:rPr>
              <a:t>(9) — </a:t>
            </a:r>
            <a:r>
              <a:rPr sz="1200" b="0">
                <a:solidFill>
                  <a:srgbClr val="555555"/>
                </a:solidFill>
                <a:latin typeface="Calibri"/>
              </a:rPr>
              <a:t>passes all four — the gold standard.</a:t>
            </a:r>
          </a:p>
          <a:p>
            <a:pPr algn="l">
              <a:spcAft>
                <a:spcPts val="400"/>
              </a:spcAft>
            </a:pPr>
            <a:r>
              <a:rPr sz="1200" b="1">
                <a:solidFill>
                  <a:srgbClr val="212121"/>
                </a:solidFill>
                <a:latin typeface="Calibri"/>
              </a:rPr>
              <a:t>Persistent fuel substitution </a:t>
            </a:r>
            <a:r>
              <a:rPr sz="1200" b="1">
                <a:solidFill>
                  <a:srgbClr val="8A8A8A"/>
                </a:solidFill>
                <a:latin typeface="Calibri"/>
              </a:rPr>
              <a:t>(13) — </a:t>
            </a:r>
            <a:r>
              <a:rPr sz="1200" b="0">
                <a:solidFill>
                  <a:srgbClr val="555555"/>
                </a:solidFill>
                <a:latin typeface="Calibri"/>
              </a:rPr>
              <a:t>durable supply-side switch; narrower transformation.</a:t>
            </a:r>
          </a:p>
          <a:p>
            <a:pPr algn="l">
              <a:spcAft>
                <a:spcPts val="400"/>
              </a:spcAft>
            </a:pPr>
            <a:r>
              <a:rPr sz="1200" b="1">
                <a:solidFill>
                  <a:srgbClr val="212121"/>
                </a:solidFill>
                <a:latin typeface="Calibri"/>
              </a:rPr>
              <a:t>Intensity gain; CO2 still rising </a:t>
            </a:r>
            <a:r>
              <a:rPr sz="1200" b="1">
                <a:solidFill>
                  <a:srgbClr val="8A8A8A"/>
                </a:solidFill>
                <a:latin typeface="Calibri"/>
              </a:rPr>
              <a:t>(12) — </a:t>
            </a:r>
            <a:r>
              <a:rPr sz="1200" b="0">
                <a:solidFill>
                  <a:srgbClr val="555555"/>
                </a:solidFill>
                <a:latin typeface="Calibri"/>
              </a:rPr>
              <a:t>relative gain overwhelmed by growth.</a:t>
            </a:r>
          </a:p>
          <a:p>
            <a:pPr algn="l">
              <a:spcAft>
                <a:spcPts val="400"/>
              </a:spcAft>
            </a:pPr>
            <a:r>
              <a:rPr sz="1200" b="1">
                <a:solidFill>
                  <a:srgbClr val="212121"/>
                </a:solidFill>
                <a:latin typeface="Calibri"/>
              </a:rPr>
              <a:t>Contractionary / disruptive </a:t>
            </a:r>
            <a:r>
              <a:rPr sz="1200" b="1">
                <a:solidFill>
                  <a:srgbClr val="8A8A8A"/>
                </a:solidFill>
                <a:latin typeface="Calibri"/>
              </a:rPr>
              <a:t>(20) — </a:t>
            </a:r>
            <a:r>
              <a:rPr sz="1200" b="0">
                <a:solidFill>
                  <a:srgbClr val="555555"/>
                </a:solidFill>
                <a:latin typeface="Calibri"/>
              </a:rPr>
              <a:t>the 'improvement' is a crisis in disguise.</a:t>
            </a:r>
          </a:p>
          <a:p>
            <a:pPr algn="l">
              <a:spcAft>
                <a:spcPts val="400"/>
              </a:spcAft>
            </a:pPr>
            <a:r>
              <a:rPr sz="1200" b="1">
                <a:solidFill>
                  <a:srgbClr val="212121"/>
                </a:solidFill>
                <a:latin typeface="Calibri"/>
              </a:rPr>
              <a:t>Incomplete / nonpersistent </a:t>
            </a:r>
            <a:r>
              <a:rPr sz="1200" b="1">
                <a:solidFill>
                  <a:srgbClr val="8A8A8A"/>
                </a:solidFill>
                <a:latin typeface="Calibri"/>
              </a:rPr>
              <a:t>(21) — </a:t>
            </a:r>
            <a:r>
              <a:rPr sz="1200" b="0">
                <a:solidFill>
                  <a:srgbClr val="555555"/>
                </a:solidFill>
                <a:latin typeface="Calibri"/>
              </a:rPr>
              <a:t>the bend reversed or did not hold.</a:t>
            </a:r>
          </a:p>
          <a:p>
            <a:pPr algn="l">
              <a:spcAft>
                <a:spcPts val="400"/>
              </a:spcAft>
            </a:pPr>
            <a:r>
              <a:rPr sz="1200" b="1">
                <a:solidFill>
                  <a:srgbClr val="212121"/>
                </a:solidFill>
                <a:latin typeface="Calibri"/>
              </a:rPr>
              <a:t>Outcome not classifiable </a:t>
            </a:r>
            <a:r>
              <a:rPr sz="1200" b="1">
                <a:solidFill>
                  <a:srgbClr val="8A8A8A"/>
                </a:solidFill>
                <a:latin typeface="Calibri"/>
              </a:rPr>
              <a:t>(22) — </a:t>
            </a:r>
            <a:r>
              <a:rPr sz="1200" b="0">
                <a:solidFill>
                  <a:srgbClr val="555555"/>
                </a:solidFill>
                <a:latin typeface="Calibri"/>
              </a:rPr>
              <a:t>too little post-break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III · DID THE BENDS COUNT?</a:t>
            </a:r>
          </a:p>
          <a:p>
            <a:pPr algn="l">
              <a:spcAft>
                <a:spcPts val="0"/>
              </a:spcAft>
            </a:pPr>
            <a:r>
              <a:rPr sz="2700" b="1" i="0">
                <a:solidFill>
                  <a:srgbClr val="212121"/>
                </a:solidFill>
                <a:latin typeface="Calibri"/>
              </a:rPr>
              <a:t>From mechanism to verdict: 97 countries flow to six outcomes</a:t>
            </a:r>
          </a:p>
        </p:txBody>
      </p:sp>
      <p:pic>
        <p:nvPicPr>
          <p:cNvPr id="3" name="Picture 2" descr="image4.png"/>
          <p:cNvPicPr>
            <a:picLocks noChangeAspect="1"/>
          </p:cNvPicPr>
          <p:nvPr/>
        </p:nvPicPr>
        <p:blipFill>
          <a:blip r:embed="rId2"/>
          <a:stretch>
            <a:fillRect/>
          </a:stretch>
        </p:blipFill>
        <p:spPr>
          <a:xfrm>
            <a:off x="2473452" y="1325880"/>
            <a:ext cx="7242047" cy="512978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III · DID THE BENDS COUNT?</a:t>
            </a:r>
          </a:p>
          <a:p>
            <a:pPr algn="l">
              <a:spcAft>
                <a:spcPts val="0"/>
              </a:spcAft>
            </a:pPr>
            <a:r>
              <a:rPr sz="2700" b="1" i="0">
                <a:solidFill>
                  <a:srgbClr val="212121"/>
                </a:solidFill>
                <a:latin typeface="Calibri"/>
              </a:rPr>
              <a:t>Lower carbon intensity is not the same as falling emissions</a:t>
            </a:r>
          </a:p>
        </p:txBody>
      </p:sp>
      <p:pic>
        <p:nvPicPr>
          <p:cNvPr id="3" name="Picture 2" descr="takeaway_fig05_bend_vs_success.png"/>
          <p:cNvPicPr>
            <a:picLocks noChangeAspect="1"/>
          </p:cNvPicPr>
          <p:nvPr/>
        </p:nvPicPr>
        <p:blipFill>
          <a:blip r:embed="rId2"/>
          <a:stretch>
            <a:fillRect/>
          </a:stretch>
        </p:blipFill>
        <p:spPr>
          <a:xfrm>
            <a:off x="2247138" y="1325880"/>
            <a:ext cx="7694675" cy="512978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III · DID THE BENDS COUNT?</a:t>
            </a:r>
          </a:p>
          <a:p>
            <a:pPr algn="l">
              <a:spcAft>
                <a:spcPts val="0"/>
              </a:spcAft>
            </a:pPr>
            <a:r>
              <a:rPr sz="2700" b="1" i="0">
                <a:solidFill>
                  <a:srgbClr val="212121"/>
                </a:solidFill>
                <a:latin typeface="Calibri"/>
              </a:rPr>
              <a:t>The nine constructive persistent decarbonizations</a:t>
            </a:r>
          </a:p>
        </p:txBody>
      </p:sp>
      <p:sp>
        <p:nvSpPr>
          <p:cNvPr id="3" name="TextBox 2"/>
          <p:cNvSpPr txBox="1"/>
          <p:nvPr/>
        </p:nvSpPr>
        <p:spPr>
          <a:xfrm>
            <a:off x="502920" y="1207008"/>
            <a:ext cx="11201400" cy="411480"/>
          </a:xfrm>
          <a:prstGeom prst="rect">
            <a:avLst/>
          </a:prstGeom>
          <a:noFill/>
        </p:spPr>
        <p:txBody>
          <a:bodyPr wrap="square">
            <a:spAutoFit/>
          </a:bodyPr>
          <a:lstStyle/>
          <a:p>
            <a:pPr algn="l">
              <a:spcAft>
                <a:spcPts val="0"/>
              </a:spcAft>
            </a:pPr>
            <a:r>
              <a:rPr sz="1350" b="0" i="0">
                <a:solidFill>
                  <a:srgbClr val="555555"/>
                </a:solidFill>
                <a:latin typeface="Calibri"/>
              </a:rPr>
              <a:t>Sweden 1986 · Finland 1993 · Hungary 1996 · Switzerland 1999 · Nauru 1999 · Denmark 2002 · Portugal 2004 · United Kingdom 2010 · Ireland 2012</a:t>
            </a:r>
          </a:p>
        </p:txBody>
      </p:sp>
      <p:pic>
        <p:nvPicPr>
          <p:cNvPr id="4" name="Picture 3" descr="image7.png"/>
          <p:cNvPicPr>
            <a:picLocks noChangeAspect="1"/>
          </p:cNvPicPr>
          <p:nvPr/>
        </p:nvPicPr>
        <p:blipFill>
          <a:blip r:embed="rId2"/>
          <a:stretch>
            <a:fillRect/>
          </a:stretch>
        </p:blipFill>
        <p:spPr>
          <a:xfrm>
            <a:off x="3068293" y="1664208"/>
            <a:ext cx="6052365" cy="479145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III · DID THE BENDS COUNT?</a:t>
            </a:r>
          </a:p>
          <a:p>
            <a:pPr algn="l">
              <a:spcAft>
                <a:spcPts val="0"/>
              </a:spcAft>
            </a:pPr>
            <a:r>
              <a:rPr sz="2700" b="1" i="0">
                <a:solidFill>
                  <a:srgbClr val="212121"/>
                </a:solidFill>
                <a:latin typeface="Calibri"/>
              </a:rPr>
              <a:t>Nineteen countries cut emissions — ten don't earn the verdict</a:t>
            </a:r>
          </a:p>
        </p:txBody>
      </p:sp>
      <p:pic>
        <p:nvPicPr>
          <p:cNvPr id="3" name="Picture 2" descr="image8.png"/>
          <p:cNvPicPr>
            <a:picLocks noChangeAspect="1"/>
          </p:cNvPicPr>
          <p:nvPr/>
        </p:nvPicPr>
        <p:blipFill>
          <a:blip r:embed="rId2"/>
          <a:stretch>
            <a:fillRect/>
          </a:stretch>
        </p:blipFill>
        <p:spPr>
          <a:xfrm>
            <a:off x="2473452" y="1325880"/>
            <a:ext cx="7242047" cy="512978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C77F00"/>
                </a:solidFill>
                <a:latin typeface="Calibri"/>
              </a:rPr>
              <a:t>ACT III · THE GEOGRAPHY</a:t>
            </a:r>
          </a:p>
          <a:p>
            <a:pPr algn="l">
              <a:spcAft>
                <a:spcPts val="0"/>
              </a:spcAft>
            </a:pPr>
            <a:r>
              <a:rPr sz="2700" b="1" i="0">
                <a:solidFill>
                  <a:srgbClr val="212121"/>
                </a:solidFill>
                <a:latin typeface="Calibri"/>
              </a:rPr>
              <a:t>Mechanisms are regional stories; success concentrates where policy changed physical systems</a:t>
            </a:r>
          </a:p>
        </p:txBody>
      </p:sp>
      <p:pic>
        <p:nvPicPr>
          <p:cNvPr id="3" name="Picture 2" descr="image9.png"/>
          <p:cNvPicPr>
            <a:picLocks noChangeAspect="1"/>
          </p:cNvPicPr>
          <p:nvPr/>
        </p:nvPicPr>
        <p:blipFill>
          <a:blip r:embed="rId2"/>
          <a:stretch>
            <a:fillRect/>
          </a:stretch>
        </p:blipFill>
        <p:spPr>
          <a:xfrm>
            <a:off x="274320" y="2552890"/>
            <a:ext cx="5806440" cy="2758059"/>
          </a:xfrm>
          <a:prstGeom prst="rect">
            <a:avLst/>
          </a:prstGeom>
        </p:spPr>
      </p:pic>
      <p:pic>
        <p:nvPicPr>
          <p:cNvPr id="4" name="Picture 3" descr="image10.png"/>
          <p:cNvPicPr>
            <a:picLocks noChangeAspect="1"/>
          </p:cNvPicPr>
          <p:nvPr/>
        </p:nvPicPr>
        <p:blipFill>
          <a:blip r:embed="rId3"/>
          <a:stretch>
            <a:fillRect/>
          </a:stretch>
        </p:blipFill>
        <p:spPr>
          <a:xfrm>
            <a:off x="6172200" y="2552890"/>
            <a:ext cx="5806440" cy="275805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ACT IV · CAN WE TRUST THE STORY?</a:t>
            </a:r>
          </a:p>
          <a:p>
            <a:pPr algn="l">
              <a:spcAft>
                <a:spcPts val="0"/>
              </a:spcAft>
            </a:pPr>
            <a:r>
              <a:rPr sz="2700" b="1" i="0">
                <a:solidFill>
                  <a:srgbClr val="212121"/>
                </a:solidFill>
                <a:latin typeface="Calibri"/>
              </a:rPr>
              <a:t>Independent raters recognize the same countries — on thin coverage</a:t>
            </a:r>
          </a:p>
        </p:txBody>
      </p:sp>
      <p:pic>
        <p:nvPicPr>
          <p:cNvPr id="3" name="Picture 2" descr="takeaway_fig06_external_corroboration.png"/>
          <p:cNvPicPr>
            <a:picLocks noChangeAspect="1"/>
          </p:cNvPicPr>
          <p:nvPr/>
        </p:nvPicPr>
        <p:blipFill>
          <a:blip r:embed="rId2"/>
          <a:stretch>
            <a:fillRect/>
          </a:stretch>
        </p:blipFill>
        <p:spPr>
          <a:xfrm>
            <a:off x="598278" y="1325880"/>
            <a:ext cx="10992394" cy="512978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B33A3A"/>
                </a:solidFill>
                <a:latin typeface="Calibri"/>
              </a:rPr>
              <a:t>ACT IV · CAN WE TRUST THE STORY?</a:t>
            </a:r>
          </a:p>
          <a:p>
            <a:pPr algn="l">
              <a:spcAft>
                <a:spcPts val="0"/>
              </a:spcAft>
            </a:pPr>
            <a:r>
              <a:rPr sz="2700" b="1" i="0">
                <a:solidFill>
                  <a:srgbClr val="212121"/>
                </a:solidFill>
                <a:latin typeface="Calibri"/>
              </a:rPr>
              <a:t>Robustness, corroboration, and honest limits</a:t>
            </a:r>
          </a:p>
        </p:txBody>
      </p:sp>
      <p:sp>
        <p:nvSpPr>
          <p:cNvPr id="3" name="TextBox 2"/>
          <p:cNvSpPr txBox="1"/>
          <p:nvPr/>
        </p:nvSpPr>
        <p:spPr>
          <a:xfrm>
            <a:off x="502920" y="1417320"/>
            <a:ext cx="5394960" cy="2468880"/>
          </a:xfrm>
          <a:prstGeom prst="rect">
            <a:avLst/>
          </a:prstGeom>
          <a:noFill/>
        </p:spPr>
        <p:txBody>
          <a:bodyPr wrap="square">
            <a:spAutoFit/>
          </a:bodyPr>
          <a:lstStyle/>
          <a:p>
            <a:pPr algn="l">
              <a:spcAft>
                <a:spcPts val="400"/>
              </a:spcAft>
            </a:pPr>
            <a:r>
              <a:rPr sz="1500" b="1" i="0">
                <a:solidFill>
                  <a:srgbClr val="212121"/>
                </a:solidFill>
                <a:latin typeface="Calibri"/>
              </a:rPr>
              <a:t>Consumption-based accounting</a:t>
            </a:r>
          </a:p>
          <a:p>
            <a:pPr algn="l">
              <a:spcAft>
                <a:spcPts val="0"/>
              </a:spcAft>
            </a:pPr>
            <a:r>
              <a:rPr sz="1200" b="0" i="0">
                <a:solidFill>
                  <a:srgbClr val="555555"/>
                </a:solidFill>
                <a:latin typeface="Calibri"/>
              </a:rPr>
              <a:t>Of 17 countries eligible under both accountings, only 6 agree within 5 years; the median gap is ~12 years. Some 'domestic' transitions partly reflect trade and offshoring — a main result, not a footnote. (Consumption series begin in 1990, so very early production breaks cannot be matched by construction.)</a:t>
            </a:r>
          </a:p>
        </p:txBody>
      </p:sp>
      <p:sp>
        <p:nvSpPr>
          <p:cNvPr id="4" name="TextBox 3"/>
          <p:cNvSpPr txBox="1"/>
          <p:nvPr/>
        </p:nvSpPr>
        <p:spPr>
          <a:xfrm>
            <a:off x="6400800" y="1417320"/>
            <a:ext cx="5394960" cy="2468880"/>
          </a:xfrm>
          <a:prstGeom prst="rect">
            <a:avLst/>
          </a:prstGeom>
          <a:noFill/>
        </p:spPr>
        <p:txBody>
          <a:bodyPr wrap="square">
            <a:spAutoFit/>
          </a:bodyPr>
          <a:lstStyle/>
          <a:p>
            <a:pPr algn="l">
              <a:spcAft>
                <a:spcPts val="400"/>
              </a:spcAft>
            </a:pPr>
            <a:r>
              <a:rPr sz="1500" b="1" i="0">
                <a:solidFill>
                  <a:srgbClr val="212121"/>
                </a:solidFill>
                <a:latin typeface="Calibri"/>
              </a:rPr>
              <a:t>Carbon pricing &amp; policy stringency</a:t>
            </a:r>
          </a:p>
          <a:p>
            <a:pPr algn="l">
              <a:spcAft>
                <a:spcPts val="0"/>
              </a:spcAft>
            </a:pPr>
            <a:r>
              <a:rPr sz="1200" b="0" i="0">
                <a:solidFill>
                  <a:srgbClr val="555555"/>
                </a:solidFill>
                <a:latin typeface="Calibri"/>
              </a:rPr>
              <a:t>Pricing is negatively associated with C/E in country-and-year fixed-effects models (contemporaneous strongest); C/GDP and E/GDP estimates are imprecise. OECD EPS covers only 15 of 28 focal countries. Associational, not causal.</a:t>
            </a:r>
          </a:p>
        </p:txBody>
      </p:sp>
      <p:sp>
        <p:nvSpPr>
          <p:cNvPr id="5" name="TextBox 4"/>
          <p:cNvSpPr txBox="1"/>
          <p:nvPr/>
        </p:nvSpPr>
        <p:spPr>
          <a:xfrm>
            <a:off x="502920" y="3977639"/>
            <a:ext cx="5394960" cy="2468880"/>
          </a:xfrm>
          <a:prstGeom prst="rect">
            <a:avLst/>
          </a:prstGeom>
          <a:noFill/>
        </p:spPr>
        <p:txBody>
          <a:bodyPr wrap="square">
            <a:spAutoFit/>
          </a:bodyPr>
          <a:lstStyle/>
          <a:p>
            <a:pPr algn="l">
              <a:spcAft>
                <a:spcPts val="400"/>
              </a:spcAft>
            </a:pPr>
            <a:r>
              <a:rPr sz="1500" b="1" i="0">
                <a:solidFill>
                  <a:srgbClr val="212121"/>
                </a:solidFill>
                <a:latin typeface="Calibri"/>
              </a:rPr>
              <a:t>Event-timing validation</a:t>
            </a:r>
          </a:p>
          <a:p>
            <a:pPr algn="l">
              <a:spcAft>
                <a:spcPts val="0"/>
              </a:spcAft>
            </a:pPr>
            <a:r>
              <a:rPr sz="1200" b="0" i="0">
                <a:solidFill>
                  <a:srgbClr val="555555"/>
                </a:solidFill>
                <a:latin typeface="Calibri"/>
              </a:rPr>
              <a:t>45% of documented events within 2 years of the break vs ~17% by chance; 80% within 5 vs 37%; 70% inside the episode vs 33% — far beyond retrospective storytelling.</a:t>
            </a:r>
          </a:p>
        </p:txBody>
      </p:sp>
      <p:sp>
        <p:nvSpPr>
          <p:cNvPr id="6" name="TextBox 5"/>
          <p:cNvSpPr txBox="1"/>
          <p:nvPr/>
        </p:nvSpPr>
        <p:spPr>
          <a:xfrm>
            <a:off x="6400800" y="3977639"/>
            <a:ext cx="5394960" cy="2468880"/>
          </a:xfrm>
          <a:prstGeom prst="rect">
            <a:avLst/>
          </a:prstGeom>
          <a:noFill/>
        </p:spPr>
        <p:txBody>
          <a:bodyPr wrap="square">
            <a:spAutoFit/>
          </a:bodyPr>
          <a:lstStyle/>
          <a:p>
            <a:pPr algn="l">
              <a:spcAft>
                <a:spcPts val="400"/>
              </a:spcAft>
            </a:pPr>
            <a:r>
              <a:rPr sz="1500" b="1" i="0">
                <a:solidFill>
                  <a:srgbClr val="212121"/>
                </a:solidFill>
                <a:latin typeface="Calibri"/>
              </a:rPr>
              <a:t>What breakpoints can't tell you</a:t>
            </a:r>
          </a:p>
          <a:p>
            <a:pPr algn="l">
              <a:spcAft>
                <a:spcPts val="0"/>
              </a:spcAft>
            </a:pPr>
            <a:r>
              <a:rPr sz="1200" b="0" i="0">
                <a:solidFill>
                  <a:srgbClr val="555555"/>
                </a:solidFill>
                <a:latin typeface="Calibri"/>
              </a:rPr>
              <a:t>Break timing identifies change, not cause. Attribution and outcome classification each leave 22 cases open — restraint that makes the resolved 75% credible. No counterfactual: a treaty that prevents backsliding produces no break at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01400" cy="1051560"/>
          </a:xfrm>
          <a:prstGeom prst="rect">
            <a:avLst/>
          </a:prstGeom>
          <a:noFill/>
        </p:spPr>
        <p:txBody>
          <a:bodyPr wrap="square">
            <a:spAutoFit/>
          </a:bodyPr>
          <a:lstStyle/>
          <a:p>
            <a:pPr algn="l">
              <a:spcAft>
                <a:spcPts val="200"/>
              </a:spcAft>
            </a:pPr>
            <a:r>
              <a:rPr sz="1200" b="1" i="0">
                <a:solidFill>
                  <a:srgbClr val="1B7837"/>
                </a:solidFill>
                <a:latin typeface="Calibri"/>
              </a:rPr>
              <a:t>THE VERDICT</a:t>
            </a:r>
          </a:p>
          <a:p>
            <a:pPr algn="l">
              <a:spcAft>
                <a:spcPts val="0"/>
              </a:spcAft>
            </a:pPr>
            <a:r>
              <a:rPr sz="2700" b="1" i="0">
                <a:solidFill>
                  <a:srgbClr val="212121"/>
                </a:solidFill>
                <a:latin typeface="Calibri"/>
              </a:rPr>
              <a:t>Curves bend everywhere; decarbonization is rare</a:t>
            </a:r>
          </a:p>
        </p:txBody>
      </p:sp>
      <p:pic>
        <p:nvPicPr>
          <p:cNvPr id="3" name="Picture 2" descr="image12.png"/>
          <p:cNvPicPr>
            <a:picLocks noChangeAspect="1"/>
          </p:cNvPicPr>
          <p:nvPr/>
        </p:nvPicPr>
        <p:blipFill>
          <a:blip r:embed="rId2"/>
          <a:stretch>
            <a:fillRect/>
          </a:stretch>
        </p:blipFill>
        <p:spPr>
          <a:xfrm>
            <a:off x="320040" y="1950182"/>
            <a:ext cx="11548872" cy="388117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051560"/>
            <a:ext cx="10515600" cy="1645920"/>
          </a:xfrm>
          <a:prstGeom prst="rect">
            <a:avLst/>
          </a:prstGeom>
          <a:noFill/>
        </p:spPr>
        <p:txBody>
          <a:bodyPr wrap="square">
            <a:spAutoFit/>
          </a:bodyPr>
          <a:lstStyle/>
          <a:p>
            <a:pPr algn="l">
              <a:spcAft>
                <a:spcPts val="200"/>
              </a:spcAft>
            </a:pPr>
            <a:r>
              <a:rPr sz="2700" b="1" i="0">
                <a:solidFill>
                  <a:srgbClr val="212121"/>
                </a:solidFill>
                <a:latin typeface="Calibri"/>
              </a:rPr>
              <a:t>Global agreements can organize climate action —</a:t>
            </a:r>
          </a:p>
          <a:p>
            <a:pPr algn="l">
              <a:spcAft>
                <a:spcPts val="0"/>
              </a:spcAft>
            </a:pPr>
            <a:r>
              <a:rPr sz="2700" b="1" i="0">
                <a:solidFill>
                  <a:srgbClr val="1B7837"/>
                </a:solidFill>
                <a:latin typeface="Calibri"/>
              </a:rPr>
              <a:t>durable national transformations bend the curve.</a:t>
            </a:r>
          </a:p>
        </p:txBody>
      </p:sp>
      <p:sp>
        <p:nvSpPr>
          <p:cNvPr id="3" name="TextBox 2"/>
          <p:cNvSpPr txBox="1"/>
          <p:nvPr/>
        </p:nvSpPr>
        <p:spPr>
          <a:xfrm>
            <a:off x="822960" y="2880360"/>
            <a:ext cx="10515600" cy="3017520"/>
          </a:xfrm>
          <a:prstGeom prst="rect">
            <a:avLst/>
          </a:prstGeom>
          <a:noFill/>
        </p:spPr>
        <p:txBody>
          <a:bodyPr wrap="square">
            <a:spAutoFit/>
          </a:bodyPr>
          <a:lstStyle/>
          <a:p/>
          <a:p>
            <a:pPr algn="l">
              <a:spcAft>
                <a:spcPts val="800"/>
              </a:spcAft>
            </a:pPr>
            <a:r>
              <a:rPr sz="1400" b="1">
                <a:solidFill>
                  <a:srgbClr val="1B7837"/>
                </a:solidFill>
                <a:latin typeface="Calibri"/>
              </a:rPr>
              <a:t>—  </a:t>
            </a:r>
            <a:r>
              <a:rPr sz="1400" b="0">
                <a:solidFill>
                  <a:srgbClr val="555555"/>
                </a:solidFill>
                <a:latin typeface="Calibri"/>
              </a:rPr>
              <a:t>Global curves bent in the 1970s; since ~2013 they bend faster — a real supply-side acceleration whose timing cannot yet separate Paris from the renewables revolution it helped consolidate.</a:t>
            </a:r>
          </a:p>
          <a:p>
            <a:pPr algn="l">
              <a:spcAft>
                <a:spcPts val="800"/>
              </a:spcAft>
            </a:pPr>
            <a:r>
              <a:rPr sz="1400" b="1">
                <a:solidFill>
                  <a:srgbClr val="1B7837"/>
                </a:solidFill>
                <a:latin typeface="Calibri"/>
              </a:rPr>
              <a:t>—  </a:t>
            </a:r>
            <a:r>
              <a:rPr sz="1400" b="0">
                <a:solidFill>
                  <a:srgbClr val="555555"/>
                </a:solidFill>
                <a:latin typeface="Calibri"/>
              </a:rPr>
              <a:t>Treaty-adjacent signals exist — especially around Rio — but few survive placebo scrutiny, and national transitions scatter across five decades.</a:t>
            </a:r>
          </a:p>
          <a:p>
            <a:pPr algn="l">
              <a:spcAft>
                <a:spcPts val="800"/>
              </a:spcAft>
            </a:pPr>
            <a:r>
              <a:rPr sz="1400" b="1">
                <a:solidFill>
                  <a:srgbClr val="1B7837"/>
                </a:solidFill>
                <a:latin typeface="Calibri"/>
              </a:rPr>
              <a:t>—  </a:t>
            </a:r>
            <a:r>
              <a:rPr sz="1400" b="0">
                <a:solidFill>
                  <a:srgbClr val="555555"/>
                </a:solidFill>
                <a:latin typeface="Calibri"/>
              </a:rPr>
              <a:t>Favorable bends often reflect recession, disruption, deindustrialization, or offshoring; intensity gains are routinely overwhelmed by growth.</a:t>
            </a:r>
          </a:p>
          <a:p>
            <a:pPr algn="l">
              <a:spcAft>
                <a:spcPts val="800"/>
              </a:spcAft>
            </a:pPr>
            <a:r>
              <a:rPr sz="1400" b="1">
                <a:solidFill>
                  <a:srgbClr val="1B7837"/>
                </a:solidFill>
                <a:latin typeface="Calibri"/>
              </a:rPr>
              <a:t>—  </a:t>
            </a:r>
            <a:r>
              <a:rPr sz="1400" b="0">
                <a:solidFill>
                  <a:srgbClr val="555555"/>
                </a:solidFill>
                <a:latin typeface="Calibri"/>
              </a:rPr>
              <a:t>Nine countries pair persistent intensity declines with falling absolute CO2 — policy made physical in fuel mix, infrastructure, and economic structure.</a:t>
            </a:r>
          </a:p>
        </p:txBody>
      </p:sp>
      <p:sp>
        <p:nvSpPr>
          <p:cNvPr id="4" name="TextBox 3"/>
          <p:cNvSpPr txBox="1"/>
          <p:nvPr/>
        </p:nvSpPr>
        <p:spPr>
          <a:xfrm>
            <a:off x="822960" y="5989320"/>
            <a:ext cx="10515600" cy="640080"/>
          </a:xfrm>
          <a:prstGeom prst="rect">
            <a:avLst/>
          </a:prstGeom>
          <a:noFill/>
        </p:spPr>
        <p:txBody>
          <a:bodyPr wrap="square">
            <a:spAutoFit/>
          </a:bodyPr>
          <a:lstStyle/>
          <a:p>
            <a:pPr algn="ctr">
              <a:spcAft>
                <a:spcPts val="600"/>
              </a:spcAft>
            </a:pPr>
            <a:r>
              <a:rPr sz="1300" b="0" i="1">
                <a:solidFill>
                  <a:srgbClr val="8A8A8A"/>
                </a:solidFill>
                <a:latin typeface="Calibri"/>
              </a:rPr>
              <a:t>Structural breaks say when · Kaya says through which pathway · historical validation says what plausibly happened · transition quality says whether it mattered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