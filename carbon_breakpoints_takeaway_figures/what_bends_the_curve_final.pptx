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up front: a pro-Paris paper that takes measurement seriously. The question is not whether Paris matters but what the observed record can attribute — and where the policy signal actually lives.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sympathetic frame first, then the identity. The identity justifies the paper's design: the mathematically required location of any policy signal is the intensity slopes.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 I is the reframed one: not 'treaties failed' but 'a real acceleration whose timing cannot yet separate Paris from the renewables cost decline'.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it conversational: two lines and a kink, tried at every year; then shake the data and see if the date holds still. The two-doors framing carries the mechanism logic of Acts II-III.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placebo idea in one line: significance at the treaty year means little if 1990 and 1994 are just as significant. The ladder is the paper's discipline — and Act I turns it on Paris.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numbers carry Act I: the old bend, the slowdown, and the awkward onset date.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Robust to consumption-based emissions, excluding former Soviet economies, PPP GDP. Multiple-break models show several episodes, not one intervention.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−0.7 pp/yr (NW t=4.3); C/GDP −0.9 (t=2.9); E/GDP −0.3 (t=1.5, ns). Onset plateau 2011–2016, best 2013 — indistinguishable from the renewables cost collapse.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Emissions +2.1 to +0.4%/yr after 2015. Decomposition: ~1.1pp slower GDP growth (incl. COVID), ~0.5pp fuel mix, ~0.1pp efficiency.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Rio survivors: 10 C/GDP, 21 C/E, 34 E/GDP series; Paris: 14, 5, 6. The Rio-unique E/GDP cases dissolve on inspection into early-90s upheaval — disruption, adjustment, liberalization — not treaty policy.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hinge of the talk: the non-attribution is not a failure of Paris — it is the reason the analysis must descend to the national level, where attribution has power.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 II is deliberately light-touch in this telling: the scatter, the census, then straight to whether the bends counted.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vs 17% within 2 years; 80% vs 37% within 5; 70% vs 33% inside the documented episode.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Author-coded against authoritative sources with an explicit stopping rule — structured interpretations, not causal estimates.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taxonomy slide follows as the reading key; then the flow, the quadrant, the nine, and the near-misses.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reading key for everything that follows. Note the two distinct 22s: mechanism-unresolved and outcome-unclassifiable are different sets.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nine countries end in constructive persistent decarbonization.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Raw counts 55/19; the stricter classification (adding persistence and mechanism) narrows these to 12 and 9.</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paper's constructive core: policy made physical in fuel mix, infrastructure, and economic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Even the genuine emission-cutters span 1975–2012 — no treaty era here either.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map: mechanism per country. Right map: outcome verdict; dark green outlines the nine.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 IV: validation that carries temporal information; corroboration on thin coverage; accounting humility.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Corroborative, not definitive.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credibility slide. If pressed on causality, lean on the design lock's explicit list of supported and unsupported claims.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bridge to the close: heterogeneous national mechanisms, not one universal treaty break.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forward-looking beat: what would count as evidence at Paris+20, and the methods question posed to the field.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on the closing line and the method signature.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463040"/>
            <a:ext cx="10515600" cy="3383280"/>
          </a:xfrm>
          <a:prstGeom prst="rect">
            <a:avLst/>
          </a:prstGeom>
          <a:noFill/>
        </p:spPr>
        <p:txBody>
          <a:bodyPr wrap="square">
            <a:spAutoFit/>
          </a:bodyPr>
          <a:lstStyle/>
          <a:p>
            <a:pPr algn="l">
              <a:spcAft>
                <a:spcPts val="800"/>
              </a:spcAft>
            </a:pPr>
            <a:r>
              <a:rPr sz="4600" b="1" i="0">
                <a:solidFill>
                  <a:srgbClr val="212121"/>
                </a:solidFill>
                <a:latin typeface="Calibri"/>
              </a:rPr>
              <a:t>What Bends the Curve?</a:t>
            </a:r>
          </a:p>
          <a:p>
            <a:pPr algn="l">
              <a:spcAft>
                <a:spcPts val="1400"/>
              </a:spcAft>
            </a:pPr>
            <a:r>
              <a:rPr sz="1900" b="0" i="0">
                <a:solidFill>
                  <a:srgbClr val="555555"/>
                </a:solidFill>
                <a:latin typeface="Calibri"/>
              </a:rPr>
              <a:t>An argument in four acts, on why the global carbon-intensity record cannot yet hand Paris the credit it may deserve — and where the policy signal actually lives.</a:t>
            </a:r>
          </a:p>
          <a:p>
            <a:pPr algn="l">
              <a:spcAft>
                <a:spcPts val="600"/>
              </a:spcAft>
            </a:pPr>
            <a:r>
              <a:rPr sz="1400" b="1" i="0">
                <a:solidFill>
                  <a:srgbClr val="1B7837"/>
                </a:solidFill>
                <a:latin typeface="Calibri"/>
              </a:rPr>
              <a:t>Structural breaks · Kaya pathways · five decades of national decarbonization</a:t>
            </a:r>
          </a:p>
        </p:txBody>
      </p:sp>
      <p:sp>
        <p:nvSpPr>
          <p:cNvPr id="3" name="TextBox 2"/>
          <p:cNvSpPr txBox="1"/>
          <p:nvPr/>
        </p:nvSpPr>
        <p:spPr>
          <a:xfrm>
            <a:off x="822960" y="5440680"/>
            <a:ext cx="10515600" cy="822960"/>
          </a:xfrm>
          <a:prstGeom prst="rect">
            <a:avLst/>
          </a:prstGeom>
          <a:noFill/>
        </p:spPr>
        <p:txBody>
          <a:bodyPr wrap="square">
            <a:spAutoFit/>
          </a:bodyPr>
          <a:lstStyle/>
          <a:p>
            <a:pPr algn="l">
              <a:spcAft>
                <a:spcPts val="600"/>
              </a:spcAft>
            </a:pPr>
            <a:r>
              <a:rPr sz="1300" b="1" i="0">
                <a:solidFill>
                  <a:srgbClr val="212121"/>
                </a:solidFill>
                <a:latin typeface="Calibri"/>
              </a:rPr>
              <a:t>204 jurisdictions · 97 eligible national breaks · 107 transition episodes · 7 mechanism families · 9 constructive decarbonizations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1B7837"/>
                </a:solidFill>
                <a:latin typeface="Calibri"/>
              </a:rPr>
              <a:t>THE SETUP</a:t>
            </a:r>
          </a:p>
          <a:p>
            <a:pPr algn="l">
              <a:spcAft>
                <a:spcPts val="0"/>
              </a:spcAft>
            </a:pPr>
            <a:r>
              <a:rPr sz="2400" b="1" i="0">
                <a:solidFill>
                  <a:srgbClr val="212121"/>
                </a:solidFill>
                <a:latin typeface="Calibri"/>
              </a:rPr>
              <a:t>Emissions growth has nearly stopped. Paris may not be why.</a:t>
            </a:r>
          </a:p>
        </p:txBody>
      </p:sp>
      <p:sp>
        <p:nvSpPr>
          <p:cNvPr id="3" name="TextBox 2"/>
          <p:cNvSpPr txBox="1"/>
          <p:nvPr/>
        </p:nvSpPr>
        <p:spPr>
          <a:xfrm>
            <a:off x="502920" y="1417320"/>
            <a:ext cx="6720840" cy="5029200"/>
          </a:xfrm>
          <a:prstGeom prst="rect">
            <a:avLst/>
          </a:prstGeom>
          <a:noFill/>
        </p:spPr>
        <p:txBody>
          <a:bodyPr wrap="square">
            <a:spAutoFit/>
          </a:bodyPr>
          <a:lstStyle/>
          <a:p>
            <a:pPr algn="l">
              <a:spcAft>
                <a:spcPts val="1200"/>
              </a:spcAft>
            </a:pPr>
            <a:r>
              <a:rPr sz="1400" b="0" i="0">
                <a:solidFill>
                  <a:srgbClr val="555555"/>
                </a:solidFill>
                <a:latin typeface="Calibri"/>
              </a:rPr>
              <a:t>The good news is real. Worst-case emissions scenarios have moved off the table, and global CO2 growth has slowed from +2.1% per year over the Rio-to-Paris quarter century to +0.4% per year since 2015. Something is going right.</a:t>
            </a:r>
          </a:p>
          <a:p>
            <a:pPr algn="l">
              <a:spcAft>
                <a:spcPts val="1200"/>
              </a:spcAft>
            </a:pPr>
            <a:r>
              <a:rPr sz="1400" b="0" i="0">
                <a:solidFill>
                  <a:srgbClr val="555555"/>
                </a:solidFill>
                <a:latin typeface="Calibri"/>
              </a:rPr>
              <a:t>But there is an obvious way to over-read that success: attribute the improvement to the agreement whose anniversary it coincides with. The world's carbon intensity has been falling for fifty years, for reasons that predate every climate treaty. So the question this paper asks is narrow and awkward: can the observed record distinguish a Paris effect from the continuation of trends already in motion?</a:t>
            </a:r>
          </a:p>
          <a:p>
            <a:pPr algn="l">
              <a:spcAft>
                <a:spcPts val="0"/>
              </a:spcAft>
            </a:pPr>
            <a:r>
              <a:rPr sz="1400" b="0" i="0">
                <a:solidFill>
                  <a:srgbClr val="212121"/>
                </a:solidFill>
                <a:latin typeface="Calibri"/>
              </a:rPr>
              <a:t>Rather than assuming treaty years are turning points, we let the data say when trends actually changed — for the world, and for every country with enough annual data — and then ask the historical record why.</a:t>
            </a:r>
          </a:p>
        </p:txBody>
      </p:sp>
      <p:sp>
        <p:nvSpPr>
          <p:cNvPr id="4" name="TextBox 3"/>
          <p:cNvSpPr txBox="1"/>
          <p:nvPr/>
        </p:nvSpPr>
        <p:spPr>
          <a:xfrm>
            <a:off x="7543800" y="1417320"/>
            <a:ext cx="4160520" cy="5029200"/>
          </a:xfrm>
          <a:prstGeom prst="rect">
            <a:avLst/>
          </a:prstGeom>
          <a:noFill/>
        </p:spPr>
        <p:txBody>
          <a:bodyPr wrap="square">
            <a:spAutoFit/>
          </a:bodyPr>
          <a:lstStyle/>
          <a:p>
            <a:pPr algn="l">
              <a:spcAft>
                <a:spcPts val="600"/>
              </a:spcAft>
            </a:pPr>
            <a:r>
              <a:rPr sz="1500" b="1" i="0">
                <a:solidFill>
                  <a:srgbClr val="1B7837"/>
                </a:solidFill>
                <a:latin typeface="Calibri"/>
              </a:rPr>
              <a:t>Why intensity, not emissions</a:t>
            </a:r>
          </a:p>
          <a:p>
            <a:pPr algn="l">
              <a:spcAft>
                <a:spcPts val="1000"/>
              </a:spcAft>
            </a:pPr>
            <a:r>
              <a:rPr sz="1300" b="0" i="0">
                <a:solidFill>
                  <a:srgbClr val="555555"/>
                </a:solidFill>
                <a:latin typeface="Calibri"/>
              </a:rPr>
              <a:t>Emissions arithmetic has three moving parts: economic growth, the fuel mix, and energy per dollar of output. Growth pushes emissions up; the two intensity terms are the only levers that push them down.</a:t>
            </a:r>
          </a:p>
          <a:p>
            <a:pPr algn="l">
              <a:spcAft>
                <a:spcPts val="0"/>
              </a:spcAft>
            </a:pPr>
            <a:r>
              <a:rPr sz="1300" b="0" i="0">
                <a:solidFill>
                  <a:srgbClr val="212121"/>
                </a:solidFill>
                <a:latin typeface="Calibri"/>
              </a:rPr>
              <a:t>That makes intensity the leading indicator. A policy signal must appear in the intensity slopes before it can ever appear in emissions — and unless intensity improves faster than the economy grows, emissions cannot stabilize at all.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1B7837"/>
                </a:solidFill>
                <a:latin typeface="Calibri"/>
              </a:rPr>
              <a:t>THE ARGUMENT</a:t>
            </a:r>
          </a:p>
          <a:p>
            <a:pPr algn="l">
              <a:spcAft>
                <a:spcPts val="0"/>
              </a:spcAft>
            </a:pPr>
            <a:r>
              <a:rPr sz="2400" b="1" i="0">
                <a:solidFill>
                  <a:srgbClr val="212121"/>
                </a:solidFill>
                <a:latin typeface="Calibri"/>
              </a:rPr>
              <a:t>Four acts</a:t>
            </a:r>
          </a:p>
        </p:txBody>
      </p:sp>
      <p:sp>
        <p:nvSpPr>
          <p:cNvPr id="3" name="TextBox 2"/>
          <p:cNvSpPr txBox="1"/>
          <p:nvPr/>
        </p:nvSpPr>
        <p:spPr>
          <a:xfrm>
            <a:off x="502920" y="1554480"/>
            <a:ext cx="2697480" cy="4389120"/>
          </a:xfrm>
          <a:prstGeom prst="rect">
            <a:avLst/>
          </a:prstGeom>
          <a:noFill/>
        </p:spPr>
        <p:txBody>
          <a:bodyPr wrap="square">
            <a:spAutoFit/>
          </a:bodyPr>
          <a:lstStyle/>
          <a:p>
            <a:pPr algn="l">
              <a:spcAft>
                <a:spcPts val="600"/>
              </a:spcAft>
            </a:pPr>
            <a:r>
              <a:rPr sz="3800" b="1" i="0">
                <a:solidFill>
                  <a:srgbClr val="1B7837"/>
                </a:solidFill>
                <a:latin typeface="Calibri"/>
              </a:rPr>
              <a:t>I</a:t>
            </a:r>
          </a:p>
          <a:p>
            <a:pPr algn="l">
              <a:spcAft>
                <a:spcPts val="800"/>
              </a:spcAft>
            </a:pPr>
            <a:r>
              <a:rPr sz="1550" b="1" i="0">
                <a:solidFill>
                  <a:srgbClr val="212121"/>
                </a:solidFill>
                <a:latin typeface="Calibri"/>
              </a:rPr>
              <a:t>Did Paris bend the global curve?</a:t>
            </a:r>
          </a:p>
          <a:p>
            <a:pPr algn="l">
              <a:spcAft>
                <a:spcPts val="0"/>
              </a:spcAft>
            </a:pPr>
            <a:r>
              <a:rPr sz="1250" b="0" i="0">
                <a:solidFill>
                  <a:srgbClr val="555555"/>
                </a:solidFill>
                <a:latin typeface="Calibri"/>
              </a:rPr>
              <a:t>The global bends predate the climate regime; a new acceleration is real but began before 2015. The record shows the acceleration — not yet its author.</a:t>
            </a:r>
          </a:p>
        </p:txBody>
      </p:sp>
      <p:sp>
        <p:nvSpPr>
          <p:cNvPr id="4" name="TextBox 3"/>
          <p:cNvSpPr txBox="1"/>
          <p:nvPr/>
        </p:nvSpPr>
        <p:spPr>
          <a:xfrm>
            <a:off x="3355848" y="1554480"/>
            <a:ext cx="2697480" cy="4389120"/>
          </a:xfrm>
          <a:prstGeom prst="rect">
            <a:avLst/>
          </a:prstGeom>
          <a:noFill/>
        </p:spPr>
        <p:txBody>
          <a:bodyPr wrap="square">
            <a:spAutoFit/>
          </a:bodyPr>
          <a:lstStyle/>
          <a:p>
            <a:pPr algn="l">
              <a:spcAft>
                <a:spcPts val="600"/>
              </a:spcAft>
            </a:pPr>
            <a:r>
              <a:rPr sz="3800" b="1" i="0">
                <a:solidFill>
                  <a:srgbClr val="1B7837"/>
                </a:solidFill>
                <a:latin typeface="Calibri"/>
              </a:rPr>
              <a:t>II</a:t>
            </a:r>
          </a:p>
          <a:p>
            <a:pPr algn="l">
              <a:spcAft>
                <a:spcPts val="800"/>
              </a:spcAft>
            </a:pPr>
            <a:r>
              <a:rPr sz="1550" b="1" i="0">
                <a:solidFill>
                  <a:srgbClr val="212121"/>
                </a:solidFill>
                <a:latin typeface="Calibri"/>
              </a:rPr>
              <a:t>What bends national curves?</a:t>
            </a:r>
          </a:p>
          <a:p>
            <a:pPr algn="l">
              <a:spcAft>
                <a:spcPts val="0"/>
              </a:spcAft>
            </a:pPr>
            <a:r>
              <a:rPr sz="1250" b="0" i="0">
                <a:solidFill>
                  <a:srgbClr val="555555"/>
                </a:solidFill>
                <a:latin typeface="Calibri"/>
              </a:rPr>
              <a:t>97 eligible breaks scatter across five decades and track economic history. Historical mechanisms, coded against documents, do the explaining.</a:t>
            </a:r>
          </a:p>
        </p:txBody>
      </p:sp>
      <p:sp>
        <p:nvSpPr>
          <p:cNvPr id="5" name="TextBox 4"/>
          <p:cNvSpPr txBox="1"/>
          <p:nvPr/>
        </p:nvSpPr>
        <p:spPr>
          <a:xfrm>
            <a:off x="6208776" y="1554480"/>
            <a:ext cx="2697480" cy="4389120"/>
          </a:xfrm>
          <a:prstGeom prst="rect">
            <a:avLst/>
          </a:prstGeom>
          <a:noFill/>
        </p:spPr>
        <p:txBody>
          <a:bodyPr wrap="square">
            <a:spAutoFit/>
          </a:bodyPr>
          <a:lstStyle/>
          <a:p>
            <a:pPr algn="l">
              <a:spcAft>
                <a:spcPts val="600"/>
              </a:spcAft>
            </a:pPr>
            <a:r>
              <a:rPr sz="3800" b="1" i="0">
                <a:solidFill>
                  <a:srgbClr val="1B7837"/>
                </a:solidFill>
                <a:latin typeface="Calibri"/>
              </a:rPr>
              <a:t>III</a:t>
            </a:r>
          </a:p>
          <a:p>
            <a:pPr algn="l">
              <a:spcAft>
                <a:spcPts val="800"/>
              </a:spcAft>
            </a:pPr>
            <a:r>
              <a:rPr sz="1550" b="1" i="0">
                <a:solidFill>
                  <a:srgbClr val="212121"/>
                </a:solidFill>
                <a:latin typeface="Calibri"/>
              </a:rPr>
              <a:t>Did the bends count?</a:t>
            </a:r>
          </a:p>
          <a:p>
            <a:pPr algn="l">
              <a:spcAft>
                <a:spcPts val="0"/>
              </a:spcAft>
            </a:pPr>
            <a:r>
              <a:rPr sz="1250" b="0" i="0">
                <a:solidFill>
                  <a:srgbClr val="555555"/>
                </a:solidFill>
                <a:latin typeface="Calibri"/>
              </a:rPr>
              <a:t>A favorable statistic is not a transition. Four tests — direction, persistence, absolute CO2, mechanism — leave nine unambiguous successes.</a:t>
            </a:r>
          </a:p>
        </p:txBody>
      </p:sp>
      <p:sp>
        <p:nvSpPr>
          <p:cNvPr id="6" name="TextBox 5"/>
          <p:cNvSpPr txBox="1"/>
          <p:nvPr/>
        </p:nvSpPr>
        <p:spPr>
          <a:xfrm>
            <a:off x="9061704" y="1554480"/>
            <a:ext cx="2697480" cy="4389120"/>
          </a:xfrm>
          <a:prstGeom prst="rect">
            <a:avLst/>
          </a:prstGeom>
          <a:noFill/>
        </p:spPr>
        <p:txBody>
          <a:bodyPr wrap="square">
            <a:spAutoFit/>
          </a:bodyPr>
          <a:lstStyle/>
          <a:p>
            <a:pPr algn="l">
              <a:spcAft>
                <a:spcPts val="600"/>
              </a:spcAft>
            </a:pPr>
            <a:r>
              <a:rPr sz="3800" b="1" i="0">
                <a:solidFill>
                  <a:srgbClr val="1B7837"/>
                </a:solidFill>
                <a:latin typeface="Calibri"/>
              </a:rPr>
              <a:t>IV</a:t>
            </a:r>
          </a:p>
          <a:p>
            <a:pPr algn="l">
              <a:spcAft>
                <a:spcPts val="800"/>
              </a:spcAft>
            </a:pPr>
            <a:r>
              <a:rPr sz="1550" b="1" i="0">
                <a:solidFill>
                  <a:srgbClr val="212121"/>
                </a:solidFill>
                <a:latin typeface="Calibri"/>
              </a:rPr>
              <a:t>Can we trust the story?</a:t>
            </a:r>
          </a:p>
          <a:p>
            <a:pPr algn="l">
              <a:spcAft>
                <a:spcPts val="0"/>
              </a:spcAft>
            </a:pPr>
            <a:r>
              <a:rPr sz="1250" b="0" i="0">
                <a:solidFill>
                  <a:srgbClr val="555555"/>
                </a:solidFill>
                <a:latin typeface="Calibri"/>
              </a:rPr>
              <a:t>Event timing beats chance; external raters agree; accounting choices bound the claims; and 22 unresolved cases stay unresolved.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3A66A5"/>
                </a:solidFill>
                <a:latin typeface="Calibri"/>
              </a:rPr>
              <a:t>THE INSTRUMENT</a:t>
            </a:r>
          </a:p>
          <a:p>
            <a:pPr algn="l">
              <a:spcAft>
                <a:spcPts val="0"/>
              </a:spcAft>
            </a:pPr>
            <a:r>
              <a:rPr sz="2400" b="1" i="0">
                <a:solidFill>
                  <a:srgbClr val="212121"/>
                </a:solidFill>
                <a:latin typeface="Calibri"/>
              </a:rPr>
              <a:t>Two straight lines and a kink</a:t>
            </a:r>
          </a:p>
        </p:txBody>
      </p:sp>
      <p:sp>
        <p:nvSpPr>
          <p:cNvPr id="3" name="TextBox 2"/>
          <p:cNvSpPr txBox="1"/>
          <p:nvPr/>
        </p:nvSpPr>
        <p:spPr>
          <a:xfrm>
            <a:off x="502920" y="1417320"/>
            <a:ext cx="5577840" cy="5029200"/>
          </a:xfrm>
          <a:prstGeom prst="rect">
            <a:avLst/>
          </a:prstGeom>
          <a:noFill/>
        </p:spPr>
        <p:txBody>
          <a:bodyPr wrap="square">
            <a:spAutoFit/>
          </a:bodyPr>
          <a:lstStyle/>
          <a:p>
            <a:pPr algn="l">
              <a:spcAft>
                <a:spcPts val="1200"/>
              </a:spcAft>
            </a:pPr>
            <a:r>
              <a:rPr sz="1350" b="0" i="0">
                <a:solidFill>
                  <a:srgbClr val="555555"/>
                </a:solidFill>
                <a:latin typeface="Calibri"/>
              </a:rPr>
              <a:t>Every series is plotted in logs, so a straight line means a steady percentage change per year. We then fit two straight lines that meet at a kink, trying every admissible year and keeping the one that fits best. That year — the breakpoint — is the data's own estimate of when the trend changed, chosen with no reference to any treaty.</a:t>
            </a:r>
          </a:p>
          <a:p>
            <a:pPr algn="l">
              <a:spcAft>
                <a:spcPts val="1200"/>
              </a:spcAft>
            </a:pPr>
            <a:r>
              <a:rPr sz="1350" b="0" i="0">
                <a:solidFill>
                  <a:srgbClr val="555555"/>
                </a:solidFill>
                <a:latin typeface="Calibri"/>
              </a:rPr>
              <a:t>The date is then stress-tested: re-estimated on many statistically reshuffled versions of the series. A break whose year barely moves is credible; one that jumps around is reported as unstable. And throughout, a breakpoint answers only when a trend changed — never, by itself, why. Historical evidence answers that separately.</a:t>
            </a:r>
          </a:p>
          <a:p>
            <a:pPr algn="l">
              <a:spcAft>
                <a:spcPts val="0"/>
              </a:spcAft>
            </a:pPr>
            <a:r>
              <a:rPr sz="1050" b="0" i="1">
                <a:solidFill>
                  <a:srgbClr val="8A8A8A"/>
                </a:solidFill>
                <a:latin typeface="Calibri"/>
              </a:rPr>
              <a:t>(Formally: y(t) = a + b·t + d·max(t−k, 0). Uncertainty via moving-block bootstrap; autocorrelation-robust standard errors for fixed-date tests; BIC for model evidence.)</a:t>
            </a:r>
          </a:p>
        </p:txBody>
      </p:sp>
      <p:sp>
        <p:nvSpPr>
          <p:cNvPr id="4" name="TextBox 3"/>
          <p:cNvSpPr txBox="1"/>
          <p:nvPr/>
        </p:nvSpPr>
        <p:spPr>
          <a:xfrm>
            <a:off x="6400800" y="1417320"/>
            <a:ext cx="5303520" cy="5029200"/>
          </a:xfrm>
          <a:prstGeom prst="rect">
            <a:avLst/>
          </a:prstGeom>
          <a:noFill/>
        </p:spPr>
        <p:txBody>
          <a:bodyPr wrap="square">
            <a:spAutoFit/>
          </a:bodyPr>
          <a:lstStyle/>
          <a:p>
            <a:pPr algn="l">
              <a:spcAft>
                <a:spcPts val="600"/>
              </a:spcAft>
            </a:pPr>
            <a:r>
              <a:rPr sz="1500" b="1" i="0">
                <a:solidFill>
                  <a:srgbClr val="212121"/>
                </a:solidFill>
                <a:latin typeface="Calibri"/>
              </a:rPr>
              <a:t>Two doors for any improvement</a:t>
            </a:r>
          </a:p>
          <a:p>
            <a:pPr algn="l">
              <a:spcAft>
                <a:spcPts val="1000"/>
              </a:spcAft>
            </a:pPr>
            <a:r>
              <a:rPr sz="1350" b="0" i="0">
                <a:solidFill>
                  <a:srgbClr val="555555"/>
                </a:solidFill>
                <a:latin typeface="Calibri"/>
              </a:rPr>
              <a:t>Carbon intensity — CO2 per dollar of output — can only improve through one of two doors: cleaner energy (less CO2 per unit of energy: fuel switching, nuclear, renewables, the power system), or less energy per dollar (efficiency, and changes in what the economy makes).</a:t>
            </a:r>
          </a:p>
          <a:p>
            <a:pPr algn="l">
              <a:spcAft>
                <a:spcPts val="0"/>
              </a:spcAft>
            </a:pPr>
            <a:r>
              <a:rPr sz="1350" b="0" i="0">
                <a:solidFill>
                  <a:srgbClr val="212121"/>
                </a:solidFill>
                <a:latin typeface="Calibri"/>
              </a:rPr>
              <a:t>We estimate the bend in the overall series and behind both doors, for the world and for every country, with one identical procedure. Which door moved constrains what happened: a fuel-mix bend points to energy policy or markets; an efficiency bend, as often as not, points to economic change.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3A66A5"/>
                </a:solidFill>
                <a:latin typeface="Calibri"/>
              </a:rPr>
              <a:t>THE RULES OF EVIDENCE</a:t>
            </a:r>
          </a:p>
          <a:p>
            <a:pPr algn="l">
              <a:spcAft>
                <a:spcPts val="0"/>
              </a:spcAft>
            </a:pPr>
            <a:r>
              <a:rPr sz="2400" b="1" i="0">
                <a:solidFill>
                  <a:srgbClr val="212121"/>
                </a:solidFill>
                <a:latin typeface="Calibri"/>
              </a:rPr>
              <a:t>Most candidate breaks fail; treaty years face a harder test still</a:t>
            </a:r>
          </a:p>
        </p:txBody>
      </p:sp>
      <p:sp>
        <p:nvSpPr>
          <p:cNvPr id="3" name="TextBox 2"/>
          <p:cNvSpPr txBox="1"/>
          <p:nvPr/>
        </p:nvSpPr>
        <p:spPr>
          <a:xfrm>
            <a:off x="502920" y="1417320"/>
            <a:ext cx="5394960" cy="5029200"/>
          </a:xfrm>
          <a:prstGeom prst="rect">
            <a:avLst/>
          </a:prstGeom>
          <a:noFill/>
        </p:spPr>
        <p:txBody>
          <a:bodyPr wrap="square">
            <a:spAutoFit/>
          </a:bodyPr>
          <a:lstStyle/>
          <a:p>
            <a:pPr algn="l">
              <a:spcAft>
                <a:spcPts val="600"/>
              </a:spcAft>
            </a:pPr>
            <a:r>
              <a:rPr sz="1500" b="1" i="0">
                <a:solidFill>
                  <a:srgbClr val="212121"/>
                </a:solidFill>
                <a:latin typeface="Calibri"/>
              </a:rPr>
              <a:t>Which breaks count</a:t>
            </a:r>
          </a:p>
          <a:p>
            <a:pPr algn="l">
              <a:spcAft>
                <a:spcPts val="1000"/>
              </a:spcAft>
            </a:pPr>
            <a:r>
              <a:rPr sz="1300" b="0" i="0">
                <a:solidFill>
                  <a:srgbClr val="555555"/>
                </a:solidFill>
                <a:latin typeface="Calibri"/>
              </a:rPr>
              <a:t>A country enters the analysis only when its series is long enough to be serious — forty-plus years, with at least ten on each side of the break — and only when the two-line model beats a single straight line decisively, the estimated year stays put under reshuffling, and the change in slope is large enough to matter rather than a statistical whisker.</a:t>
            </a:r>
          </a:p>
          <a:p>
            <a:pPr algn="l">
              <a:spcAft>
                <a:spcPts val="0"/>
              </a:spcAft>
            </a:pPr>
            <a:r>
              <a:rPr sz="1300" b="0" i="0">
                <a:solidFill>
                  <a:srgbClr val="212121"/>
                </a:solidFill>
                <a:latin typeface="Calibri"/>
              </a:rPr>
              <a:t>Those rules take 204 jurisdictions down to 158 with estimable series, and to 97 countries with a break that passes every test. Breaks close together in time are read as one national transition — 107 episodes in all, so Bangladesh's cluster of 1990s breaks is one story, not three.</a:t>
            </a:r>
          </a:p>
        </p:txBody>
      </p:sp>
      <p:sp>
        <p:nvSpPr>
          <p:cNvPr id="4" name="TextBox 3"/>
          <p:cNvSpPr txBox="1"/>
          <p:nvPr/>
        </p:nvSpPr>
        <p:spPr>
          <a:xfrm>
            <a:off x="6263640" y="1417320"/>
            <a:ext cx="5440680" cy="5029200"/>
          </a:xfrm>
          <a:prstGeom prst="rect">
            <a:avLst/>
          </a:prstGeom>
          <a:noFill/>
        </p:spPr>
        <p:txBody>
          <a:bodyPr wrap="square">
            <a:spAutoFit/>
          </a:bodyPr>
          <a:lstStyle/>
          <a:p>
            <a:pPr algn="l">
              <a:spcAft>
                <a:spcPts val="600"/>
              </a:spcAft>
            </a:pPr>
            <a:r>
              <a:rPr sz="1500" b="1" i="0">
                <a:solidFill>
                  <a:srgbClr val="212121"/>
                </a:solidFill>
                <a:latin typeface="Calibri"/>
              </a:rPr>
              <a:t>When a treaty year gets credit</a:t>
            </a:r>
          </a:p>
          <a:p>
            <a:pPr algn="l">
              <a:spcAft>
                <a:spcPts val="1000"/>
              </a:spcAft>
            </a:pPr>
            <a:r>
              <a:rPr sz="1300" b="0" i="0">
                <a:solidFill>
                  <a:srgbClr val="555555"/>
                </a:solidFill>
                <a:latin typeface="Calibri"/>
              </a:rPr>
              <a:t>The catch with treaty-year tests is that a gently curving trend makes almost any year look statistically significant. So a treaty year earns credit only if the slope genuinely changes there by a robust test, and the treaty year beats nearly all nearby placebo years, and the best-fitting date lands within three years of it, and the data's own chosen break agrees, and a documented domestic policy story fits.</a:t>
            </a:r>
          </a:p>
          <a:p>
            <a:pPr algn="l">
              <a:spcAft>
                <a:spcPts val="0"/>
              </a:spcAft>
            </a:pPr>
            <a:r>
              <a:rPr sz="1300" b="1" i="0">
                <a:solidFill>
                  <a:srgbClr val="212121"/>
                </a:solidFill>
                <a:latin typeface="Calibri"/>
              </a:rPr>
              <a:t>This ladder is deliberately hard to climb: many series pass the first step, few pass all five. In Act I we hold Paris itself to the same standard.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777240"/>
            <a:ext cx="10515600" cy="2377440"/>
          </a:xfrm>
          <a:prstGeom prst="rect">
            <a:avLst/>
          </a:prstGeom>
          <a:noFill/>
        </p:spPr>
        <p:txBody>
          <a:bodyPr wrap="square">
            <a:spAutoFit/>
          </a:bodyPr>
          <a:lstStyle/>
          <a:p>
            <a:pPr algn="l">
              <a:spcAft>
                <a:spcPts val="0"/>
              </a:spcAft>
            </a:pPr>
            <a:r>
              <a:rPr sz="4400" b="1" i="0">
                <a:solidFill>
                  <a:srgbClr val="1B7837"/>
                </a:solidFill>
                <a:latin typeface="Calibri"/>
              </a:rPr>
              <a:t>I</a:t>
            </a:r>
          </a:p>
          <a:p>
            <a:pPr algn="l">
              <a:spcAft>
                <a:spcPts val="600"/>
              </a:spcAft>
            </a:pPr>
            <a:r>
              <a:rPr sz="1200" b="1" i="0">
                <a:solidFill>
                  <a:srgbClr val="8A8A8A"/>
                </a:solidFill>
                <a:latin typeface="Calibri"/>
              </a:rPr>
              <a:t>ACT I</a:t>
            </a:r>
          </a:p>
          <a:p>
            <a:pPr algn="l">
              <a:spcAft>
                <a:spcPts val="800"/>
              </a:spcAft>
            </a:pPr>
            <a:r>
              <a:rPr sz="2800" b="1" i="0">
                <a:solidFill>
                  <a:srgbClr val="212121"/>
                </a:solidFill>
                <a:latin typeface="Calibri"/>
              </a:rPr>
              <a:t>Did Paris bend the global curve?</a:t>
            </a:r>
          </a:p>
          <a:p>
            <a:pPr algn="l">
              <a:spcAft>
                <a:spcPts val="0"/>
              </a:spcAft>
            </a:pPr>
            <a:r>
              <a:rPr sz="1400" b="0" i="0">
                <a:solidFill>
                  <a:srgbClr val="555555"/>
                </a:solidFill>
                <a:latin typeface="Calibri"/>
              </a:rPr>
              <a:t>The global record shows two things at once: bends that long predate the climate regime, and a genuine new acceleration whose start the data cannot pin to 2015.</a:t>
            </a:r>
          </a:p>
        </p:txBody>
      </p:sp>
      <p:sp>
        <p:nvSpPr>
          <p:cNvPr id="3" name="TextBox 2"/>
          <p:cNvSpPr txBox="1"/>
          <p:nvPr/>
        </p:nvSpPr>
        <p:spPr>
          <a:xfrm>
            <a:off x="822960" y="4206240"/>
            <a:ext cx="3474720" cy="1828800"/>
          </a:xfrm>
          <a:prstGeom prst="rect">
            <a:avLst/>
          </a:prstGeom>
          <a:noFill/>
        </p:spPr>
        <p:txBody>
          <a:bodyPr wrap="square">
            <a:spAutoFit/>
          </a:bodyPr>
          <a:lstStyle/>
          <a:p>
            <a:pPr algn="l">
              <a:spcAft>
                <a:spcPts val="200"/>
              </a:spcAft>
            </a:pPr>
            <a:r>
              <a:rPr sz="3000" b="1" i="0">
                <a:solidFill>
                  <a:srgbClr val="1B7837"/>
                </a:solidFill>
                <a:latin typeface="Calibri"/>
              </a:rPr>
              <a:t>1973</a:t>
            </a:r>
          </a:p>
          <a:p>
            <a:pPr algn="l">
              <a:spcAft>
                <a:spcPts val="0"/>
              </a:spcAft>
            </a:pPr>
            <a:r>
              <a:rPr sz="1250" b="0" i="0">
                <a:solidFill>
                  <a:srgbClr val="555555"/>
                </a:solidFill>
                <a:latin typeface="Calibri"/>
              </a:rPr>
              <a:t>the year the world's carbon-intensity curve first bent</a:t>
            </a:r>
          </a:p>
        </p:txBody>
      </p:sp>
      <p:sp>
        <p:nvSpPr>
          <p:cNvPr id="4" name="TextBox 3"/>
          <p:cNvSpPr txBox="1"/>
          <p:nvPr/>
        </p:nvSpPr>
        <p:spPr>
          <a:xfrm>
            <a:off x="4434840" y="4206240"/>
            <a:ext cx="3474720" cy="1828800"/>
          </a:xfrm>
          <a:prstGeom prst="rect">
            <a:avLst/>
          </a:prstGeom>
          <a:noFill/>
        </p:spPr>
        <p:txBody>
          <a:bodyPr wrap="square">
            <a:spAutoFit/>
          </a:bodyPr>
          <a:lstStyle/>
          <a:p>
            <a:pPr algn="l">
              <a:spcAft>
                <a:spcPts val="200"/>
              </a:spcAft>
            </a:pPr>
            <a:r>
              <a:rPr sz="3000" b="1" i="0">
                <a:solidFill>
                  <a:srgbClr val="1B7837"/>
                </a:solidFill>
                <a:latin typeface="Calibri"/>
              </a:rPr>
              <a:t>+2.1% → +0.4%</a:t>
            </a:r>
          </a:p>
          <a:p>
            <a:pPr algn="l">
              <a:spcAft>
                <a:spcPts val="0"/>
              </a:spcAft>
            </a:pPr>
            <a:r>
              <a:rPr sz="1250" b="0" i="0">
                <a:solidFill>
                  <a:srgbClr val="555555"/>
                </a:solidFill>
                <a:latin typeface="Calibri"/>
              </a:rPr>
              <a:t>global CO2 growth per year, Rio-to-Paris era versus after Paris</a:t>
            </a:r>
          </a:p>
        </p:txBody>
      </p:sp>
      <p:sp>
        <p:nvSpPr>
          <p:cNvPr id="5" name="TextBox 4"/>
          <p:cNvSpPr txBox="1"/>
          <p:nvPr/>
        </p:nvSpPr>
        <p:spPr>
          <a:xfrm>
            <a:off x="8046720" y="4206240"/>
            <a:ext cx="3474720" cy="1828800"/>
          </a:xfrm>
          <a:prstGeom prst="rect">
            <a:avLst/>
          </a:prstGeom>
          <a:noFill/>
        </p:spPr>
        <p:txBody>
          <a:bodyPr wrap="square">
            <a:spAutoFit/>
          </a:bodyPr>
          <a:lstStyle/>
          <a:p>
            <a:pPr algn="l">
              <a:spcAft>
                <a:spcPts val="200"/>
              </a:spcAft>
            </a:pPr>
            <a:r>
              <a:rPr sz="3000" b="1" i="0">
                <a:solidFill>
                  <a:srgbClr val="1B7837"/>
                </a:solidFill>
                <a:latin typeface="Calibri"/>
              </a:rPr>
              <a:t>2013</a:t>
            </a:r>
          </a:p>
          <a:p>
            <a:pPr algn="l">
              <a:spcAft>
                <a:spcPts val="0"/>
              </a:spcAft>
            </a:pPr>
            <a:r>
              <a:rPr sz="1250" b="0" i="0">
                <a:solidFill>
                  <a:srgbClr val="555555"/>
                </a:solidFill>
                <a:latin typeface="Calibri"/>
              </a:rPr>
              <a:t>the best-fitting onset of the new acceleration — before the treaty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1B7837"/>
                </a:solidFill>
                <a:latin typeface="Calibri"/>
              </a:rPr>
              <a:t>ACT I · THE LONG TREND</a:t>
            </a:r>
          </a:p>
          <a:p>
            <a:pPr algn="l">
              <a:spcAft>
                <a:spcPts val="0"/>
              </a:spcAft>
            </a:pPr>
            <a:r>
              <a:rPr sz="2400" b="1" i="0">
                <a:solidFill>
                  <a:srgbClr val="212121"/>
                </a:solidFill>
                <a:latin typeface="Calibri"/>
              </a:rPr>
              <a:t>The world's curve bent before the world began negotiating</a:t>
            </a:r>
          </a:p>
        </p:txBody>
      </p:sp>
      <p:sp>
        <p:nvSpPr>
          <p:cNvPr id="3" name="TextBox 2"/>
          <p:cNvSpPr txBox="1"/>
          <p:nvPr/>
        </p:nvSpPr>
        <p:spPr>
          <a:xfrm>
            <a:off x="502920" y="1188720"/>
            <a:ext cx="11201400" cy="731520"/>
          </a:xfrm>
          <a:prstGeom prst="rect">
            <a:avLst/>
          </a:prstGeom>
          <a:noFill/>
        </p:spPr>
        <p:txBody>
          <a:bodyPr wrap="square">
            <a:spAutoFit/>
          </a:bodyPr>
          <a:lstStyle/>
          <a:p>
            <a:pPr algn="l">
              <a:spcAft>
                <a:spcPts val="0"/>
              </a:spcAft>
            </a:pPr>
            <a:r>
              <a:rPr sz="1300" b="0" i="0">
                <a:solidFill>
                  <a:srgbClr val="555555"/>
                </a:solidFill>
                <a:latin typeface="Calibri"/>
              </a:rPr>
              <a:t>The best-fitting break in global CO2 per dollar of output is 1973 — the oil-shock era, two decades before Rio and four before Paris. The demand side bent the same year. Only the fuel mix has an estimate near a treaty year, and its uncertainty interval is honest to the point of self-effacement: 1978 to 2011.</a:t>
            </a:r>
          </a:p>
        </p:txBody>
      </p:sp>
      <p:sp>
        <p:nvSpPr>
          <p:cNvPr id="4" name="TextBox 3"/>
          <p:cNvSpPr txBox="1"/>
          <p:nvPr/>
        </p:nvSpPr>
        <p:spPr>
          <a:xfrm>
            <a:off x="502920" y="1956816"/>
            <a:ext cx="11201400" cy="457200"/>
          </a:xfrm>
          <a:prstGeom prst="rect">
            <a:avLst/>
          </a:prstGeom>
          <a:noFill/>
        </p:spPr>
        <p:txBody>
          <a:bodyPr wrap="square">
            <a:spAutoFit/>
          </a:bodyPr>
          <a:lstStyle/>
          <a:p>
            <a:pPr algn="l">
              <a:spcAft>
                <a:spcPts val="0"/>
              </a:spcAft>
            </a:pPr>
            <a:r>
              <a:rPr sz="1150" b="1" i="1">
                <a:solidFill>
                  <a:srgbClr val="3A66A5"/>
                </a:solidFill>
                <a:latin typeface="Calibri"/>
              </a:rPr>
              <a:t>How to read it: </a:t>
            </a:r>
            <a:r>
              <a:rPr sz="1150" b="0" i="1">
                <a:solidFill>
                  <a:srgbClr val="8A8A8A"/>
                </a:solidFill>
                <a:latin typeface="Calibri"/>
              </a:rPr>
              <a:t>Gray dots are the world's CO2 per dollar each year (1965 = 100, log scale); the red line is the best-fitting pair of straight lines, meeting at the estimated break. The lower panel gives each component's break year with its uncertainty whisker.</a:t>
            </a:r>
          </a:p>
        </p:txBody>
      </p:sp>
      <p:pic>
        <p:nvPicPr>
          <p:cNvPr id="5" name="Picture 4" descr="takeaway_fig01_global_bend_predates_treaties.png"/>
          <p:cNvPicPr>
            <a:picLocks noChangeAspect="1"/>
          </p:cNvPicPr>
          <p:nvPr/>
        </p:nvPicPr>
        <p:blipFill>
          <a:blip r:embed="rId2"/>
          <a:stretch>
            <a:fillRect/>
          </a:stretch>
        </p:blipFill>
        <p:spPr>
          <a:xfrm>
            <a:off x="3472554" y="2468880"/>
            <a:ext cx="5243843" cy="415137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1B7837"/>
                </a:solidFill>
                <a:latin typeface="Calibri"/>
              </a:rPr>
              <a:t>ACT I · THE ANNIVERSARY TEST</a:t>
            </a:r>
          </a:p>
          <a:p>
            <a:pPr algn="l">
              <a:spcAft>
                <a:spcPts val="0"/>
              </a:spcAft>
            </a:pPr>
            <a:r>
              <a:rPr sz="2400" b="1" i="0">
                <a:solidFill>
                  <a:srgbClr val="212121"/>
                </a:solidFill>
                <a:latin typeface="Calibri"/>
              </a:rPr>
              <a:t>Ten years on, the world is ahead of its old trend</a:t>
            </a:r>
          </a:p>
        </p:txBody>
      </p:sp>
      <p:sp>
        <p:nvSpPr>
          <p:cNvPr id="3" name="TextBox 2"/>
          <p:cNvSpPr txBox="1"/>
          <p:nvPr/>
        </p:nvSpPr>
        <p:spPr>
          <a:xfrm>
            <a:off x="502920" y="1188720"/>
            <a:ext cx="11201400" cy="731520"/>
          </a:xfrm>
          <a:prstGeom prst="rect">
            <a:avLst/>
          </a:prstGeom>
          <a:noFill/>
        </p:spPr>
        <p:txBody>
          <a:bodyPr wrap="square">
            <a:spAutoFit/>
          </a:bodyPr>
          <a:lstStyle/>
          <a:p>
            <a:pPr algn="l">
              <a:spcAft>
                <a:spcPts val="0"/>
              </a:spcAft>
            </a:pPr>
            <a:r>
              <a:rPr sz="1300" b="0" i="0">
                <a:solidFill>
                  <a:srgbClr val="555555"/>
                </a:solidFill>
                <a:latin typeface="Calibri"/>
              </a:rPr>
              <a:t>Extend the Rio-to-Paris trend past 2015 and the years since fall below it — a real acceleration, concentrated where climate policy operates: the fuel mix. But onsets from 2011 to 2016 fit about equally well (2013 best), and the demand side shows no acceleration. The world is doing what an effective Paris requires; the record cannot yet say Paris is why.</a:t>
            </a:r>
          </a:p>
        </p:txBody>
      </p:sp>
      <p:sp>
        <p:nvSpPr>
          <p:cNvPr id="4" name="TextBox 3"/>
          <p:cNvSpPr txBox="1"/>
          <p:nvPr/>
        </p:nvSpPr>
        <p:spPr>
          <a:xfrm>
            <a:off x="502920" y="1956816"/>
            <a:ext cx="11201400" cy="457200"/>
          </a:xfrm>
          <a:prstGeom prst="rect">
            <a:avLst/>
          </a:prstGeom>
          <a:noFill/>
        </p:spPr>
        <p:txBody>
          <a:bodyPr wrap="square">
            <a:spAutoFit/>
          </a:bodyPr>
          <a:lstStyle/>
          <a:p>
            <a:pPr algn="l">
              <a:spcAft>
                <a:spcPts val="0"/>
              </a:spcAft>
            </a:pPr>
            <a:r>
              <a:rPr sz="1150" b="1" i="1">
                <a:solidFill>
                  <a:srgbClr val="3A66A5"/>
                </a:solidFill>
                <a:latin typeface="Calibri"/>
              </a:rPr>
              <a:t>How to read it: </a:t>
            </a:r>
            <a:r>
              <a:rPr sz="1150" b="0" i="1">
                <a:solidFill>
                  <a:srgbClr val="8A8A8A"/>
                </a:solidFill>
                <a:latin typeface="Calibri"/>
              </a:rPr>
              <a:t>The solid line is the 1990–2015 trend; the dashed line extends it with a band for where years should fall if nothing changed. Red dots are the years since Paris — below the band means faster-than-trend improvement.</a:t>
            </a:r>
          </a:p>
        </p:txBody>
      </p:sp>
      <p:pic>
        <p:nvPicPr>
          <p:cNvPr id="5" name="Picture 4" descr="takeaway_fig02a_paris_and_the_long_trend.png"/>
          <p:cNvPicPr>
            <a:picLocks noChangeAspect="1"/>
          </p:cNvPicPr>
          <p:nvPr/>
        </p:nvPicPr>
        <p:blipFill>
          <a:blip r:embed="rId2"/>
          <a:stretch>
            <a:fillRect/>
          </a:stretch>
        </p:blipFill>
        <p:spPr>
          <a:xfrm>
            <a:off x="1597152" y="2468880"/>
            <a:ext cx="8994648" cy="415137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1B7837"/>
                </a:solidFill>
                <a:latin typeface="Calibri"/>
              </a:rPr>
              <a:t>ACT I · THE ARITHMETIC</a:t>
            </a:r>
          </a:p>
          <a:p>
            <a:pPr algn="l">
              <a:spcAft>
                <a:spcPts val="0"/>
              </a:spcAft>
            </a:pPr>
            <a:r>
              <a:rPr sz="2400" b="1" i="0">
                <a:solidFill>
                  <a:srgbClr val="212121"/>
                </a:solidFill>
                <a:latin typeface="Calibri"/>
              </a:rPr>
              <a:t>Emissions bend only when intensity outruns growth — it doesn't, yet</a:t>
            </a:r>
          </a:p>
        </p:txBody>
      </p:sp>
      <p:sp>
        <p:nvSpPr>
          <p:cNvPr id="3" name="TextBox 2"/>
          <p:cNvSpPr txBox="1"/>
          <p:nvPr/>
        </p:nvSpPr>
        <p:spPr>
          <a:xfrm>
            <a:off x="502920" y="1188720"/>
            <a:ext cx="11201400" cy="731520"/>
          </a:xfrm>
          <a:prstGeom prst="rect">
            <a:avLst/>
          </a:prstGeom>
          <a:noFill/>
        </p:spPr>
        <p:txBody>
          <a:bodyPr wrap="square">
            <a:spAutoFit/>
          </a:bodyPr>
          <a:lstStyle/>
          <a:p>
            <a:pPr algn="l">
              <a:spcAft>
                <a:spcPts val="0"/>
              </a:spcAft>
            </a:pPr>
            <a:r>
              <a:rPr sz="1300" b="0" i="0">
                <a:solidFill>
                  <a:srgbClr val="555555"/>
                </a:solidFill>
                <a:latin typeface="Calibri"/>
              </a:rPr>
              <a:t>By construction, emissions growth equals GDP growth plus the two intensity terms — so the dotted line, where intensity decline equals GDP growth, is the threshold for emissions to stop rising. The slowdown since Paris is real, but roughly two-thirds of it is slower economic growth; one-third is the cleaner fuel mix. The gap to the dotted line is the remaining task.</a:t>
            </a:r>
          </a:p>
        </p:txBody>
      </p:sp>
      <p:sp>
        <p:nvSpPr>
          <p:cNvPr id="4" name="TextBox 3"/>
          <p:cNvSpPr txBox="1"/>
          <p:nvPr/>
        </p:nvSpPr>
        <p:spPr>
          <a:xfrm>
            <a:off x="502920" y="1956816"/>
            <a:ext cx="11201400" cy="457200"/>
          </a:xfrm>
          <a:prstGeom prst="rect">
            <a:avLst/>
          </a:prstGeom>
          <a:noFill/>
        </p:spPr>
        <p:txBody>
          <a:bodyPr wrap="square">
            <a:spAutoFit/>
          </a:bodyPr>
          <a:lstStyle/>
          <a:p>
            <a:pPr algn="l">
              <a:spcAft>
                <a:spcPts val="0"/>
              </a:spcAft>
            </a:pPr>
            <a:r>
              <a:rPr sz="1150" b="1" i="1">
                <a:solidFill>
                  <a:srgbClr val="3A66A5"/>
                </a:solidFill>
                <a:latin typeface="Calibri"/>
              </a:rPr>
              <a:t>How to read it: </a:t>
            </a:r>
            <a:r>
              <a:rPr sz="1150" b="0" i="1">
                <a:solidFill>
                  <a:srgbClr val="8A8A8A"/>
                </a:solidFill>
                <a:latin typeface="Calibri"/>
              </a:rPr>
              <a:t>Each bar is an average annual growth rate; the red bar equals the gray bar plus the two colored ones.</a:t>
            </a:r>
          </a:p>
        </p:txBody>
      </p:sp>
      <p:pic>
        <p:nvPicPr>
          <p:cNvPr id="5" name="Picture 4" descr="takeaway_fig02b_stabilization_arithmetic.png"/>
          <p:cNvPicPr>
            <a:picLocks noChangeAspect="1"/>
          </p:cNvPicPr>
          <p:nvPr/>
        </p:nvPicPr>
        <p:blipFill>
          <a:blip r:embed="rId2"/>
          <a:stretch>
            <a:fillRect/>
          </a:stretch>
        </p:blipFill>
        <p:spPr>
          <a:xfrm>
            <a:off x="1597152" y="2468880"/>
            <a:ext cx="8994648" cy="415137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1B7837"/>
                </a:solidFill>
                <a:latin typeface="Calibri"/>
              </a:rPr>
              <a:t>ACT I · THE PLACEBO DISCIPLINE</a:t>
            </a:r>
          </a:p>
          <a:p>
            <a:pPr algn="l">
              <a:spcAft>
                <a:spcPts val="0"/>
              </a:spcAft>
            </a:pPr>
            <a:r>
              <a:rPr sz="2400" b="1" i="0">
                <a:solidFill>
                  <a:srgbClr val="212121"/>
                </a:solidFill>
                <a:latin typeface="Calibri"/>
              </a:rPr>
              <a:t>Any smooth curve makes many years look significant</a:t>
            </a:r>
          </a:p>
        </p:txBody>
      </p:sp>
      <p:sp>
        <p:nvSpPr>
          <p:cNvPr id="3" name="TextBox 2"/>
          <p:cNvSpPr txBox="1"/>
          <p:nvPr/>
        </p:nvSpPr>
        <p:spPr>
          <a:xfrm>
            <a:off x="502920" y="1188720"/>
            <a:ext cx="11201400" cy="731520"/>
          </a:xfrm>
          <a:prstGeom prst="rect">
            <a:avLst/>
          </a:prstGeom>
          <a:noFill/>
        </p:spPr>
        <p:txBody>
          <a:bodyPr wrap="square">
            <a:spAutoFit/>
          </a:bodyPr>
          <a:lstStyle/>
          <a:p>
            <a:pPr algn="l">
              <a:spcAft>
                <a:spcPts val="0"/>
              </a:spcAft>
            </a:pPr>
            <a:r>
              <a:rPr sz="1300" b="0" i="0">
                <a:solidFill>
                  <a:srgbClr val="555555"/>
                </a:solidFill>
                <a:latin typeface="Calibri"/>
              </a:rPr>
              <a:t>Place the break at every candidate year and Rio fits well — alongside a broad plateau of neighbors that fit as well or better. That is why treaty-year significance, common in half to two-thirds of country series, collapses to a small minority once each treaty year must beat its neighbors. The same discipline, turned on Paris's decade, dates the new acceleration to roughly 2013.</a:t>
            </a:r>
          </a:p>
        </p:txBody>
      </p:sp>
      <p:sp>
        <p:nvSpPr>
          <p:cNvPr id="4" name="TextBox 3"/>
          <p:cNvSpPr txBox="1"/>
          <p:nvPr/>
        </p:nvSpPr>
        <p:spPr>
          <a:xfrm>
            <a:off x="502920" y="1956816"/>
            <a:ext cx="11201400" cy="457200"/>
          </a:xfrm>
          <a:prstGeom prst="rect">
            <a:avLst/>
          </a:prstGeom>
          <a:noFill/>
        </p:spPr>
        <p:txBody>
          <a:bodyPr wrap="square">
            <a:spAutoFit/>
          </a:bodyPr>
          <a:lstStyle/>
          <a:p>
            <a:pPr algn="l">
              <a:spcAft>
                <a:spcPts val="0"/>
              </a:spcAft>
            </a:pPr>
            <a:r>
              <a:rPr sz="1150" b="1" i="1">
                <a:solidFill>
                  <a:srgbClr val="3A66A5"/>
                </a:solidFill>
                <a:latin typeface="Calibri"/>
              </a:rPr>
              <a:t>How to read it: </a:t>
            </a:r>
            <a:r>
              <a:rPr sz="1150" b="0" i="1">
                <a:solidFill>
                  <a:srgbClr val="8A8A8A"/>
                </a:solidFill>
                <a:latin typeface="Calibri"/>
              </a:rPr>
              <a:t>Top: model improvement from placing the global fuel-mix break in each year. Bottom: the share of country series significant at each treaty date (left point) versus the share where that date also beats nearby placebo years (right point).</a:t>
            </a:r>
          </a:p>
        </p:txBody>
      </p:sp>
      <p:pic>
        <p:nvPicPr>
          <p:cNvPr id="5" name="Picture 4" descr="takeaway_fig02_placebo_test.png"/>
          <p:cNvPicPr>
            <a:picLocks noChangeAspect="1"/>
          </p:cNvPicPr>
          <p:nvPr/>
        </p:nvPicPr>
        <p:blipFill>
          <a:blip r:embed="rId2"/>
          <a:stretch>
            <a:fillRect/>
          </a:stretch>
        </p:blipFill>
        <p:spPr>
          <a:xfrm>
            <a:off x="3603650" y="2468880"/>
            <a:ext cx="4981651" cy="415137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1B7837"/>
                </a:solidFill>
                <a:latin typeface="Calibri"/>
              </a:rPr>
              <a:t>WHERE ACT I LEAVES US</a:t>
            </a:r>
          </a:p>
          <a:p>
            <a:pPr algn="l">
              <a:spcAft>
                <a:spcPts val="0"/>
              </a:spcAft>
            </a:pPr>
            <a:r>
              <a:rPr sz="2400" b="1" i="0">
                <a:solidFill>
                  <a:srgbClr val="212121"/>
                </a:solidFill>
                <a:latin typeface="Calibri"/>
              </a:rPr>
              <a:t>The record shows an acceleration — not yet its author</a:t>
            </a:r>
          </a:p>
        </p:txBody>
      </p:sp>
      <p:sp>
        <p:nvSpPr>
          <p:cNvPr id="3" name="TextBox 2"/>
          <p:cNvSpPr txBox="1"/>
          <p:nvPr/>
        </p:nvSpPr>
        <p:spPr>
          <a:xfrm>
            <a:off x="502920" y="1463040"/>
            <a:ext cx="5532120" cy="4937760"/>
          </a:xfrm>
          <a:prstGeom prst="rect">
            <a:avLst/>
          </a:prstGeom>
          <a:noFill/>
        </p:spPr>
        <p:txBody>
          <a:bodyPr wrap="square">
            <a:spAutoFit/>
          </a:bodyPr>
          <a:lstStyle/>
          <a:p>
            <a:pPr algn="l">
              <a:spcAft>
                <a:spcPts val="600"/>
              </a:spcAft>
            </a:pPr>
            <a:r>
              <a:rPr sz="1500" b="1" i="0">
                <a:solidFill>
                  <a:srgbClr val="1B7837"/>
                </a:solidFill>
                <a:latin typeface="Calibri"/>
              </a:rPr>
              <a:t>Established</a:t>
            </a:r>
          </a:p>
          <a:p>
            <a:pPr algn="l">
              <a:spcAft>
                <a:spcPts val="0"/>
              </a:spcAft>
            </a:pPr>
            <a:r>
              <a:rPr sz="1350" b="0" i="0">
                <a:solidFill>
                  <a:srgbClr val="555555"/>
                </a:solidFill>
                <a:latin typeface="Calibri"/>
              </a:rPr>
              <a:t>A real post-2013 supply-side acceleration — the fuel mix improving at −0.5% per year after a flat quarter-century — and emissions growth down from +2.1% to +0.4% per year. This is the direction an effective Paris requires, in the component where policy operates most directly. The demand side, meanwhile, continues its fifty-year trend, no faster.</a:t>
            </a:r>
          </a:p>
        </p:txBody>
      </p:sp>
      <p:sp>
        <p:nvSpPr>
          <p:cNvPr id="4" name="TextBox 3"/>
          <p:cNvSpPr txBox="1"/>
          <p:nvPr/>
        </p:nvSpPr>
        <p:spPr>
          <a:xfrm>
            <a:off x="6400800" y="1463040"/>
            <a:ext cx="5303520" cy="4937760"/>
          </a:xfrm>
          <a:prstGeom prst="rect">
            <a:avLst/>
          </a:prstGeom>
          <a:noFill/>
        </p:spPr>
        <p:txBody>
          <a:bodyPr wrap="square">
            <a:spAutoFit/>
          </a:bodyPr>
          <a:lstStyle/>
          <a:p>
            <a:pPr algn="l">
              <a:spcAft>
                <a:spcPts val="600"/>
              </a:spcAft>
            </a:pPr>
            <a:r>
              <a:rPr sz="1500" b="1" i="0">
                <a:solidFill>
                  <a:srgbClr val="B33A3A"/>
                </a:solidFill>
                <a:latin typeface="Calibri"/>
              </a:rPr>
              <a:t>Open — and why</a:t>
            </a:r>
          </a:p>
          <a:p>
            <a:pPr algn="l">
              <a:spcAft>
                <a:spcPts val="800"/>
              </a:spcAft>
            </a:pPr>
            <a:r>
              <a:rPr sz="1350" b="0" i="0">
                <a:solidFill>
                  <a:srgbClr val="555555"/>
                </a:solidFill>
                <a:latin typeface="Calibri"/>
              </a:rPr>
              <a:t>The onset is timed to ~2013, not 2015, and eight post-Paris years give the test almost no power: Paris would have had to double a fifty-year trend to prove itself already. The world series is also a China-weighted average — the WTO-era coal boom flattened the baseline that makes the recent years look fast. And Paris was built to work through national pledges and national transformation, so its signature should appear country by country.</a:t>
            </a:r>
          </a:p>
          <a:p>
            <a:pPr algn="l">
              <a:spcAft>
                <a:spcPts val="0"/>
              </a:spcAft>
            </a:pPr>
            <a:r>
              <a:rPr sz="1500" b="1" i="0">
                <a:solidFill>
                  <a:srgbClr val="212121"/>
                </a:solidFill>
                <a:latin typeface="Calibri"/>
              </a:rPr>
              <a:t>So we look there.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777240"/>
            <a:ext cx="10515600" cy="2377440"/>
          </a:xfrm>
          <a:prstGeom prst="rect">
            <a:avLst/>
          </a:prstGeom>
          <a:noFill/>
        </p:spPr>
        <p:txBody>
          <a:bodyPr wrap="square">
            <a:spAutoFit/>
          </a:bodyPr>
          <a:lstStyle/>
          <a:p>
            <a:pPr algn="l">
              <a:spcAft>
                <a:spcPts val="0"/>
              </a:spcAft>
            </a:pPr>
            <a:r>
              <a:rPr sz="4400" b="1" i="0">
                <a:solidFill>
                  <a:srgbClr val="1B7837"/>
                </a:solidFill>
                <a:latin typeface="Calibri"/>
              </a:rPr>
              <a:t>II</a:t>
            </a:r>
          </a:p>
          <a:p>
            <a:pPr algn="l">
              <a:spcAft>
                <a:spcPts val="600"/>
              </a:spcAft>
            </a:pPr>
            <a:r>
              <a:rPr sz="1200" b="1" i="0">
                <a:solidFill>
                  <a:srgbClr val="8A8A8A"/>
                </a:solidFill>
                <a:latin typeface="Calibri"/>
              </a:rPr>
              <a:t>ACT II</a:t>
            </a:r>
          </a:p>
          <a:p>
            <a:pPr algn="l">
              <a:spcAft>
                <a:spcPts val="800"/>
              </a:spcAft>
            </a:pPr>
            <a:r>
              <a:rPr sz="2800" b="1" i="0">
                <a:solidFill>
                  <a:srgbClr val="212121"/>
                </a:solidFill>
                <a:latin typeface="Calibri"/>
              </a:rPr>
              <a:t>What bends national curves?</a:t>
            </a:r>
          </a:p>
          <a:p>
            <a:pPr algn="l">
              <a:spcAft>
                <a:spcPts val="0"/>
              </a:spcAft>
            </a:pPr>
            <a:r>
              <a:rPr sz="1400" b="0" i="0">
                <a:solidFill>
                  <a:srgbClr val="555555"/>
                </a:solidFill>
                <a:latin typeface="Calibri"/>
              </a:rPr>
              <a:t>If the global aggregate cannot separate treaty from trend, the country record can at least say what bends carbon-intensity curves when they do bend — and it is rarely a treaty date.</a:t>
            </a:r>
          </a:p>
        </p:txBody>
      </p:sp>
      <p:sp>
        <p:nvSpPr>
          <p:cNvPr id="3" name="TextBox 2"/>
          <p:cNvSpPr txBox="1"/>
          <p:nvPr/>
        </p:nvSpPr>
        <p:spPr>
          <a:xfrm>
            <a:off x="822960" y="4206240"/>
            <a:ext cx="3474720" cy="1828800"/>
          </a:xfrm>
          <a:prstGeom prst="rect">
            <a:avLst/>
          </a:prstGeom>
          <a:noFill/>
        </p:spPr>
        <p:txBody>
          <a:bodyPr wrap="square">
            <a:spAutoFit/>
          </a:bodyPr>
          <a:lstStyle/>
          <a:p>
            <a:pPr algn="l">
              <a:spcAft>
                <a:spcPts val="200"/>
              </a:spcAft>
            </a:pPr>
            <a:r>
              <a:rPr sz="3000" b="1" i="0">
                <a:solidFill>
                  <a:srgbClr val="1B7837"/>
                </a:solidFill>
                <a:latin typeface="Calibri"/>
              </a:rPr>
              <a:t>97</a:t>
            </a:r>
          </a:p>
          <a:p>
            <a:pPr algn="l">
              <a:spcAft>
                <a:spcPts val="0"/>
              </a:spcAft>
            </a:pPr>
            <a:r>
              <a:rPr sz="1250" b="0" i="0">
                <a:solidFill>
                  <a:srgbClr val="555555"/>
                </a:solidFill>
                <a:latin typeface="Calibri"/>
              </a:rPr>
              <a:t>national breaks passing every statistical screen, across five decades</a:t>
            </a:r>
          </a:p>
        </p:txBody>
      </p:sp>
      <p:sp>
        <p:nvSpPr>
          <p:cNvPr id="4" name="TextBox 3"/>
          <p:cNvSpPr txBox="1"/>
          <p:nvPr/>
        </p:nvSpPr>
        <p:spPr>
          <a:xfrm>
            <a:off x="4434840" y="4206240"/>
            <a:ext cx="3474720" cy="1828800"/>
          </a:xfrm>
          <a:prstGeom prst="rect">
            <a:avLst/>
          </a:prstGeom>
          <a:noFill/>
        </p:spPr>
        <p:txBody>
          <a:bodyPr wrap="square">
            <a:spAutoFit/>
          </a:bodyPr>
          <a:lstStyle/>
          <a:p>
            <a:pPr algn="l">
              <a:spcAft>
                <a:spcPts val="200"/>
              </a:spcAft>
            </a:pPr>
            <a:r>
              <a:rPr sz="3000" b="1" i="0">
                <a:solidFill>
                  <a:srgbClr val="1B7837"/>
                </a:solidFill>
                <a:latin typeface="Calibri"/>
              </a:rPr>
              <a:t>45% vs 17%</a:t>
            </a:r>
          </a:p>
          <a:p>
            <a:pPr algn="l">
              <a:spcAft>
                <a:spcPts val="0"/>
              </a:spcAft>
            </a:pPr>
            <a:r>
              <a:rPr sz="1250" b="0" i="0">
                <a:solidFill>
                  <a:srgbClr val="555555"/>
                </a:solidFill>
                <a:latin typeface="Calibri"/>
              </a:rPr>
              <a:t>documented events within two years of a break, observed versus chance</a:t>
            </a:r>
          </a:p>
        </p:txBody>
      </p:sp>
      <p:sp>
        <p:nvSpPr>
          <p:cNvPr id="5" name="TextBox 4"/>
          <p:cNvSpPr txBox="1"/>
          <p:nvPr/>
        </p:nvSpPr>
        <p:spPr>
          <a:xfrm>
            <a:off x="8046720" y="4206240"/>
            <a:ext cx="3474720" cy="1828800"/>
          </a:xfrm>
          <a:prstGeom prst="rect">
            <a:avLst/>
          </a:prstGeom>
          <a:noFill/>
        </p:spPr>
        <p:txBody>
          <a:bodyPr wrap="square">
            <a:spAutoFit/>
          </a:bodyPr>
          <a:lstStyle/>
          <a:p>
            <a:pPr algn="l">
              <a:spcAft>
                <a:spcPts val="200"/>
              </a:spcAft>
            </a:pPr>
            <a:r>
              <a:rPr sz="3000" b="1" i="0">
                <a:solidFill>
                  <a:srgbClr val="1B7837"/>
                </a:solidFill>
                <a:latin typeface="Calibri"/>
              </a:rPr>
              <a:t>9 of 97</a:t>
            </a:r>
          </a:p>
          <a:p>
            <a:pPr algn="l">
              <a:spcAft>
                <a:spcPts val="0"/>
              </a:spcAft>
            </a:pPr>
            <a:r>
              <a:rPr sz="1250" b="0" i="0">
                <a:solidFill>
                  <a:srgbClr val="555555"/>
                </a:solidFill>
                <a:latin typeface="Calibri"/>
              </a:rPr>
              <a:t>breaks best explained by climate policy and low-carbon technology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1B7837"/>
                </a:solidFill>
                <a:latin typeface="Calibri"/>
              </a:rPr>
              <a:t>ACT II · THE SCATTER</a:t>
            </a:r>
          </a:p>
          <a:p>
            <a:pPr algn="l">
              <a:spcAft>
                <a:spcPts val="0"/>
              </a:spcAft>
            </a:pPr>
            <a:r>
              <a:rPr sz="2400" b="1" i="0">
                <a:solidFill>
                  <a:srgbClr val="212121"/>
                </a:solidFill>
                <a:latin typeface="Calibri"/>
              </a:rPr>
              <a:t>Ninety-seven breaks, five decades, no treaty era</a:t>
            </a:r>
          </a:p>
        </p:txBody>
      </p:sp>
      <p:sp>
        <p:nvSpPr>
          <p:cNvPr id="3" name="TextBox 2"/>
          <p:cNvSpPr txBox="1"/>
          <p:nvPr/>
        </p:nvSpPr>
        <p:spPr>
          <a:xfrm>
            <a:off x="502920" y="1188720"/>
            <a:ext cx="11201400" cy="731520"/>
          </a:xfrm>
          <a:prstGeom prst="rect">
            <a:avLst/>
          </a:prstGeom>
          <a:noFill/>
        </p:spPr>
        <p:txBody>
          <a:bodyPr wrap="square">
            <a:spAutoFit/>
          </a:bodyPr>
          <a:lstStyle/>
          <a:p>
            <a:pPr algn="l">
              <a:spcAft>
                <a:spcPts val="0"/>
              </a:spcAft>
            </a:pPr>
            <a:r>
              <a:rPr sz="1300" b="0" i="0">
                <a:solidFill>
                  <a:srgbClr val="555555"/>
                </a:solidFill>
                <a:latin typeface="Calibri"/>
              </a:rPr>
              <a:t>National breaks pile up around the oil shocks, the post-Cold-War upheaval, the Asian and global financial crises, and the renewables era — around economic history, not around the two treaty lines. And the clustering is not storytelling after the fact: documented events sit within two years of the estimated breaks nearly three times as often as randomly drawn dates would allow.</a:t>
            </a:r>
          </a:p>
        </p:txBody>
      </p:sp>
      <p:sp>
        <p:nvSpPr>
          <p:cNvPr id="4" name="TextBox 3"/>
          <p:cNvSpPr txBox="1"/>
          <p:nvPr/>
        </p:nvSpPr>
        <p:spPr>
          <a:xfrm>
            <a:off x="502920" y="1956816"/>
            <a:ext cx="11201400" cy="457200"/>
          </a:xfrm>
          <a:prstGeom prst="rect">
            <a:avLst/>
          </a:prstGeom>
          <a:noFill/>
        </p:spPr>
        <p:txBody>
          <a:bodyPr wrap="square">
            <a:spAutoFit/>
          </a:bodyPr>
          <a:lstStyle/>
          <a:p>
            <a:pPr algn="l">
              <a:spcAft>
                <a:spcPts val="0"/>
              </a:spcAft>
            </a:pPr>
            <a:r>
              <a:rPr sz="1150" b="1" i="1">
                <a:solidFill>
                  <a:srgbClr val="3A66A5"/>
                </a:solidFill>
                <a:latin typeface="Calibri"/>
              </a:rPr>
              <a:t>How to read it: </a:t>
            </a:r>
            <a:r>
              <a:rPr sz="1150" b="0" i="1">
                <a:solidFill>
                  <a:srgbClr val="8A8A8A"/>
                </a:solidFill>
                <a:latin typeface="Calibri"/>
              </a:rPr>
              <a:t>Top: one dot per country at its break year; green triangles are the nine policy-enabled cases; shaded bands mark major economic episodes. Bottom: observed event-to-break proximity (red) against what random timing produces (blue).</a:t>
            </a:r>
          </a:p>
        </p:txBody>
      </p:sp>
      <p:pic>
        <p:nvPicPr>
          <p:cNvPr id="5" name="Picture 4" descr="takeaway_fig03_when_and_why_curves_bend.png"/>
          <p:cNvPicPr>
            <a:picLocks noChangeAspect="1"/>
          </p:cNvPicPr>
          <p:nvPr/>
        </p:nvPicPr>
        <p:blipFill>
          <a:blip r:embed="rId2"/>
          <a:stretch>
            <a:fillRect/>
          </a:stretch>
        </p:blipFill>
        <p:spPr>
          <a:xfrm>
            <a:off x="3396081" y="2468880"/>
            <a:ext cx="5396788" cy="415137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1B7837"/>
                </a:solidFill>
                <a:latin typeface="Calibri"/>
              </a:rPr>
              <a:t>ACT II · THE CENSUS</a:t>
            </a:r>
          </a:p>
          <a:p>
            <a:pPr algn="l">
              <a:spcAft>
                <a:spcPts val="0"/>
              </a:spcAft>
            </a:pPr>
            <a:r>
              <a:rPr sz="2400" b="1" i="0">
                <a:solidFill>
                  <a:srgbClr val="212121"/>
                </a:solidFill>
                <a:latin typeface="Calibri"/>
              </a:rPr>
              <a:t>Mostly markets, restructuring, and disruption — policy in nine</a:t>
            </a:r>
          </a:p>
        </p:txBody>
      </p:sp>
      <p:sp>
        <p:nvSpPr>
          <p:cNvPr id="3" name="TextBox 2"/>
          <p:cNvSpPr txBox="1"/>
          <p:nvPr/>
        </p:nvSpPr>
        <p:spPr>
          <a:xfrm>
            <a:off x="502920" y="1188720"/>
            <a:ext cx="11201400" cy="731520"/>
          </a:xfrm>
          <a:prstGeom prst="rect">
            <a:avLst/>
          </a:prstGeom>
          <a:noFill/>
        </p:spPr>
        <p:txBody>
          <a:bodyPr wrap="square">
            <a:spAutoFit/>
          </a:bodyPr>
          <a:lstStyle/>
          <a:p>
            <a:pPr algn="l">
              <a:spcAft>
                <a:spcPts val="0"/>
              </a:spcAft>
            </a:pPr>
            <a:r>
              <a:rPr sz="1300" b="0" i="0">
                <a:solidFill>
                  <a:srgbClr val="555555"/>
                </a:solidFill>
                <a:latin typeface="Calibri"/>
              </a:rPr>
              <a:t>Each break is assigned the historical process best supported by documentary evidence: fuel and energy markets lead with 22 countries, economic restructuring takes 18, political disruption 11, macroeconomic shocks 9, development and energy access 6. Climate policy and low-carbon technology account for nine — real, but rare. Twenty-two breaks stay honestly unresolved rather than being forced into a category.</a:t>
            </a:r>
          </a:p>
        </p:txBody>
      </p:sp>
      <p:sp>
        <p:nvSpPr>
          <p:cNvPr id="4" name="TextBox 3"/>
          <p:cNvSpPr txBox="1"/>
          <p:nvPr/>
        </p:nvSpPr>
        <p:spPr>
          <a:xfrm>
            <a:off x="502920" y="1956816"/>
            <a:ext cx="11201400" cy="457200"/>
          </a:xfrm>
          <a:prstGeom prst="rect">
            <a:avLst/>
          </a:prstGeom>
          <a:noFill/>
        </p:spPr>
        <p:txBody>
          <a:bodyPr wrap="square">
            <a:spAutoFit/>
          </a:bodyPr>
          <a:lstStyle/>
          <a:p>
            <a:pPr algn="l">
              <a:spcAft>
                <a:spcPts val="0"/>
              </a:spcAft>
            </a:pPr>
            <a:r>
              <a:rPr sz="1150" b="1" i="1">
                <a:solidFill>
                  <a:srgbClr val="3A66A5"/>
                </a:solidFill>
                <a:latin typeface="Calibri"/>
              </a:rPr>
              <a:t>How to read it: </a:t>
            </a:r>
            <a:r>
              <a:rPr sz="1150" b="0" i="1">
                <a:solidFill>
                  <a:srgbClr val="8A8A8A"/>
                </a:solidFill>
                <a:latin typeface="Calibri"/>
              </a:rPr>
              <a:t>One square per country, grouped by best-supported mechanism; green is the policy group, light gray the unresolved.</a:t>
            </a:r>
          </a:p>
        </p:txBody>
      </p:sp>
      <p:pic>
        <p:nvPicPr>
          <p:cNvPr id="5" name="Picture 4" descr="takeaway_fig04_mechanism_census.png"/>
          <p:cNvPicPr>
            <a:picLocks noChangeAspect="1"/>
          </p:cNvPicPr>
          <p:nvPr/>
        </p:nvPicPr>
        <p:blipFill>
          <a:blip r:embed="rId2"/>
          <a:stretch>
            <a:fillRect/>
          </a:stretch>
        </p:blipFill>
        <p:spPr>
          <a:xfrm>
            <a:off x="1799949" y="2468880"/>
            <a:ext cx="8589053" cy="415137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777240"/>
            <a:ext cx="10515600" cy="2377440"/>
          </a:xfrm>
          <a:prstGeom prst="rect">
            <a:avLst/>
          </a:prstGeom>
          <a:noFill/>
        </p:spPr>
        <p:txBody>
          <a:bodyPr wrap="square">
            <a:spAutoFit/>
          </a:bodyPr>
          <a:lstStyle/>
          <a:p>
            <a:pPr algn="l">
              <a:spcAft>
                <a:spcPts val="0"/>
              </a:spcAft>
            </a:pPr>
            <a:r>
              <a:rPr sz="4400" b="1" i="0">
                <a:solidFill>
                  <a:srgbClr val="1B7837"/>
                </a:solidFill>
                <a:latin typeface="Calibri"/>
              </a:rPr>
              <a:t>III</a:t>
            </a:r>
          </a:p>
          <a:p>
            <a:pPr algn="l">
              <a:spcAft>
                <a:spcPts val="600"/>
              </a:spcAft>
            </a:pPr>
            <a:r>
              <a:rPr sz="1200" b="1" i="0">
                <a:solidFill>
                  <a:srgbClr val="8A8A8A"/>
                </a:solidFill>
                <a:latin typeface="Calibri"/>
              </a:rPr>
              <a:t>ACT III</a:t>
            </a:r>
          </a:p>
          <a:p>
            <a:pPr algn="l">
              <a:spcAft>
                <a:spcPts val="800"/>
              </a:spcAft>
            </a:pPr>
            <a:r>
              <a:rPr sz="2800" b="1" i="0">
                <a:solidFill>
                  <a:srgbClr val="212121"/>
                </a:solidFill>
                <a:latin typeface="Calibri"/>
              </a:rPr>
              <a:t>Did the bends count?</a:t>
            </a:r>
          </a:p>
          <a:p>
            <a:pPr algn="l">
              <a:spcAft>
                <a:spcPts val="0"/>
              </a:spcAft>
            </a:pPr>
            <a:r>
              <a:rPr sz="1400" b="0" i="0">
                <a:solidFill>
                  <a:srgbClr val="555555"/>
                </a:solidFill>
                <a:latin typeface="Calibri"/>
              </a:rPr>
              <a:t>Every one of the 97 breaks looks favorable as a statistic. Four tests — did the trend improve, did it last, did absolute CO2 fall, was the mechanism constructive — sort statistics from transitions.</a:t>
            </a:r>
          </a:p>
        </p:txBody>
      </p:sp>
      <p:sp>
        <p:nvSpPr>
          <p:cNvPr id="3" name="TextBox 2"/>
          <p:cNvSpPr txBox="1"/>
          <p:nvPr/>
        </p:nvSpPr>
        <p:spPr>
          <a:xfrm>
            <a:off x="822960" y="4206240"/>
            <a:ext cx="3474720" cy="1828800"/>
          </a:xfrm>
          <a:prstGeom prst="rect">
            <a:avLst/>
          </a:prstGeom>
          <a:noFill/>
        </p:spPr>
        <p:txBody>
          <a:bodyPr wrap="square">
            <a:spAutoFit/>
          </a:bodyPr>
          <a:lstStyle/>
          <a:p>
            <a:pPr algn="l">
              <a:spcAft>
                <a:spcPts val="200"/>
              </a:spcAft>
            </a:pPr>
            <a:r>
              <a:rPr sz="3000" b="1" i="0">
                <a:solidFill>
                  <a:srgbClr val="1B7837"/>
                </a:solidFill>
                <a:latin typeface="Calibri"/>
              </a:rPr>
              <a:t>55</a:t>
            </a:r>
          </a:p>
          <a:p>
            <a:pPr algn="l">
              <a:spcAft>
                <a:spcPts val="0"/>
              </a:spcAft>
            </a:pPr>
            <a:r>
              <a:rPr sz="1250" b="0" i="0">
                <a:solidFill>
                  <a:srgbClr val="555555"/>
                </a:solidFill>
                <a:latin typeface="Calibri"/>
              </a:rPr>
              <a:t>countries whose intensity improved while absolute CO2 kept rising</a:t>
            </a:r>
          </a:p>
        </p:txBody>
      </p:sp>
      <p:sp>
        <p:nvSpPr>
          <p:cNvPr id="4" name="TextBox 3"/>
          <p:cNvSpPr txBox="1"/>
          <p:nvPr/>
        </p:nvSpPr>
        <p:spPr>
          <a:xfrm>
            <a:off x="4434840" y="4206240"/>
            <a:ext cx="3474720" cy="1828800"/>
          </a:xfrm>
          <a:prstGeom prst="rect">
            <a:avLst/>
          </a:prstGeom>
          <a:noFill/>
        </p:spPr>
        <p:txBody>
          <a:bodyPr wrap="square">
            <a:spAutoFit/>
          </a:bodyPr>
          <a:lstStyle/>
          <a:p>
            <a:pPr algn="l">
              <a:spcAft>
                <a:spcPts val="200"/>
              </a:spcAft>
            </a:pPr>
            <a:r>
              <a:rPr sz="3000" b="1" i="0">
                <a:solidFill>
                  <a:srgbClr val="1B7837"/>
                </a:solidFill>
                <a:latin typeface="Calibri"/>
              </a:rPr>
              <a:t>20</a:t>
            </a:r>
          </a:p>
          <a:p>
            <a:pPr algn="l">
              <a:spcAft>
                <a:spcPts val="0"/>
              </a:spcAft>
            </a:pPr>
            <a:r>
              <a:rPr sz="1250" b="0" i="0">
                <a:solidFill>
                  <a:srgbClr val="555555"/>
                </a:solidFill>
                <a:latin typeface="Calibri"/>
              </a:rPr>
              <a:t>whose 'improvement' is a recession or collapse in disguise</a:t>
            </a:r>
          </a:p>
        </p:txBody>
      </p:sp>
      <p:sp>
        <p:nvSpPr>
          <p:cNvPr id="5" name="TextBox 4"/>
          <p:cNvSpPr txBox="1"/>
          <p:nvPr/>
        </p:nvSpPr>
        <p:spPr>
          <a:xfrm>
            <a:off x="8046720" y="4206240"/>
            <a:ext cx="3474720" cy="1828800"/>
          </a:xfrm>
          <a:prstGeom prst="rect">
            <a:avLst/>
          </a:prstGeom>
          <a:noFill/>
        </p:spPr>
        <p:txBody>
          <a:bodyPr wrap="square">
            <a:spAutoFit/>
          </a:bodyPr>
          <a:lstStyle/>
          <a:p>
            <a:pPr algn="l">
              <a:spcAft>
                <a:spcPts val="200"/>
              </a:spcAft>
            </a:pPr>
            <a:r>
              <a:rPr sz="3000" b="1" i="0">
                <a:solidFill>
                  <a:srgbClr val="1B7837"/>
                </a:solidFill>
                <a:latin typeface="Calibri"/>
              </a:rPr>
              <a:t>9</a:t>
            </a:r>
          </a:p>
          <a:p>
            <a:pPr algn="l">
              <a:spcAft>
                <a:spcPts val="0"/>
              </a:spcAft>
            </a:pPr>
            <a:r>
              <a:rPr sz="1250" b="0" i="0">
                <a:solidFill>
                  <a:srgbClr val="555555"/>
                </a:solidFill>
                <a:latin typeface="Calibri"/>
              </a:rPr>
              <a:t>constructive, persistent decarbonizations — the gold standard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C77F00"/>
                </a:solidFill>
                <a:latin typeface="Calibri"/>
              </a:rPr>
              <a:t>ACT III · THE SORTING KEY</a:t>
            </a:r>
          </a:p>
          <a:p>
            <a:pPr algn="l">
              <a:spcAft>
                <a:spcPts val="0"/>
              </a:spcAft>
            </a:pPr>
            <a:r>
              <a:rPr sz="2400" b="1" i="0">
                <a:solidFill>
                  <a:srgbClr val="212121"/>
                </a:solidFill>
                <a:latin typeface="Calibri"/>
              </a:rPr>
              <a:t>Seven mechanisms in, six verdicts out</a:t>
            </a:r>
          </a:p>
        </p:txBody>
      </p:sp>
      <p:sp>
        <p:nvSpPr>
          <p:cNvPr id="3" name="TextBox 2"/>
          <p:cNvSpPr txBox="1"/>
          <p:nvPr/>
        </p:nvSpPr>
        <p:spPr>
          <a:xfrm>
            <a:off x="502920" y="1371600"/>
            <a:ext cx="5532120" cy="5212080"/>
          </a:xfrm>
          <a:prstGeom prst="rect">
            <a:avLst/>
          </a:prstGeom>
          <a:noFill/>
        </p:spPr>
        <p:txBody>
          <a:bodyPr wrap="square">
            <a:spAutoFit/>
          </a:bodyPr>
          <a:lstStyle/>
          <a:p>
            <a:pPr algn="l">
              <a:spcAft>
                <a:spcPts val="600"/>
              </a:spcAft>
            </a:pPr>
            <a:r>
              <a:rPr sz="1400" b="1" i="0">
                <a:solidFill>
                  <a:srgbClr val="212121"/>
                </a:solidFill>
                <a:latin typeface="Calibri"/>
              </a:rPr>
              <a:t>MECHANISMS — what accompanied the bend</a:t>
            </a:r>
          </a:p>
          <a:p>
            <a:pPr algn="l">
              <a:spcAft>
                <a:spcPts val="400"/>
              </a:spcAft>
            </a:pPr>
            <a:r>
              <a:rPr sz="1200" b="1" i="0">
                <a:solidFill>
                  <a:srgbClr val="212121"/>
                </a:solidFill>
                <a:latin typeface="Calibri"/>
              </a:rPr>
              <a:t>Policy-enabled low carbon — </a:t>
            </a:r>
            <a:r>
              <a:rPr sz="1200" b="0" i="0">
                <a:solidFill>
                  <a:srgbClr val="555555"/>
                </a:solidFill>
                <a:latin typeface="Calibri"/>
              </a:rPr>
              <a:t>climate/energy policy made physical: infrastructure, fuel mix, market design.</a:t>
            </a:r>
          </a:p>
          <a:p>
            <a:pPr algn="l">
              <a:spcAft>
                <a:spcPts val="400"/>
              </a:spcAft>
            </a:pPr>
            <a:r>
              <a:rPr sz="1200" b="1" i="0">
                <a:solidFill>
                  <a:srgbClr val="212121"/>
                </a:solidFill>
                <a:latin typeface="Calibri"/>
              </a:rPr>
              <a:t>Fuel &amp; energy markets — </a:t>
            </a:r>
            <a:r>
              <a:rPr sz="1200" b="0" i="0">
                <a:solidFill>
                  <a:srgbClr val="555555"/>
                </a:solidFill>
                <a:latin typeface="Calibri"/>
              </a:rPr>
              <a:t>market-driven fuel switching or supply transformation.</a:t>
            </a:r>
          </a:p>
          <a:p>
            <a:pPr algn="l">
              <a:spcAft>
                <a:spcPts val="400"/>
              </a:spcAft>
            </a:pPr>
            <a:r>
              <a:rPr sz="1200" b="1" i="0">
                <a:solidFill>
                  <a:srgbClr val="212121"/>
                </a:solidFill>
                <a:latin typeface="Calibri"/>
              </a:rPr>
              <a:t>Economic restructuring — </a:t>
            </a:r>
            <a:r>
              <a:rPr sz="1200" b="0" i="0">
                <a:solidFill>
                  <a:srgbClr val="555555"/>
                </a:solidFill>
                <a:latin typeface="Calibri"/>
              </a:rPr>
              <a:t>industry to services, liberalization, post-socialist transition.</a:t>
            </a:r>
          </a:p>
          <a:p>
            <a:pPr algn="l">
              <a:spcAft>
                <a:spcPts val="400"/>
              </a:spcAft>
            </a:pPr>
            <a:r>
              <a:rPr sz="1200" b="1" i="0">
                <a:solidFill>
                  <a:srgbClr val="212121"/>
                </a:solidFill>
                <a:latin typeface="Calibri"/>
              </a:rPr>
              <a:t>Macroeconomic shock — </a:t>
            </a:r>
            <a:r>
              <a:rPr sz="1200" b="0" i="0">
                <a:solidFill>
                  <a:srgbClr val="555555"/>
                </a:solidFill>
                <a:latin typeface="Calibri"/>
              </a:rPr>
              <a:t>recessions and financial crises that cut energy use.</a:t>
            </a:r>
          </a:p>
          <a:p>
            <a:pPr algn="l">
              <a:spcAft>
                <a:spcPts val="400"/>
              </a:spcAft>
            </a:pPr>
            <a:r>
              <a:rPr sz="1200" b="1" i="0">
                <a:solidFill>
                  <a:srgbClr val="212121"/>
                </a:solidFill>
                <a:latin typeface="Calibri"/>
              </a:rPr>
              <a:t>Political disruption — </a:t>
            </a:r>
            <a:r>
              <a:rPr sz="1200" b="0" i="0">
                <a:solidFill>
                  <a:srgbClr val="555555"/>
                </a:solidFill>
                <a:latin typeface="Calibri"/>
              </a:rPr>
              <a:t>wars, state collapse, sanctions, regime change.</a:t>
            </a:r>
          </a:p>
          <a:p>
            <a:pPr algn="l">
              <a:spcAft>
                <a:spcPts val="400"/>
              </a:spcAft>
            </a:pPr>
            <a:r>
              <a:rPr sz="1200" b="1" i="0">
                <a:solidFill>
                  <a:srgbClr val="212121"/>
                </a:solidFill>
                <a:latin typeface="Calibri"/>
              </a:rPr>
              <a:t>Development &amp; energy access — </a:t>
            </a:r>
            <a:r>
              <a:rPr sz="1200" b="0" i="0">
                <a:solidFill>
                  <a:srgbClr val="555555"/>
                </a:solidFill>
                <a:latin typeface="Calibri"/>
              </a:rPr>
              <a:t>electrification and modernization.</a:t>
            </a:r>
          </a:p>
          <a:p>
            <a:pPr algn="l">
              <a:spcAft>
                <a:spcPts val="400"/>
              </a:spcAft>
            </a:pPr>
            <a:r>
              <a:rPr sz="1200" b="1" i="0">
                <a:solidFill>
                  <a:srgbClr val="212121"/>
                </a:solidFill>
                <a:latin typeface="Calibri"/>
              </a:rPr>
              <a:t>No attributed mechanism — </a:t>
            </a:r>
            <a:r>
              <a:rPr sz="1200" b="0" i="0">
                <a:solidFill>
                  <a:srgbClr val="555555"/>
                </a:solidFill>
                <a:latin typeface="Calibri"/>
              </a:rPr>
              <a:t>a real break the record cannot yet explain (22 of 97).</a:t>
            </a:r>
          </a:p>
        </p:txBody>
      </p:sp>
      <p:sp>
        <p:nvSpPr>
          <p:cNvPr id="4" name="TextBox 3"/>
          <p:cNvSpPr txBox="1"/>
          <p:nvPr/>
        </p:nvSpPr>
        <p:spPr>
          <a:xfrm>
            <a:off x="6400800" y="1371600"/>
            <a:ext cx="5303520" cy="5212080"/>
          </a:xfrm>
          <a:prstGeom prst="rect">
            <a:avLst/>
          </a:prstGeom>
          <a:noFill/>
        </p:spPr>
        <p:txBody>
          <a:bodyPr wrap="square">
            <a:spAutoFit/>
          </a:bodyPr>
          <a:lstStyle/>
          <a:p>
            <a:pPr algn="l">
              <a:spcAft>
                <a:spcPts val="400"/>
              </a:spcAft>
            </a:pPr>
            <a:r>
              <a:rPr sz="1400" b="1" i="0">
                <a:solidFill>
                  <a:srgbClr val="212121"/>
                </a:solidFill>
                <a:latin typeface="Calibri"/>
              </a:rPr>
              <a:t>VERDICTS — four tests of the outcome</a:t>
            </a:r>
          </a:p>
          <a:p>
            <a:pPr algn="l">
              <a:spcAft>
                <a:spcPts val="800"/>
              </a:spcAft>
            </a:pPr>
            <a:r>
              <a:rPr sz="1250" b="0" i="1">
                <a:solidFill>
                  <a:srgbClr val="555555"/>
                </a:solidFill>
                <a:latin typeface="Calibri"/>
              </a:rPr>
              <a:t>Did the trend improve? Did it last? Did absolute CO2 actually fall? Was the underlying process constructive?</a:t>
            </a:r>
          </a:p>
          <a:p>
            <a:pPr algn="l">
              <a:spcAft>
                <a:spcPts val="400"/>
              </a:spcAft>
            </a:pPr>
            <a:r>
              <a:rPr sz="1200" b="1" i="0">
                <a:solidFill>
                  <a:srgbClr val="212121"/>
                </a:solidFill>
                <a:latin typeface="Calibri"/>
              </a:rPr>
              <a:t>Constructive persistent decarbonization </a:t>
            </a:r>
            <a:r>
              <a:rPr sz="1200" b="1" i="0">
                <a:solidFill>
                  <a:srgbClr val="1B7837"/>
                </a:solidFill>
                <a:latin typeface="Calibri"/>
              </a:rPr>
              <a:t>(9) — </a:t>
            </a:r>
            <a:r>
              <a:rPr sz="1200" b="0" i="0">
                <a:solidFill>
                  <a:srgbClr val="555555"/>
                </a:solidFill>
                <a:latin typeface="Calibri"/>
              </a:rPr>
              <a:t>passes all four — the gold standard.</a:t>
            </a:r>
          </a:p>
          <a:p>
            <a:pPr algn="l">
              <a:spcAft>
                <a:spcPts val="400"/>
              </a:spcAft>
            </a:pPr>
            <a:r>
              <a:rPr sz="1200" b="1" i="0">
                <a:solidFill>
                  <a:srgbClr val="212121"/>
                </a:solidFill>
                <a:latin typeface="Calibri"/>
              </a:rPr>
              <a:t>Persistent fuel substitution </a:t>
            </a:r>
            <a:r>
              <a:rPr sz="1200" b="1" i="0">
                <a:solidFill>
                  <a:srgbClr val="8A8A8A"/>
                </a:solidFill>
                <a:latin typeface="Calibri"/>
              </a:rPr>
              <a:t>(13) — </a:t>
            </a:r>
            <a:r>
              <a:rPr sz="1200" b="0" i="0">
                <a:solidFill>
                  <a:srgbClr val="555555"/>
                </a:solidFill>
                <a:latin typeface="Calibri"/>
              </a:rPr>
              <a:t>durable supply-side switch; narrower transformation.</a:t>
            </a:r>
          </a:p>
          <a:p>
            <a:pPr algn="l">
              <a:spcAft>
                <a:spcPts val="400"/>
              </a:spcAft>
            </a:pPr>
            <a:r>
              <a:rPr sz="1200" b="1" i="0">
                <a:solidFill>
                  <a:srgbClr val="212121"/>
                </a:solidFill>
                <a:latin typeface="Calibri"/>
              </a:rPr>
              <a:t>Intensity gain; CO2 still rising </a:t>
            </a:r>
            <a:r>
              <a:rPr sz="1200" b="1" i="0">
                <a:solidFill>
                  <a:srgbClr val="8A8A8A"/>
                </a:solidFill>
                <a:latin typeface="Calibri"/>
              </a:rPr>
              <a:t>(12) — </a:t>
            </a:r>
            <a:r>
              <a:rPr sz="1200" b="0" i="0">
                <a:solidFill>
                  <a:srgbClr val="555555"/>
                </a:solidFill>
                <a:latin typeface="Calibri"/>
              </a:rPr>
              <a:t>relative gain overwhelmed by growth.</a:t>
            </a:r>
          </a:p>
          <a:p>
            <a:pPr algn="l">
              <a:spcAft>
                <a:spcPts val="400"/>
              </a:spcAft>
            </a:pPr>
            <a:r>
              <a:rPr sz="1200" b="1" i="0">
                <a:solidFill>
                  <a:srgbClr val="212121"/>
                </a:solidFill>
                <a:latin typeface="Calibri"/>
              </a:rPr>
              <a:t>Contractionary / disruptive </a:t>
            </a:r>
            <a:r>
              <a:rPr sz="1200" b="1" i="0">
                <a:solidFill>
                  <a:srgbClr val="8A8A8A"/>
                </a:solidFill>
                <a:latin typeface="Calibri"/>
              </a:rPr>
              <a:t>(20) — </a:t>
            </a:r>
            <a:r>
              <a:rPr sz="1200" b="0" i="0">
                <a:solidFill>
                  <a:srgbClr val="555555"/>
                </a:solidFill>
                <a:latin typeface="Calibri"/>
              </a:rPr>
              <a:t>the 'improvement' is a crisis in disguise.</a:t>
            </a:r>
          </a:p>
          <a:p>
            <a:pPr algn="l">
              <a:spcAft>
                <a:spcPts val="400"/>
              </a:spcAft>
            </a:pPr>
            <a:r>
              <a:rPr sz="1200" b="1" i="0">
                <a:solidFill>
                  <a:srgbClr val="212121"/>
                </a:solidFill>
                <a:latin typeface="Calibri"/>
              </a:rPr>
              <a:t>Incomplete / nonpersistent </a:t>
            </a:r>
            <a:r>
              <a:rPr sz="1200" b="1" i="0">
                <a:solidFill>
                  <a:srgbClr val="8A8A8A"/>
                </a:solidFill>
                <a:latin typeface="Calibri"/>
              </a:rPr>
              <a:t>(21) — </a:t>
            </a:r>
            <a:r>
              <a:rPr sz="1200" b="0" i="0">
                <a:solidFill>
                  <a:srgbClr val="555555"/>
                </a:solidFill>
                <a:latin typeface="Calibri"/>
              </a:rPr>
              <a:t>the bend reversed or did not hold.</a:t>
            </a:r>
          </a:p>
          <a:p>
            <a:pPr algn="l">
              <a:spcAft>
                <a:spcPts val="400"/>
              </a:spcAft>
            </a:pPr>
            <a:r>
              <a:rPr sz="1200" b="1" i="0">
                <a:solidFill>
                  <a:srgbClr val="212121"/>
                </a:solidFill>
                <a:latin typeface="Calibri"/>
              </a:rPr>
              <a:t>Outcome not classifiable </a:t>
            </a:r>
            <a:r>
              <a:rPr sz="1200" b="1" i="0">
                <a:solidFill>
                  <a:srgbClr val="8A8A8A"/>
                </a:solidFill>
                <a:latin typeface="Calibri"/>
              </a:rPr>
              <a:t>(22) — </a:t>
            </a:r>
            <a:r>
              <a:rPr sz="1200" b="0" i="0">
                <a:solidFill>
                  <a:srgbClr val="555555"/>
                </a:solidFill>
                <a:latin typeface="Calibri"/>
              </a:rPr>
              <a:t>too little post-break evidence.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C77F00"/>
                </a:solidFill>
                <a:latin typeface="Calibri"/>
              </a:rPr>
              <a:t>ACT III · THE FLOW</a:t>
            </a:r>
          </a:p>
          <a:p>
            <a:pPr algn="l">
              <a:spcAft>
                <a:spcPts val="0"/>
              </a:spcAft>
            </a:pPr>
            <a:r>
              <a:rPr sz="2400" b="1" i="0">
                <a:solidFill>
                  <a:srgbClr val="212121"/>
                </a:solidFill>
                <a:latin typeface="Calibri"/>
              </a:rPr>
              <a:t>Follow any mechanism to where its transitions actually end up</a:t>
            </a:r>
          </a:p>
        </p:txBody>
      </p:sp>
      <p:sp>
        <p:nvSpPr>
          <p:cNvPr id="3" name="TextBox 2"/>
          <p:cNvSpPr txBox="1"/>
          <p:nvPr/>
        </p:nvSpPr>
        <p:spPr>
          <a:xfrm>
            <a:off x="502920" y="1188720"/>
            <a:ext cx="11201400" cy="731520"/>
          </a:xfrm>
          <a:prstGeom prst="rect">
            <a:avLst/>
          </a:prstGeom>
          <a:noFill/>
        </p:spPr>
        <p:txBody>
          <a:bodyPr wrap="square">
            <a:spAutoFit/>
          </a:bodyPr>
          <a:lstStyle/>
          <a:p>
            <a:pPr algn="l">
              <a:spcAft>
                <a:spcPts val="0"/>
              </a:spcAft>
            </a:pPr>
            <a:r>
              <a:rPr sz="1300" b="0" i="0">
                <a:solidFill>
                  <a:srgbClr val="555555"/>
                </a:solidFill>
                <a:latin typeface="Calibri"/>
              </a:rPr>
              <a:t>Shocks and disruption flow into contraction. Restructuring most often ends in intensity gains that growth overwhelms. The policy-enabled ribbon is thin — and it is the one that most reliably reaches the constructive verdict on the right.</a:t>
            </a:r>
          </a:p>
        </p:txBody>
      </p:sp>
      <p:sp>
        <p:nvSpPr>
          <p:cNvPr id="4" name="TextBox 3"/>
          <p:cNvSpPr txBox="1"/>
          <p:nvPr/>
        </p:nvSpPr>
        <p:spPr>
          <a:xfrm>
            <a:off x="502920" y="1956816"/>
            <a:ext cx="11201400" cy="457200"/>
          </a:xfrm>
          <a:prstGeom prst="rect">
            <a:avLst/>
          </a:prstGeom>
          <a:noFill/>
        </p:spPr>
        <p:txBody>
          <a:bodyPr wrap="square">
            <a:spAutoFit/>
          </a:bodyPr>
          <a:lstStyle/>
          <a:p>
            <a:pPr algn="l">
              <a:spcAft>
                <a:spcPts val="0"/>
              </a:spcAft>
            </a:pPr>
            <a:r>
              <a:rPr sz="1150" b="1" i="1">
                <a:solidFill>
                  <a:srgbClr val="3A66A5"/>
                </a:solidFill>
                <a:latin typeface="Calibri"/>
              </a:rPr>
              <a:t>How to read it: </a:t>
            </a:r>
            <a:r>
              <a:rPr sz="1150" b="0" i="1">
                <a:solidFill>
                  <a:srgbClr val="8A8A8A"/>
                </a:solidFill>
                <a:latin typeface="Calibri"/>
              </a:rPr>
              <a:t>Each ribbon carries countries from the mechanism behind their break (left) to the verdict on the outcome (right); width is the number of countries.</a:t>
            </a:r>
          </a:p>
        </p:txBody>
      </p:sp>
      <p:pic>
        <p:nvPicPr>
          <p:cNvPr id="5" name="Picture 4" descr="image4.png"/>
          <p:cNvPicPr>
            <a:picLocks noChangeAspect="1"/>
          </p:cNvPicPr>
          <p:nvPr/>
        </p:nvPicPr>
        <p:blipFill>
          <a:blip r:embed="rId2"/>
          <a:stretch>
            <a:fillRect/>
          </a:stretch>
        </p:blipFill>
        <p:spPr>
          <a:xfrm>
            <a:off x="3164092" y="2468880"/>
            <a:ext cx="5860766" cy="4151376"/>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C77F00"/>
                </a:solidFill>
                <a:latin typeface="Calibri"/>
              </a:rPr>
              <a:t>ACT III · THE QUADRANT</a:t>
            </a:r>
          </a:p>
          <a:p>
            <a:pPr algn="l">
              <a:spcAft>
                <a:spcPts val="0"/>
              </a:spcAft>
            </a:pPr>
            <a:r>
              <a:rPr sz="2400" b="1" i="0">
                <a:solidFill>
                  <a:srgbClr val="212121"/>
                </a:solidFill>
                <a:latin typeface="Calibri"/>
              </a:rPr>
              <a:t>Lower intensity is not the same as falling emissions</a:t>
            </a:r>
          </a:p>
        </p:txBody>
      </p:sp>
      <p:sp>
        <p:nvSpPr>
          <p:cNvPr id="3" name="TextBox 2"/>
          <p:cNvSpPr txBox="1"/>
          <p:nvPr/>
        </p:nvSpPr>
        <p:spPr>
          <a:xfrm>
            <a:off x="502920" y="1188720"/>
            <a:ext cx="11201400" cy="731520"/>
          </a:xfrm>
          <a:prstGeom prst="rect">
            <a:avLst/>
          </a:prstGeom>
          <a:noFill/>
        </p:spPr>
        <p:txBody>
          <a:bodyPr wrap="square">
            <a:spAutoFit/>
          </a:bodyPr>
          <a:lstStyle/>
          <a:p>
            <a:pPr algn="l">
              <a:spcAft>
                <a:spcPts val="0"/>
              </a:spcAft>
            </a:pPr>
            <a:r>
              <a:rPr sz="1300" b="0" i="0">
                <a:solidFill>
                  <a:srgbClr val="555555"/>
                </a:solidFill>
                <a:latin typeface="Calibri"/>
              </a:rPr>
              <a:t>Fifty-five countries improved their intensity trend while absolute emissions kept rising; nineteen managed both. The nine policy-enabled cases, marked in green, mostly sit where success lives — but Bhutan and Paraguay improve intensity with emissions still rising, which is exactly why 'policy-enabled' and 'constructive' are overlapping but different sets.</a:t>
            </a:r>
          </a:p>
        </p:txBody>
      </p:sp>
      <p:sp>
        <p:nvSpPr>
          <p:cNvPr id="4" name="TextBox 3"/>
          <p:cNvSpPr txBox="1"/>
          <p:nvPr/>
        </p:nvSpPr>
        <p:spPr>
          <a:xfrm>
            <a:off x="502920" y="1956816"/>
            <a:ext cx="11201400" cy="457200"/>
          </a:xfrm>
          <a:prstGeom prst="rect">
            <a:avLst/>
          </a:prstGeom>
          <a:noFill/>
        </p:spPr>
        <p:txBody>
          <a:bodyPr wrap="square">
            <a:spAutoFit/>
          </a:bodyPr>
          <a:lstStyle/>
          <a:p>
            <a:pPr algn="l">
              <a:spcAft>
                <a:spcPts val="0"/>
              </a:spcAft>
            </a:pPr>
            <a:r>
              <a:rPr sz="1150" b="1" i="1">
                <a:solidFill>
                  <a:srgbClr val="3A66A5"/>
                </a:solidFill>
                <a:latin typeface="Calibri"/>
              </a:rPr>
              <a:t>How to read it: </a:t>
            </a:r>
            <a:r>
              <a:rPr sz="1150" b="0" i="1">
                <a:solidFill>
                  <a:srgbClr val="8A8A8A"/>
                </a:solidFill>
                <a:latin typeface="Calibri"/>
              </a:rPr>
              <a:t>Each dot is a country: further right, a bigger post-break improvement in the intensity trend; below the dashed line, absolute CO2 actually falling. Success lives only in the lower right.</a:t>
            </a:r>
          </a:p>
        </p:txBody>
      </p:sp>
      <p:pic>
        <p:nvPicPr>
          <p:cNvPr id="5" name="Picture 4" descr="takeaway_fig05_bend_vs_success.png"/>
          <p:cNvPicPr>
            <a:picLocks noChangeAspect="1"/>
          </p:cNvPicPr>
          <p:nvPr/>
        </p:nvPicPr>
        <p:blipFill>
          <a:blip r:embed="rId2"/>
          <a:stretch>
            <a:fillRect/>
          </a:stretch>
        </p:blipFill>
        <p:spPr>
          <a:xfrm>
            <a:off x="2980944" y="2468880"/>
            <a:ext cx="6227064" cy="4151376"/>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C77F00"/>
                </a:solidFill>
                <a:latin typeface="Calibri"/>
              </a:rPr>
              <a:t>ACT III · THE NINE</a:t>
            </a:r>
          </a:p>
          <a:p>
            <a:pPr algn="l">
              <a:spcAft>
                <a:spcPts val="0"/>
              </a:spcAft>
            </a:pPr>
            <a:r>
              <a:rPr sz="2400" b="1" i="0">
                <a:solidFill>
                  <a:srgbClr val="212121"/>
                </a:solidFill>
                <a:latin typeface="Calibri"/>
              </a:rPr>
              <a:t>Nine countries pass all four tests</a:t>
            </a:r>
          </a:p>
        </p:txBody>
      </p:sp>
      <p:sp>
        <p:nvSpPr>
          <p:cNvPr id="3" name="TextBox 2"/>
          <p:cNvSpPr txBox="1"/>
          <p:nvPr/>
        </p:nvSpPr>
        <p:spPr>
          <a:xfrm>
            <a:off x="502920" y="1188720"/>
            <a:ext cx="11201400" cy="731520"/>
          </a:xfrm>
          <a:prstGeom prst="rect">
            <a:avLst/>
          </a:prstGeom>
          <a:noFill/>
        </p:spPr>
        <p:txBody>
          <a:bodyPr wrap="square">
            <a:spAutoFit/>
          </a:bodyPr>
          <a:lstStyle/>
          <a:p>
            <a:pPr algn="l">
              <a:spcAft>
                <a:spcPts val="0"/>
              </a:spcAft>
            </a:pPr>
            <a:r>
              <a:rPr sz="1300" b="0" i="0">
                <a:solidFill>
                  <a:srgbClr val="555555"/>
                </a:solidFill>
                <a:latin typeface="Calibri"/>
              </a:rPr>
              <a:t>Sweden 1986 · Finland 1993 · Hungary 1996 · Switzerland 1999 · Nauru 1999 · Denmark 2002 · Portugal 2004 · United Kingdom 2010 · Ireland 2012. Six of nine are policy-enabled; Hungary, Nauru, and Ireland arrived via restructuring — and Nauru's is a phosphate collapse, so it carries an asterisk.</a:t>
            </a:r>
          </a:p>
        </p:txBody>
      </p:sp>
      <p:sp>
        <p:nvSpPr>
          <p:cNvPr id="4" name="TextBox 3"/>
          <p:cNvSpPr txBox="1"/>
          <p:nvPr/>
        </p:nvSpPr>
        <p:spPr>
          <a:xfrm>
            <a:off x="502920" y="1956816"/>
            <a:ext cx="11201400" cy="457200"/>
          </a:xfrm>
          <a:prstGeom prst="rect">
            <a:avLst/>
          </a:prstGeom>
          <a:noFill/>
        </p:spPr>
        <p:txBody>
          <a:bodyPr wrap="square">
            <a:spAutoFit/>
          </a:bodyPr>
          <a:lstStyle/>
          <a:p>
            <a:pPr algn="l">
              <a:spcAft>
                <a:spcPts val="0"/>
              </a:spcAft>
            </a:pPr>
            <a:r>
              <a:rPr sz="1150" b="1" i="1">
                <a:solidFill>
                  <a:srgbClr val="3A66A5"/>
                </a:solidFill>
                <a:latin typeface="Calibri"/>
              </a:rPr>
              <a:t>How to read it: </a:t>
            </a:r>
            <a:r>
              <a:rPr sz="1150" b="0" i="1">
                <a:solidFill>
                  <a:srgbClr val="8A8A8A"/>
                </a:solidFill>
                <a:latin typeface="Calibri"/>
              </a:rPr>
              <a:t>Each panel sets both series to 100 at the country's break year: blue is carbon intensity, red is absolute CO2. The defining test is that both fall together after the break (shaded region).</a:t>
            </a:r>
          </a:p>
        </p:txBody>
      </p:sp>
      <p:pic>
        <p:nvPicPr>
          <p:cNvPr id="5" name="Picture 4" descr="image7.png"/>
          <p:cNvPicPr>
            <a:picLocks noChangeAspect="1"/>
          </p:cNvPicPr>
          <p:nvPr/>
        </p:nvPicPr>
        <p:blipFill>
          <a:blip r:embed="rId2"/>
          <a:stretch>
            <a:fillRect/>
          </a:stretch>
        </p:blipFill>
        <p:spPr>
          <a:xfrm>
            <a:off x="3472554" y="2468880"/>
            <a:ext cx="5243843" cy="4151376"/>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C77F00"/>
                </a:solidFill>
                <a:latin typeface="Calibri"/>
              </a:rPr>
              <a:t>ACT III · THE NEAR MISSES</a:t>
            </a:r>
          </a:p>
          <a:p>
            <a:pPr algn="l">
              <a:spcAft>
                <a:spcPts val="0"/>
              </a:spcAft>
            </a:pPr>
            <a:r>
              <a:rPr sz="2400" b="1" i="0">
                <a:solidFill>
                  <a:srgbClr val="212121"/>
                </a:solidFill>
                <a:latin typeface="Calibri"/>
              </a:rPr>
              <a:t>Nineteen countries cut emissions; ten don't earn the verdict</a:t>
            </a:r>
          </a:p>
        </p:txBody>
      </p:sp>
      <p:sp>
        <p:nvSpPr>
          <p:cNvPr id="3" name="TextBox 2"/>
          <p:cNvSpPr txBox="1"/>
          <p:nvPr/>
        </p:nvSpPr>
        <p:spPr>
          <a:xfrm>
            <a:off x="502920" y="1188720"/>
            <a:ext cx="11201400" cy="731520"/>
          </a:xfrm>
          <a:prstGeom prst="rect">
            <a:avLst/>
          </a:prstGeom>
          <a:noFill/>
        </p:spPr>
        <p:txBody>
          <a:bodyPr wrap="square">
            <a:spAutoFit/>
          </a:bodyPr>
          <a:lstStyle/>
          <a:p>
            <a:pPr algn="l">
              <a:spcAft>
                <a:spcPts val="0"/>
              </a:spcAft>
            </a:pPr>
            <a:r>
              <a:rPr sz="1300" b="0" i="0">
                <a:solidFill>
                  <a:srgbClr val="555555"/>
                </a:solidFill>
                <a:latin typeface="Calibri"/>
              </a:rPr>
              <a:t>Falling emissions alone are not enough — the route matters. Five of the nineteen are durable fuel substitutions: the Netherlands did with gas in 1975 what the US did with shale forty years later. Somalia 1985 is the caution: collapse mimics decarbonization in every raw statistic; only the persistence screen catches it.</a:t>
            </a:r>
          </a:p>
        </p:txBody>
      </p:sp>
      <p:sp>
        <p:nvSpPr>
          <p:cNvPr id="4" name="TextBox 3"/>
          <p:cNvSpPr txBox="1"/>
          <p:nvPr/>
        </p:nvSpPr>
        <p:spPr>
          <a:xfrm>
            <a:off x="502920" y="1956816"/>
            <a:ext cx="11201400" cy="457200"/>
          </a:xfrm>
          <a:prstGeom prst="rect">
            <a:avLst/>
          </a:prstGeom>
          <a:noFill/>
        </p:spPr>
        <p:txBody>
          <a:bodyPr wrap="square">
            <a:spAutoFit/>
          </a:bodyPr>
          <a:lstStyle/>
          <a:p>
            <a:pPr algn="l">
              <a:spcAft>
                <a:spcPts val="0"/>
              </a:spcAft>
            </a:pPr>
            <a:r>
              <a:rPr sz="1150" b="1" i="1">
                <a:solidFill>
                  <a:srgbClr val="3A66A5"/>
                </a:solidFill>
                <a:latin typeface="Calibri"/>
              </a:rPr>
              <a:t>How to read it: </a:t>
            </a:r>
            <a:r>
              <a:rPr sz="1150" b="0" i="1">
                <a:solidFill>
                  <a:srgbClr val="8A8A8A"/>
                </a:solidFill>
                <a:latin typeface="Calibri"/>
              </a:rPr>
              <a:t>Each row is a country where absolute CO2 fell after a favorable bend, with its break-year uncertainty whisker, grouped by verdict; labels name the best-supported mechanism.</a:t>
            </a:r>
          </a:p>
        </p:txBody>
      </p:sp>
      <p:pic>
        <p:nvPicPr>
          <p:cNvPr id="5" name="Picture 4" descr="image8.png"/>
          <p:cNvPicPr>
            <a:picLocks noChangeAspect="1"/>
          </p:cNvPicPr>
          <p:nvPr/>
        </p:nvPicPr>
        <p:blipFill>
          <a:blip r:embed="rId2"/>
          <a:stretch>
            <a:fillRect/>
          </a:stretch>
        </p:blipFill>
        <p:spPr>
          <a:xfrm>
            <a:off x="3164092" y="2468880"/>
            <a:ext cx="5860766" cy="4151376"/>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C77F00"/>
                </a:solidFill>
                <a:latin typeface="Calibri"/>
              </a:rPr>
              <a:t>ACT III · THE GEOGRAPHY</a:t>
            </a:r>
          </a:p>
          <a:p>
            <a:pPr algn="l">
              <a:spcAft>
                <a:spcPts val="0"/>
              </a:spcAft>
            </a:pPr>
            <a:r>
              <a:rPr sz="2400" b="1" i="0">
                <a:solidFill>
                  <a:srgbClr val="212121"/>
                </a:solidFill>
                <a:latin typeface="Calibri"/>
              </a:rPr>
              <a:t>Mechanisms are regional stories; success is concentrated</a:t>
            </a:r>
          </a:p>
        </p:txBody>
      </p:sp>
      <p:sp>
        <p:nvSpPr>
          <p:cNvPr id="3" name="TextBox 2"/>
          <p:cNvSpPr txBox="1"/>
          <p:nvPr/>
        </p:nvSpPr>
        <p:spPr>
          <a:xfrm>
            <a:off x="502920" y="1188720"/>
            <a:ext cx="11201400" cy="658368"/>
          </a:xfrm>
          <a:prstGeom prst="rect">
            <a:avLst/>
          </a:prstGeom>
          <a:noFill/>
        </p:spPr>
        <p:txBody>
          <a:bodyPr wrap="square">
            <a:spAutoFit/>
          </a:bodyPr>
          <a:lstStyle/>
          <a:p>
            <a:pPr algn="l">
              <a:spcAft>
                <a:spcPts val="0"/>
              </a:spcAft>
            </a:pPr>
            <a:r>
              <a:rPr sz="1300" b="0" i="0">
                <a:solidFill>
                  <a:srgbClr val="555555"/>
                </a:solidFill>
                <a:latin typeface="Calibri"/>
              </a:rPr>
              <a:t>Fuel-market transformations cluster in the Americas and the Middle East; restructuring runs across Asia-Pacific; the policy-enabled cases concentrate in northern Europe. On the verdict map, most of the world is contraction, incompleteness, or intensity gains that growth overwhelms — the dark-green constructive nine occupy one corner of one continent.</a:t>
            </a:r>
          </a:p>
        </p:txBody>
      </p:sp>
      <p:pic>
        <p:nvPicPr>
          <p:cNvPr id="4" name="Picture 3" descr="image9.png"/>
          <p:cNvPicPr>
            <a:picLocks noChangeAspect="1"/>
          </p:cNvPicPr>
          <p:nvPr/>
        </p:nvPicPr>
        <p:blipFill>
          <a:blip r:embed="rId2"/>
          <a:stretch>
            <a:fillRect/>
          </a:stretch>
        </p:blipFill>
        <p:spPr>
          <a:xfrm>
            <a:off x="274320" y="2827210"/>
            <a:ext cx="5806440" cy="2758059"/>
          </a:xfrm>
          <a:prstGeom prst="rect">
            <a:avLst/>
          </a:prstGeom>
        </p:spPr>
      </p:pic>
      <p:pic>
        <p:nvPicPr>
          <p:cNvPr id="5" name="Picture 4" descr="image10.png"/>
          <p:cNvPicPr>
            <a:picLocks noChangeAspect="1"/>
          </p:cNvPicPr>
          <p:nvPr/>
        </p:nvPicPr>
        <p:blipFill>
          <a:blip r:embed="rId3"/>
          <a:stretch>
            <a:fillRect/>
          </a:stretch>
        </p:blipFill>
        <p:spPr>
          <a:xfrm>
            <a:off x="6172200" y="2827210"/>
            <a:ext cx="5806440" cy="2758059"/>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777240"/>
            <a:ext cx="10515600" cy="2377440"/>
          </a:xfrm>
          <a:prstGeom prst="rect">
            <a:avLst/>
          </a:prstGeom>
          <a:noFill/>
        </p:spPr>
        <p:txBody>
          <a:bodyPr wrap="square">
            <a:spAutoFit/>
          </a:bodyPr>
          <a:lstStyle/>
          <a:p>
            <a:pPr algn="l">
              <a:spcAft>
                <a:spcPts val="0"/>
              </a:spcAft>
            </a:pPr>
            <a:r>
              <a:rPr sz="4400" b="1" i="0">
                <a:solidFill>
                  <a:srgbClr val="1B7837"/>
                </a:solidFill>
                <a:latin typeface="Calibri"/>
              </a:rPr>
              <a:t>IV</a:t>
            </a:r>
          </a:p>
          <a:p>
            <a:pPr algn="l">
              <a:spcAft>
                <a:spcPts val="600"/>
              </a:spcAft>
            </a:pPr>
            <a:r>
              <a:rPr sz="1200" b="1" i="0">
                <a:solidFill>
                  <a:srgbClr val="8A8A8A"/>
                </a:solidFill>
                <a:latin typeface="Calibri"/>
              </a:rPr>
              <a:t>ACT IV</a:t>
            </a:r>
          </a:p>
          <a:p>
            <a:pPr algn="l">
              <a:spcAft>
                <a:spcPts val="800"/>
              </a:spcAft>
            </a:pPr>
            <a:r>
              <a:rPr sz="2800" b="1" i="0">
                <a:solidFill>
                  <a:srgbClr val="212121"/>
                </a:solidFill>
                <a:latin typeface="Calibri"/>
              </a:rPr>
              <a:t>Can we trust the story?</a:t>
            </a:r>
          </a:p>
          <a:p>
            <a:pPr algn="l">
              <a:spcAft>
                <a:spcPts val="0"/>
              </a:spcAft>
            </a:pPr>
            <a:r>
              <a:rPr sz="1400" b="0" i="0">
                <a:solidFill>
                  <a:srgbClr val="555555"/>
                </a:solidFill>
                <a:latin typeface="Calibri"/>
              </a:rPr>
              <a:t>Three checks that could have broken the argument, and one set of limits stated plainly.</a:t>
            </a:r>
          </a:p>
        </p:txBody>
      </p:sp>
      <p:sp>
        <p:nvSpPr>
          <p:cNvPr id="3" name="TextBox 2"/>
          <p:cNvSpPr txBox="1"/>
          <p:nvPr/>
        </p:nvSpPr>
        <p:spPr>
          <a:xfrm>
            <a:off x="822960" y="4206240"/>
            <a:ext cx="3474720" cy="1828800"/>
          </a:xfrm>
          <a:prstGeom prst="rect">
            <a:avLst/>
          </a:prstGeom>
          <a:noFill/>
        </p:spPr>
        <p:txBody>
          <a:bodyPr wrap="square">
            <a:spAutoFit/>
          </a:bodyPr>
          <a:lstStyle/>
          <a:p>
            <a:pPr algn="l">
              <a:spcAft>
                <a:spcPts val="200"/>
              </a:spcAft>
            </a:pPr>
            <a:r>
              <a:rPr sz="3000" b="1" i="0">
                <a:solidFill>
                  <a:srgbClr val="1B7837"/>
                </a:solidFill>
                <a:latin typeface="Calibri"/>
              </a:rPr>
              <a:t>80% vs 37%</a:t>
            </a:r>
          </a:p>
          <a:p>
            <a:pPr algn="l">
              <a:spcAft>
                <a:spcPts val="0"/>
              </a:spcAft>
            </a:pPr>
            <a:r>
              <a:rPr sz="1250" b="0" i="0">
                <a:solidFill>
                  <a:srgbClr val="555555"/>
                </a:solidFill>
                <a:latin typeface="Calibri"/>
              </a:rPr>
              <a:t>documented events within five years of breaks, observed versus chance</a:t>
            </a:r>
          </a:p>
        </p:txBody>
      </p:sp>
      <p:sp>
        <p:nvSpPr>
          <p:cNvPr id="4" name="TextBox 3"/>
          <p:cNvSpPr txBox="1"/>
          <p:nvPr/>
        </p:nvSpPr>
        <p:spPr>
          <a:xfrm>
            <a:off x="4434840" y="4206240"/>
            <a:ext cx="3474720" cy="1828800"/>
          </a:xfrm>
          <a:prstGeom prst="rect">
            <a:avLst/>
          </a:prstGeom>
          <a:noFill/>
        </p:spPr>
        <p:txBody>
          <a:bodyPr wrap="square">
            <a:spAutoFit/>
          </a:bodyPr>
          <a:lstStyle/>
          <a:p>
            <a:pPr algn="l">
              <a:spcAft>
                <a:spcPts val="200"/>
              </a:spcAft>
            </a:pPr>
            <a:r>
              <a:rPr sz="3000" b="1" i="0">
                <a:solidFill>
                  <a:srgbClr val="1B7837"/>
                </a:solidFill>
                <a:latin typeface="Calibri"/>
              </a:rPr>
              <a:t>64th vs 34th</a:t>
            </a:r>
          </a:p>
          <a:p>
            <a:pPr algn="l">
              <a:spcAft>
                <a:spcPts val="0"/>
              </a:spcAft>
            </a:pPr>
            <a:r>
              <a:rPr sz="1250" b="0" i="0">
                <a:solidFill>
                  <a:srgbClr val="555555"/>
                </a:solidFill>
                <a:latin typeface="Calibri"/>
              </a:rPr>
              <a:t>median external climate-rating percentile, policy-enabled cases versus the rest</a:t>
            </a:r>
          </a:p>
        </p:txBody>
      </p:sp>
      <p:sp>
        <p:nvSpPr>
          <p:cNvPr id="5" name="TextBox 4"/>
          <p:cNvSpPr txBox="1"/>
          <p:nvPr/>
        </p:nvSpPr>
        <p:spPr>
          <a:xfrm>
            <a:off x="8046720" y="4206240"/>
            <a:ext cx="3474720" cy="1828800"/>
          </a:xfrm>
          <a:prstGeom prst="rect">
            <a:avLst/>
          </a:prstGeom>
          <a:noFill/>
        </p:spPr>
        <p:txBody>
          <a:bodyPr wrap="square">
            <a:spAutoFit/>
          </a:bodyPr>
          <a:lstStyle/>
          <a:p>
            <a:pPr algn="l">
              <a:spcAft>
                <a:spcPts val="200"/>
              </a:spcAft>
            </a:pPr>
            <a:r>
              <a:rPr sz="3000" b="1" i="0">
                <a:solidFill>
                  <a:srgbClr val="1B7837"/>
                </a:solidFill>
                <a:latin typeface="Calibri"/>
              </a:rPr>
              <a:t>6 of 17</a:t>
            </a:r>
          </a:p>
          <a:p>
            <a:pPr algn="l">
              <a:spcAft>
                <a:spcPts val="0"/>
              </a:spcAft>
            </a:pPr>
            <a:r>
              <a:rPr sz="1250" b="0" i="0">
                <a:solidFill>
                  <a:srgbClr val="555555"/>
                </a:solidFill>
                <a:latin typeface="Calibri"/>
              </a:rPr>
              <a:t>countries whose break date survives switching to consumption-based accounting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B33A3A"/>
                </a:solidFill>
                <a:latin typeface="Calibri"/>
              </a:rPr>
              <a:t>ACT IV · THE CORROBORATION</a:t>
            </a:r>
          </a:p>
          <a:p>
            <a:pPr algn="l">
              <a:spcAft>
                <a:spcPts val="0"/>
              </a:spcAft>
            </a:pPr>
            <a:r>
              <a:rPr sz="2400" b="1" i="0">
                <a:solidFill>
                  <a:srgbClr val="212121"/>
                </a:solidFill>
                <a:latin typeface="Calibri"/>
              </a:rPr>
              <a:t>Independent raters recognize the same countries</a:t>
            </a:r>
          </a:p>
        </p:txBody>
      </p:sp>
      <p:sp>
        <p:nvSpPr>
          <p:cNvPr id="3" name="TextBox 2"/>
          <p:cNvSpPr txBox="1"/>
          <p:nvPr/>
        </p:nvSpPr>
        <p:spPr>
          <a:xfrm>
            <a:off x="502920" y="1188720"/>
            <a:ext cx="11201400" cy="731520"/>
          </a:xfrm>
          <a:prstGeom prst="rect">
            <a:avLst/>
          </a:prstGeom>
          <a:noFill/>
        </p:spPr>
        <p:txBody>
          <a:bodyPr wrap="square">
            <a:spAutoFit/>
          </a:bodyPr>
          <a:lstStyle/>
          <a:p>
            <a:pPr algn="l">
              <a:spcAft>
                <a:spcPts val="0"/>
              </a:spcAft>
            </a:pPr>
            <a:r>
              <a:rPr sz="1300" b="0" i="0">
                <a:solidFill>
                  <a:srgbClr val="555555"/>
                </a:solidFill>
                <a:latin typeface="Calibri"/>
              </a:rPr>
              <a:t>Climate Action Tracker and the Climate Change Performance Index know nothing of our breakpoints, yet the policy-enabled cases land high on both — median percentiles of 64 versus 34, and 91 versus 44. Coverage is the honest caveat: only three of the nine appear in CAT and two in CCPI, so every covered country is shown rather than summarized away.</a:t>
            </a:r>
          </a:p>
        </p:txBody>
      </p:sp>
      <p:sp>
        <p:nvSpPr>
          <p:cNvPr id="4" name="TextBox 3"/>
          <p:cNvSpPr txBox="1"/>
          <p:nvPr/>
        </p:nvSpPr>
        <p:spPr>
          <a:xfrm>
            <a:off x="502920" y="1956816"/>
            <a:ext cx="11201400" cy="457200"/>
          </a:xfrm>
          <a:prstGeom prst="rect">
            <a:avLst/>
          </a:prstGeom>
          <a:noFill/>
        </p:spPr>
        <p:txBody>
          <a:bodyPr wrap="square">
            <a:spAutoFit/>
          </a:bodyPr>
          <a:lstStyle/>
          <a:p>
            <a:pPr algn="l">
              <a:spcAft>
                <a:spcPts val="0"/>
              </a:spcAft>
            </a:pPr>
            <a:r>
              <a:rPr sz="1150" b="1" i="1">
                <a:solidFill>
                  <a:srgbClr val="3A66A5"/>
                </a:solidFill>
                <a:latin typeface="Calibri"/>
              </a:rPr>
              <a:t>How to read it: </a:t>
            </a:r>
            <a:r>
              <a:rPr sz="1150" b="0" i="1">
                <a:solidFill>
                  <a:srgbClr val="8A8A8A"/>
                </a:solidFill>
                <a:latin typeface="Calibri"/>
              </a:rPr>
              <a:t>Each dot is a covered country placed at its rating percentile; green triangles are the policy-enabled cases; vertical bars mark group medians.</a:t>
            </a:r>
          </a:p>
        </p:txBody>
      </p:sp>
      <p:pic>
        <p:nvPicPr>
          <p:cNvPr id="5" name="Picture 4" descr="takeaway_fig06_external_corroboration.png"/>
          <p:cNvPicPr>
            <a:picLocks noChangeAspect="1"/>
          </p:cNvPicPr>
          <p:nvPr/>
        </p:nvPicPr>
        <p:blipFill>
          <a:blip r:embed="rId2"/>
          <a:stretch>
            <a:fillRect/>
          </a:stretch>
        </p:blipFill>
        <p:spPr>
          <a:xfrm>
            <a:off x="1646573" y="2468880"/>
            <a:ext cx="8895805" cy="4151376"/>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B33A3A"/>
                </a:solidFill>
                <a:latin typeface="Calibri"/>
              </a:rPr>
              <a:t>ACT IV · THE LIMITS</a:t>
            </a:r>
          </a:p>
          <a:p>
            <a:pPr algn="l">
              <a:spcAft>
                <a:spcPts val="0"/>
              </a:spcAft>
            </a:pPr>
            <a:r>
              <a:rPr sz="2400" b="1" i="0">
                <a:solidFill>
                  <a:srgbClr val="212121"/>
                </a:solidFill>
                <a:latin typeface="Calibri"/>
              </a:rPr>
              <a:t>What the design supports, and what it refuses to claim</a:t>
            </a:r>
          </a:p>
        </p:txBody>
      </p:sp>
      <p:sp>
        <p:nvSpPr>
          <p:cNvPr id="3" name="TextBox 2"/>
          <p:cNvSpPr txBox="1"/>
          <p:nvPr/>
        </p:nvSpPr>
        <p:spPr>
          <a:xfrm>
            <a:off x="502920" y="1417320"/>
            <a:ext cx="5394960" cy="2423160"/>
          </a:xfrm>
          <a:prstGeom prst="rect">
            <a:avLst/>
          </a:prstGeom>
          <a:noFill/>
        </p:spPr>
        <p:txBody>
          <a:bodyPr wrap="square">
            <a:spAutoFit/>
          </a:bodyPr>
          <a:lstStyle/>
          <a:p>
            <a:pPr algn="l">
              <a:spcAft>
                <a:spcPts val="400"/>
              </a:spcAft>
            </a:pPr>
            <a:r>
              <a:rPr sz="1450" b="1" i="0">
                <a:solidFill>
                  <a:srgbClr val="212121"/>
                </a:solidFill>
                <a:latin typeface="Calibri"/>
              </a:rPr>
              <a:t>Consumption-based accounting</a:t>
            </a:r>
          </a:p>
          <a:p>
            <a:pPr algn="l">
              <a:spcAft>
                <a:spcPts val="0"/>
              </a:spcAft>
            </a:pPr>
            <a:r>
              <a:rPr sz="1200" b="0" i="0">
                <a:solidFill>
                  <a:srgbClr val="555555"/>
                </a:solidFill>
                <a:latin typeface="Calibri"/>
              </a:rPr>
              <a:t>Assign traded emissions to consumers instead of producers and only 6 of 17 comparable countries keep a break date within five years; the median shift is twelve years. Some 'domestic' transitions partly reflect offshoring. This is a main result, not a footnote.</a:t>
            </a:r>
          </a:p>
        </p:txBody>
      </p:sp>
      <p:sp>
        <p:nvSpPr>
          <p:cNvPr id="4" name="TextBox 3"/>
          <p:cNvSpPr txBox="1"/>
          <p:nvPr/>
        </p:nvSpPr>
        <p:spPr>
          <a:xfrm>
            <a:off x="6400800" y="1417320"/>
            <a:ext cx="5394960" cy="2423160"/>
          </a:xfrm>
          <a:prstGeom prst="rect">
            <a:avLst/>
          </a:prstGeom>
          <a:noFill/>
        </p:spPr>
        <p:txBody>
          <a:bodyPr wrap="square">
            <a:spAutoFit/>
          </a:bodyPr>
          <a:lstStyle/>
          <a:p>
            <a:pPr algn="l">
              <a:spcAft>
                <a:spcPts val="400"/>
              </a:spcAft>
            </a:pPr>
            <a:r>
              <a:rPr sz="1450" b="1" i="0">
                <a:solidFill>
                  <a:srgbClr val="212121"/>
                </a:solidFill>
                <a:latin typeface="Calibri"/>
              </a:rPr>
              <a:t>Carbon pricing &amp; stringency</a:t>
            </a:r>
          </a:p>
          <a:p>
            <a:pPr algn="l">
              <a:spcAft>
                <a:spcPts val="0"/>
              </a:spcAft>
            </a:pPr>
            <a:r>
              <a:rPr sz="1200" b="0" i="0">
                <a:solidFill>
                  <a:srgbClr val="555555"/>
                </a:solidFill>
                <a:latin typeface="Calibri"/>
              </a:rPr>
              <a:t>Carbon pricing is associated with a cleaner fuel mix in panel models with country and year controls; the other components are imprecise, and stringency data cover only 15 of 28 focal countries. Associational, not causal — and said so.</a:t>
            </a:r>
          </a:p>
        </p:txBody>
      </p:sp>
      <p:sp>
        <p:nvSpPr>
          <p:cNvPr id="5" name="TextBox 4"/>
          <p:cNvSpPr txBox="1"/>
          <p:nvPr/>
        </p:nvSpPr>
        <p:spPr>
          <a:xfrm>
            <a:off x="502920" y="3931920"/>
            <a:ext cx="5394960" cy="2423160"/>
          </a:xfrm>
          <a:prstGeom prst="rect">
            <a:avLst/>
          </a:prstGeom>
          <a:noFill/>
        </p:spPr>
        <p:txBody>
          <a:bodyPr wrap="square">
            <a:spAutoFit/>
          </a:bodyPr>
          <a:lstStyle/>
          <a:p>
            <a:pPr algn="l">
              <a:spcAft>
                <a:spcPts val="400"/>
              </a:spcAft>
            </a:pPr>
            <a:r>
              <a:rPr sz="1450" b="1" i="0">
                <a:solidFill>
                  <a:srgbClr val="212121"/>
                </a:solidFill>
                <a:latin typeface="Calibri"/>
              </a:rPr>
              <a:t>Event-timing validation</a:t>
            </a:r>
          </a:p>
          <a:p>
            <a:pPr algn="l">
              <a:spcAft>
                <a:spcPts val="0"/>
              </a:spcAft>
            </a:pPr>
            <a:r>
              <a:rPr sz="1200" b="0" i="0">
                <a:solidFill>
                  <a:srgbClr val="555555"/>
                </a:solidFill>
                <a:latin typeface="Calibri"/>
              </a:rPr>
              <a:t>The historical classifications carry real temporal information: documented events fall within two years of the estimated break in 45% of episodes against ~17% by chance, and inside the documented episode in 70% against 33%.</a:t>
            </a:r>
          </a:p>
        </p:txBody>
      </p:sp>
      <p:sp>
        <p:nvSpPr>
          <p:cNvPr id="6" name="TextBox 5"/>
          <p:cNvSpPr txBox="1"/>
          <p:nvPr/>
        </p:nvSpPr>
        <p:spPr>
          <a:xfrm>
            <a:off x="6400800" y="3931920"/>
            <a:ext cx="5394960" cy="2423160"/>
          </a:xfrm>
          <a:prstGeom prst="rect">
            <a:avLst/>
          </a:prstGeom>
          <a:noFill/>
        </p:spPr>
        <p:txBody>
          <a:bodyPr wrap="square">
            <a:spAutoFit/>
          </a:bodyPr>
          <a:lstStyle/>
          <a:p>
            <a:pPr algn="l">
              <a:spcAft>
                <a:spcPts val="400"/>
              </a:spcAft>
            </a:pPr>
            <a:r>
              <a:rPr sz="1450" b="1" i="0">
                <a:solidFill>
                  <a:srgbClr val="212121"/>
                </a:solidFill>
                <a:latin typeface="Calibri"/>
              </a:rPr>
              <a:t>What breakpoints can't say</a:t>
            </a:r>
          </a:p>
          <a:p>
            <a:pPr algn="l">
              <a:spcAft>
                <a:spcPts val="0"/>
              </a:spcAft>
            </a:pPr>
            <a:r>
              <a:rPr sz="1200" b="0" i="0">
                <a:solidFill>
                  <a:srgbClr val="555555"/>
                </a:solidFill>
                <a:latin typeface="Calibri"/>
              </a:rPr>
              <a:t>Break timing identifies change, not cause. Attribution and outcome classification each leave 22 cases open — restraint that makes the resolved three-quarters credible. And a treaty that prevents backsliding produces no break at all: absence of a break is not absence of an effect.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1B7837"/>
                </a:solidFill>
                <a:latin typeface="Calibri"/>
              </a:rPr>
              <a:t>THE VERDICT</a:t>
            </a:r>
          </a:p>
          <a:p>
            <a:pPr algn="l">
              <a:spcAft>
                <a:spcPts val="0"/>
              </a:spcAft>
            </a:pPr>
            <a:r>
              <a:rPr sz="2400" b="1" i="0">
                <a:solidFill>
                  <a:srgbClr val="212121"/>
                </a:solidFill>
                <a:latin typeface="Calibri"/>
              </a:rPr>
              <a:t>Curves bend everywhere; decarbonization is rare</a:t>
            </a:r>
          </a:p>
        </p:txBody>
      </p:sp>
      <p:sp>
        <p:nvSpPr>
          <p:cNvPr id="3" name="TextBox 2"/>
          <p:cNvSpPr txBox="1"/>
          <p:nvPr/>
        </p:nvSpPr>
        <p:spPr>
          <a:xfrm>
            <a:off x="502920" y="1188720"/>
            <a:ext cx="11201400" cy="731520"/>
          </a:xfrm>
          <a:prstGeom prst="rect">
            <a:avLst/>
          </a:prstGeom>
          <a:noFill/>
        </p:spPr>
        <p:txBody>
          <a:bodyPr wrap="square">
            <a:spAutoFit/>
          </a:bodyPr>
          <a:lstStyle/>
          <a:p>
            <a:pPr algn="l">
              <a:spcAft>
                <a:spcPts val="0"/>
              </a:spcAft>
            </a:pPr>
            <a:r>
              <a:rPr sz="1300" b="0" i="0">
                <a:solidFill>
                  <a:srgbClr val="555555"/>
                </a:solidFill>
                <a:latin typeface="Calibri"/>
              </a:rPr>
              <a:t>All 97 national breaks looked favorable as statistics. Checked for persistence, mechanism, and absolute emissions, they resolve into a spectrum from crisis-in-disguise to genuine transformation — and none of this heterogeneity aligns on a treaty date. The treaty question dissolves into 97 national stories, nine of which end in unambiguous decarbonization.</a:t>
            </a:r>
          </a:p>
        </p:txBody>
      </p:sp>
      <p:sp>
        <p:nvSpPr>
          <p:cNvPr id="4" name="TextBox 3"/>
          <p:cNvSpPr txBox="1"/>
          <p:nvPr/>
        </p:nvSpPr>
        <p:spPr>
          <a:xfrm>
            <a:off x="502920" y="1956816"/>
            <a:ext cx="11201400" cy="457200"/>
          </a:xfrm>
          <a:prstGeom prst="rect">
            <a:avLst/>
          </a:prstGeom>
          <a:noFill/>
        </p:spPr>
        <p:txBody>
          <a:bodyPr wrap="square">
            <a:spAutoFit/>
          </a:bodyPr>
          <a:lstStyle/>
          <a:p>
            <a:pPr algn="l">
              <a:spcAft>
                <a:spcPts val="0"/>
              </a:spcAft>
            </a:pPr>
            <a:r>
              <a:rPr sz="1150" b="1" i="1">
                <a:solidFill>
                  <a:srgbClr val="3A66A5"/>
                </a:solidFill>
                <a:latin typeface="Calibri"/>
              </a:rPr>
              <a:t>How to read it: </a:t>
            </a:r>
            <a:r>
              <a:rPr sz="1150" b="0" i="1">
                <a:solidFill>
                  <a:srgbClr val="8A8A8A"/>
                </a:solidFill>
                <a:latin typeface="Calibri"/>
              </a:rPr>
              <a:t>One block per verdict, sized by countries; only the dark-green block on the right is unambiguous decarbonization.</a:t>
            </a:r>
          </a:p>
        </p:txBody>
      </p:sp>
      <p:pic>
        <p:nvPicPr>
          <p:cNvPr id="5" name="Picture 4" descr="image12.png"/>
          <p:cNvPicPr>
            <a:picLocks noChangeAspect="1"/>
          </p:cNvPicPr>
          <p:nvPr/>
        </p:nvPicPr>
        <p:blipFill>
          <a:blip r:embed="rId2"/>
          <a:stretch>
            <a:fillRect/>
          </a:stretch>
        </p:blipFill>
        <p:spPr>
          <a:xfrm>
            <a:off x="320040" y="2603978"/>
            <a:ext cx="11548872" cy="3881178"/>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1B7837"/>
                </a:solidFill>
                <a:latin typeface="Calibri"/>
              </a:rPr>
              <a:t>THE ASK</a:t>
            </a:r>
          </a:p>
          <a:p>
            <a:pPr algn="l">
              <a:spcAft>
                <a:spcPts val="0"/>
              </a:spcAft>
            </a:pPr>
            <a:r>
              <a:rPr sz="2400" b="1" i="0">
                <a:solidFill>
                  <a:srgbClr val="212121"/>
                </a:solidFill>
                <a:latin typeface="Calibri"/>
              </a:rPr>
              <a:t>Judge Paris where its signal must appear — and check again at twenty</a:t>
            </a:r>
          </a:p>
        </p:txBody>
      </p:sp>
      <p:sp>
        <p:nvSpPr>
          <p:cNvPr id="3" name="TextBox 2"/>
          <p:cNvSpPr txBox="1"/>
          <p:nvPr/>
        </p:nvSpPr>
        <p:spPr>
          <a:xfrm>
            <a:off x="502920" y="1554480"/>
            <a:ext cx="10881360" cy="4389120"/>
          </a:xfrm>
          <a:prstGeom prst="rect">
            <a:avLst/>
          </a:prstGeom>
          <a:noFill/>
        </p:spPr>
        <p:txBody>
          <a:bodyPr wrap="square">
            <a:spAutoFit/>
          </a:bodyPr>
          <a:lstStyle/>
          <a:p>
            <a:pPr algn="l">
              <a:spcAft>
                <a:spcPts val="1200"/>
              </a:spcAft>
            </a:pPr>
            <a:r>
              <a:rPr sz="1550" b="0" i="0">
                <a:solidFill>
                  <a:srgbClr val="555555"/>
                </a:solidFill>
                <a:latin typeface="Calibri"/>
              </a:rPr>
              <a:t>If the argument holds, the right test of the climate regime is not whether emissions charts bend at signing ceremonies. It is whether national intensity slopes accelerate, country by country, in ways that placebo years cannot mimic and documented policy can explain — the test the nine already pass.</a:t>
            </a:r>
          </a:p>
          <a:p>
            <a:pPr algn="l">
              <a:spcAft>
                <a:spcPts val="1200"/>
              </a:spcAft>
            </a:pPr>
            <a:r>
              <a:rPr sz="1550" b="0" i="0">
                <a:solidFill>
                  <a:srgbClr val="555555"/>
                </a:solidFill>
                <a:latin typeface="Calibri"/>
              </a:rPr>
              <a:t>On that test, Paris at ten is neither vindicated nor indicted: the world is finally moving the way an effective agreement would require, for reasons the record cannot yet separate from the technology revolution the agreement helped consolidate. Paris at twenty will be decidable — if the acceleration spreads from the fuel mix to the demand side, and from nine countries to many.</a:t>
            </a:r>
          </a:p>
          <a:p>
            <a:pPr algn="l">
              <a:spcAft>
                <a:spcPts val="0"/>
              </a:spcAft>
            </a:pPr>
            <a:r>
              <a:rPr sz="1550" b="1" i="0">
                <a:solidFill>
                  <a:srgbClr val="212121"/>
                </a:solidFill>
                <a:latin typeface="Calibri"/>
              </a:rPr>
              <a:t>The question we are putting to the field: should treaty assessment be built on intensity breakpoints and placebo discipline, rather than on emissions levels and anniversaries?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371600"/>
            <a:ext cx="10515600" cy="1737360"/>
          </a:xfrm>
          <a:prstGeom prst="rect">
            <a:avLst/>
          </a:prstGeom>
          <a:noFill/>
        </p:spPr>
        <p:txBody>
          <a:bodyPr wrap="square">
            <a:spAutoFit/>
          </a:bodyPr>
          <a:lstStyle/>
          <a:p>
            <a:pPr algn="l">
              <a:spcAft>
                <a:spcPts val="200"/>
              </a:spcAft>
            </a:pPr>
            <a:r>
              <a:rPr sz="2700" b="1" i="0">
                <a:solidFill>
                  <a:srgbClr val="212121"/>
                </a:solidFill>
                <a:latin typeface="Calibri"/>
              </a:rPr>
              <a:t>Global agreements can organize climate action —</a:t>
            </a:r>
          </a:p>
          <a:p>
            <a:pPr algn="l">
              <a:spcAft>
                <a:spcPts val="0"/>
              </a:spcAft>
            </a:pPr>
            <a:r>
              <a:rPr sz="2700" b="1" i="0">
                <a:solidFill>
                  <a:srgbClr val="1B7837"/>
                </a:solidFill>
                <a:latin typeface="Calibri"/>
              </a:rPr>
              <a:t>durable national transformations bend the curve.</a:t>
            </a:r>
          </a:p>
        </p:txBody>
      </p:sp>
      <p:sp>
        <p:nvSpPr>
          <p:cNvPr id="3" name="TextBox 2"/>
          <p:cNvSpPr txBox="1"/>
          <p:nvPr/>
        </p:nvSpPr>
        <p:spPr>
          <a:xfrm>
            <a:off x="822960" y="3200400"/>
            <a:ext cx="10515600" cy="2651760"/>
          </a:xfrm>
          <a:prstGeom prst="rect">
            <a:avLst/>
          </a:prstGeom>
          <a:noFill/>
        </p:spPr>
        <p:txBody>
          <a:bodyPr wrap="square">
            <a:spAutoFit/>
          </a:bodyPr>
          <a:lstStyle/>
          <a:p/>
          <a:p>
            <a:pPr algn="l">
              <a:spcAft>
                <a:spcPts val="900"/>
              </a:spcAft>
            </a:pPr>
            <a:r>
              <a:rPr sz="1450" b="1" i="0">
                <a:solidFill>
                  <a:srgbClr val="1B7837"/>
                </a:solidFill>
                <a:latin typeface="Calibri"/>
              </a:rPr>
              <a:t>—  </a:t>
            </a:r>
            <a:r>
              <a:rPr sz="1450" b="0" i="0">
                <a:solidFill>
                  <a:srgbClr val="555555"/>
                </a:solidFill>
                <a:latin typeface="Calibri"/>
              </a:rPr>
              <a:t>Global curves bent in the 1970s; since ~2013 they bend faster — a real supply-side acceleration whose timing cannot yet separate Paris from the renewables revolution it helped consolidate.</a:t>
            </a:r>
          </a:p>
          <a:p>
            <a:pPr algn="l">
              <a:spcAft>
                <a:spcPts val="900"/>
              </a:spcAft>
            </a:pPr>
            <a:r>
              <a:rPr sz="1450" b="1" i="0">
                <a:solidFill>
                  <a:srgbClr val="1B7837"/>
                </a:solidFill>
                <a:latin typeface="Calibri"/>
              </a:rPr>
              <a:t>—  </a:t>
            </a:r>
            <a:r>
              <a:rPr sz="1450" b="0" i="0">
                <a:solidFill>
                  <a:srgbClr val="555555"/>
                </a:solidFill>
                <a:latin typeface="Calibri"/>
              </a:rPr>
              <a:t>Favorable bends often reflect recession, disruption, deindustrialization, or offshoring; intensity gains are routinely overwhelmed by growth.</a:t>
            </a:r>
          </a:p>
          <a:p>
            <a:pPr algn="l">
              <a:spcAft>
                <a:spcPts val="900"/>
              </a:spcAft>
            </a:pPr>
            <a:r>
              <a:rPr sz="1450" b="1" i="0">
                <a:solidFill>
                  <a:srgbClr val="1B7837"/>
                </a:solidFill>
                <a:latin typeface="Calibri"/>
              </a:rPr>
              <a:t>—  </a:t>
            </a:r>
            <a:r>
              <a:rPr sz="1450" b="0" i="0">
                <a:solidFill>
                  <a:srgbClr val="555555"/>
                </a:solidFill>
                <a:latin typeface="Calibri"/>
              </a:rPr>
              <a:t>Nine countries pair persistent intensity declines with falling absolute CO2 — policy made physical in fuel mix, infrastructure, and economic structure.</a:t>
            </a:r>
          </a:p>
        </p:txBody>
      </p:sp>
      <p:sp>
        <p:nvSpPr>
          <p:cNvPr id="4" name="TextBox 3"/>
          <p:cNvSpPr txBox="1"/>
          <p:nvPr/>
        </p:nvSpPr>
        <p:spPr>
          <a:xfrm>
            <a:off x="822960" y="5989320"/>
            <a:ext cx="10515600" cy="640080"/>
          </a:xfrm>
          <a:prstGeom prst="rect">
            <a:avLst/>
          </a:prstGeom>
          <a:noFill/>
        </p:spPr>
        <p:txBody>
          <a:bodyPr wrap="square">
            <a:spAutoFit/>
          </a:bodyPr>
          <a:lstStyle/>
          <a:p>
            <a:pPr algn="ctr">
              <a:spcAft>
                <a:spcPts val="600"/>
              </a:spcAft>
            </a:pPr>
            <a:r>
              <a:rPr sz="1300" b="0" i="1">
                <a:solidFill>
                  <a:srgbClr val="8A8A8A"/>
                </a:solidFill>
                <a:latin typeface="Calibri"/>
              </a:rPr>
              <a:t>Structural breaks say when · Kaya says through which pathway · historical validation says what plausibly happened · transition quality says whether it mattered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