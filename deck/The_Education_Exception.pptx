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The Education Exception</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four acts, on why development predicts where wellbeing is high but not when it rises — and on the one construct that behaves differently</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151 countries · HDI &amp; SHDI × World Happiness Report: 150 countries, 2011–2023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Sixty-four of 151 countries show a significant SDG–happiness association in levels. Three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reports the one thing in the data that does not behave the way everything else does.</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collapse is not about the SDGs.</a:t>
            </a:r>
          </a:p>
          <a:p>
            <a:pPr>
              <a:lnSpc>
                <a:spcPct val="125000"/>
              </a:lnSpc>
              <a:spcBef>
                <a:spcPts val="0"/>
              </a:spcBef>
              <a:spcAft>
                <a:spcPts val="0"/>
              </a:spcAft>
            </a:pPr>
            <a:r>
              <a:rPr sz="1100" b="0" i="0">
                <a:solidFill>
                  <a:srgbClr val="5A6068"/>
                </a:solidFill>
                <a:latin typeface="Calibri"/>
              </a:rPr>
              <a:t>Same design, three development frameworks, two spatial scales, two wellbeing instruments. It replicates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Something is different about education.</a:t>
            </a:r>
          </a:p>
          <a:p>
            <a:pPr>
              <a:lnSpc>
                <a:spcPct val="125000"/>
              </a:lnSpc>
              <a:spcBef>
                <a:spcPts val="0"/>
              </a:spcBef>
              <a:spcAft>
                <a:spcPts val="0"/>
              </a:spcAft>
            </a:pPr>
            <a:r>
              <a:rPr sz="1100" b="0" i="0">
                <a:solidFill>
                  <a:srgbClr val="5A6068"/>
                </a:solidFill>
                <a:latin typeface="Calibri"/>
              </a:rPr>
              <a:t>But only when education is measured as attainment and access — not as parity, and not as measured learning.</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lever changes when the scale changes.</a:t>
            </a:r>
          </a:p>
          <a:p>
            <a:pPr>
              <a:lnSpc>
                <a:spcPct val="125000"/>
              </a:lnSpc>
              <a:spcBef>
                <a:spcPts val="0"/>
              </a:spcBef>
              <a:spcAft>
                <a:spcPts val="0"/>
              </a:spcAft>
            </a:pPr>
            <a:r>
              <a:rPr sz="1100" b="0" i="0">
                <a:solidFill>
                  <a:srgbClr val="5A6068"/>
                </a:solidFill>
                <a:latin typeface="Calibri"/>
              </a:rPr>
              <a:t>Between countries, development leads. Inside them, health and trust do the work and development flattens.</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 we put a question to the field.</a:t>
            </a:r>
          </a:p>
          <a:p>
            <a:pPr>
              <a:lnSpc>
                <a:spcPct val="125000"/>
              </a:lnSpc>
              <a:spcBef>
                <a:spcPts val="0"/>
              </a:spcBef>
              <a:spcAft>
                <a:spcPts val="0"/>
              </a:spcAft>
            </a:pPr>
            <a:r>
              <a:rPr sz="1100" b="0" i="0">
                <a:solidFill>
                  <a:srgbClr val="5A6068"/>
                </a:solidFill>
                <a:latin typeface="Calibri"/>
              </a:rPr>
              <a:t>The global education architecture is built around learning outcomes. The wellbeing evidence points at attainment.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The collapse is a property, not an artifact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three unrelated development frameworks, at two spatial scales, against two independent wellbeing instruments. The levels-to-differences collapse appears in all of them.</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67 → 6</a:t>
            </a:r>
          </a:p>
          <a:p>
            <a:pPr>
              <a:lnSpc>
                <a:spcPct val="120000"/>
              </a:lnSpc>
              <a:spcBef>
                <a:spcPts val="0"/>
              </a:spcBef>
              <a:spcAft>
                <a:spcPts val="0"/>
              </a:spcAft>
            </a:pPr>
            <a:r>
              <a:rPr sz="1000" b="0" i="0">
                <a:solidFill>
                  <a:srgbClr val="8A94A0"/>
                </a:solidFill>
                <a:latin typeface="Calibri"/>
              </a:rPr>
              <a:t>of 150 countries significant, HDI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66 → 6</a:t>
            </a:r>
          </a:p>
          <a:p>
            <a:pPr>
              <a:lnSpc>
                <a:spcPct val="120000"/>
              </a:lnSpc>
              <a:spcBef>
                <a:spcPts val="0"/>
              </a:spcBef>
              <a:spcAft>
                <a:spcPts val="0"/>
              </a:spcAft>
            </a:pPr>
            <a:r>
              <a:rPr sz="1000" b="0" i="0">
                <a:solidFill>
                  <a:srgbClr val="8A94A0"/>
                </a:solidFill>
                <a:latin typeface="Calibri"/>
              </a:rPr>
              <a:t>of 148, subnational HDI</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 2</a:t>
            </a:r>
          </a:p>
          <a:p>
            <a:pPr>
              <a:lnSpc>
                <a:spcPct val="120000"/>
              </a:lnSpc>
              <a:spcBef>
                <a:spcPts val="0"/>
              </a:spcBef>
              <a:spcAft>
                <a:spcPts val="0"/>
              </a:spcAft>
            </a:pPr>
            <a:r>
              <a:rPr sz="1000" b="0" i="0">
                <a:solidFill>
                  <a:srgbClr val="8A94A0"/>
                </a:solidFill>
                <a:latin typeface="Calibri"/>
              </a:rPr>
              <a:t>spatial scales × wellbeing instruments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67 of 150 countries FDR-significant in levels and 6 of 150 in first differences.</a:t>
            </a:r>
          </a:p>
          <a:p>
            <a:pPr>
              <a:lnSpc>
                <a:spcPct val="132000"/>
              </a:lnSpc>
              <a:spcBef>
                <a:spcPts val="0"/>
              </a:spcBef>
              <a:spcAft>
                <a:spcPts val="1100"/>
              </a:spcAft>
            </a:pPr>
            <a:r>
              <a:rPr sz="1150" b="0" i="0">
                <a:solidFill>
                  <a:srgbClr val="5A6068"/>
                </a:solidFill>
                <a:latin typeface="Calibri"/>
              </a:rPr>
              <a:t>The original SDG result was 64 of 151 and 3 of 151.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572501" y="658368"/>
            <a:ext cx="5634238"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for the HDI and for the Global Data Lab's subnational HDI aggregated to the national level.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A SECOND PRODUCER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different institution's index, built differently, gives the same numbers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 constructs its subnational HDI from household surveys rather than from the national accounts and administrative series the UNDP uses. Aggregated back to the national level it gives 66 of 148 in levels and 6 of 148 in differences — within sampling noise of both the HDI and the SDG results.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is the odd one out — under one specific measurement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Ranked indicator by indicator, what predicts happiness in levels is survival and basic infrastructure. Education looks like the SDG framework's weakest domain and the HDI's strongest. Both readings are correct, because the two frameworks are not measuring the same thing.</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&amp; participation, un-pooled from 3.3%</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40.9%</a:t>
            </a:r>
          </a:p>
          <a:p>
            <a:pPr>
              <a:lnSpc>
                <a:spcPct val="120000"/>
              </a:lnSpc>
              <a:spcBef>
                <a:spcPts val="0"/>
              </a:spcBef>
              <a:spcAft>
                <a:spcPts val="0"/>
              </a:spcAft>
            </a:pPr>
            <a:r>
              <a:rPr sz="1000" b="0" i="0">
                <a:solidFill>
                  <a:srgbClr val="8A94A0"/>
                </a:solidFill>
                <a:latin typeface="Calibri"/>
              </a:rPr>
              <a:t>of countries, HDI mean years of schooling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32 / 36</a:t>
            </a:r>
          </a:p>
          <a:p>
            <a:pPr>
              <a:lnSpc>
                <a:spcPct val="120000"/>
              </a:lnSpc>
              <a:spcBef>
                <a:spcPts val="0"/>
              </a:spcBef>
              <a:spcAft>
                <a:spcPts val="0"/>
              </a:spcAft>
            </a:pPr>
            <a:r>
              <a:rPr sz="1000" b="0" i="0">
                <a:solidFill>
                  <a:srgbClr val="8A94A0"/>
                </a:solidFill>
                <a:latin typeface="Calibri"/>
              </a:rPr>
              <a:t>countries, ESS respondents' own attainment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the raw development gradient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all 609 SDG series by the share of countries in which they are FDR-significant puts child mortality, stunting, water and sanitation, and access to financial services at the top. These are survival and basic infrastructure — the steep part of the development curve, not the 2030 Agenda's institutional superstructure.</a:t>
            </a:r>
          </a:p>
          <a:p>
            <a:pPr>
              <a:lnSpc>
                <a:spcPct val="132000"/>
              </a:lnSpc>
              <a:spcBef>
                <a:spcPts val="0"/>
              </a:spcBef>
              <a:spcAft>
                <a:spcPts val="1100"/>
              </a:spcAft>
            </a:pPr>
            <a:r>
              <a:rPr sz="1150" b="0" i="0">
                <a:solidFill>
                  <a:srgbClr val="5A6068"/>
                </a:solidFill>
                <a:latin typeface="Calibri"/>
              </a:rPr>
              <a:t>The best-performing education indicator ranks about hundredth. In first differences, only 9 of 609 series have even one significant country, which is why there is no differences ranking to report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CONTRADICTION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Yet inside the HDI, education is the strongest domain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Mean years of schooling is FDR-significant against World Happiness Report happiness in 40.9% of countries and expected years of schooling in 33.6%, against 40.0% for GNI per capita and 19.3% for life expectancy. Education supplies two of the HDI's three strongest components; pooled SDG4 sits at 3.3%. This is the sharpest disagreement between the two frameworks anywhere in the project.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vs_sdg_frameworks.png"/>
          <p:cNvPicPr>
            <a:picLocks noChangeAspect="1"/>
          </p:cNvPicPr>
          <p:nvPr/>
        </p:nvPicPr>
        <p:blipFill>
          <a:blip r:embed="rId2"/>
          <a:stretch>
            <a:fillRect/>
          </a:stretch>
        </p:blipFill>
        <p:spPr>
          <a:xfrm>
            <a:off x="5120640" y="1604774"/>
            <a:ext cx="6537960" cy="318210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both frameworks. Absolute levels are not directly comparable across frameworks; the within-framework rankings are the safer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RESOLUTION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SDG4's 3.3% describes no construct that exists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SDG4's 35 official series do not measure one thing. Eighteen of them are equity or parity ratios — gender, location, or wealth parity indices — which is a different quantity from the level of access. Six measure learning outcomes, seven measure infrastructure and inputs, and only two measure access and participation directly.</a:t>
            </a:r>
          </a:p>
          <a:p>
            <a:pPr>
              <a:lnSpc>
                <a:spcPct val="132000"/>
              </a:lnSpc>
              <a:spcBef>
                <a:spcPts val="0"/>
              </a:spcBef>
              <a:spcAft>
                <a:spcPts val="1100"/>
              </a:spcAft>
            </a:pPr>
            <a:r>
              <a:rPr sz="1150" b="0" i="0">
                <a:solidFill>
                  <a:srgbClr val="5A6068"/>
                </a:solidFill>
                <a:latin typeface="Calibri"/>
              </a:rPr>
              <a:t>Split by construct, access and participation reaches 12.7%, comparable to SDG3 health at 11.5%, while learning outcomes sit at 0.9% and parity ratios at 2.5%. The pooled 3.3% is an average across constructs that point in different directions, and it describes none of them. That is a methodological finding in its own right: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THE WAY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signal survives to the individual respondent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ESS respondents' own educational attainment predicts their own life satisfaction in 32 to 34 of 36 countries, depending on whether attainment is measured as the harmonised ISCED category or as years completed. The effects are small — median R² around 0.01 — but nothing else in this project is that consistent across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3595"/>
            <a:ext cx="6537960" cy="396446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TRIANGULATION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Two surveys, two outcomes, one answer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Aggregating ESS respondents' reported years of schooling to the country level and regressing World Happiness Report happiness on it gives R² = 0.308, against 0.326 for the HDI's own mean-years-of-schooling series. Changing both the education source and the wellbeing outcome leaves the relationship essentially where it was.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triangulation.png"/>
          <p:cNvPicPr>
            <a:picLocks noChangeAspect="1"/>
          </p:cNvPicPr>
          <p:nvPr/>
        </p:nvPicPr>
        <p:blipFill>
          <a:blip r:embed="rId2"/>
          <a:stretch>
            <a:fillRect/>
          </a:stretch>
        </p:blipFill>
        <p:spPr>
          <a:xfrm>
            <a:off x="5120640" y="1993514"/>
            <a:ext cx="6537960" cy="240462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Country-aggregated ESS schooling against WHR happiness, beside the HDI's own schooling component.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three results that carry the argument have to share a figure: the replicated collapse, SDG4 un-pooled, and education's signal as the unit of measurement moves from pooled indicators down to individual respondents.</a:t>
            </a:r>
          </a:p>
          <a:p>
            <a:pPr>
              <a:lnSpc>
                <a:spcPct val="132000"/>
              </a:lnSpc>
              <a:spcBef>
                <a:spcPts val="0"/>
              </a:spcBef>
              <a:spcAft>
                <a:spcPts val="1100"/>
              </a:spcAft>
            </a:pPr>
            <a:r>
              <a:rPr sz="1150" b="0" i="0">
                <a:solidFill>
                  <a:srgbClr val="5A6068"/>
                </a:solidFill>
                <a:latin typeface="Calibri"/>
              </a:rPr>
              <a:t>One caution to keep in the caption: panel c's rows do not share a denominator. It shows that the construct holds at every level of aggregation, not that the effect grows.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panel c's denominators differ by row and are labelled at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precise claim, and the one the commentary must not overstate: education is not an exception to the differences collapse. Almost nothing is. Education is the exception in consistency — the one construct whose level signal holds across frameworks, producers, wellbeing instruments, and units of observation all the way down to the individual, and it holds only when education is measured as attainment and access.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Scale changes which lever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Everything above compares countries. Inside countries the ordering of predictors is different — which matters, because most education and health policy is made at the subnational scale.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+0.89 → +0.15</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 16</a:t>
            </a:r>
          </a:p>
          <a:p>
            <a:pPr>
              <a:lnSpc>
                <a:spcPct val="120000"/>
              </a:lnSpc>
              <a:spcBef>
                <a:spcPts val="0"/>
              </a:spcBef>
              <a:spcAft>
                <a:spcPts val="0"/>
              </a:spcAft>
            </a:pPr>
            <a:r>
              <a:rPr sz="1000" b="0" i="0">
                <a:solidFill>
                  <a:srgbClr val="8A94A0"/>
                </a:solidFill>
                <a:latin typeface="Calibri"/>
              </a:rPr>
              <a:t>countries with a significant regional gradient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DISPERSION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Below the top tier, countries contain multitudes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Germany's regions span 0.05 of subnational HDI. China's span 0.30 and India's 0.19 — several development tiers' worth of variation inside single countries. National averages hide most of the development story precisely where development varies most.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shdi_within_country_spread.png"/>
          <p:cNvPicPr>
            <a:picLocks noChangeAspect="1"/>
          </p:cNvPicPr>
          <p:nvPr/>
        </p:nvPicPr>
        <p:blipFill>
          <a:blip r:embed="rId2"/>
          <a:stretch>
            <a:fillRect/>
          </a:stretch>
        </p:blipFill>
        <p:spPr>
          <a:xfrm>
            <a:off x="5120640" y="1068587"/>
            <a:ext cx="6537960" cy="425448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Every region a dot, two countries per UNDP development tier,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NON-RESULT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Holding country fixed and regressing region-mean life satisfaction on regional subnational HDI gives a significantly positive gradient in only 3 of 16 ESS countries — France, Belgium, and Germany — and the gradient is not steeper in countries with larger internal inequality.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+0.15, significant in 3 of 16 countries, while self-rated health holds at +0.51 (8 of 16) and social trust at +0.49 (6 of 16). The World Happiness Report cannot see this at all — it has no subnational values. It is the specific thing the ESS adds.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LIMITATION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This part of the argument is Europe-only, and has to say so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ESS is the only regional wellbeing source with the coverage this design needs; Gallup's subnational files are paywalled. Act III therefore generalises across 16 European countries and not beyond them. It should be stated as a scope condition in the text rather than buried in a limitations paragraph, because the flip is the most policy-relevant result in the commentary and will be the most contested.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different policy readings follow depending on scale, and the commentary should say both. Between countries, raising human development is where wellbeing differences live. Inside a country, equalising regional development is not obviously a wellbeing lever, while health and social connection are.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The question we are putting to the field</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wellbeing return to education runs through attainment and access rather than through measured learning, then either the post-2030 education architecture is optimising for the wrong outcome, or wellbeing is the wrong outcome to hold it to. The field should have to say which.</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access &amp; participation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2.5%</a:t>
            </a:r>
          </a:p>
          <a:p>
            <a:pPr>
              <a:lnSpc>
                <a:spcPct val="120000"/>
              </a:lnSpc>
              <a:spcBef>
                <a:spcPts val="0"/>
              </a:spcBef>
              <a:spcAft>
                <a:spcPts val="0"/>
              </a:spcAft>
            </a:pPr>
            <a:r>
              <a:rPr sz="1000" b="0" i="0">
                <a:solidFill>
                  <a:srgbClr val="8A94A0"/>
                </a:solidFill>
                <a:latin typeface="Calibri"/>
              </a:rPr>
              <a:t>equity / parity ratios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0.9%</a:t>
            </a:r>
          </a:p>
          <a:p>
            <a:pPr>
              <a:lnSpc>
                <a:spcPct val="120000"/>
              </a:lnSpc>
              <a:spcBef>
                <a:spcPts val="0"/>
              </a:spcBef>
              <a:spcAft>
                <a:spcPts val="0"/>
              </a:spcAft>
            </a:pPr>
            <a:r>
              <a:rPr sz="1000" b="0" i="0">
                <a:solidFill>
                  <a:srgbClr val="8A94A0"/>
                </a:solidFill>
                <a:latin typeface="Calibri"/>
              </a:rPr>
              <a:t>measured learning outcomes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wellbeing signal — 12.7% for SDG4 access, 33.6% and 40.9% for the HDI's schooling components, 32 of 36 countries at the individual level — while measured learning outcomes sit at 0.9% and parity ratios at 2.5%.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education targets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we have built a global education monitoring architecture around measured learning outcomes, and the wellbeing evidence points at years attained. If both are to be kept, someone has to say what the education system is being optimised for.</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four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ACT III</a:t>
            </a:r>
          </a:p>
          <a:p>
            <a:pPr>
              <a:lnSpc>
                <a:spcPct val="130000"/>
              </a:lnSpc>
              <a:spcBef>
                <a:spcPts val="0"/>
              </a:spcBef>
              <a:spcAft>
                <a:spcPts val="0"/>
              </a:spcAft>
            </a:pPr>
            <a:r>
              <a:rPr sz="1100" b="0" i="0">
                <a:solidFill>
                  <a:srgbClr val="5A6068"/>
                </a:solidFill>
                <a:latin typeface="Calibri"/>
              </a:rPr>
              <a:t>Does the within-country material belong in this commentary or in a third paper? It is the most policy-relevant and the most contested,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DATA INVESTMENT</a:t>
            </a:r>
          </a:p>
          <a:p>
            <a:pPr>
              <a:lnSpc>
                <a:spcPct val="130000"/>
              </a:lnSpc>
              <a:spcBef>
                <a:spcPts val="0"/>
              </a:spcBef>
              <a:spcAft>
                <a:spcPts val="0"/>
              </a:spcAft>
            </a:pPr>
            <a:r>
              <a:rPr sz="1100" b="0" i="0">
                <a:solidFill>
                  <a:srgbClr val="5A6068"/>
                </a:solidFill>
                <a:latin typeface="Calibri"/>
              </a:rPr>
              <a:t>The Global Data Lab's separate Education &amp; Work dataset carries 43 subnational schooling indicators by cohort and sex. Pulling it would let us test the education finding subnationally. Before submission or after review?</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four acts rest on but do not carry. In submission these become supplementary material.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11th of 16.</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validated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National aggregates agree closely, which is what licenses the region-level analysis.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2100069" y="1965960"/>
            <a:ext cx="7991556"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is the odd one out, negative on all three.</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