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The Education Exception</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the one construct that behaves differently</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&amp; SHDI × World Happiness Report: 148–151 countries, 2011–2023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reports the one thing in the data that does not behave the way everything else does.</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on the subnational HDI, and against a second wellbeing survey.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 what is it about education?</a:t>
            </a:r>
          </a:p>
          <a:p>
            <a:pPr>
              <a:lnSpc>
                <a:spcPct val="125000"/>
              </a:lnSpc>
              <a:spcBef>
                <a:spcPts val="0"/>
              </a:spcBef>
              <a:spcAft>
                <a:spcPts val="0"/>
              </a:spcAft>
            </a:pPr>
            <a:r>
              <a:rPr sz="1100" b="0" i="0">
                <a:solidFill>
                  <a:srgbClr val="5A6068"/>
                </a:solidFill>
                <a:latin typeface="Calibri"/>
              </a:rPr>
              <a:t>It is the one construct that holds at every level of aggregation — but only measured as attainment and access, not parity or measured learning.</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three unrelated development frameworks, at two spatial scales, against two independent wellbeing instruments. The levels-to-differences collapse appears in all of them.</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45% → 4%</a:t>
            </a:r>
          </a:p>
          <a:p>
            <a:pPr>
              <a:lnSpc>
                <a:spcPct val="120000"/>
              </a:lnSpc>
              <a:spcBef>
                <a:spcPts val="0"/>
              </a:spcBef>
              <a:spcAft>
                <a:spcPts val="0"/>
              </a:spcAft>
            </a:pPr>
            <a:r>
              <a:rPr sz="1000" b="0" i="0">
                <a:solidFill>
                  <a:srgbClr val="8A94A0"/>
                </a:solidFill>
                <a:latin typeface="Calibri"/>
              </a:rPr>
              <a:t>and under the subnational HDI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for the HDI and for the Global Data Lab's subnational HDI aggregated to the national level. One test per country per index.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which is the strongest form the Act II argument can take.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A SECOND PRODUCER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different institution's index, built differently, gives the same numbers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 constructs its subnational HDI from household surveys rather than from the national accounts and administrative series the UNDP uses. Aggregated back to the national level it gives 66 of 148 in levels and 6 of 148 in differences — 45% down to 4%, statistically indistinguishable from the HDI's 42% down to 2%.</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So what is it about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Ranked indicator by indicator, what predicts happiness in levels is survival and basic infrastructure. Education looks like the SDG framework's weakest domain and the HDI's strongest. Both readings are correct, because the two frameworks are not measuring the same thing.</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&amp; participation, un-pooled from 3.3%</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40.9%</a:t>
            </a:r>
          </a:p>
          <a:p>
            <a:pPr>
              <a:lnSpc>
                <a:spcPct val="120000"/>
              </a:lnSpc>
              <a:spcBef>
                <a:spcPts val="0"/>
              </a:spcBef>
              <a:spcAft>
                <a:spcPts val="0"/>
              </a:spcAft>
            </a:pPr>
            <a:r>
              <a:rPr sz="1000" b="0" i="0">
                <a:solidFill>
                  <a:srgbClr val="8A94A0"/>
                </a:solidFill>
                <a:latin typeface="Calibri"/>
              </a:rPr>
              <a:t>of countries, HDI mean years of schooling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32 / 36</a:t>
            </a:r>
          </a:p>
          <a:p>
            <a:pPr>
              <a:lnSpc>
                <a:spcPct val="120000"/>
              </a:lnSpc>
              <a:spcBef>
                <a:spcPts val="0"/>
              </a:spcBef>
              <a:spcAft>
                <a:spcPts val="0"/>
              </a:spcAft>
            </a:pPr>
            <a:r>
              <a:rPr sz="1000" b="0" i="0">
                <a:solidFill>
                  <a:srgbClr val="8A94A0"/>
                </a:solidFill>
                <a:latin typeface="Calibri"/>
              </a:rPr>
              <a:t>countries, ESS respondents' own attainment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the raw development gradient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632 SDG series with usable coverage by the share of countries in which they are FDR-significant puts child mortality, stunting, water and sanitation, and access to financial services at the top. These are survival and basic infrastructure — the steep part of the development curve, not the 2030 Agenda's institutional superstructure.</a:t>
            </a:r>
          </a:p>
          <a:p>
            <a:pPr>
              <a:lnSpc>
                <a:spcPct val="132000"/>
              </a:lnSpc>
              <a:spcBef>
                <a:spcPts val="0"/>
              </a:spcBef>
              <a:spcAft>
                <a:spcPts val="1100"/>
              </a:spcAft>
            </a:pPr>
            <a:r>
              <a:rPr sz="1150" b="0" i="0">
                <a:solidFill>
                  <a:srgbClr val="5A6068"/>
                </a:solidFill>
                <a:latin typeface="Calibri"/>
              </a:rPr>
              <a:t>The best-performing education indicator ranks about 101st of 632 — and it is participation in organized learning before primary entry, an access measure, which is the same construct Act II turns on. In first differences, only 9 of the 661 series have even one significant country, which is why there is no differences ranking to report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632, by share of countries FDR-significant in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CONTRADICTION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Yet inside the HDI, education is the strongest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Mean years of schooling is FDR-significant against World Happiness Report happiness in 61 of 150 countries (40.7%) and expected years of schooling in 51 of 150 (34.0%), against 61 of 151 (40.4%) for GNI per capita and 30 of 151 (19.9%) for life expectancy. Education supplies two of the HDI's three strongest components; pooled SDG4 sits at 3.3%. This is the sharpest disagreement between the two frameworks anywhere in the project.</a:t>
            </a:r>
          </a:p>
          <a:p>
            <a:pPr>
              <a:lnSpc>
                <a:spcPct val="132000"/>
              </a:lnSpc>
              <a:spcBef>
                <a:spcPts val="0"/>
              </a:spcBef>
              <a:spcAft>
                <a:spcPts val="1100"/>
              </a:spcAft>
            </a:pPr>
            <a:r>
              <a:rPr sz="1150" b="0" i="0">
                <a:solidFill>
                  <a:srgbClr val="5A6068"/>
                </a:solidFill>
                <a:latin typeface="Calibri"/>
              </a:rPr>
              <a:t>The education pair also leads in first differences, where expected years of schooling is significant in 7 of 150 countries against the composite's 3 (Act I). Education is ahead under both specifications, not only in the cross-section.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vs_sdg_frameworks.png"/>
          <p:cNvPicPr>
            <a:picLocks noChangeAspect="1"/>
          </p:cNvPicPr>
          <p:nvPr/>
        </p:nvPicPr>
        <p:blipFill>
          <a:blip r:embed="rId2"/>
          <a:stretch>
            <a:fillRect/>
          </a:stretch>
        </p:blipFill>
        <p:spPr>
          <a:xfrm>
            <a:off x="5120640" y="1604774"/>
            <a:ext cx="6537960" cy="318210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both frameworks. Absolute levels are not directly comparable across frameworks; the within-framework rankings are the safer 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RESOLUTION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SDG4's 3.3% describes no construct that exists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SDG4's 35 official series do not measure one thing. Eighteen of them are equity or parity ratios — gender, location, or wealth parity indices — which is a different quantity from the level of access. Six measure learning outcomes, seven measure infrastructure and inputs, and only two measure access and participation directly.</a:t>
            </a:r>
          </a:p>
          <a:p>
            <a:pPr>
              <a:lnSpc>
                <a:spcPct val="132000"/>
              </a:lnSpc>
              <a:spcBef>
                <a:spcPts val="0"/>
              </a:spcBef>
              <a:spcAft>
                <a:spcPts val="1100"/>
              </a:spcAft>
            </a:pPr>
            <a:r>
              <a:rPr sz="1150" b="0" i="0">
                <a:solidFill>
                  <a:srgbClr val="5A6068"/>
                </a:solidFill>
                <a:latin typeface="Calibri"/>
              </a:rPr>
              <a:t>Split by construct, access and participation reaches 12.7%, comparable to SDG3 health at 11.5%, while learning outcomes sit at 0.9% and parity ratios at 2.5%. The pooled 3.3% is an average across constructs that point in different directions, and it describes none of them. That is a methodological finding in its own right: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THE WAY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signal survives to the individual respondent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ESS respondents' own educational attainment predicts their own life satisfaction in 32 to 34 of 36 countries, depending on whether attainment is measured as the harmonised ISCED category or as years completed. The effects are small — median R² around 0.01 — but nothing else in this project is that consistent across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3595"/>
            <a:ext cx="6537960" cy="396446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TRIANGULATION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Two surveys, two outcomes, one answer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Aggregating ESS respondents' reported years of schooling to the country level and regressing World Happiness Report happiness on it gives R² = 0.308, against 0.326 for the HDI's own mean-years-of-schooling series. Changing both the education source and the wellbeing outcome leaves the relationship essentially where it was.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triangulation.png"/>
          <p:cNvPicPr>
            <a:picLocks noChangeAspect="1"/>
          </p:cNvPicPr>
          <p:nvPr/>
        </p:nvPicPr>
        <p:blipFill>
          <a:blip r:embed="rId2"/>
          <a:stretch>
            <a:fillRect/>
          </a:stretch>
        </p:blipFill>
        <p:spPr>
          <a:xfrm>
            <a:off x="5120640" y="1993514"/>
            <a:ext cx="6537960" cy="240462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Country-aggregated ESS schooling against WHR happiness, beside the HDI's own schooling component.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three results that carry the argument have to share a figure: the replicated collapse, SDG4 un-pooled, and education's signal as the unit of measurement moves from pooled indicators down to individual respondents.</a:t>
            </a:r>
          </a:p>
          <a:p>
            <a:pPr>
              <a:lnSpc>
                <a:spcPct val="132000"/>
              </a:lnSpc>
              <a:spcBef>
                <a:spcPts val="0"/>
              </a:spcBef>
              <a:spcAft>
                <a:spcPts val="1100"/>
              </a:spcAft>
            </a:pPr>
            <a:r>
              <a:rPr sz="1150" b="0" i="0">
                <a:solidFill>
                  <a:srgbClr val="5A6068"/>
                </a:solidFill>
                <a:latin typeface="Calibri"/>
              </a:rPr>
              <a:t>One caution to keep in the caption: panel c's rows do not share a denominator. It shows that the construct holds at every level of aggregation, not that the effect grows.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panel c's denominators differ by row and are labelled at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precise claim, and the one the commentary must not overstate: education does not escape the differences collapse. Nothing does — expected years of schooling leads that column with 7 of 150 countries, which is a lead over the composite and still a collapse. Education is the exception in consistency — the one construct whose level signal holds across frameworks, producers, wellbeing instruments, and units of observation all the way down to the individual, and it holds only when education is measured as attainment and access.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education, because the wellbeing signal sits with attainment and access rather than with the measured learning the post-2030 architecture is built around.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+0.89 → +0.15</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access &amp; participation</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0.9%</a:t>
            </a:r>
          </a:p>
          <a:p>
            <a:pPr>
              <a:lnSpc>
                <a:spcPct val="120000"/>
              </a:lnSpc>
              <a:spcBef>
                <a:spcPts val="0"/>
              </a:spcBef>
              <a:spcAft>
                <a:spcPts val="0"/>
              </a:spcAft>
            </a:pPr>
            <a:r>
              <a:rPr sz="1000" b="0" i="0">
                <a:solidFill>
                  <a:srgbClr val="8A94A0"/>
                </a:solidFill>
                <a:latin typeface="Calibri"/>
              </a:rPr>
              <a:t>measured learning outcomes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+0.15, significant in 3 of 16 countries, while self-rated health holds at +0.51 (8 of 16) and social trust at +0.49 (6 of 16). The World Happiness Report cannot see this at all — it has no subnational values. It is the specific thing the ESS adds.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wellbeing signal — 12.7% for SDG4 access, 34.0% and 40.7% for the HDI's schooling components, 32 of 36 countries at the individual level — while measured learning outcomes sit at 0.9% and parity ratios at 2.5%.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education targets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we have built a global education monitoring architecture around measured learning outcomes, and the wellbeing evidence points at years attained. If both are to be kept, someone has to say what the education system is being optimised for.</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validated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National aggregates agree closely, which is what licenses the region-level analysis.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2100069" y="1965960"/>
            <a:ext cx="7991556"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is the odd one out, negative on all three.</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