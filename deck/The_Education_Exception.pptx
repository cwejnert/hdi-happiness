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8EBEF"/>
        </a:solidFill>
        <a:effectLst/>
      </p:bgPr>
    </p:bg>
    <p:spTree>
      <p:nvGrpSpPr>
        <p:cNvPr id="1" name=""/>
        <p:cNvGrpSpPr/>
        <p:nvPr/>
      </p:nvGrpSpPr>
      <p:grpSpPr/>
      <p:sp>
        <p:nvSpPr>
          <p:cNvPr id="2" name="Rectangle 1"/>
          <p:cNvSpPr/>
          <p:nvPr/>
        </p:nvSpPr>
        <p:spPr>
          <a:xfrm>
            <a:off x="566928" y="1371600"/>
            <a:ext cx="11057839"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960120"/>
            <a:ext cx="7315200" cy="274320"/>
          </a:xfrm>
          <a:prstGeom prst="rect">
            <a:avLst/>
          </a:prstGeom>
          <a:noFill/>
        </p:spPr>
        <p:txBody>
          <a:bodyPr wrap="square" lIns="0" rIns="0" tIns="0" bIns="0">
            <a:spAutoFit/>
          </a:bodyPr>
          <a:lstStyle/>
          <a:p>
            <a:pPr>
              <a:spcBef>
                <a:spcPts val="0"/>
              </a:spcBef>
              <a:spcAft>
                <a:spcPts val="0"/>
              </a:spcAft>
            </a:pPr>
            <a:r>
              <a:rPr sz="1100" b="0" i="0">
                <a:solidFill>
                  <a:srgbClr val="17549E"/>
                </a:solidFill>
                <a:latin typeface="Consolas"/>
              </a:rPr>
              <a:t>Commentary · working draft</a:t>
            </a:r>
          </a:p>
        </p:txBody>
      </p:sp>
      <p:sp>
        <p:nvSpPr>
          <p:cNvPr id="4" name="TextBox 3"/>
          <p:cNvSpPr txBox="1"/>
          <p:nvPr/>
        </p:nvSpPr>
        <p:spPr>
          <a:xfrm>
            <a:off x="566928" y="1783080"/>
            <a:ext cx="9144000" cy="1645920"/>
          </a:xfrm>
          <a:prstGeom prst="rect">
            <a:avLst/>
          </a:prstGeom>
          <a:noFill/>
        </p:spPr>
        <p:txBody>
          <a:bodyPr wrap="square" lIns="0" rIns="0" tIns="0" bIns="0">
            <a:spAutoFit/>
          </a:bodyPr>
          <a:lstStyle/>
          <a:p>
            <a:pPr>
              <a:lnSpc>
                <a:spcPct val="95000"/>
              </a:lnSpc>
              <a:spcBef>
                <a:spcPts val="0"/>
              </a:spcBef>
              <a:spcAft>
                <a:spcPts val="0"/>
              </a:spcAft>
            </a:pPr>
            <a:r>
              <a:rPr sz="6000" b="0" i="0">
                <a:solidFill>
                  <a:srgbClr val="14171C"/>
                </a:solidFill>
                <a:latin typeface="Georgia"/>
              </a:rPr>
              <a:t>The Education Exception</a:t>
            </a:r>
          </a:p>
        </p:txBody>
      </p:sp>
      <p:sp>
        <p:nvSpPr>
          <p:cNvPr id="5" name="TextBox 4"/>
          <p:cNvSpPr txBox="1"/>
          <p:nvPr/>
        </p:nvSpPr>
        <p:spPr>
          <a:xfrm>
            <a:off x="566928" y="3520440"/>
            <a:ext cx="8412480" cy="1188720"/>
          </a:xfrm>
          <a:prstGeom prst="rect">
            <a:avLst/>
          </a:prstGeom>
          <a:noFill/>
        </p:spPr>
        <p:txBody>
          <a:bodyPr wrap="square" lIns="0" rIns="0" tIns="0" bIns="0">
            <a:spAutoFit/>
          </a:bodyPr>
          <a:lstStyle/>
          <a:p>
            <a:pPr>
              <a:lnSpc>
                <a:spcPct val="135000"/>
              </a:lnSpc>
              <a:spcBef>
                <a:spcPts val="0"/>
              </a:spcBef>
              <a:spcAft>
                <a:spcPts val="0"/>
              </a:spcAft>
            </a:pPr>
            <a:r>
              <a:rPr sz="1700" b="0" i="1">
                <a:solidFill>
                  <a:srgbClr val="5A6068"/>
                </a:solidFill>
                <a:latin typeface="Georgia"/>
              </a:rPr>
              <a:t>A commentary in three acts, on why development predicts where wellbeing is high but not when it rises — and on the one construct that behaves differently</a:t>
            </a:r>
          </a:p>
        </p:txBody>
      </p:sp>
      <p:sp>
        <p:nvSpPr>
          <p:cNvPr id="6" name="TextBox 5"/>
          <p:cNvSpPr txBox="1"/>
          <p:nvPr/>
        </p:nvSpPr>
        <p:spPr>
          <a:xfrm>
            <a:off x="566928" y="5577840"/>
            <a:ext cx="10607040" cy="914400"/>
          </a:xfrm>
          <a:prstGeom prst="rect">
            <a:avLst/>
          </a:prstGeom>
          <a:noFill/>
        </p:spPr>
        <p:txBody>
          <a:bodyPr wrap="square" lIns="0" rIns="0" tIns="0" bIns="0">
            <a:spAutoFit/>
          </a:bodyPr>
          <a:lstStyle/>
          <a:p>
            <a:pPr>
              <a:spcBef>
                <a:spcPts val="0"/>
              </a:spcBef>
              <a:spcAft>
                <a:spcPts val="500"/>
              </a:spcAft>
            </a:pPr>
            <a:r>
              <a:rPr sz="1050" b="0" i="0">
                <a:solidFill>
                  <a:srgbClr val="5A6068"/>
                </a:solidFill>
                <a:latin typeface="Consolas"/>
              </a:rPr>
              <a:t>Working synthesis for the co-author team · August 2026</a:t>
            </a:r>
          </a:p>
          <a:p>
            <a:pPr>
              <a:lnSpc>
                <a:spcPct val="130000"/>
              </a:lnSpc>
              <a:spcBef>
                <a:spcPts val="0"/>
              </a:spcBef>
              <a:spcAft>
                <a:spcPts val="0"/>
              </a:spcAft>
            </a:pPr>
            <a:r>
              <a:rPr sz="950" b="0" i="0">
                <a:solidFill>
                  <a:srgbClr val="868D96"/>
                </a:solidFill>
                <a:latin typeface="Consolas"/>
              </a:rPr>
              <a:t>SDG: 42 countries, 661 series · HDI × World Happiness Report: 151 countries, 2011–2023 · Subnational HDI: 239 regions · European Social Survey: 36 countries, 351,023 respondents, rounds 5–11 (2010–2023)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66928"/>
            <a:ext cx="5486400" cy="274320"/>
          </a:xfrm>
          <a:prstGeom prst="rect">
            <a:avLst/>
          </a:prstGeom>
          <a:noFill/>
        </p:spPr>
        <p:txBody>
          <a:bodyPr wrap="square" lIns="0" rIns="0" tIns="0" bIns="0">
            <a:spAutoFit/>
          </a:bodyPr>
          <a:lstStyle/>
          <a:p>
            <a:pPr>
              <a:spcBef>
                <a:spcPts val="0"/>
              </a:spcBef>
              <a:spcAft>
                <a:spcPts val="0"/>
              </a:spcAft>
            </a:pPr>
            <a:r>
              <a:rPr sz="1100" b="0" i="0">
                <a:solidFill>
                  <a:srgbClr val="868D96"/>
                </a:solidFill>
                <a:latin typeface="Consolas"/>
              </a:rPr>
              <a:t>THE SETUP</a:t>
            </a:r>
          </a:p>
        </p:txBody>
      </p:sp>
      <p:sp>
        <p:nvSpPr>
          <p:cNvPr id="3" name="TextBox 2"/>
          <p:cNvSpPr txBox="1"/>
          <p:nvPr/>
        </p:nvSpPr>
        <p:spPr>
          <a:xfrm>
            <a:off x="566928" y="1024128"/>
            <a:ext cx="5486400" cy="1554480"/>
          </a:xfrm>
          <a:prstGeom prst="rect">
            <a:avLst/>
          </a:prstGeom>
          <a:noFill/>
        </p:spPr>
        <p:txBody>
          <a:bodyPr wrap="square" lIns="0" rIns="0" tIns="0" bIns="0">
            <a:spAutoFit/>
          </a:bodyPr>
          <a:lstStyle/>
          <a:p>
            <a:pPr>
              <a:lnSpc>
                <a:spcPct val="106000"/>
              </a:lnSpc>
              <a:spcBef>
                <a:spcPts val="0"/>
              </a:spcBef>
              <a:spcAft>
                <a:spcPts val="0"/>
              </a:spcAft>
            </a:pPr>
            <a:r>
              <a:rPr sz="3000" b="0" i="0">
                <a:solidFill>
                  <a:srgbClr val="14171C"/>
                </a:solidFill>
                <a:latin typeface="Georgia"/>
              </a:rPr>
              <a:t>Development rose almost everywhere. Wellbeing did not follow it.</a:t>
            </a:r>
          </a:p>
        </p:txBody>
      </p:sp>
      <p:sp>
        <p:nvSpPr>
          <p:cNvPr id="4" name="TextBox 3"/>
          <p:cNvSpPr txBox="1"/>
          <p:nvPr/>
        </p:nvSpPr>
        <p:spPr>
          <a:xfrm>
            <a:off x="566928" y="2880360"/>
            <a:ext cx="5212080" cy="3291840"/>
          </a:xfrm>
          <a:prstGeom prst="rect">
            <a:avLst/>
          </a:prstGeom>
          <a:noFill/>
        </p:spPr>
        <p:txBody>
          <a:bodyPr wrap="square" lIns="0" rIns="0" tIns="0" bIns="0">
            <a:spAutoFit/>
          </a:bodyPr>
          <a:lstStyle/>
          <a:p>
            <a:pPr>
              <a:lnSpc>
                <a:spcPct val="134000"/>
              </a:lnSpc>
              <a:spcBef>
                <a:spcPts val="0"/>
              </a:spcBef>
              <a:spcAft>
                <a:spcPts val="1200"/>
              </a:spcAft>
            </a:pPr>
            <a:r>
              <a:rPr sz="1300" b="0" i="0">
                <a:solidFill>
                  <a:srgbClr val="5A6068"/>
                </a:solidFill>
                <a:latin typeface="Calibri"/>
              </a:rPr>
              <a:t>The SDG paper now under review makes a narrow, awkward claim: the association between development indicators and happiness is strong when countries are compared with one another, and close to absent when each country is compared with its own past. Thirty of the 42 countries with usable SDG coverage show a significant SDG–happiness association in levels. Two do in year-to-year changes.</a:t>
            </a:r>
          </a:p>
          <a:p>
            <a:pPr>
              <a:lnSpc>
                <a:spcPct val="134000"/>
              </a:lnSpc>
              <a:spcBef>
                <a:spcPts val="0"/>
              </a:spcBef>
              <a:spcAft>
                <a:spcPts val="1200"/>
              </a:spcAft>
            </a:pPr>
            <a:r>
              <a:rPr sz="1300" b="0" i="0">
                <a:solidFill>
                  <a:srgbClr val="5A6068"/>
                </a:solidFill>
                <a:latin typeface="Calibri"/>
              </a:rPr>
              <a:t>There is an obvious way to dismiss that result. The SDG framework is a sprawling, politically negotiated instrument of more than two hundred indicators with uneven coverage; a null finding inside it says as much about the framework as about the world. This commentary closes that escape route, and then reports the one thing in the data that does not behave the way everything else does.</a:t>
            </a:r>
          </a:p>
        </p:txBody>
      </p:sp>
      <p:sp>
        <p:nvSpPr>
          <p:cNvPr id="5" name="TextBox 4"/>
          <p:cNvSpPr txBox="1"/>
          <p:nvPr/>
        </p:nvSpPr>
        <p:spPr>
          <a:xfrm>
            <a:off x="6720840" y="566928"/>
            <a:ext cx="4846320" cy="274320"/>
          </a:xfrm>
          <a:prstGeom prst="rect">
            <a:avLst/>
          </a:prstGeom>
          <a:noFill/>
        </p:spPr>
        <p:txBody>
          <a:bodyPr wrap="square" lIns="0" rIns="0" tIns="0" bIns="0">
            <a:spAutoFit/>
          </a:bodyPr>
          <a:lstStyle/>
          <a:p>
            <a:pPr>
              <a:spcBef>
                <a:spcPts val="0"/>
              </a:spcBef>
              <a:spcAft>
                <a:spcPts val="0"/>
              </a:spcAft>
            </a:pPr>
            <a:r>
              <a:rPr sz="1100" b="0" i="0">
                <a:solidFill>
                  <a:srgbClr val="17549E"/>
                </a:solidFill>
                <a:latin typeface="Consolas"/>
              </a:rPr>
              <a:t>THE ARGUMENT</a:t>
            </a:r>
          </a:p>
        </p:txBody>
      </p:sp>
      <p:sp>
        <p:nvSpPr>
          <p:cNvPr id="6" name="Rectangle 5"/>
          <p:cNvSpPr/>
          <p:nvPr/>
        </p:nvSpPr>
        <p:spPr>
          <a:xfrm>
            <a:off x="6720840" y="1024128"/>
            <a:ext cx="4846320" cy="9525"/>
          </a:xfrm>
          <a:prstGeom prst="rect">
            <a:avLst/>
          </a:prstGeom>
          <a:solidFill>
            <a:srgbClr val="CDD3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20840" y="1170432"/>
            <a:ext cx="502920" cy="457200"/>
          </a:xfrm>
          <a:prstGeom prst="rect">
            <a:avLst/>
          </a:prstGeom>
          <a:noFill/>
        </p:spPr>
        <p:txBody>
          <a:bodyPr wrap="square" lIns="0" rIns="0" tIns="0" bIns="0">
            <a:spAutoFit/>
          </a:bodyPr>
          <a:lstStyle/>
          <a:p>
            <a:pPr>
              <a:spcBef>
                <a:spcPts val="0"/>
              </a:spcBef>
              <a:spcAft>
                <a:spcPts val="0"/>
              </a:spcAft>
            </a:pPr>
            <a:r>
              <a:rPr sz="2000" b="0" i="0">
                <a:solidFill>
                  <a:srgbClr val="17549E"/>
                </a:solidFill>
                <a:latin typeface="Georgia"/>
              </a:rPr>
              <a:t>I</a:t>
            </a:r>
          </a:p>
        </p:txBody>
      </p:sp>
      <p:sp>
        <p:nvSpPr>
          <p:cNvPr id="8" name="TextBox 7"/>
          <p:cNvSpPr txBox="1"/>
          <p:nvPr/>
        </p:nvSpPr>
        <p:spPr>
          <a:xfrm>
            <a:off x="7360920" y="1170432"/>
            <a:ext cx="4206240" cy="1097280"/>
          </a:xfrm>
          <a:prstGeom prst="rect">
            <a:avLst/>
          </a:prstGeom>
          <a:noFill/>
        </p:spPr>
        <p:txBody>
          <a:bodyPr wrap="square" lIns="0" rIns="0" tIns="0" bIns="0">
            <a:spAutoFit/>
          </a:bodyPr>
          <a:lstStyle/>
          <a:p>
            <a:pPr>
              <a:spcBef>
                <a:spcPts val="0"/>
              </a:spcBef>
              <a:spcAft>
                <a:spcPts val="300"/>
              </a:spcAft>
            </a:pPr>
            <a:r>
              <a:rPr sz="1350" b="1" i="0">
                <a:solidFill>
                  <a:srgbClr val="14171C"/>
                </a:solidFill>
                <a:latin typeface="Calibri"/>
              </a:rPr>
              <a:t>We replicate the SDG result outside the SDGs.</a:t>
            </a:r>
          </a:p>
          <a:p>
            <a:pPr>
              <a:lnSpc>
                <a:spcPct val="125000"/>
              </a:lnSpc>
              <a:spcBef>
                <a:spcPts val="0"/>
              </a:spcBef>
              <a:spcAft>
                <a:spcPts val="0"/>
              </a:spcAft>
            </a:pPr>
            <a:r>
              <a:rPr sz="1100" b="0" i="0">
                <a:solidFill>
                  <a:srgbClr val="5A6068"/>
                </a:solidFill>
                <a:latin typeface="Calibri"/>
              </a:rPr>
              <a:t>The same design on the HDI, against a second wellbeing survey, and one spatial scale down. It collapses every time.</a:t>
            </a:r>
          </a:p>
        </p:txBody>
      </p:sp>
      <p:sp>
        <p:nvSpPr>
          <p:cNvPr id="9" name="Rectangle 8"/>
          <p:cNvSpPr/>
          <p:nvPr/>
        </p:nvSpPr>
        <p:spPr>
          <a:xfrm>
            <a:off x="6720840" y="2350008"/>
            <a:ext cx="4846320" cy="9525"/>
          </a:xfrm>
          <a:prstGeom prst="rect">
            <a:avLst/>
          </a:prstGeom>
          <a:solidFill>
            <a:srgbClr val="CDD3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2496312"/>
            <a:ext cx="502920" cy="457200"/>
          </a:xfrm>
          <a:prstGeom prst="rect">
            <a:avLst/>
          </a:prstGeom>
          <a:noFill/>
        </p:spPr>
        <p:txBody>
          <a:bodyPr wrap="square" lIns="0" rIns="0" tIns="0" bIns="0">
            <a:spAutoFit/>
          </a:bodyPr>
          <a:lstStyle/>
          <a:p>
            <a:pPr>
              <a:spcBef>
                <a:spcPts val="0"/>
              </a:spcBef>
              <a:spcAft>
                <a:spcPts val="0"/>
              </a:spcAft>
            </a:pPr>
            <a:r>
              <a:rPr sz="2000" b="0" i="0">
                <a:solidFill>
                  <a:srgbClr val="17549E"/>
                </a:solidFill>
                <a:latin typeface="Georgia"/>
              </a:rPr>
              <a:t>II</a:t>
            </a:r>
          </a:p>
        </p:txBody>
      </p:sp>
      <p:sp>
        <p:nvSpPr>
          <p:cNvPr id="11" name="TextBox 10"/>
          <p:cNvSpPr txBox="1"/>
          <p:nvPr/>
        </p:nvSpPr>
        <p:spPr>
          <a:xfrm>
            <a:off x="7360920" y="2496312"/>
            <a:ext cx="4206240" cy="1097280"/>
          </a:xfrm>
          <a:prstGeom prst="rect">
            <a:avLst/>
          </a:prstGeom>
          <a:noFill/>
        </p:spPr>
        <p:txBody>
          <a:bodyPr wrap="square" lIns="0" rIns="0" tIns="0" bIns="0">
            <a:spAutoFit/>
          </a:bodyPr>
          <a:lstStyle/>
          <a:p>
            <a:pPr>
              <a:spcBef>
                <a:spcPts val="0"/>
              </a:spcBef>
              <a:spcAft>
                <a:spcPts val="300"/>
              </a:spcAft>
            </a:pPr>
            <a:r>
              <a:rPr sz="1350" b="1" i="0">
                <a:solidFill>
                  <a:srgbClr val="14171C"/>
                </a:solidFill>
                <a:latin typeface="Calibri"/>
              </a:rPr>
              <a:t>So what is it about education?</a:t>
            </a:r>
          </a:p>
          <a:p>
            <a:pPr>
              <a:lnSpc>
                <a:spcPct val="125000"/>
              </a:lnSpc>
              <a:spcBef>
                <a:spcPts val="0"/>
              </a:spcBef>
              <a:spcAft>
                <a:spcPts val="0"/>
              </a:spcAft>
            </a:pPr>
            <a:r>
              <a:rPr sz="1100" b="0" i="0">
                <a:solidFill>
                  <a:srgbClr val="5A6068"/>
                </a:solidFill>
                <a:latin typeface="Calibri"/>
              </a:rPr>
              <a:t>It is the one construct that holds at every level of aggregation — but only measured as attainment and access, not parity or measured learning.</a:t>
            </a:r>
          </a:p>
        </p:txBody>
      </p:sp>
      <p:sp>
        <p:nvSpPr>
          <p:cNvPr id="12" name="Rectangle 11"/>
          <p:cNvSpPr/>
          <p:nvPr/>
        </p:nvSpPr>
        <p:spPr>
          <a:xfrm>
            <a:off x="6720840" y="3675888"/>
            <a:ext cx="4846320" cy="9525"/>
          </a:xfrm>
          <a:prstGeom prst="rect">
            <a:avLst/>
          </a:prstGeom>
          <a:solidFill>
            <a:srgbClr val="CDD3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3822192"/>
            <a:ext cx="502920" cy="457200"/>
          </a:xfrm>
          <a:prstGeom prst="rect">
            <a:avLst/>
          </a:prstGeom>
          <a:noFill/>
        </p:spPr>
        <p:txBody>
          <a:bodyPr wrap="square" lIns="0" rIns="0" tIns="0" bIns="0">
            <a:spAutoFit/>
          </a:bodyPr>
          <a:lstStyle/>
          <a:p>
            <a:pPr>
              <a:spcBef>
                <a:spcPts val="0"/>
              </a:spcBef>
              <a:spcAft>
                <a:spcPts val="0"/>
              </a:spcAft>
            </a:pPr>
            <a:r>
              <a:rPr sz="2000" b="0" i="0">
                <a:solidFill>
                  <a:srgbClr val="17549E"/>
                </a:solidFill>
                <a:latin typeface="Georgia"/>
              </a:rPr>
              <a:t>III</a:t>
            </a:r>
          </a:p>
        </p:txBody>
      </p:sp>
      <p:sp>
        <p:nvSpPr>
          <p:cNvPr id="14" name="TextBox 13"/>
          <p:cNvSpPr txBox="1"/>
          <p:nvPr/>
        </p:nvSpPr>
        <p:spPr>
          <a:xfrm>
            <a:off x="7360920" y="3822192"/>
            <a:ext cx="4206240" cy="1097280"/>
          </a:xfrm>
          <a:prstGeom prst="rect">
            <a:avLst/>
          </a:prstGeom>
          <a:noFill/>
        </p:spPr>
        <p:txBody>
          <a:bodyPr wrap="square" lIns="0" rIns="0" tIns="0" bIns="0">
            <a:spAutoFit/>
          </a:bodyPr>
          <a:lstStyle/>
          <a:p>
            <a:pPr>
              <a:spcBef>
                <a:spcPts val="0"/>
              </a:spcBef>
              <a:spcAft>
                <a:spcPts val="300"/>
              </a:spcAft>
            </a:pPr>
            <a:r>
              <a:rPr sz="1350" b="1" i="0">
                <a:solidFill>
                  <a:srgbClr val="14171C"/>
                </a:solidFill>
                <a:latin typeface="Calibri"/>
              </a:rPr>
              <a:t>Which makes the policy question unavoidable.</a:t>
            </a:r>
          </a:p>
          <a:p>
            <a:pPr>
              <a:lnSpc>
                <a:spcPct val="125000"/>
              </a:lnSpc>
              <a:spcBef>
                <a:spcPts val="0"/>
              </a:spcBef>
              <a:spcAft>
                <a:spcPts val="0"/>
              </a:spcAft>
            </a:pPr>
            <a:r>
              <a:rPr sz="1100" b="0" i="0">
                <a:solidFill>
                  <a:srgbClr val="5A6068"/>
                </a:solidFill>
                <a:latin typeface="Calibri"/>
              </a:rPr>
              <a:t>What this means for priorities, what kind of education it points at, and the question we are putting to the field.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0" y="822960"/>
            <a:ext cx="3291840" cy="4114800"/>
          </a:xfrm>
          <a:prstGeom prst="rect">
            <a:avLst/>
          </a:prstGeom>
          <a:noFill/>
        </p:spPr>
        <p:txBody>
          <a:bodyPr wrap="square" lIns="0" rIns="0" tIns="0" bIns="0">
            <a:spAutoFit/>
          </a:bodyPr>
          <a:lstStyle/>
          <a:p>
            <a:pPr algn="r">
              <a:spcBef>
                <a:spcPts val="0"/>
              </a:spcBef>
              <a:spcAft>
                <a:spcPts val="0"/>
              </a:spcAft>
            </a:pPr>
            <a:r>
              <a:rPr sz="20000" b="0" i="0">
                <a:solidFill>
                  <a:srgbClr val="2A3340"/>
                </a:solidFill>
                <a:latin typeface="Georgia"/>
              </a:rPr>
              <a:t>I</a:t>
            </a:r>
          </a:p>
        </p:txBody>
      </p:sp>
      <p:sp>
        <p:nvSpPr>
          <p:cNvPr id="3" name="Rectangle 2"/>
          <p:cNvSpPr/>
          <p:nvPr/>
        </p:nvSpPr>
        <p:spPr>
          <a:xfrm>
            <a:off x="566928" y="1371600"/>
            <a:ext cx="7315200" cy="25400"/>
          </a:xfrm>
          <a:prstGeom prst="rect">
            <a:avLst/>
          </a:prstGeom>
          <a:solidFill>
            <a:srgbClr val="C9D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60120"/>
            <a:ext cx="5486400" cy="274320"/>
          </a:xfrm>
          <a:prstGeom prst="rect">
            <a:avLst/>
          </a:prstGeom>
          <a:noFill/>
        </p:spPr>
        <p:txBody>
          <a:bodyPr wrap="square" lIns="0" rIns="0" tIns="0" bIns="0">
            <a:spAutoFit/>
          </a:bodyPr>
          <a:lstStyle/>
          <a:p>
            <a:pPr>
              <a:spcBef>
                <a:spcPts val="0"/>
              </a:spcBef>
              <a:spcAft>
                <a:spcPts val="0"/>
              </a:spcAft>
            </a:pPr>
            <a:r>
              <a:rPr sz="1100" b="0" i="0">
                <a:solidFill>
                  <a:srgbClr val="C9D8EC"/>
                </a:solidFill>
                <a:latin typeface="Consolas"/>
              </a:rPr>
              <a:t>ACT I</a:t>
            </a:r>
          </a:p>
        </p:txBody>
      </p:sp>
      <p:sp>
        <p:nvSpPr>
          <p:cNvPr id="5" name="TextBox 4"/>
          <p:cNvSpPr txBox="1"/>
          <p:nvPr/>
        </p:nvSpPr>
        <p:spPr>
          <a:xfrm>
            <a:off x="566928" y="1783080"/>
            <a:ext cx="7223760" cy="1828800"/>
          </a:xfrm>
          <a:prstGeom prst="rect">
            <a:avLst/>
          </a:prstGeom>
          <a:noFill/>
        </p:spPr>
        <p:txBody>
          <a:bodyPr wrap="square" lIns="0" rIns="0" tIns="0" bIns="0">
            <a:spAutoFit/>
          </a:bodyPr>
          <a:lstStyle/>
          <a:p>
            <a:pPr>
              <a:lnSpc>
                <a:spcPct val="102000"/>
              </a:lnSpc>
              <a:spcBef>
                <a:spcPts val="0"/>
              </a:spcBef>
              <a:spcAft>
                <a:spcPts val="0"/>
              </a:spcAft>
            </a:pPr>
            <a:r>
              <a:rPr sz="4000" b="0" i="0">
                <a:solidFill>
                  <a:srgbClr val="FCFCFB"/>
                </a:solidFill>
                <a:latin typeface="Georgia"/>
              </a:rPr>
              <a:t>Replicating the collapse beyond the SDGs</a:t>
            </a:r>
          </a:p>
        </p:txBody>
      </p:sp>
      <p:sp>
        <p:nvSpPr>
          <p:cNvPr id="6" name="TextBox 5"/>
          <p:cNvSpPr txBox="1"/>
          <p:nvPr/>
        </p:nvSpPr>
        <p:spPr>
          <a:xfrm>
            <a:off x="566928" y="3886200"/>
            <a:ext cx="6766560" cy="1463040"/>
          </a:xfrm>
          <a:prstGeom prst="rect">
            <a:avLst/>
          </a:prstGeom>
          <a:noFill/>
        </p:spPr>
        <p:txBody>
          <a:bodyPr wrap="square" lIns="0" rIns="0" tIns="0" bIns="0">
            <a:spAutoFit/>
          </a:bodyPr>
          <a:lstStyle/>
          <a:p>
            <a:pPr>
              <a:lnSpc>
                <a:spcPct val="135000"/>
              </a:lnSpc>
              <a:spcBef>
                <a:spcPts val="0"/>
              </a:spcBef>
              <a:spcAft>
                <a:spcPts val="0"/>
              </a:spcAft>
            </a:pPr>
            <a:r>
              <a:rPr sz="1600" b="0" i="1">
                <a:solidFill>
                  <a:srgbClr val="9AA4B0"/>
                </a:solidFill>
                <a:latin typeface="Georgia"/>
              </a:rPr>
              <a:t>Run the original design on a second development framework, against a second wellbeing instrument, and one spatial scale down. The levels-to-differences collapse appears every time. The subnational HDI plays a different role: it asks whether the national pattern survives disaggregation.</a:t>
            </a:r>
          </a:p>
        </p:txBody>
      </p:sp>
      <p:sp>
        <p:nvSpPr>
          <p:cNvPr id="7" name="TextBox 6"/>
          <p:cNvSpPr txBox="1"/>
          <p:nvPr/>
        </p:nvSpPr>
        <p:spPr>
          <a:xfrm>
            <a:off x="566928"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71% → 5%</a:t>
            </a:r>
          </a:p>
          <a:p>
            <a:pPr>
              <a:lnSpc>
                <a:spcPct val="120000"/>
              </a:lnSpc>
              <a:spcBef>
                <a:spcPts val="0"/>
              </a:spcBef>
              <a:spcAft>
                <a:spcPts val="0"/>
              </a:spcAft>
            </a:pPr>
            <a:r>
              <a:rPr sz="1000" b="0" i="0">
                <a:solidFill>
                  <a:srgbClr val="8A94A0"/>
                </a:solidFill>
                <a:latin typeface="Calibri"/>
              </a:rPr>
              <a:t>of countries significant, SDG levels → differences</a:t>
            </a:r>
          </a:p>
        </p:txBody>
      </p:sp>
      <p:sp>
        <p:nvSpPr>
          <p:cNvPr id="8" name="TextBox 7"/>
          <p:cNvSpPr txBox="1"/>
          <p:nvPr/>
        </p:nvSpPr>
        <p:spPr>
          <a:xfrm>
            <a:off x="4344314"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42% → 2%</a:t>
            </a:r>
          </a:p>
          <a:p>
            <a:pPr>
              <a:lnSpc>
                <a:spcPct val="120000"/>
              </a:lnSpc>
              <a:spcBef>
                <a:spcPts val="0"/>
              </a:spcBef>
              <a:spcAft>
                <a:spcPts val="0"/>
              </a:spcAft>
            </a:pPr>
            <a:r>
              <a:rPr sz="1000" b="0" i="0">
                <a:solidFill>
                  <a:srgbClr val="8A94A0"/>
                </a:solidFill>
                <a:latin typeface="Calibri"/>
              </a:rPr>
              <a:t>the same collapse under the HDI composite</a:t>
            </a:r>
          </a:p>
        </p:txBody>
      </p:sp>
      <p:sp>
        <p:nvSpPr>
          <p:cNvPr id="9" name="TextBox 8"/>
          <p:cNvSpPr txBox="1"/>
          <p:nvPr/>
        </p:nvSpPr>
        <p:spPr>
          <a:xfrm>
            <a:off x="8121700"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15% → 9%</a:t>
            </a:r>
          </a:p>
          <a:p>
            <a:pPr>
              <a:lnSpc>
                <a:spcPct val="120000"/>
              </a:lnSpc>
              <a:spcBef>
                <a:spcPts val="0"/>
              </a:spcBef>
              <a:spcAft>
                <a:spcPts val="0"/>
              </a:spcAft>
            </a:pPr>
            <a:r>
              <a:rPr sz="1000" b="0" i="0">
                <a:solidFill>
                  <a:srgbClr val="8A94A0"/>
                </a:solidFill>
                <a:latin typeface="Calibri"/>
              </a:rPr>
              <a:t>of cells, against a second wellbeing survey (ESS)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REPLICATION 1 · THE HDI</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A deliberately parsimonious index behaves exactly like the sprawling one</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The Human Development Index is the opposite of the SDG framework in every way that the dismissal relies on: three dimensions rather than seventeen goals, a single custodian, a stable definition, near-universal coverage. Substituting it for the SDG indicators and holding everything else fixed gives 64 of 151 countries FDR-significant in levels and 3 of 151 in first differences — 42% down to 2%.</a:t>
            </a:r>
          </a:p>
          <a:p>
            <a:pPr>
              <a:lnSpc>
                <a:spcPct val="132000"/>
              </a:lnSpc>
              <a:spcBef>
                <a:spcPts val="0"/>
              </a:spcBef>
              <a:spcAft>
                <a:spcPts val="1100"/>
              </a:spcAft>
            </a:pPr>
            <a:r>
              <a:rPr sz="1150" b="0" i="0">
                <a:solidFill>
                  <a:srgbClr val="5A6068"/>
                </a:solidFill>
                <a:latin typeface="Calibri"/>
              </a:rPr>
              <a:t>The SDG framework collapsed from 71% of countries to 5%. The two rates are not directly comparable, because the SDG test asks whether any of a country's several hundred series is significant while the HDI test asks about one composite; that difference is exactly why the SDG levels rate is higher. What compares is the collapse itself, and it is an order of magnitude in both. Whatever produces the asymmetry, it is not the design of the SDG indicator set.</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a:t>
            </a:r>
          </a:p>
        </p:txBody>
      </p:sp>
      <p:pic>
        <p:nvPicPr>
          <p:cNvPr id="6" name="Picture 5" descr="collapse_hdi_shdi_whr.png"/>
          <p:cNvPicPr>
            <a:picLocks noChangeAspect="1"/>
          </p:cNvPicPr>
          <p:nvPr/>
        </p:nvPicPr>
        <p:blipFill>
          <a:blip r:embed="rId2"/>
          <a:stretch>
            <a:fillRect/>
          </a:stretch>
        </p:blipFill>
        <p:spPr>
          <a:xfrm>
            <a:off x="5120640" y="1353312"/>
            <a:ext cx="6537960" cy="3685032"/>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Countries with an FDR-significant development–happiness association, levels versus first differences, under the SDG framework and under the HDI composite.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STRUCTURE UNDERNEATH</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The composite is not the whole result — the five indicators behave differently</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HappinessHDI.R reports the composite alongside its four sub-components in both specifications, and the sub-components do not simply track the composite. Mean years of schooling has the highest median R² of the five in levels (0.326) and in differences (0.069) — above the composite HDI itself (0.322 and 0.063). Income is level with it in levels and below it in differences; life expectancy is clearly weakest in levels (0.160, 30 of 151 countries).</a:t>
            </a:r>
          </a:p>
          <a:p>
            <a:pPr>
              <a:lnSpc>
                <a:spcPct val="132000"/>
              </a:lnSpc>
              <a:spcBef>
                <a:spcPts val="0"/>
              </a:spcBef>
              <a:spcAft>
                <a:spcPts val="1100"/>
              </a:spcAft>
            </a:pPr>
            <a:r>
              <a:rPr sz="1150" b="0" i="0">
                <a:solidFill>
                  <a:srgbClr val="5A6068"/>
                </a:solidFill>
                <a:latin typeface="Calibri"/>
              </a:rPr>
              <a:t>The result worth carrying forward is in the differences column. Expected years of schooling is significant in 7 of 150 countries — more than the composite's 3, and more than any other indicator. Seven countries is a small number and the collapse is still severe, so this is not a survival story. But it does mean the education pair leads under both specifications rather than only in the cross-section, which is the strongest form the Act II argument can take.</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a:t>
            </a:r>
          </a:p>
        </p:txBody>
      </p:sp>
      <p:pic>
        <p:nvPicPr>
          <p:cNvPr id="6" name="Picture 5" descr="hdi_full_structure.png"/>
          <p:cNvPicPr>
            <a:picLocks noChangeAspect="1"/>
          </p:cNvPicPr>
          <p:nvPr/>
        </p:nvPicPr>
        <p:blipFill>
          <a:blip r:embed="rId2"/>
          <a:stretch>
            <a:fillRect/>
          </a:stretch>
        </p:blipFill>
        <p:spPr>
          <a:xfrm>
            <a:off x="5120640" y="1791377"/>
            <a:ext cx="6537960" cy="2808901"/>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The HDI composite and its four sub-components, levels and first differences. Benjamini–Hochberg corrected across the five indicators within each country.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WHAT THE SUBNATIONAL HDI IS FOR</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Not a second producer — a test of whether the national pattern holds inside countries</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The Global Data Lab's SHDI cannot serve as an independent replication, and the commentary should not present it as one. At national level it is numerically identical to the UNDP HDI: all 1,696 overlapping country-years agree exactly, because GDL derives the national figure from the UNDP series. Running the collapse design on it reproduces the HDI result by construction rather than by corroboration.</a:t>
            </a:r>
          </a:p>
          <a:p>
            <a:pPr>
              <a:lnSpc>
                <a:spcPct val="132000"/>
              </a:lnSpc>
              <a:spcBef>
                <a:spcPts val="0"/>
              </a:spcBef>
              <a:spcAft>
                <a:spcPts val="1100"/>
              </a:spcAft>
            </a:pPr>
            <a:r>
              <a:rPr sz="1400" b="0" i="0">
                <a:solidFill>
                  <a:srgbClr val="5A6068"/>
                </a:solidFill>
                <a:latin typeface="Calibri"/>
              </a:rPr>
              <a:t>Its actual value is disaggregation. GDL's region-level values are its own — only 655 of 58,224 region-years coincide with their country's national figure — so the SHDI is what lets us ask whether the national development–wellbeing relationship holds at subnational level, and where it does not. That question is the subject of Act III, and the answer turns out to be the most policy-relevant result in the commentary.</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REPLICATION 3 · A SECOND WELLBEING INSTRUMENT</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It is not an artifact of the Cantril ladder either</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The World Happiness Report's ladder is a single self-anchoring item asked by one survey house. Replacing it with the European Social Survey's own life-satisfaction and happiness items — 36 countries, 351,023 respondents, seven roughly biennial waves from 2010 to 2023 — preserves the asymmetry.</a:t>
            </a:r>
          </a:p>
          <a:p>
            <a:pPr>
              <a:lnSpc>
                <a:spcPct val="132000"/>
              </a:lnSpc>
              <a:spcBef>
                <a:spcPts val="0"/>
              </a:spcBef>
              <a:spcAft>
                <a:spcPts val="1100"/>
              </a:spcAft>
            </a:pPr>
            <a:r>
              <a:rPr sz="1150" b="0" i="0">
                <a:solidFill>
                  <a:srgbClr val="5A6068"/>
                </a:solidFill>
                <a:latin typeface="Calibri"/>
              </a:rPr>
              <a:t>Statistical power is much lower here: seven biennial waves against twelve or more annual World Happiness Report years, so individual country tests are fragile and the ESS replication should be read as corroboration rather than as independent confirmation at the same strength.</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a:t>
            </a:r>
          </a:p>
        </p:txBody>
      </p:sp>
      <p:pic>
        <p:nvPicPr>
          <p:cNvPr id="6" name="Picture 5" descr="collapse_hdi_ess.png"/>
          <p:cNvPicPr>
            <a:picLocks noChangeAspect="1"/>
          </p:cNvPicPr>
          <p:nvPr/>
        </p:nvPicPr>
        <p:blipFill>
          <a:blip r:embed="rId2"/>
          <a:stretch>
            <a:fillRect/>
          </a:stretch>
        </p:blipFill>
        <p:spPr>
          <a:xfrm>
            <a:off x="5120640" y="1615563"/>
            <a:ext cx="6537960" cy="3160530"/>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The same design with ESS life satisfaction in place of the Cantril ladder. 15% of levels cells and 9% of differences cells are FDR-significant.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REPLICATION 4 · ONE SCALE DOWN</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And it holds across 239 European regions</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Region-level subnational HDI against region-mean life satisfaction reproduces the same levels-over-differences pattern, noisier as expected. The result is now documented at three scales — SDG-national, HDI-national, SHDI-regional — and against two wellbeing instruments.</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a:t>
            </a:r>
          </a:p>
        </p:txBody>
      </p:sp>
      <p:pic>
        <p:nvPicPr>
          <p:cNvPr id="6" name="Picture 5" descr="collapse_shdi_ess_regional.png"/>
          <p:cNvPicPr>
            <a:picLocks noChangeAspect="1"/>
          </p:cNvPicPr>
          <p:nvPr/>
        </p:nvPicPr>
        <p:blipFill>
          <a:blip r:embed="rId2"/>
          <a:stretch>
            <a:fillRect/>
          </a:stretch>
        </p:blipFill>
        <p:spPr>
          <a:xfrm>
            <a:off x="5546146" y="658368"/>
            <a:ext cx="5686948" cy="5074919"/>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Regional subnational HDI against region-mean ESS life satisfaction, 239 European regions.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8EBEF"/>
        </a:solidFill>
        <a:effectLst/>
      </p:bgPr>
    </p:bg>
    <p:spTree>
      <p:nvGrpSpPr>
        <p:cNvPr id="1" name=""/>
        <p:cNvGrpSpPr/>
        <p:nvPr/>
      </p:nvGrpSpPr>
      <p:grpSpPr/>
      <p:sp>
        <p:nvSpPr>
          <p:cNvPr id="2" name="Rectangle 1"/>
          <p:cNvSpPr/>
          <p:nvPr/>
        </p:nvSpPr>
        <p:spPr>
          <a:xfrm>
            <a:off x="566928" y="2103120"/>
            <a:ext cx="54864" cy="237744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00200"/>
            <a:ext cx="8686800" cy="274320"/>
          </a:xfrm>
          <a:prstGeom prst="rect">
            <a:avLst/>
          </a:prstGeom>
          <a:noFill/>
        </p:spPr>
        <p:txBody>
          <a:bodyPr wrap="square" lIns="0" rIns="0" tIns="0" bIns="0">
            <a:spAutoFit/>
          </a:bodyPr>
          <a:lstStyle/>
          <a:p>
            <a:pPr>
              <a:spcBef>
                <a:spcPts val="0"/>
              </a:spcBef>
              <a:spcAft>
                <a:spcPts val="0"/>
              </a:spcAft>
            </a:pPr>
            <a:r>
              <a:rPr sz="1100" b="0" i="0">
                <a:solidFill>
                  <a:srgbClr val="17549E"/>
                </a:solidFill>
                <a:latin typeface="Consolas"/>
              </a:rPr>
              <a:t>WHERE ACT I LEAVES US</a:t>
            </a:r>
          </a:p>
        </p:txBody>
      </p:sp>
      <p:sp>
        <p:nvSpPr>
          <p:cNvPr id="4" name="TextBox 3"/>
          <p:cNvSpPr txBox="1"/>
          <p:nvPr/>
        </p:nvSpPr>
        <p:spPr>
          <a:xfrm>
            <a:off x="914400" y="2148840"/>
            <a:ext cx="9509760" cy="2926080"/>
          </a:xfrm>
          <a:prstGeom prst="rect">
            <a:avLst/>
          </a:prstGeom>
          <a:noFill/>
        </p:spPr>
        <p:txBody>
          <a:bodyPr wrap="square" lIns="0" rIns="0" tIns="0" bIns="0">
            <a:spAutoFit/>
          </a:bodyPr>
          <a:lstStyle/>
          <a:p>
            <a:pPr>
              <a:lnSpc>
                <a:spcPct val="135000"/>
              </a:lnSpc>
              <a:spcBef>
                <a:spcPts val="0"/>
              </a:spcBef>
              <a:spcAft>
                <a:spcPts val="0"/>
              </a:spcAft>
            </a:pPr>
            <a:r>
              <a:rPr sz="2100" b="0" i="0">
                <a:solidFill>
                  <a:srgbClr val="14171C"/>
                </a:solidFill>
                <a:latin typeface="Georgia"/>
              </a:rPr>
              <a:t>Two independent replications and one scale test. The commentary can therefore state the asymmetry as a property of the development–wellbeing relationship rather than of any particular index, and move on to the question that actually matters: given that almost nothing survives the move to within-country change, what carries the level signal?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0" y="822960"/>
            <a:ext cx="3291840" cy="4114800"/>
          </a:xfrm>
          <a:prstGeom prst="rect">
            <a:avLst/>
          </a:prstGeom>
          <a:noFill/>
        </p:spPr>
        <p:txBody>
          <a:bodyPr wrap="square" lIns="0" rIns="0" tIns="0" bIns="0">
            <a:spAutoFit/>
          </a:bodyPr>
          <a:lstStyle/>
          <a:p>
            <a:pPr algn="r">
              <a:spcBef>
                <a:spcPts val="0"/>
              </a:spcBef>
              <a:spcAft>
                <a:spcPts val="0"/>
              </a:spcAft>
            </a:pPr>
            <a:r>
              <a:rPr sz="20000" b="0" i="0">
                <a:solidFill>
                  <a:srgbClr val="2A3340"/>
                </a:solidFill>
                <a:latin typeface="Georgia"/>
              </a:rPr>
              <a:t>II</a:t>
            </a:r>
          </a:p>
        </p:txBody>
      </p:sp>
      <p:sp>
        <p:nvSpPr>
          <p:cNvPr id="3" name="Rectangle 2"/>
          <p:cNvSpPr/>
          <p:nvPr/>
        </p:nvSpPr>
        <p:spPr>
          <a:xfrm>
            <a:off x="566928" y="1371600"/>
            <a:ext cx="7315200" cy="25400"/>
          </a:xfrm>
          <a:prstGeom prst="rect">
            <a:avLst/>
          </a:prstGeom>
          <a:solidFill>
            <a:srgbClr val="C9D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60120"/>
            <a:ext cx="5486400" cy="274320"/>
          </a:xfrm>
          <a:prstGeom prst="rect">
            <a:avLst/>
          </a:prstGeom>
          <a:noFill/>
        </p:spPr>
        <p:txBody>
          <a:bodyPr wrap="square" lIns="0" rIns="0" tIns="0" bIns="0">
            <a:spAutoFit/>
          </a:bodyPr>
          <a:lstStyle/>
          <a:p>
            <a:pPr>
              <a:spcBef>
                <a:spcPts val="0"/>
              </a:spcBef>
              <a:spcAft>
                <a:spcPts val="0"/>
              </a:spcAft>
            </a:pPr>
            <a:r>
              <a:rPr sz="1100" b="0" i="0">
                <a:solidFill>
                  <a:srgbClr val="C9D8EC"/>
                </a:solidFill>
                <a:latin typeface="Consolas"/>
              </a:rPr>
              <a:t>ACT II</a:t>
            </a:r>
          </a:p>
        </p:txBody>
      </p:sp>
      <p:sp>
        <p:nvSpPr>
          <p:cNvPr id="5" name="TextBox 4"/>
          <p:cNvSpPr txBox="1"/>
          <p:nvPr/>
        </p:nvSpPr>
        <p:spPr>
          <a:xfrm>
            <a:off x="566928" y="1783080"/>
            <a:ext cx="7223760" cy="1828800"/>
          </a:xfrm>
          <a:prstGeom prst="rect">
            <a:avLst/>
          </a:prstGeom>
          <a:noFill/>
        </p:spPr>
        <p:txBody>
          <a:bodyPr wrap="square" lIns="0" rIns="0" tIns="0" bIns="0">
            <a:spAutoFit/>
          </a:bodyPr>
          <a:lstStyle/>
          <a:p>
            <a:pPr>
              <a:lnSpc>
                <a:spcPct val="102000"/>
              </a:lnSpc>
              <a:spcBef>
                <a:spcPts val="0"/>
              </a:spcBef>
              <a:spcAft>
                <a:spcPts val="0"/>
              </a:spcAft>
            </a:pPr>
            <a:r>
              <a:rPr sz="4000" b="0" i="0">
                <a:solidFill>
                  <a:srgbClr val="FCFCFB"/>
                </a:solidFill>
                <a:latin typeface="Georgia"/>
              </a:rPr>
              <a:t>So what is it about education?</a:t>
            </a:r>
          </a:p>
        </p:txBody>
      </p:sp>
      <p:sp>
        <p:nvSpPr>
          <p:cNvPr id="6" name="TextBox 5"/>
          <p:cNvSpPr txBox="1"/>
          <p:nvPr/>
        </p:nvSpPr>
        <p:spPr>
          <a:xfrm>
            <a:off x="566928" y="3886200"/>
            <a:ext cx="6766560" cy="1463040"/>
          </a:xfrm>
          <a:prstGeom prst="rect">
            <a:avLst/>
          </a:prstGeom>
          <a:noFill/>
        </p:spPr>
        <p:txBody>
          <a:bodyPr wrap="square" lIns="0" rIns="0" tIns="0" bIns="0">
            <a:spAutoFit/>
          </a:bodyPr>
          <a:lstStyle/>
          <a:p>
            <a:pPr>
              <a:lnSpc>
                <a:spcPct val="135000"/>
              </a:lnSpc>
              <a:spcBef>
                <a:spcPts val="0"/>
              </a:spcBef>
              <a:spcAft>
                <a:spcPts val="0"/>
              </a:spcAft>
            </a:pPr>
            <a:r>
              <a:rPr sz="1600" b="0" i="1">
                <a:solidFill>
                  <a:srgbClr val="9AA4B0"/>
                </a:solidFill>
                <a:latin typeface="Georgia"/>
              </a:rPr>
              <a:t>Ranked indicator by indicator, what predicts happiness in levels is survival and basic infrastructure. Education looks like the SDG framework's weakest domain and the HDI's strongest. Both readings are correct, because the two frameworks are not measuring the same thing.</a:t>
            </a:r>
          </a:p>
        </p:txBody>
      </p:sp>
      <p:sp>
        <p:nvSpPr>
          <p:cNvPr id="7" name="TextBox 6"/>
          <p:cNvSpPr txBox="1"/>
          <p:nvPr/>
        </p:nvSpPr>
        <p:spPr>
          <a:xfrm>
            <a:off x="566928"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12.7%</a:t>
            </a:r>
          </a:p>
          <a:p>
            <a:pPr>
              <a:lnSpc>
                <a:spcPct val="120000"/>
              </a:lnSpc>
              <a:spcBef>
                <a:spcPts val="0"/>
              </a:spcBef>
              <a:spcAft>
                <a:spcPts val="0"/>
              </a:spcAft>
            </a:pPr>
            <a:r>
              <a:rPr sz="1000" b="0" i="0">
                <a:solidFill>
                  <a:srgbClr val="8A94A0"/>
                </a:solidFill>
                <a:latin typeface="Calibri"/>
              </a:rPr>
              <a:t>SDG4 access &amp; participation, un-pooled from 3.3%</a:t>
            </a:r>
          </a:p>
        </p:txBody>
      </p:sp>
      <p:sp>
        <p:nvSpPr>
          <p:cNvPr id="8" name="TextBox 7"/>
          <p:cNvSpPr txBox="1"/>
          <p:nvPr/>
        </p:nvSpPr>
        <p:spPr>
          <a:xfrm>
            <a:off x="4344314"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40.9%</a:t>
            </a:r>
          </a:p>
          <a:p>
            <a:pPr>
              <a:lnSpc>
                <a:spcPct val="120000"/>
              </a:lnSpc>
              <a:spcBef>
                <a:spcPts val="0"/>
              </a:spcBef>
              <a:spcAft>
                <a:spcPts val="0"/>
              </a:spcAft>
            </a:pPr>
            <a:r>
              <a:rPr sz="1000" b="0" i="0">
                <a:solidFill>
                  <a:srgbClr val="8A94A0"/>
                </a:solidFill>
                <a:latin typeface="Calibri"/>
              </a:rPr>
              <a:t>of countries, HDI mean years of schooling</a:t>
            </a:r>
          </a:p>
        </p:txBody>
      </p:sp>
      <p:sp>
        <p:nvSpPr>
          <p:cNvPr id="9" name="TextBox 8"/>
          <p:cNvSpPr txBox="1"/>
          <p:nvPr/>
        </p:nvSpPr>
        <p:spPr>
          <a:xfrm>
            <a:off x="8121700"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32 / 36</a:t>
            </a:r>
          </a:p>
          <a:p>
            <a:pPr>
              <a:lnSpc>
                <a:spcPct val="120000"/>
              </a:lnSpc>
              <a:spcBef>
                <a:spcPts val="0"/>
              </a:spcBef>
              <a:spcAft>
                <a:spcPts val="0"/>
              </a:spcAft>
            </a:pPr>
            <a:r>
              <a:rPr sz="1000" b="0" i="0">
                <a:solidFill>
                  <a:srgbClr val="8A94A0"/>
                </a:solidFill>
                <a:latin typeface="Calibri"/>
              </a:rPr>
              <a:t>countries, ESS respondents' own attainment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AUTOPSY</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What survives in levels is the raw development gradient</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Ranking the 609 SDG series measured in at least 8 countries by the share of countries in which they are FDR-significant puts child mortality, stunting, water and sanitation, and access to financial services at the top. These are survival and basic infrastructure — the steep part of the development curve, not the 2030 Agenda's institutional superstructure.</a:t>
            </a:r>
          </a:p>
          <a:p>
            <a:pPr>
              <a:lnSpc>
                <a:spcPct val="132000"/>
              </a:lnSpc>
              <a:spcBef>
                <a:spcPts val="0"/>
              </a:spcBef>
              <a:spcAft>
                <a:spcPts val="1100"/>
              </a:spcAft>
            </a:pPr>
            <a:r>
              <a:rPr sz="1150" b="0" i="0">
                <a:solidFill>
                  <a:srgbClr val="5A6068"/>
                </a:solidFill>
                <a:latin typeface="Calibri"/>
              </a:rPr>
              <a:t>The best-performing education indicator ranks about 100th of 609 — and it is participation in organized learning before primary entry, an access measure, which is the same construct Act II turns on. In first differences, only 9 of the 661 series have even one significant country, which is why there is no differences ranking to report at all.</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sdg_indicator_top20.png"/>
          <p:cNvPicPr>
            <a:picLocks noChangeAspect="1"/>
          </p:cNvPicPr>
          <p:nvPr/>
        </p:nvPicPr>
        <p:blipFill>
          <a:blip r:embed="rId2"/>
          <a:stretch>
            <a:fillRect/>
          </a:stretch>
        </p:blipFill>
        <p:spPr>
          <a:xfrm>
            <a:off x="5279547" y="658368"/>
            <a:ext cx="6220145" cy="5074920"/>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The 20 highest-ranking SDG series of 609, by share of countries FDR-significant in levels.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CONTRADICTION</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Yet inside the HDI, education is the strongest domain</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Mean years of schooling is FDR-significant against World Happiness Report happiness in 61 of 150 countries (40.7%) and expected years of schooling in 51 of 150 (34.0%), against 61 of 151 (40.4%) for GNI per capita and 30 of 151 (19.9%) for life expectancy. Education supplies two of the HDI's three strongest components; pooled SDG4 sits at 3.3%. This is the sharpest disagreement between the two frameworks anywhere in the project.</a:t>
            </a:r>
          </a:p>
          <a:p>
            <a:pPr>
              <a:lnSpc>
                <a:spcPct val="132000"/>
              </a:lnSpc>
              <a:spcBef>
                <a:spcPts val="0"/>
              </a:spcBef>
              <a:spcAft>
                <a:spcPts val="1100"/>
              </a:spcAft>
            </a:pPr>
            <a:r>
              <a:rPr sz="1150" b="0" i="0">
                <a:solidFill>
                  <a:srgbClr val="5A6068"/>
                </a:solidFill>
                <a:latin typeface="Calibri"/>
              </a:rPr>
              <a:t>The education pair also leads in first differences, where expected years of schooling is significant in 7 of 150 countries against the composite's 3 (Act I). Education is ahead under both specifications, not only in the cross-section.</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hdi_vs_sdg_frameworks.png"/>
          <p:cNvPicPr>
            <a:picLocks noChangeAspect="1"/>
          </p:cNvPicPr>
          <p:nvPr/>
        </p:nvPicPr>
        <p:blipFill>
          <a:blip r:embed="rId2"/>
          <a:stretch>
            <a:fillRect/>
          </a:stretch>
        </p:blipFill>
        <p:spPr>
          <a:xfrm>
            <a:off x="5120640" y="1604774"/>
            <a:ext cx="6537960" cy="3182107"/>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The same domains under both frameworks. Absolute levels are not directly comparable across frameworks; the within-framework rankings are the safer read.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RESOLUTION</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SDG4's 3.3% describes no construct that exists</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SDG4's 35 official series do not measure one thing. Eighteen of them are equity or parity ratios — gender, location, or wealth parity indices — which is a different quantity from the level of access. Six measure learning outcomes, seven measure infrastructure and inputs, and only two measure access and participation directly.</a:t>
            </a:r>
          </a:p>
          <a:p>
            <a:pPr>
              <a:lnSpc>
                <a:spcPct val="132000"/>
              </a:lnSpc>
              <a:spcBef>
                <a:spcPts val="0"/>
              </a:spcBef>
              <a:spcAft>
                <a:spcPts val="1100"/>
              </a:spcAft>
            </a:pPr>
            <a:r>
              <a:rPr sz="1150" b="0" i="0">
                <a:solidFill>
                  <a:srgbClr val="5A6068"/>
                </a:solidFill>
                <a:latin typeface="Calibri"/>
              </a:rPr>
              <a:t>Split by construct, access and participation reaches 12.7%, comparable to SDG3 health at 11.5%, while learning outcomes sit at 0.9% and parity ratios at 2.5%. The pooled 3.3% is an average across constructs that point in different directions, and it describes none of them. That is a methodological finding in its own right: pooling within a goal can manufacture a null.</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sdg4_unpooled.png"/>
          <p:cNvPicPr>
            <a:picLocks noChangeAspect="1"/>
          </p:cNvPicPr>
          <p:nvPr/>
        </p:nvPicPr>
        <p:blipFill>
          <a:blip r:embed="rId2"/>
          <a:stretch>
            <a:fillRect/>
          </a:stretch>
        </p:blipFill>
        <p:spPr>
          <a:xfrm>
            <a:off x="5120640" y="1103208"/>
            <a:ext cx="6537960" cy="4185240"/>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SDG4 split by what each indicator actually measures, with the pooled figure marked.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ALL THE WAY DOWN</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The signal survives to the individual respondent</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ESS respondents' own educational attainment predicts their own life satisfaction in 32 to 34 of 36 countries, depending on whether attainment is measured as the harmonised ISCED category or as years completed. The effects are small — median R² around 0.01 — but nothing else in this project is that consistent across countries.</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ess_individual_education.png"/>
          <p:cNvPicPr>
            <a:picLocks noChangeAspect="1"/>
          </p:cNvPicPr>
          <p:nvPr/>
        </p:nvPicPr>
        <p:blipFill>
          <a:blip r:embed="rId2"/>
          <a:stretch>
            <a:fillRect/>
          </a:stretch>
        </p:blipFill>
        <p:spPr>
          <a:xfrm>
            <a:off x="5120640" y="1214810"/>
            <a:ext cx="6537960" cy="3962035"/>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Per-country tests of respondents' own attainment against their own life satisfaction, 36 ESS countries.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TRIANGULATION</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Two surveys, two outcomes, one answer</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Aggregating ESS respondents' reported years of schooling to the country level and regressing World Happiness Report happiness on it gives R² = 0.308 across 189 country-rounds. The HDI's own mean-years-of-schooling series, on exactly the same cells and the same outcome, gives 0.161. An independently measured schooling variable does not merely reproduce the HDI's — it roughly doubles it.</a:t>
            </a:r>
          </a:p>
          <a:p>
            <a:pPr>
              <a:lnSpc>
                <a:spcPct val="132000"/>
              </a:lnSpc>
              <a:spcBef>
                <a:spcPts val="0"/>
              </a:spcBef>
              <a:spcAft>
                <a:spcPts val="1100"/>
              </a:spcAft>
            </a:pPr>
            <a:r>
              <a:rPr sz="1150" b="0" i="0">
                <a:solidFill>
                  <a:srgbClr val="5A6068"/>
                </a:solidFill>
                <a:latin typeface="Calibri"/>
              </a:rPr>
              <a:t>An earlier draft compared 0.308 against 0.326 and called them near-identical. That was an error: 0.326 is the median within-country time-series R² from HappinessHDI.R, not a cross-country figure, so the two were never comparable. The corrected comparison is stronger, not weaker.</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ess_triangulation.png"/>
          <p:cNvPicPr>
            <a:picLocks noChangeAspect="1"/>
          </p:cNvPicPr>
          <p:nvPr/>
        </p:nvPicPr>
        <p:blipFill>
          <a:blip r:embed="rId2"/>
          <a:stretch>
            <a:fillRect/>
          </a:stretch>
        </p:blipFill>
        <p:spPr>
          <a:xfrm>
            <a:off x="5120640" y="2300998"/>
            <a:ext cx="6537960" cy="1789660"/>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Country-aggregated ESS schooling against WHR happiness, beside the HDI's own schooling component.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COMPOSITE</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The three panels the commentary needs</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Commentaries carry one or two display items, so the three results that carry the argument have to share a figure: the replicated collapse, SDG4 un-pooled, and education's signal as the unit of measurement moves from pooled indicators down to individual respondents.</a:t>
            </a:r>
          </a:p>
          <a:p>
            <a:pPr>
              <a:lnSpc>
                <a:spcPct val="132000"/>
              </a:lnSpc>
              <a:spcBef>
                <a:spcPts val="0"/>
              </a:spcBef>
              <a:spcAft>
                <a:spcPts val="1100"/>
              </a:spcAft>
            </a:pPr>
            <a:r>
              <a:rPr sz="1150" b="0" i="0">
                <a:solidFill>
                  <a:srgbClr val="5A6068"/>
                </a:solidFill>
                <a:latin typeface="Calibri"/>
              </a:rPr>
              <a:t>One caution to keep in the caption: panel c's rows do not share a denominator. It shows that the construct holds at every level of aggregation, not that the effect grows.</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Figure1_commentary.png"/>
          <p:cNvPicPr>
            <a:picLocks noChangeAspect="1"/>
          </p:cNvPicPr>
          <p:nvPr/>
        </p:nvPicPr>
        <p:blipFill>
          <a:blip r:embed="rId2"/>
          <a:stretch>
            <a:fillRect/>
          </a:stretch>
        </p:blipFill>
        <p:spPr>
          <a:xfrm>
            <a:off x="5120640" y="808954"/>
            <a:ext cx="6537960" cy="4773748"/>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Proposed Figure 1 for submission. Draft — panel c's denominators differ by row and are labelled at right.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8EBEF"/>
        </a:solidFill>
        <a:effectLst/>
      </p:bgPr>
    </p:bg>
    <p:spTree>
      <p:nvGrpSpPr>
        <p:cNvPr id="1" name=""/>
        <p:cNvGrpSpPr/>
        <p:nvPr/>
      </p:nvGrpSpPr>
      <p:grpSpPr/>
      <p:sp>
        <p:nvSpPr>
          <p:cNvPr id="2" name="Rectangle 1"/>
          <p:cNvSpPr/>
          <p:nvPr/>
        </p:nvSpPr>
        <p:spPr>
          <a:xfrm>
            <a:off x="566928" y="2103120"/>
            <a:ext cx="54864" cy="237744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00200"/>
            <a:ext cx="8686800" cy="274320"/>
          </a:xfrm>
          <a:prstGeom prst="rect">
            <a:avLst/>
          </a:prstGeom>
          <a:noFill/>
        </p:spPr>
        <p:txBody>
          <a:bodyPr wrap="square" lIns="0" rIns="0" tIns="0" bIns="0">
            <a:spAutoFit/>
          </a:bodyPr>
          <a:lstStyle/>
          <a:p>
            <a:pPr>
              <a:spcBef>
                <a:spcPts val="0"/>
              </a:spcBef>
              <a:spcAft>
                <a:spcPts val="0"/>
              </a:spcAft>
            </a:pPr>
            <a:r>
              <a:rPr sz="1100" b="0" i="0">
                <a:solidFill>
                  <a:srgbClr val="17549E"/>
                </a:solidFill>
                <a:latin typeface="Consolas"/>
              </a:rPr>
              <a:t>WHERE ACT II LEAVES US</a:t>
            </a:r>
          </a:p>
        </p:txBody>
      </p:sp>
      <p:sp>
        <p:nvSpPr>
          <p:cNvPr id="4" name="TextBox 3"/>
          <p:cNvSpPr txBox="1"/>
          <p:nvPr/>
        </p:nvSpPr>
        <p:spPr>
          <a:xfrm>
            <a:off x="914400" y="2148840"/>
            <a:ext cx="9509760" cy="2926080"/>
          </a:xfrm>
          <a:prstGeom prst="rect">
            <a:avLst/>
          </a:prstGeom>
          <a:noFill/>
        </p:spPr>
        <p:txBody>
          <a:bodyPr wrap="square" lIns="0" rIns="0" tIns="0" bIns="0">
            <a:spAutoFit/>
          </a:bodyPr>
          <a:lstStyle/>
          <a:p>
            <a:pPr>
              <a:lnSpc>
                <a:spcPct val="135000"/>
              </a:lnSpc>
              <a:spcBef>
                <a:spcPts val="0"/>
              </a:spcBef>
              <a:spcAft>
                <a:spcPts val="0"/>
              </a:spcAft>
            </a:pPr>
            <a:r>
              <a:rPr sz="2100" b="0" i="0">
                <a:solidFill>
                  <a:srgbClr val="14171C"/>
                </a:solidFill>
                <a:latin typeface="Georgia"/>
              </a:rPr>
              <a:t>The precise claim, and the one the commentary must not overstate: education does not escape the differences collapse. Nothing does — expected years of schooling leads that column with 7 of 150 countries, which is a lead over the composite and still a collapse. Education is the exception in consistency — the one construct whose level signal holds across frameworks, producers, wellbeing instruments, and units of observation all the way down to the individual, and it holds only when education is measured as attainment and access.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0" y="822960"/>
            <a:ext cx="3291840" cy="4114800"/>
          </a:xfrm>
          <a:prstGeom prst="rect">
            <a:avLst/>
          </a:prstGeom>
          <a:noFill/>
        </p:spPr>
        <p:txBody>
          <a:bodyPr wrap="square" lIns="0" rIns="0" tIns="0" bIns="0">
            <a:spAutoFit/>
          </a:bodyPr>
          <a:lstStyle/>
          <a:p>
            <a:pPr algn="r">
              <a:spcBef>
                <a:spcPts val="0"/>
              </a:spcBef>
              <a:spcAft>
                <a:spcPts val="0"/>
              </a:spcAft>
            </a:pPr>
            <a:r>
              <a:rPr sz="20000" b="0" i="0">
                <a:solidFill>
                  <a:srgbClr val="2A3340"/>
                </a:solidFill>
                <a:latin typeface="Georgia"/>
              </a:rPr>
              <a:t>III</a:t>
            </a:r>
          </a:p>
        </p:txBody>
      </p:sp>
      <p:sp>
        <p:nvSpPr>
          <p:cNvPr id="3" name="Rectangle 2"/>
          <p:cNvSpPr/>
          <p:nvPr/>
        </p:nvSpPr>
        <p:spPr>
          <a:xfrm>
            <a:off x="566928" y="1371600"/>
            <a:ext cx="7315200" cy="25400"/>
          </a:xfrm>
          <a:prstGeom prst="rect">
            <a:avLst/>
          </a:prstGeom>
          <a:solidFill>
            <a:srgbClr val="C9D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60120"/>
            <a:ext cx="5486400" cy="274320"/>
          </a:xfrm>
          <a:prstGeom prst="rect">
            <a:avLst/>
          </a:prstGeom>
          <a:noFill/>
        </p:spPr>
        <p:txBody>
          <a:bodyPr wrap="square" lIns="0" rIns="0" tIns="0" bIns="0">
            <a:spAutoFit/>
          </a:bodyPr>
          <a:lstStyle/>
          <a:p>
            <a:pPr>
              <a:spcBef>
                <a:spcPts val="0"/>
              </a:spcBef>
              <a:spcAft>
                <a:spcPts val="0"/>
              </a:spcAft>
            </a:pPr>
            <a:r>
              <a:rPr sz="1100" b="0" i="0">
                <a:solidFill>
                  <a:srgbClr val="C9D8EC"/>
                </a:solidFill>
                <a:latin typeface="Consolas"/>
              </a:rPr>
              <a:t>ACT III</a:t>
            </a:r>
          </a:p>
        </p:txBody>
      </p:sp>
      <p:sp>
        <p:nvSpPr>
          <p:cNvPr id="5" name="TextBox 4"/>
          <p:cNvSpPr txBox="1"/>
          <p:nvPr/>
        </p:nvSpPr>
        <p:spPr>
          <a:xfrm>
            <a:off x="566928" y="1783080"/>
            <a:ext cx="7223760" cy="1828800"/>
          </a:xfrm>
          <a:prstGeom prst="rect">
            <a:avLst/>
          </a:prstGeom>
          <a:noFill/>
        </p:spPr>
        <p:txBody>
          <a:bodyPr wrap="square" lIns="0" rIns="0" tIns="0" bIns="0">
            <a:spAutoFit/>
          </a:bodyPr>
          <a:lstStyle/>
          <a:p>
            <a:pPr>
              <a:lnSpc>
                <a:spcPct val="102000"/>
              </a:lnSpc>
              <a:spcBef>
                <a:spcPts val="0"/>
              </a:spcBef>
              <a:spcAft>
                <a:spcPts val="0"/>
              </a:spcAft>
            </a:pPr>
            <a:r>
              <a:rPr sz="4000" b="0" i="0">
                <a:solidFill>
                  <a:srgbClr val="FCFCFB"/>
                </a:solidFill>
                <a:latin typeface="Georgia"/>
              </a:rPr>
              <a:t>Priorities, and what kind of education</a:t>
            </a:r>
          </a:p>
        </p:txBody>
      </p:sp>
      <p:sp>
        <p:nvSpPr>
          <p:cNvPr id="6" name="TextBox 5"/>
          <p:cNvSpPr txBox="1"/>
          <p:nvPr/>
        </p:nvSpPr>
        <p:spPr>
          <a:xfrm>
            <a:off x="566928" y="3886200"/>
            <a:ext cx="6766560" cy="1463040"/>
          </a:xfrm>
          <a:prstGeom prst="rect">
            <a:avLst/>
          </a:prstGeom>
          <a:noFill/>
        </p:spPr>
        <p:txBody>
          <a:bodyPr wrap="square" lIns="0" rIns="0" tIns="0" bIns="0">
            <a:spAutoFit/>
          </a:bodyPr>
          <a:lstStyle/>
          <a:p>
            <a:pPr>
              <a:lnSpc>
                <a:spcPct val="135000"/>
              </a:lnSpc>
              <a:spcBef>
                <a:spcPts val="0"/>
              </a:spcBef>
              <a:spcAft>
                <a:spcPts val="0"/>
              </a:spcAft>
            </a:pPr>
            <a:r>
              <a:rPr sz="1600" b="0" i="1">
                <a:solidFill>
                  <a:srgbClr val="9AA4B0"/>
                </a:solidFill>
                <a:latin typeface="Georgia"/>
              </a:rPr>
              <a:t>Two questions follow. Where should the lever be pulled — which turns on scale, because the ordering of predictors inverts inside countries. And what kind of education, because the wellbeing signal sits with attainment and access rather than with the measured learning the post-2030 architecture is built around.</a:t>
            </a:r>
          </a:p>
        </p:txBody>
      </p:sp>
      <p:sp>
        <p:nvSpPr>
          <p:cNvPr id="7" name="TextBox 6"/>
          <p:cNvSpPr txBox="1"/>
          <p:nvPr/>
        </p:nvSpPr>
        <p:spPr>
          <a:xfrm>
            <a:off x="566928"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+0.87 → +0.12</a:t>
            </a:r>
          </a:p>
          <a:p>
            <a:pPr>
              <a:lnSpc>
                <a:spcPct val="120000"/>
              </a:lnSpc>
              <a:spcBef>
                <a:spcPts val="0"/>
              </a:spcBef>
              <a:spcAft>
                <a:spcPts val="0"/>
              </a:spcAft>
            </a:pPr>
            <a:r>
              <a:rPr sz="1000" b="0" i="0">
                <a:solidFill>
                  <a:srgbClr val="8A94A0"/>
                </a:solidFill>
                <a:latin typeface="Calibri"/>
              </a:rPr>
              <a:t>development, between countries → within them</a:t>
            </a:r>
          </a:p>
        </p:txBody>
      </p:sp>
      <p:sp>
        <p:nvSpPr>
          <p:cNvPr id="8" name="TextBox 7"/>
          <p:cNvSpPr txBox="1"/>
          <p:nvPr/>
        </p:nvSpPr>
        <p:spPr>
          <a:xfrm>
            <a:off x="4344314"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12.7%</a:t>
            </a:r>
          </a:p>
          <a:p>
            <a:pPr>
              <a:lnSpc>
                <a:spcPct val="120000"/>
              </a:lnSpc>
              <a:spcBef>
                <a:spcPts val="0"/>
              </a:spcBef>
              <a:spcAft>
                <a:spcPts val="0"/>
              </a:spcAft>
            </a:pPr>
            <a:r>
              <a:rPr sz="1000" b="0" i="0">
                <a:solidFill>
                  <a:srgbClr val="8A94A0"/>
                </a:solidFill>
                <a:latin typeface="Calibri"/>
              </a:rPr>
              <a:t>access &amp; participation</a:t>
            </a:r>
          </a:p>
        </p:txBody>
      </p:sp>
      <p:sp>
        <p:nvSpPr>
          <p:cNvPr id="9" name="TextBox 8"/>
          <p:cNvSpPr txBox="1"/>
          <p:nvPr/>
        </p:nvSpPr>
        <p:spPr>
          <a:xfrm>
            <a:off x="8121700"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0.9%</a:t>
            </a:r>
          </a:p>
          <a:p>
            <a:pPr>
              <a:lnSpc>
                <a:spcPct val="120000"/>
              </a:lnSpc>
              <a:spcBef>
                <a:spcPts val="0"/>
              </a:spcBef>
              <a:spcAft>
                <a:spcPts val="0"/>
              </a:spcAft>
            </a:pPr>
            <a:r>
              <a:rPr sz="1000" b="0" i="0">
                <a:solidFill>
                  <a:srgbClr val="8A94A0"/>
                </a:solidFill>
                <a:latin typeface="Calibri"/>
              </a:rPr>
              <a:t>measured learning outcomes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WHERE THE LEVER IS</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Development inequality inside countries mostly does not become wellbeing inequality</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Below the Very High tier, countries contain multitudes. Germany's regions span 0.05 of subnational HDI; China's span 0.30 and India's 0.19 — several development tiers' worth of variation inside single countries. If regional development drove regional wellbeing, this is where it would show.</a:t>
            </a:r>
          </a:p>
          <a:p>
            <a:pPr>
              <a:lnSpc>
                <a:spcPct val="132000"/>
              </a:lnSpc>
              <a:spcBef>
                <a:spcPts val="0"/>
              </a:spcBef>
              <a:spcAft>
                <a:spcPts val="1100"/>
              </a:spcAft>
            </a:pPr>
            <a:r>
              <a:rPr sz="1150" b="0" i="0">
                <a:solidFill>
                  <a:srgbClr val="5A6068"/>
                </a:solidFill>
                <a:latin typeface="Calibri"/>
              </a:rPr>
              <a:t>It mostly doesn't. Holding country fixed and regressing region-mean life satisfaction on regional subnational HDI gives a significantly positive gradient in only 3 of 16 ESS countries — France, Belgium, and Germany — and the gradient is not steeper where internal inequality is larger. Which country's ladder you are on matters more than which rung you occupy within it.</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pic>
        <p:nvPicPr>
          <p:cNvPr id="6" name="Picture 5" descr="within_country_gradient.png"/>
          <p:cNvPicPr>
            <a:picLocks noChangeAspect="1"/>
          </p:cNvPicPr>
          <p:nvPr/>
        </p:nvPicPr>
        <p:blipFill>
          <a:blip r:embed="rId2"/>
          <a:stretch>
            <a:fillRect/>
          </a:stretch>
        </p:blipFill>
        <p:spPr>
          <a:xfrm>
            <a:off x="5120640" y="1553033"/>
            <a:ext cx="6537960" cy="3285590"/>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Within-country gradients of region-mean life satisfaction on regional SHDI, 16 ESS countries ordered by national HDI.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FLIP</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Health and social trust do inside countries what development does between them</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Between countries, development leads and the two wellbeing instruments agree almost exactly: the HDI correlates at r = +0.89 with World Happiness Report happiness and +0.87 with ESS life satisfaction, with trust and health close behind and all three positive.</a:t>
            </a:r>
          </a:p>
          <a:p>
            <a:pPr>
              <a:lnSpc>
                <a:spcPct val="132000"/>
              </a:lnSpc>
              <a:spcBef>
                <a:spcPts val="0"/>
              </a:spcBef>
              <a:spcAft>
                <a:spcPts val="1100"/>
              </a:spcAft>
            </a:pPr>
            <a:r>
              <a:rPr sz="1150" b="0" i="0">
                <a:solidFill>
                  <a:srgbClr val="5A6068"/>
                </a:solidFill>
                <a:latin typeface="Calibri"/>
              </a:rPr>
              <a:t>Within countries the ranking inverts. Development falls to a median regional correlation of +0.12, significant in 3 of 16 countries, while self-rated health holds at +0.51 (8 of 16) and social trust at +0.49 (6 of 16). The World Happiness Report cannot see this at all — it has no subnational values. It is the specific thing the ESS adds.</a:t>
            </a:r>
          </a:p>
          <a:p>
            <a:pPr>
              <a:lnSpc>
                <a:spcPct val="132000"/>
              </a:lnSpc>
              <a:spcBef>
                <a:spcPts val="0"/>
              </a:spcBef>
              <a:spcAft>
                <a:spcPts val="1100"/>
              </a:spcAft>
            </a:pPr>
            <a:r>
              <a:rPr sz="1150" b="0" i="0">
                <a:solidFill>
                  <a:srgbClr val="5A6068"/>
                </a:solidFill>
                <a:latin typeface="Calibri"/>
              </a:rPr>
              <a:t>Two cautions on the detail. The health-versus-trust ordering is not stable: aggregating region means across waves rather than within them reverses it, putting trust at +0.57 and health at +0.50. What is stable, under every specification we tried, is that both sit near +0.5 while development sits near zero. And per-country coverage varies sharply — Italy matches only 30% of respondents to a region, Sweden 57%, Croatia 69%, against 91–100% elsewhere. Dropping those three, or dropping regions built on fewer than 200 respondents, leaves the flip intact.</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pic>
        <p:nvPicPr>
          <p:cNvPr id="6" name="Picture 5" descr="ranking_flip.png"/>
          <p:cNvPicPr>
            <a:picLocks noChangeAspect="1"/>
          </p:cNvPicPr>
          <p:nvPr/>
        </p:nvPicPr>
        <p:blipFill>
          <a:blip r:embed="rId2"/>
          <a:stretch>
            <a:fillRect/>
          </a:stretch>
        </p:blipFill>
        <p:spPr>
          <a:xfrm>
            <a:off x="5120640" y="1711429"/>
            <a:ext cx="6537960" cy="2968798"/>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Candidate Figure 2. National correlations beside within-country regional correlations, for development, health, and trust.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ON PRIORITIES</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Indicator dashboards are not wellbeing instruments</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Development indicators tell you reliably where wellbeing is high. They tell you almost nothing about when it will rise. Across every framework tested here, year-on-year indicator movement carries essentially no wellbeing information within the measurement window — a decade or so.</a:t>
            </a:r>
          </a:p>
          <a:p>
            <a:pPr>
              <a:lnSpc>
                <a:spcPct val="132000"/>
              </a:lnSpc>
              <a:spcBef>
                <a:spcPts val="0"/>
              </a:spcBef>
              <a:spcAft>
                <a:spcPts val="1100"/>
              </a:spcAft>
            </a:pPr>
            <a:r>
              <a:rPr sz="1400" b="0" i="0">
                <a:solidFill>
                  <a:srgbClr val="5A6068"/>
                </a:solidFill>
                <a:latin typeface="Calibri"/>
              </a:rPr>
              <a:t>The implication is about horizon and instrument, not about whether development matters. A monitoring architecture designed to reward annual indicator movement should not be read as tracking wellbeing, and a government that improves its dashboard position in a given year should not expect a wellbeing dividend inside the same electoral cycle.</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ON WHAT KIND OF EDUCATION</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The consensus moved to learning; the wellbeing evidence points at attainment</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Global education policy has shifted decisively over the past decade from schooling to learning — the learning-crisis framing, learning-poverty targets, and an indicator architecture built around measured proficiency. The premise is that years in school without demonstrated learning are an empty metric.</a:t>
            </a:r>
          </a:p>
          <a:p>
            <a:pPr>
              <a:lnSpc>
                <a:spcPct val="132000"/>
              </a:lnSpc>
              <a:spcBef>
                <a:spcPts val="0"/>
              </a:spcBef>
              <a:spcAft>
                <a:spcPts val="1100"/>
              </a:spcAft>
            </a:pPr>
            <a:r>
              <a:rPr sz="1400" b="0" i="0">
                <a:solidFill>
                  <a:srgbClr val="5A6068"/>
                </a:solidFill>
                <a:latin typeface="Calibri"/>
              </a:rPr>
              <a:t>Every level of aggregation we can test points the other way. Attainment and access carry the wellbeing signal — 12.7% for SDG4 access, 34.0% and 40.7% for the HDI's schooling components, 32 of 36 countries at the individual level — while measured learning outcomes sit at 0.9% and parity ratios at 2.5%.</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WHAT WE CANNOT SAY</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Three limits that keep this a question rather than a recommendation</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None of this is causal. The design is correlational throughout, and the levels results in particular are cross-sectional comparisons between countries.</a:t>
            </a:r>
          </a:p>
          <a:p>
            <a:pPr>
              <a:lnSpc>
                <a:spcPct val="132000"/>
              </a:lnSpc>
              <a:spcBef>
                <a:spcPts val="0"/>
              </a:spcBef>
              <a:spcAft>
                <a:spcPts val="1100"/>
              </a:spcAft>
            </a:pPr>
            <a:r>
              <a:rPr sz="1400" b="0" i="0">
                <a:solidFill>
                  <a:srgbClr val="5A6068"/>
                </a:solidFill>
                <a:latin typeface="Calibri"/>
              </a:rPr>
              <a:t>Schooling cannot be separated from what schooling stands in for. Years attained proxy labour-market position, economic security, autonomy, and social standing, and this design cannot pull them apart. Individual effects are small: a median R² near 0.01.</a:t>
            </a:r>
          </a:p>
          <a:p>
            <a:pPr>
              <a:lnSpc>
                <a:spcPct val="132000"/>
              </a:lnSpc>
              <a:spcBef>
                <a:spcPts val="0"/>
              </a:spcBef>
              <a:spcAft>
                <a:spcPts val="1100"/>
              </a:spcAft>
            </a:pPr>
            <a:r>
              <a:rPr sz="1400" b="0" i="0">
                <a:solidFill>
                  <a:srgbClr val="5A6068"/>
                </a:solidFill>
                <a:latin typeface="Calibri"/>
              </a:rPr>
              <a:t>The within-country results are Europe-only. The ESS is the only regional wellbeing source with the coverage this design needs — Gallup's subnational files are paywalled — so the priorities argument generalises across 16 European countries and not beyond them. That belongs in the text as a scope condition, not buried in a limitations paragraph, because the ranking flip is the most policy-relevant result here and will be the most contested.</a:t>
            </a:r>
          </a:p>
          <a:p>
            <a:pPr>
              <a:lnSpc>
                <a:spcPct val="132000"/>
              </a:lnSpc>
              <a:spcBef>
                <a:spcPts val="0"/>
              </a:spcBef>
              <a:spcAft>
                <a:spcPts val="1100"/>
              </a:spcAft>
            </a:pPr>
            <a:r>
              <a:rPr sz="1400" b="0" i="0">
                <a:solidFill>
                  <a:srgbClr val="5A6068"/>
                </a:solidFill>
                <a:latin typeface="Calibri"/>
              </a:rPr>
              <a:t>Some of the parity and learning indicators' weakness is coverage rather than construct — they are the youngest and thinnest series in the SDG database, and thin series fail significance tests for uninteresting reasons. The commentary should concede this explicitly and say what would settle it.</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ASK</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Should wellbeing be a criterion for education targets after 2030?</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That is the question the commentary exists to pose, and it has a sharp form: we have built a global education monitoring architecture around measured learning outcomes, and the wellbeing evidence points at years attained. If both are to be kept, someone has to say what the education system is being optimised for.</a:t>
            </a:r>
          </a:p>
          <a:p>
            <a:pPr>
              <a:lnSpc>
                <a:spcPct val="132000"/>
              </a:lnSpc>
              <a:spcBef>
                <a:spcPts val="0"/>
              </a:spcBef>
              <a:spcAft>
                <a:spcPts val="1100"/>
              </a:spcAft>
            </a:pPr>
            <a:r>
              <a:rPr sz="1400" b="0" i="0">
                <a:solidFill>
                  <a:srgbClr val="5A6068"/>
                </a:solidFill>
                <a:latin typeface="Calibri"/>
              </a:rPr>
              <a:t>A commentary cannot settle that. It can put the disagreement on the record with the evidence attached, which is what the three acts are for.</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8EBEF"/>
        </a:solidFill>
        <a:effectLst/>
      </p:bgPr>
    </p:bg>
    <p:spTree>
      <p:nvGrpSpPr>
        <p:cNvPr id="1" name=""/>
        <p:cNvGrpSpPr/>
        <p:nvPr/>
      </p:nvGrpSpPr>
      <p:grpSpPr/>
      <p:sp>
        <p:nvSpPr>
          <p:cNvPr id="2" name="Rectangle 1"/>
          <p:cNvSpPr/>
          <p:nvPr/>
        </p:nvSpPr>
        <p:spPr>
          <a:xfrm>
            <a:off x="566928" y="2103120"/>
            <a:ext cx="54864" cy="237744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00200"/>
            <a:ext cx="8686800" cy="274320"/>
          </a:xfrm>
          <a:prstGeom prst="rect">
            <a:avLst/>
          </a:prstGeom>
          <a:noFill/>
        </p:spPr>
        <p:txBody>
          <a:bodyPr wrap="square" lIns="0" rIns="0" tIns="0" bIns="0">
            <a:spAutoFit/>
          </a:bodyPr>
          <a:lstStyle/>
          <a:p>
            <a:pPr>
              <a:spcBef>
                <a:spcPts val="0"/>
              </a:spcBef>
              <a:spcAft>
                <a:spcPts val="0"/>
              </a:spcAft>
            </a:pPr>
            <a:r>
              <a:rPr sz="1100" b="0" i="0">
                <a:solidFill>
                  <a:srgbClr val="17549E"/>
                </a:solidFill>
                <a:latin typeface="Consolas"/>
              </a:rPr>
              <a:t>WHERE ACT III LEAVES US</a:t>
            </a:r>
          </a:p>
        </p:txBody>
      </p:sp>
      <p:sp>
        <p:nvSpPr>
          <p:cNvPr id="4" name="TextBox 3"/>
          <p:cNvSpPr txBox="1"/>
          <p:nvPr/>
        </p:nvSpPr>
        <p:spPr>
          <a:xfrm>
            <a:off x="914400" y="2148840"/>
            <a:ext cx="9509760" cy="2926080"/>
          </a:xfrm>
          <a:prstGeom prst="rect">
            <a:avLst/>
          </a:prstGeom>
          <a:noFill/>
        </p:spPr>
        <p:txBody>
          <a:bodyPr wrap="square" lIns="0" rIns="0" tIns="0" bIns="0">
            <a:spAutoFit/>
          </a:bodyPr>
          <a:lstStyle/>
          <a:p>
            <a:pPr>
              <a:lnSpc>
                <a:spcPct val="135000"/>
              </a:lnSpc>
              <a:spcBef>
                <a:spcPts val="0"/>
              </a:spcBef>
              <a:spcAft>
                <a:spcPts val="0"/>
              </a:spcAft>
            </a:pPr>
            <a:r>
              <a:rPr sz="2100" b="0" i="0">
                <a:solidFill>
                  <a:srgbClr val="14171C"/>
                </a:solidFill>
                <a:latin typeface="Georgia"/>
              </a:rPr>
              <a:t>The recommended framing for submission: lead with the education exception as the positive finding, use the generalised collapse as the backdrop that makes it surprising, and close on the target-setting question. That ordering makes Act I load-bearing without making it the story.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229600" cy="822960"/>
          </a:xfrm>
          <a:prstGeom prst="rect">
            <a:avLst/>
          </a:prstGeom>
          <a:noFill/>
        </p:spPr>
        <p:txBody>
          <a:bodyPr wrap="square" lIns="0" rIns="0" tIns="0" bIns="0">
            <a:spAutoFit/>
          </a:bodyPr>
          <a:lstStyle/>
          <a:p>
            <a:pPr>
              <a:spcBef>
                <a:spcPts val="0"/>
              </a:spcBef>
              <a:spcAft>
                <a:spcPts val="600"/>
              </a:spcAft>
            </a:pPr>
            <a:r>
              <a:rPr sz="3200" b="0" i="0">
                <a:solidFill>
                  <a:srgbClr val="14171C"/>
                </a:solidFill>
                <a:latin typeface="Georgia"/>
              </a:rPr>
              <a:t>Decisions for the team</a:t>
            </a:r>
          </a:p>
          <a:p>
            <a:pPr>
              <a:spcBef>
                <a:spcPts val="0"/>
              </a:spcBef>
              <a:spcAft>
                <a:spcPts val="0"/>
              </a:spcAft>
            </a:pPr>
            <a:r>
              <a:rPr sz="1300" b="0" i="0">
                <a:solidFill>
                  <a:srgbClr val="5A6068"/>
                </a:solidFill>
                <a:latin typeface="Calibri"/>
              </a:rPr>
              <a:t>Five things the acts do not settle, in the order they block drafting.</a:t>
            </a:r>
          </a:p>
        </p:txBody>
      </p:sp>
      <p:sp>
        <p:nvSpPr>
          <p:cNvPr id="3" name="Rectangle 2"/>
          <p:cNvSpPr/>
          <p:nvPr/>
        </p:nvSpPr>
        <p:spPr>
          <a:xfrm>
            <a:off x="566928" y="1828800"/>
            <a:ext cx="3472586"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011680"/>
            <a:ext cx="3472586" cy="1828800"/>
          </a:xfrm>
          <a:prstGeom prst="rect">
            <a:avLst/>
          </a:prstGeom>
          <a:noFill/>
        </p:spPr>
        <p:txBody>
          <a:bodyPr wrap="square" lIns="0" rIns="0" tIns="0" bIns="0">
            <a:spAutoFit/>
          </a:bodyPr>
          <a:lstStyle/>
          <a:p>
            <a:pPr>
              <a:spcBef>
                <a:spcPts val="0"/>
              </a:spcBef>
              <a:spcAft>
                <a:spcPts val="700"/>
              </a:spcAft>
            </a:pPr>
            <a:r>
              <a:rPr sz="1050" b="0" i="0">
                <a:solidFill>
                  <a:srgbClr val="17549E"/>
                </a:solidFill>
                <a:latin typeface="Consolas"/>
              </a:rPr>
              <a:t>FRAMING</a:t>
            </a:r>
          </a:p>
          <a:p>
            <a:pPr>
              <a:lnSpc>
                <a:spcPct val="130000"/>
              </a:lnSpc>
              <a:spcBef>
                <a:spcPts val="0"/>
              </a:spcBef>
              <a:spcAft>
                <a:spcPts val="0"/>
              </a:spcAft>
            </a:pPr>
            <a:r>
              <a:rPr sz="1100" b="0" i="0">
                <a:solidFill>
                  <a:srgbClr val="5A6068"/>
                </a:solidFill>
                <a:latin typeface="Calibri"/>
              </a:rPr>
              <a:t>Lead with the education exception and use the generalised collapse as Act I backdrop — recommended — or lead with the robustness result and treat education as the coda. This decides title, abstract, and venue.</a:t>
            </a:r>
          </a:p>
        </p:txBody>
      </p:sp>
      <p:sp>
        <p:nvSpPr>
          <p:cNvPr id="5" name="Rectangle 4"/>
          <p:cNvSpPr/>
          <p:nvPr/>
        </p:nvSpPr>
        <p:spPr>
          <a:xfrm>
            <a:off x="4359554" y="1828800"/>
            <a:ext cx="3472586"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59554" y="2011680"/>
            <a:ext cx="3472586" cy="1828800"/>
          </a:xfrm>
          <a:prstGeom prst="rect">
            <a:avLst/>
          </a:prstGeom>
          <a:noFill/>
        </p:spPr>
        <p:txBody>
          <a:bodyPr wrap="square" lIns="0" rIns="0" tIns="0" bIns="0">
            <a:spAutoFit/>
          </a:bodyPr>
          <a:lstStyle/>
          <a:p>
            <a:pPr>
              <a:spcBef>
                <a:spcPts val="0"/>
              </a:spcBef>
              <a:spcAft>
                <a:spcPts val="700"/>
              </a:spcAft>
            </a:pPr>
            <a:r>
              <a:rPr sz="1050" b="0" i="0">
                <a:solidFill>
                  <a:srgbClr val="17549E"/>
                </a:solidFill>
                <a:latin typeface="Consolas"/>
              </a:rPr>
              <a:t>DISPLAY ITEMS</a:t>
            </a:r>
          </a:p>
          <a:p>
            <a:pPr>
              <a:lnSpc>
                <a:spcPct val="130000"/>
              </a:lnSpc>
              <a:spcBef>
                <a:spcPts val="0"/>
              </a:spcBef>
              <a:spcAft>
                <a:spcPts val="0"/>
              </a:spcAft>
            </a:pPr>
            <a:r>
              <a:rPr sz="1100" b="0" i="0">
                <a:solidFill>
                  <a:srgbClr val="5A6068"/>
                </a:solidFill>
                <a:latin typeface="Calibri"/>
              </a:rPr>
              <a:t>Commentaries allow one or two. Proposed: the three-panel composite as Figure 1, the ranking flip as Figure 2. Everything else moves to supplementary.</a:t>
            </a:r>
          </a:p>
        </p:txBody>
      </p:sp>
      <p:sp>
        <p:nvSpPr>
          <p:cNvPr id="7" name="Rectangle 6"/>
          <p:cNvSpPr/>
          <p:nvPr/>
        </p:nvSpPr>
        <p:spPr>
          <a:xfrm>
            <a:off x="8152180" y="1828800"/>
            <a:ext cx="3472586"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52180" y="2011680"/>
            <a:ext cx="3472586" cy="1828800"/>
          </a:xfrm>
          <a:prstGeom prst="rect">
            <a:avLst/>
          </a:prstGeom>
          <a:noFill/>
        </p:spPr>
        <p:txBody>
          <a:bodyPr wrap="square" lIns="0" rIns="0" tIns="0" bIns="0">
            <a:spAutoFit/>
          </a:bodyPr>
          <a:lstStyle/>
          <a:p>
            <a:pPr>
              <a:spcBef>
                <a:spcPts val="0"/>
              </a:spcBef>
              <a:spcAft>
                <a:spcPts val="700"/>
              </a:spcAft>
            </a:pPr>
            <a:r>
              <a:rPr sz="1050" b="0" i="0">
                <a:solidFill>
                  <a:srgbClr val="17549E"/>
                </a:solidFill>
                <a:latin typeface="Consolas"/>
              </a:rPr>
              <a:t>SCOPE OF THE WITHIN-COUNTRY WORK</a:t>
            </a:r>
          </a:p>
          <a:p>
            <a:pPr>
              <a:lnSpc>
                <a:spcPct val="130000"/>
              </a:lnSpc>
              <a:spcBef>
                <a:spcPts val="0"/>
              </a:spcBef>
              <a:spcAft>
                <a:spcPts val="0"/>
              </a:spcAft>
            </a:pPr>
            <a:r>
              <a:rPr sz="1100" b="0" i="0">
                <a:solidFill>
                  <a:srgbClr val="5A6068"/>
                </a:solidFill>
                <a:latin typeface="Calibri"/>
              </a:rPr>
              <a:t>It now sits inside Act III as the evidence on priorities. Does it belong there, or in a third paper? It is the most policy-relevant and the most contested result we have, and it is Europe-only.</a:t>
            </a:r>
          </a:p>
        </p:txBody>
      </p:sp>
      <p:sp>
        <p:nvSpPr>
          <p:cNvPr id="9" name="Rectangle 8"/>
          <p:cNvSpPr/>
          <p:nvPr/>
        </p:nvSpPr>
        <p:spPr>
          <a:xfrm>
            <a:off x="566928" y="4069080"/>
            <a:ext cx="3472586"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4251960"/>
            <a:ext cx="3472586" cy="1828800"/>
          </a:xfrm>
          <a:prstGeom prst="rect">
            <a:avLst/>
          </a:prstGeom>
          <a:noFill/>
        </p:spPr>
        <p:txBody>
          <a:bodyPr wrap="square" lIns="0" rIns="0" tIns="0" bIns="0">
            <a:spAutoFit/>
          </a:bodyPr>
          <a:lstStyle/>
          <a:p>
            <a:pPr>
              <a:spcBef>
                <a:spcPts val="0"/>
              </a:spcBef>
              <a:spcAft>
                <a:spcPts val="700"/>
              </a:spcAft>
            </a:pPr>
            <a:r>
              <a:rPr sz="1050" b="0" i="0">
                <a:solidFill>
                  <a:srgbClr val="17549E"/>
                </a:solidFill>
                <a:latin typeface="Consolas"/>
              </a:rPr>
              <a:t>DATA INVESTMENT</a:t>
            </a:r>
          </a:p>
          <a:p>
            <a:pPr>
              <a:lnSpc>
                <a:spcPct val="130000"/>
              </a:lnSpc>
              <a:spcBef>
                <a:spcPts val="0"/>
              </a:spcBef>
              <a:spcAft>
                <a:spcPts val="0"/>
              </a:spcAft>
            </a:pPr>
            <a:r>
              <a:rPr sz="1100" b="0" i="0">
                <a:solidFill>
                  <a:srgbClr val="5A6068"/>
                </a:solidFill>
                <a:latin typeface="Calibri"/>
              </a:rPr>
              <a:t>The Global Data Lab's separate Education &amp; Work dataset carries 43 subnational schooling indicators by cohort and sex. Pulling it would let us test the education finding subnationally. Before submission or after review?</a:t>
            </a:r>
          </a:p>
        </p:txBody>
      </p:sp>
      <p:sp>
        <p:nvSpPr>
          <p:cNvPr id="11" name="Rectangle 10"/>
          <p:cNvSpPr/>
          <p:nvPr/>
        </p:nvSpPr>
        <p:spPr>
          <a:xfrm>
            <a:off x="4359554" y="4069080"/>
            <a:ext cx="3472586"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59554" y="4251960"/>
            <a:ext cx="3472586" cy="1828800"/>
          </a:xfrm>
          <a:prstGeom prst="rect">
            <a:avLst/>
          </a:prstGeom>
          <a:noFill/>
        </p:spPr>
        <p:txBody>
          <a:bodyPr wrap="square" lIns="0" rIns="0" tIns="0" bIns="0">
            <a:spAutoFit/>
          </a:bodyPr>
          <a:lstStyle/>
          <a:p>
            <a:pPr>
              <a:spcBef>
                <a:spcPts val="0"/>
              </a:spcBef>
              <a:spcAft>
                <a:spcPts val="700"/>
              </a:spcAft>
            </a:pPr>
            <a:r>
              <a:rPr sz="1050" b="0" i="0">
                <a:solidFill>
                  <a:srgbClr val="17549E"/>
                </a:solidFill>
                <a:latin typeface="Consolas"/>
              </a:rPr>
              <a:t>METHODS NOTE</a:t>
            </a:r>
          </a:p>
          <a:p>
            <a:pPr>
              <a:lnSpc>
                <a:spcPct val="130000"/>
              </a:lnSpc>
              <a:spcBef>
                <a:spcPts val="0"/>
              </a:spcBef>
              <a:spcAft>
                <a:spcPts val="0"/>
              </a:spcAft>
            </a:pPr>
            <a:r>
              <a:rPr sz="1100" b="0" i="0">
                <a:solidFill>
                  <a:srgbClr val="5A6068"/>
                </a:solidFill>
                <a:latin typeface="Calibri"/>
              </a:rPr>
              <a:t>Pooled R² and significant-country share tell different stories at several points. Proposal: report both throughout and discuss the divergence explicitly as a secondary contribution.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66928" y="2743200"/>
            <a:ext cx="8229600" cy="1371600"/>
          </a:xfrm>
          <a:prstGeom prst="rect">
            <a:avLst/>
          </a:prstGeom>
          <a:noFill/>
        </p:spPr>
        <p:txBody>
          <a:bodyPr wrap="square" lIns="0" rIns="0" tIns="0" bIns="0">
            <a:spAutoFit/>
          </a:bodyPr>
          <a:lstStyle/>
          <a:p>
            <a:pPr>
              <a:spcBef>
                <a:spcPts val="0"/>
              </a:spcBef>
              <a:spcAft>
                <a:spcPts val="1000"/>
              </a:spcAft>
            </a:pPr>
            <a:r>
              <a:rPr sz="4000" b="0" i="0">
                <a:solidFill>
                  <a:srgbClr val="FCFCFB"/>
                </a:solidFill>
                <a:latin typeface="Georgia"/>
              </a:rPr>
              <a:t>Evidence appendix</a:t>
            </a:r>
          </a:p>
          <a:p>
            <a:pPr>
              <a:lnSpc>
                <a:spcPct val="135000"/>
              </a:lnSpc>
              <a:spcBef>
                <a:spcPts val="0"/>
              </a:spcBef>
              <a:spcAft>
                <a:spcPts val="0"/>
              </a:spcAft>
            </a:pPr>
            <a:r>
              <a:rPr sz="1400" b="0" i="0">
                <a:solidFill>
                  <a:srgbClr val="9AA4B0"/>
                </a:solidFill>
                <a:latin typeface="Calibri"/>
              </a:rPr>
              <a:t>Everything the three acts rest on but do not carry. In submission these become supplementary material.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Regional development spread within countries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Every region a dot, two countries per UNDP development tier, 2022. Germany's regions span 0.05 of SHDI; China's span 0.30, India's 0.19.</a:t>
            </a:r>
          </a:p>
        </p:txBody>
      </p:sp>
      <p:pic>
        <p:nvPicPr>
          <p:cNvPr id="5" name="Picture 4" descr="shdi_within_country_spread.png"/>
          <p:cNvPicPr>
            <a:picLocks noChangeAspect="1"/>
          </p:cNvPicPr>
          <p:nvPr/>
        </p:nvPicPr>
        <p:blipFill>
          <a:blip r:embed="rId2"/>
          <a:stretch>
            <a:fillRect/>
          </a:stretch>
        </p:blipFill>
        <p:spPr>
          <a:xfrm>
            <a:off x="2653157" y="1965960"/>
            <a:ext cx="6885380" cy="448056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SDG significance by goal, pooled</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The leading goal (Energy, 16.0%) clears FDR significance in barely one country-test in six; pooled Education ranks 12th of 17.</a:t>
            </a:r>
          </a:p>
        </p:txBody>
      </p:sp>
      <p:pic>
        <p:nvPicPr>
          <p:cNvPr id="5" name="Picture 4" descr="sdg_by_goal.png"/>
          <p:cNvPicPr>
            <a:picLocks noChangeAspect="1"/>
          </p:cNvPicPr>
          <p:nvPr/>
        </p:nvPicPr>
        <p:blipFill>
          <a:blip r:embed="rId2"/>
          <a:stretch>
            <a:fillRect/>
          </a:stretch>
        </p:blipFill>
        <p:spPr>
          <a:xfrm>
            <a:off x="2504357" y="1965960"/>
            <a:ext cx="7182980" cy="448056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GDL national SHDI against the UNDP HDI</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The two are the same series — R² = 1.000, every country-year identical, because GDL derives the national figure from the UNDP index. Retained to document the check, not as validation: agreement here says nothing about the subnational disaggregation, which is where GDL's own data begins.</a:t>
            </a:r>
          </a:p>
        </p:txBody>
      </p:sp>
      <p:pic>
        <p:nvPicPr>
          <p:cNvPr id="5" name="Picture 4" descr="shdi_vs_hdi_validation.png"/>
          <p:cNvPicPr>
            <a:picLocks noChangeAspect="1"/>
          </p:cNvPicPr>
          <p:nvPr/>
        </p:nvPicPr>
        <p:blipFill>
          <a:blip r:embed="rId2"/>
          <a:stretch>
            <a:fillRect/>
          </a:stretch>
        </p:blipFill>
        <p:spPr>
          <a:xfrm>
            <a:off x="4036999" y="1965960"/>
            <a:ext cx="4117697" cy="448056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Subnational HDI against WHR happiness, levels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The familiar development-tier gradient with SHDI in place of HDI.</a:t>
            </a:r>
          </a:p>
        </p:txBody>
      </p:sp>
      <p:pic>
        <p:nvPicPr>
          <p:cNvPr id="5" name="Picture 4" descr="shdi_whr_levels_scatter.png"/>
          <p:cNvPicPr>
            <a:picLocks noChangeAspect="1"/>
          </p:cNvPicPr>
          <p:nvPr/>
        </p:nvPicPr>
        <p:blipFill>
          <a:blip r:embed="rId2"/>
          <a:stretch>
            <a:fillRect/>
          </a:stretch>
        </p:blipFill>
        <p:spPr>
          <a:xfrm>
            <a:off x="3508482" y="1965960"/>
            <a:ext cx="5174731" cy="448056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ESS coverage by country and year</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A rotating panel: 36 countries, roughly biennial from 2010 to 2023, with 17 countries present in all seven waves. This is the power constraint behind every ESS significance test.</a:t>
            </a:r>
          </a:p>
        </p:txBody>
      </p:sp>
      <p:pic>
        <p:nvPicPr>
          <p:cNvPr id="5" name="Picture 4" descr="ess_year_coverage.png"/>
          <p:cNvPicPr>
            <a:picLocks noChangeAspect="1"/>
          </p:cNvPicPr>
          <p:nvPr/>
        </p:nvPicPr>
        <p:blipFill>
          <a:blip r:embed="rId2"/>
          <a:stretch>
            <a:fillRect/>
          </a:stretch>
        </p:blipFill>
        <p:spPr>
          <a:xfrm>
            <a:off x="4247956" y="1965960"/>
            <a:ext cx="3695783" cy="448056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ESS-to-SHDI region crosswalk</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62% of respondents, across 24 of 36 countries, matched to a subnational SHDI value through the NUTS-to-GDL crosswalk.</a:t>
            </a:r>
          </a:p>
        </p:txBody>
      </p:sp>
      <p:pic>
        <p:nvPicPr>
          <p:cNvPr id="5" name="Picture 4" descr="region_crosswalk_match.png"/>
          <p:cNvPicPr>
            <a:picLocks noChangeAspect="1"/>
          </p:cNvPicPr>
          <p:nvPr/>
        </p:nvPicPr>
        <p:blipFill>
          <a:blip r:embed="rId2"/>
          <a:stretch>
            <a:fillRect/>
          </a:stretch>
        </p:blipFill>
        <p:spPr>
          <a:xfrm>
            <a:off x="2428154" y="1965960"/>
            <a:ext cx="7335386" cy="448056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Country × indicator significance, ESS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15% of levels cells and 9% of differences cells FDR-significant; direction consistent with the WHR results, power much lower.</a:t>
            </a:r>
          </a:p>
        </p:txBody>
      </p:sp>
      <p:pic>
        <p:nvPicPr>
          <p:cNvPr id="5" name="Picture 4" descr="hdi_ess_heatmap.png"/>
          <p:cNvPicPr>
            <a:picLocks noChangeAspect="1"/>
          </p:cNvPicPr>
          <p:nvPr/>
        </p:nvPicPr>
        <p:blipFill>
          <a:blip r:embed="rId2"/>
          <a:stretch>
            <a:fillRect/>
          </a:stretch>
        </p:blipFill>
        <p:spPr>
          <a:xfrm>
            <a:off x="3601923" y="1965960"/>
            <a:ext cx="4987848" cy="448056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Per-country collapse, ESS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More above-the-line exceptions than the WHR analysis shows — sparse waves cut both ways.</a:t>
            </a:r>
          </a:p>
        </p:txBody>
      </p:sp>
      <p:pic>
        <p:nvPicPr>
          <p:cNvPr id="5" name="Picture 4" descr="hdi_ess_collapse_scatter.png"/>
          <p:cNvPicPr>
            <a:picLocks noChangeAspect="1"/>
          </p:cNvPicPr>
          <p:nvPr/>
        </p:nvPicPr>
        <p:blipFill>
          <a:blip r:embed="rId2"/>
          <a:stretch>
            <a:fillRect/>
          </a:stretch>
        </p:blipFill>
        <p:spPr>
          <a:xfrm>
            <a:off x="2057001" y="1965960"/>
            <a:ext cx="8077693" cy="448056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HDI progress against life-satisfaction trends, 2010–2023</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HDI rose nearly everywhere. ESS life satisfaction rose in 19 countries and fell in 8.</a:t>
            </a:r>
          </a:p>
        </p:txBody>
      </p:sp>
      <p:pic>
        <p:nvPicPr>
          <p:cNvPr id="5" name="Picture 4" descr="hdi_vs_lifesat_trends.png"/>
          <p:cNvPicPr>
            <a:picLocks noChangeAspect="1"/>
          </p:cNvPicPr>
          <p:nvPr/>
        </p:nvPicPr>
        <p:blipFill>
          <a:blip r:embed="rId2"/>
          <a:stretch>
            <a:fillRect/>
          </a:stretch>
        </p:blipFill>
        <p:spPr>
          <a:xfrm>
            <a:off x="4009215" y="1965960"/>
            <a:ext cx="4173264" cy="448056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Region-level SHDI against life satisfaction, pooled</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1,313 region-years, pooled R² = 0.32 — this mixes between- and within-country variation, which the within-country panels separate.</a:t>
            </a:r>
          </a:p>
        </p:txBody>
      </p:sp>
      <p:pic>
        <p:nvPicPr>
          <p:cNvPr id="5" name="Picture 4" descr="region_shdi_lifesat_pooled.png"/>
          <p:cNvPicPr>
            <a:picLocks noChangeAspect="1"/>
          </p:cNvPicPr>
          <p:nvPr/>
        </p:nvPicPr>
        <p:blipFill>
          <a:blip r:embed="rId2"/>
          <a:stretch>
            <a:fillRect/>
          </a:stretch>
        </p:blipFill>
        <p:spPr>
          <a:xfrm>
            <a:off x="3123927" y="1965960"/>
            <a:ext cx="5943841" cy="448056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Within-country regional gradients, small multiples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Holding country fixed, the regional development–wellbeing gradient is weak in most countries. France is the clearest exception.</a:t>
            </a:r>
          </a:p>
        </p:txBody>
      </p:sp>
      <p:pic>
        <p:nvPicPr>
          <p:cNvPr id="5" name="Picture 4" descr="within_country_small_multiples.png"/>
          <p:cNvPicPr>
            <a:picLocks noChangeAspect="1"/>
          </p:cNvPicPr>
          <p:nvPr/>
        </p:nvPicPr>
        <p:blipFill>
          <a:blip r:embed="rId2"/>
          <a:stretch>
            <a:fillRect/>
          </a:stretch>
        </p:blipFill>
        <p:spPr>
          <a:xfrm>
            <a:off x="2779954" y="1965960"/>
            <a:ext cx="6631787" cy="448056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Regional SHDI spread within ESS countries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Italy and Poland carry several times the internal development inequality of Germany or the Nordics.</a:t>
            </a:r>
          </a:p>
        </p:txBody>
      </p:sp>
      <p:pic>
        <p:nvPicPr>
          <p:cNvPr id="5" name="Picture 4" descr="european_regional_inequality.png"/>
          <p:cNvPicPr>
            <a:picLocks noChangeAspect="1"/>
          </p:cNvPicPr>
          <p:nvPr/>
        </p:nvPicPr>
        <p:blipFill>
          <a:blip r:embed="rId2"/>
          <a:stretch>
            <a:fillRect/>
          </a:stretch>
        </p:blipFill>
        <p:spPr>
          <a:xfrm>
            <a:off x="2097774" y="1965960"/>
            <a:ext cx="7996146" cy="448056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Trust and health as rival predictors, nationally</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Self-rated health out-predicts the HDI nationally on significant-country share, 37% against 19%.</a:t>
            </a:r>
          </a:p>
        </p:txBody>
      </p:sp>
      <p:pic>
        <p:nvPicPr>
          <p:cNvPr id="5" name="Picture 4" descr="mechanisms_trust_health.png"/>
          <p:cNvPicPr>
            <a:picLocks noChangeAspect="1"/>
          </p:cNvPicPr>
          <p:nvPr/>
        </p:nvPicPr>
        <p:blipFill>
          <a:blip r:embed="rId2"/>
          <a:stretch>
            <a:fillRect/>
          </a:stretch>
        </p:blipFill>
        <p:spPr>
          <a:xfrm>
            <a:off x="3617081" y="1965960"/>
            <a:ext cx="4957532" cy="448056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Per-country detail behind the ranking flip</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Signed within-country regional correlations for all 16 countries; filled markers are p &lt; .05. Sweden reads negative on all three, but only 57% of Swedish respondents carry a usable region code, so that result should not be interpreted.</a:t>
            </a:r>
          </a:p>
        </p:txBody>
      </p:sp>
      <p:pic>
        <p:nvPicPr>
          <p:cNvPr id="5" name="Picture 4" descr="mechanisms_percountry_detail.png"/>
          <p:cNvPicPr>
            <a:picLocks noChangeAspect="1"/>
          </p:cNvPicPr>
          <p:nvPr/>
        </p:nvPicPr>
        <p:blipFill>
          <a:blip r:embed="rId2"/>
          <a:stretch>
            <a:fillRect/>
          </a:stretch>
        </p:blipFill>
        <p:spPr>
          <a:xfrm>
            <a:off x="3273725" y="1965960"/>
            <a:ext cx="5644245" cy="44805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