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E8EBEF"/>
        </a:solidFill>
        <a:effectLst/>
      </p:bgPr>
    </p:bg>
    <p:spTree>
      <p:nvGrpSpPr>
        <p:cNvPr id="1" name=""/>
        <p:cNvGrpSpPr/>
        <p:nvPr/>
      </p:nvGrpSpPr>
      <p:grpSpPr/>
      <p:sp>
        <p:nvSpPr>
          <p:cNvPr id="2" name="Rectangle 1"/>
          <p:cNvSpPr/>
          <p:nvPr/>
        </p:nvSpPr>
        <p:spPr>
          <a:xfrm>
            <a:off x="566928" y="1371600"/>
            <a:ext cx="11057839" cy="25400"/>
          </a:xfrm>
          <a:prstGeom prst="rect">
            <a:avLst/>
          </a:prstGeom>
          <a:solidFill>
            <a:srgbClr val="1754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960120"/>
            <a:ext cx="7315200" cy="274320"/>
          </a:xfrm>
          <a:prstGeom prst="rect">
            <a:avLst/>
          </a:prstGeom>
          <a:noFill/>
        </p:spPr>
        <p:txBody>
          <a:bodyPr wrap="square" lIns="0" rIns="0" tIns="0" bIns="0">
            <a:spAutoFit/>
          </a:bodyPr>
          <a:lstStyle/>
          <a:p>
            <a:pPr>
              <a:spcBef>
                <a:spcPts val="0"/>
              </a:spcBef>
              <a:spcAft>
                <a:spcPts val="0"/>
              </a:spcAft>
            </a:pPr>
            <a:r>
              <a:rPr sz="1100" b="0" i="0">
                <a:solidFill>
                  <a:srgbClr val="17549E"/>
                </a:solidFill>
                <a:latin typeface="Consolas"/>
              </a:rPr>
              <a:t>Commentary · working draft</a:t>
            </a:r>
          </a:p>
        </p:txBody>
      </p:sp>
      <p:sp>
        <p:nvSpPr>
          <p:cNvPr id="4" name="TextBox 3"/>
          <p:cNvSpPr txBox="1"/>
          <p:nvPr/>
        </p:nvSpPr>
        <p:spPr>
          <a:xfrm>
            <a:off x="566928" y="1783080"/>
            <a:ext cx="9144000" cy="1645920"/>
          </a:xfrm>
          <a:prstGeom prst="rect">
            <a:avLst/>
          </a:prstGeom>
          <a:noFill/>
        </p:spPr>
        <p:txBody>
          <a:bodyPr wrap="square" lIns="0" rIns="0" tIns="0" bIns="0">
            <a:spAutoFit/>
          </a:bodyPr>
          <a:lstStyle/>
          <a:p>
            <a:pPr>
              <a:lnSpc>
                <a:spcPct val="95000"/>
              </a:lnSpc>
              <a:spcBef>
                <a:spcPts val="0"/>
              </a:spcBef>
              <a:spcAft>
                <a:spcPts val="0"/>
              </a:spcAft>
            </a:pPr>
            <a:r>
              <a:rPr sz="6000" b="0" i="0">
                <a:solidFill>
                  <a:srgbClr val="14171C"/>
                </a:solidFill>
                <a:latin typeface="Georgia"/>
              </a:rPr>
              <a:t>Measured Where It Varies</a:t>
            </a:r>
          </a:p>
        </p:txBody>
      </p:sp>
      <p:sp>
        <p:nvSpPr>
          <p:cNvPr id="5" name="TextBox 4"/>
          <p:cNvSpPr txBox="1"/>
          <p:nvPr/>
        </p:nvSpPr>
        <p:spPr>
          <a:xfrm>
            <a:off x="566928" y="3520440"/>
            <a:ext cx="8412480" cy="1188720"/>
          </a:xfrm>
          <a:prstGeom prst="rect">
            <a:avLst/>
          </a:prstGeom>
          <a:noFill/>
        </p:spPr>
        <p:txBody>
          <a:bodyPr wrap="square" lIns="0" rIns="0" tIns="0" bIns="0">
            <a:spAutoFit/>
          </a:bodyPr>
          <a:lstStyle/>
          <a:p>
            <a:pPr>
              <a:lnSpc>
                <a:spcPct val="135000"/>
              </a:lnSpc>
              <a:spcBef>
                <a:spcPts val="0"/>
              </a:spcBef>
              <a:spcAft>
                <a:spcPts val="0"/>
              </a:spcAft>
            </a:pPr>
            <a:r>
              <a:rPr sz="1700" b="0" i="1">
                <a:solidFill>
                  <a:srgbClr val="5A6068"/>
                </a:solidFill>
                <a:latin typeface="Georgia"/>
              </a:rPr>
              <a:t>A commentary in three acts, on why development predicts where wellbeing is high but not when it rises — and why health leads once it is measured somewhere it still moves</a:t>
            </a:r>
          </a:p>
        </p:txBody>
      </p:sp>
      <p:sp>
        <p:nvSpPr>
          <p:cNvPr id="6" name="TextBox 5"/>
          <p:cNvSpPr txBox="1"/>
          <p:nvPr/>
        </p:nvSpPr>
        <p:spPr>
          <a:xfrm>
            <a:off x="566928" y="5577840"/>
            <a:ext cx="10607040" cy="914400"/>
          </a:xfrm>
          <a:prstGeom prst="rect">
            <a:avLst/>
          </a:prstGeom>
          <a:noFill/>
        </p:spPr>
        <p:txBody>
          <a:bodyPr wrap="square" lIns="0" rIns="0" tIns="0" bIns="0">
            <a:spAutoFit/>
          </a:bodyPr>
          <a:lstStyle/>
          <a:p>
            <a:pPr>
              <a:spcBef>
                <a:spcPts val="0"/>
              </a:spcBef>
              <a:spcAft>
                <a:spcPts val="500"/>
              </a:spcAft>
            </a:pPr>
            <a:r>
              <a:rPr sz="1050" b="0" i="0">
                <a:solidFill>
                  <a:srgbClr val="5A6068"/>
                </a:solidFill>
                <a:latin typeface="Consolas"/>
              </a:rPr>
              <a:t>Working synthesis for the co-author team · August 2026</a:t>
            </a:r>
          </a:p>
          <a:p>
            <a:pPr>
              <a:lnSpc>
                <a:spcPct val="130000"/>
              </a:lnSpc>
              <a:spcBef>
                <a:spcPts val="0"/>
              </a:spcBef>
              <a:spcAft>
                <a:spcPts val="0"/>
              </a:spcAft>
            </a:pPr>
            <a:r>
              <a:rPr sz="950" b="0" i="0">
                <a:solidFill>
                  <a:srgbClr val="868D96"/>
                </a:solidFill>
                <a:latin typeface="Consolas"/>
              </a:rPr>
              <a:t>SDG: 42 countries, 661 series · HDI × World Happiness Report: 151 countries, 2011–2023 · Subnational HDI &amp; sub-indices: 239 regions · European Social Survey: 36 countries, 351,023 respondents, rounds 5–11 (2010–2023)</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66928"/>
            <a:ext cx="5486400" cy="274320"/>
          </a:xfrm>
          <a:prstGeom prst="rect">
            <a:avLst/>
          </a:prstGeom>
          <a:noFill/>
        </p:spPr>
        <p:txBody>
          <a:bodyPr wrap="square" lIns="0" rIns="0" tIns="0" bIns="0">
            <a:spAutoFit/>
          </a:bodyPr>
          <a:lstStyle/>
          <a:p>
            <a:pPr>
              <a:spcBef>
                <a:spcPts val="0"/>
              </a:spcBef>
              <a:spcAft>
                <a:spcPts val="0"/>
              </a:spcAft>
            </a:pPr>
            <a:r>
              <a:rPr sz="1100" b="0" i="0">
                <a:solidFill>
                  <a:srgbClr val="868D96"/>
                </a:solidFill>
                <a:latin typeface="Consolas"/>
              </a:rPr>
              <a:t>THE SETUP</a:t>
            </a:r>
          </a:p>
        </p:txBody>
      </p:sp>
      <p:sp>
        <p:nvSpPr>
          <p:cNvPr id="3" name="TextBox 2"/>
          <p:cNvSpPr txBox="1"/>
          <p:nvPr/>
        </p:nvSpPr>
        <p:spPr>
          <a:xfrm>
            <a:off x="566928" y="1024128"/>
            <a:ext cx="5486400" cy="1554480"/>
          </a:xfrm>
          <a:prstGeom prst="rect">
            <a:avLst/>
          </a:prstGeom>
          <a:noFill/>
        </p:spPr>
        <p:txBody>
          <a:bodyPr wrap="square" lIns="0" rIns="0" tIns="0" bIns="0">
            <a:spAutoFit/>
          </a:bodyPr>
          <a:lstStyle/>
          <a:p>
            <a:pPr>
              <a:lnSpc>
                <a:spcPct val="106000"/>
              </a:lnSpc>
              <a:spcBef>
                <a:spcPts val="0"/>
              </a:spcBef>
              <a:spcAft>
                <a:spcPts val="0"/>
              </a:spcAft>
            </a:pPr>
            <a:r>
              <a:rPr sz="3000" b="0" i="0">
                <a:solidFill>
                  <a:srgbClr val="14171C"/>
                </a:solidFill>
                <a:latin typeface="Georgia"/>
              </a:rPr>
              <a:t>Development rose almost everywhere. Wellbeing did not follow it.</a:t>
            </a:r>
          </a:p>
        </p:txBody>
      </p:sp>
      <p:sp>
        <p:nvSpPr>
          <p:cNvPr id="4" name="TextBox 3"/>
          <p:cNvSpPr txBox="1"/>
          <p:nvPr/>
        </p:nvSpPr>
        <p:spPr>
          <a:xfrm>
            <a:off x="566928" y="2880360"/>
            <a:ext cx="5212080" cy="3291840"/>
          </a:xfrm>
          <a:prstGeom prst="rect">
            <a:avLst/>
          </a:prstGeom>
          <a:noFill/>
        </p:spPr>
        <p:txBody>
          <a:bodyPr wrap="square" lIns="0" rIns="0" tIns="0" bIns="0">
            <a:spAutoFit/>
          </a:bodyPr>
          <a:lstStyle/>
          <a:p>
            <a:pPr>
              <a:lnSpc>
                <a:spcPct val="134000"/>
              </a:lnSpc>
              <a:spcBef>
                <a:spcPts val="0"/>
              </a:spcBef>
              <a:spcAft>
                <a:spcPts val="1200"/>
              </a:spcAft>
            </a:pPr>
            <a:r>
              <a:rPr sz="1300" b="0" i="0">
                <a:solidFill>
                  <a:srgbClr val="5A6068"/>
                </a:solidFill>
                <a:latin typeface="Calibri"/>
              </a:rPr>
              <a:t>The SDG paper now under review makes a narrow, awkward claim: the association between development indicators and happiness is strong when countries are compared with one another, and close to absent when each country is compared with its own past. Thirty of the 42 countries with usable SDG coverage show a significant SDG–happiness association in levels. Two do in year-to-year changes.</a:t>
            </a:r>
          </a:p>
          <a:p>
            <a:pPr>
              <a:lnSpc>
                <a:spcPct val="134000"/>
              </a:lnSpc>
              <a:spcBef>
                <a:spcPts val="0"/>
              </a:spcBef>
              <a:spcAft>
                <a:spcPts val="1200"/>
              </a:spcAft>
            </a:pPr>
            <a:r>
              <a:rPr sz="1300" b="0" i="0">
                <a:solidFill>
                  <a:srgbClr val="5A6068"/>
                </a:solidFill>
                <a:latin typeface="Calibri"/>
              </a:rPr>
              <a:t>There is an obvious way to dismiss that result. The SDG framework is a sprawling, politically negotiated instrument of more than two hundred indicators with uneven coverage; a null finding inside it says as much about the framework as about the world. This commentary closes that escape route, and then asks the question the result actually raises: if development in the aggregate does not track wellbeing over time, which of its parts tracks wellbeing at all? Health, education, income, social connection — the frameworks disagree sharply about the answer, and the disagreement turns out to be about measurement rather than about the world.</a:t>
            </a:r>
          </a:p>
        </p:txBody>
      </p:sp>
      <p:sp>
        <p:nvSpPr>
          <p:cNvPr id="5" name="TextBox 4"/>
          <p:cNvSpPr txBox="1"/>
          <p:nvPr/>
        </p:nvSpPr>
        <p:spPr>
          <a:xfrm>
            <a:off x="6720840" y="566928"/>
            <a:ext cx="4846320" cy="274320"/>
          </a:xfrm>
          <a:prstGeom prst="rect">
            <a:avLst/>
          </a:prstGeom>
          <a:noFill/>
        </p:spPr>
        <p:txBody>
          <a:bodyPr wrap="square" lIns="0" rIns="0" tIns="0" bIns="0">
            <a:spAutoFit/>
          </a:bodyPr>
          <a:lstStyle/>
          <a:p>
            <a:pPr>
              <a:spcBef>
                <a:spcPts val="0"/>
              </a:spcBef>
              <a:spcAft>
                <a:spcPts val="0"/>
              </a:spcAft>
            </a:pPr>
            <a:r>
              <a:rPr sz="1100" b="0" i="0">
                <a:solidFill>
                  <a:srgbClr val="17549E"/>
                </a:solidFill>
                <a:latin typeface="Consolas"/>
              </a:rPr>
              <a:t>THE ARGUMENT</a:t>
            </a:r>
          </a:p>
        </p:txBody>
      </p:sp>
      <p:sp>
        <p:nvSpPr>
          <p:cNvPr id="6" name="Rectangle 5"/>
          <p:cNvSpPr/>
          <p:nvPr/>
        </p:nvSpPr>
        <p:spPr>
          <a:xfrm>
            <a:off x="6720840" y="1024128"/>
            <a:ext cx="4846320" cy="9525"/>
          </a:xfrm>
          <a:prstGeom prst="rect">
            <a:avLst/>
          </a:prstGeom>
          <a:solidFill>
            <a:srgbClr val="CDD3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720840" y="1170432"/>
            <a:ext cx="502920" cy="457200"/>
          </a:xfrm>
          <a:prstGeom prst="rect">
            <a:avLst/>
          </a:prstGeom>
          <a:noFill/>
        </p:spPr>
        <p:txBody>
          <a:bodyPr wrap="square" lIns="0" rIns="0" tIns="0" bIns="0">
            <a:spAutoFit/>
          </a:bodyPr>
          <a:lstStyle/>
          <a:p>
            <a:pPr>
              <a:spcBef>
                <a:spcPts val="0"/>
              </a:spcBef>
              <a:spcAft>
                <a:spcPts val="0"/>
              </a:spcAft>
            </a:pPr>
            <a:r>
              <a:rPr sz="2000" b="0" i="0">
                <a:solidFill>
                  <a:srgbClr val="17549E"/>
                </a:solidFill>
                <a:latin typeface="Georgia"/>
              </a:rPr>
              <a:t>I</a:t>
            </a:r>
          </a:p>
        </p:txBody>
      </p:sp>
      <p:sp>
        <p:nvSpPr>
          <p:cNvPr id="8" name="TextBox 7"/>
          <p:cNvSpPr txBox="1"/>
          <p:nvPr/>
        </p:nvSpPr>
        <p:spPr>
          <a:xfrm>
            <a:off x="7360920" y="1170432"/>
            <a:ext cx="4206240" cy="1097280"/>
          </a:xfrm>
          <a:prstGeom prst="rect">
            <a:avLst/>
          </a:prstGeom>
          <a:noFill/>
        </p:spPr>
        <p:txBody>
          <a:bodyPr wrap="square" lIns="0" rIns="0" tIns="0" bIns="0">
            <a:spAutoFit/>
          </a:bodyPr>
          <a:lstStyle/>
          <a:p>
            <a:pPr>
              <a:spcBef>
                <a:spcPts val="0"/>
              </a:spcBef>
              <a:spcAft>
                <a:spcPts val="300"/>
              </a:spcAft>
            </a:pPr>
            <a:r>
              <a:rPr sz="1350" b="1" i="0">
                <a:solidFill>
                  <a:srgbClr val="14171C"/>
                </a:solidFill>
                <a:latin typeface="Calibri"/>
              </a:rPr>
              <a:t>We replicate the SDG result outside the SDGs.</a:t>
            </a:r>
          </a:p>
          <a:p>
            <a:pPr>
              <a:lnSpc>
                <a:spcPct val="125000"/>
              </a:lnSpc>
              <a:spcBef>
                <a:spcPts val="0"/>
              </a:spcBef>
              <a:spcAft>
                <a:spcPts val="0"/>
              </a:spcAft>
            </a:pPr>
            <a:r>
              <a:rPr sz="1100" b="0" i="0">
                <a:solidFill>
                  <a:srgbClr val="5A6068"/>
                </a:solidFill>
                <a:latin typeface="Calibri"/>
              </a:rPr>
              <a:t>The same design on the HDI, against a second wellbeing survey, and one spatial scale down. It collapses every time.</a:t>
            </a:r>
          </a:p>
        </p:txBody>
      </p:sp>
      <p:sp>
        <p:nvSpPr>
          <p:cNvPr id="9" name="Rectangle 8"/>
          <p:cNvSpPr/>
          <p:nvPr/>
        </p:nvSpPr>
        <p:spPr>
          <a:xfrm>
            <a:off x="6720840" y="2350008"/>
            <a:ext cx="4846320" cy="9525"/>
          </a:xfrm>
          <a:prstGeom prst="rect">
            <a:avLst/>
          </a:prstGeom>
          <a:solidFill>
            <a:srgbClr val="CDD3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720840" y="2496312"/>
            <a:ext cx="502920" cy="457200"/>
          </a:xfrm>
          <a:prstGeom prst="rect">
            <a:avLst/>
          </a:prstGeom>
          <a:noFill/>
        </p:spPr>
        <p:txBody>
          <a:bodyPr wrap="square" lIns="0" rIns="0" tIns="0" bIns="0">
            <a:spAutoFit/>
          </a:bodyPr>
          <a:lstStyle/>
          <a:p>
            <a:pPr>
              <a:spcBef>
                <a:spcPts val="0"/>
              </a:spcBef>
              <a:spcAft>
                <a:spcPts val="0"/>
              </a:spcAft>
            </a:pPr>
            <a:r>
              <a:rPr sz="2000" b="0" i="0">
                <a:solidFill>
                  <a:srgbClr val="17549E"/>
                </a:solidFill>
                <a:latin typeface="Georgia"/>
              </a:rPr>
              <a:t>II</a:t>
            </a:r>
          </a:p>
        </p:txBody>
      </p:sp>
      <p:sp>
        <p:nvSpPr>
          <p:cNvPr id="11" name="TextBox 10"/>
          <p:cNvSpPr txBox="1"/>
          <p:nvPr/>
        </p:nvSpPr>
        <p:spPr>
          <a:xfrm>
            <a:off x="7360920" y="2496312"/>
            <a:ext cx="4206240" cy="1097280"/>
          </a:xfrm>
          <a:prstGeom prst="rect">
            <a:avLst/>
          </a:prstGeom>
          <a:noFill/>
        </p:spPr>
        <p:txBody>
          <a:bodyPr wrap="square" lIns="0" rIns="0" tIns="0" bIns="0">
            <a:spAutoFit/>
          </a:bodyPr>
          <a:lstStyle/>
          <a:p>
            <a:pPr>
              <a:spcBef>
                <a:spcPts val="0"/>
              </a:spcBef>
              <a:spcAft>
                <a:spcPts val="300"/>
              </a:spcAft>
            </a:pPr>
            <a:r>
              <a:rPr sz="1350" b="1" i="0">
                <a:solidFill>
                  <a:srgbClr val="14171C"/>
                </a:solidFill>
                <a:latin typeface="Calibri"/>
              </a:rPr>
              <a:t>Health leads — once it is measured where it still varies.</a:t>
            </a:r>
          </a:p>
          <a:p>
            <a:pPr>
              <a:lnSpc>
                <a:spcPct val="125000"/>
              </a:lnSpc>
              <a:spcBef>
                <a:spcPts val="0"/>
              </a:spcBef>
              <a:spcAft>
                <a:spcPts val="0"/>
              </a:spcAft>
            </a:pPr>
            <a:r>
              <a:rPr sz="1100" b="0" i="0">
                <a:solidFill>
                  <a:srgbClr val="5A6068"/>
                </a:solidFill>
                <a:latin typeface="Calibri"/>
              </a:rPr>
              <a:t>The domain rankings invert with the instrument. Education runs the same problem in reverse, and social trust cannot yet be checked.</a:t>
            </a:r>
          </a:p>
        </p:txBody>
      </p:sp>
      <p:sp>
        <p:nvSpPr>
          <p:cNvPr id="12" name="Rectangle 11"/>
          <p:cNvSpPr/>
          <p:nvPr/>
        </p:nvSpPr>
        <p:spPr>
          <a:xfrm>
            <a:off x="6720840" y="3675888"/>
            <a:ext cx="4846320" cy="9525"/>
          </a:xfrm>
          <a:prstGeom prst="rect">
            <a:avLst/>
          </a:prstGeom>
          <a:solidFill>
            <a:srgbClr val="CDD3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720840" y="3822192"/>
            <a:ext cx="502920" cy="457200"/>
          </a:xfrm>
          <a:prstGeom prst="rect">
            <a:avLst/>
          </a:prstGeom>
          <a:noFill/>
        </p:spPr>
        <p:txBody>
          <a:bodyPr wrap="square" lIns="0" rIns="0" tIns="0" bIns="0">
            <a:spAutoFit/>
          </a:bodyPr>
          <a:lstStyle/>
          <a:p>
            <a:pPr>
              <a:spcBef>
                <a:spcPts val="0"/>
              </a:spcBef>
              <a:spcAft>
                <a:spcPts val="0"/>
              </a:spcAft>
            </a:pPr>
            <a:r>
              <a:rPr sz="2000" b="0" i="0">
                <a:solidFill>
                  <a:srgbClr val="17549E"/>
                </a:solidFill>
                <a:latin typeface="Georgia"/>
              </a:rPr>
              <a:t>III</a:t>
            </a:r>
          </a:p>
        </p:txBody>
      </p:sp>
      <p:sp>
        <p:nvSpPr>
          <p:cNvPr id="14" name="TextBox 13"/>
          <p:cNvSpPr txBox="1"/>
          <p:nvPr/>
        </p:nvSpPr>
        <p:spPr>
          <a:xfrm>
            <a:off x="7360920" y="3822192"/>
            <a:ext cx="4206240" cy="1097280"/>
          </a:xfrm>
          <a:prstGeom prst="rect">
            <a:avLst/>
          </a:prstGeom>
          <a:noFill/>
        </p:spPr>
        <p:txBody>
          <a:bodyPr wrap="square" lIns="0" rIns="0" tIns="0" bIns="0">
            <a:spAutoFit/>
          </a:bodyPr>
          <a:lstStyle/>
          <a:p>
            <a:pPr>
              <a:spcBef>
                <a:spcPts val="0"/>
              </a:spcBef>
              <a:spcAft>
                <a:spcPts val="300"/>
              </a:spcAft>
            </a:pPr>
            <a:r>
              <a:rPr sz="1350" b="1" i="0">
                <a:solidFill>
                  <a:srgbClr val="14171C"/>
                </a:solidFill>
                <a:latin typeface="Calibri"/>
              </a:rPr>
              <a:t>Which makes the policy question unavoidable.</a:t>
            </a:r>
          </a:p>
          <a:p>
            <a:pPr>
              <a:lnSpc>
                <a:spcPct val="125000"/>
              </a:lnSpc>
              <a:spcBef>
                <a:spcPts val="0"/>
              </a:spcBef>
              <a:spcAft>
                <a:spcPts val="0"/>
              </a:spcAft>
            </a:pPr>
            <a:r>
              <a:rPr sz="1100" b="0" i="0">
                <a:solidFill>
                  <a:srgbClr val="5A6068"/>
                </a:solidFill>
                <a:latin typeface="Calibri"/>
              </a:rPr>
              <a:t>What this means for priorities, what kind of health and education it points at, and the question we are putting to the field.</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14171C"/>
        </a:solidFill>
        <a:effectLst/>
      </p:bgPr>
    </p:bg>
    <p:spTree>
      <p:nvGrpSpPr>
        <p:cNvPr id="1" name=""/>
        <p:cNvGrpSpPr/>
        <p:nvPr/>
      </p:nvGrpSpPr>
      <p:grpSpPr/>
      <p:sp>
        <p:nvSpPr>
          <p:cNvPr id="2" name="TextBox 1"/>
          <p:cNvSpPr txBox="1"/>
          <p:nvPr/>
        </p:nvSpPr>
        <p:spPr>
          <a:xfrm>
            <a:off x="8229600" y="822960"/>
            <a:ext cx="3291840" cy="4114800"/>
          </a:xfrm>
          <a:prstGeom prst="rect">
            <a:avLst/>
          </a:prstGeom>
          <a:noFill/>
        </p:spPr>
        <p:txBody>
          <a:bodyPr wrap="square" lIns="0" rIns="0" tIns="0" bIns="0">
            <a:spAutoFit/>
          </a:bodyPr>
          <a:lstStyle/>
          <a:p>
            <a:pPr algn="r">
              <a:spcBef>
                <a:spcPts val="0"/>
              </a:spcBef>
              <a:spcAft>
                <a:spcPts val="0"/>
              </a:spcAft>
            </a:pPr>
            <a:r>
              <a:rPr sz="20000" b="0" i="0">
                <a:solidFill>
                  <a:srgbClr val="2A3340"/>
                </a:solidFill>
                <a:latin typeface="Georgia"/>
              </a:rPr>
              <a:t>I</a:t>
            </a:r>
          </a:p>
        </p:txBody>
      </p:sp>
      <p:sp>
        <p:nvSpPr>
          <p:cNvPr id="3" name="Rectangle 2"/>
          <p:cNvSpPr/>
          <p:nvPr/>
        </p:nvSpPr>
        <p:spPr>
          <a:xfrm>
            <a:off x="566928" y="1371600"/>
            <a:ext cx="7315200" cy="25400"/>
          </a:xfrm>
          <a:prstGeom prst="rect">
            <a:avLst/>
          </a:prstGeom>
          <a:solidFill>
            <a:srgbClr val="C9D8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60120"/>
            <a:ext cx="5486400" cy="274320"/>
          </a:xfrm>
          <a:prstGeom prst="rect">
            <a:avLst/>
          </a:prstGeom>
          <a:noFill/>
        </p:spPr>
        <p:txBody>
          <a:bodyPr wrap="square" lIns="0" rIns="0" tIns="0" bIns="0">
            <a:spAutoFit/>
          </a:bodyPr>
          <a:lstStyle/>
          <a:p>
            <a:pPr>
              <a:spcBef>
                <a:spcPts val="0"/>
              </a:spcBef>
              <a:spcAft>
                <a:spcPts val="0"/>
              </a:spcAft>
            </a:pPr>
            <a:r>
              <a:rPr sz="1100" b="0" i="0">
                <a:solidFill>
                  <a:srgbClr val="C9D8EC"/>
                </a:solidFill>
                <a:latin typeface="Consolas"/>
              </a:rPr>
              <a:t>ACT I</a:t>
            </a:r>
          </a:p>
        </p:txBody>
      </p:sp>
      <p:sp>
        <p:nvSpPr>
          <p:cNvPr id="5" name="TextBox 4"/>
          <p:cNvSpPr txBox="1"/>
          <p:nvPr/>
        </p:nvSpPr>
        <p:spPr>
          <a:xfrm>
            <a:off x="566928" y="1783080"/>
            <a:ext cx="7223760" cy="1828800"/>
          </a:xfrm>
          <a:prstGeom prst="rect">
            <a:avLst/>
          </a:prstGeom>
          <a:noFill/>
        </p:spPr>
        <p:txBody>
          <a:bodyPr wrap="square" lIns="0" rIns="0" tIns="0" bIns="0">
            <a:spAutoFit/>
          </a:bodyPr>
          <a:lstStyle/>
          <a:p>
            <a:pPr>
              <a:lnSpc>
                <a:spcPct val="102000"/>
              </a:lnSpc>
              <a:spcBef>
                <a:spcPts val="0"/>
              </a:spcBef>
              <a:spcAft>
                <a:spcPts val="0"/>
              </a:spcAft>
            </a:pPr>
            <a:r>
              <a:rPr sz="4000" b="0" i="0">
                <a:solidFill>
                  <a:srgbClr val="FCFCFB"/>
                </a:solidFill>
                <a:latin typeface="Georgia"/>
              </a:rPr>
              <a:t>Replicating the collapse beyond the SDGs</a:t>
            </a:r>
          </a:p>
        </p:txBody>
      </p:sp>
      <p:sp>
        <p:nvSpPr>
          <p:cNvPr id="6" name="TextBox 5"/>
          <p:cNvSpPr txBox="1"/>
          <p:nvPr/>
        </p:nvSpPr>
        <p:spPr>
          <a:xfrm>
            <a:off x="566928" y="3886200"/>
            <a:ext cx="6766560" cy="1463040"/>
          </a:xfrm>
          <a:prstGeom prst="rect">
            <a:avLst/>
          </a:prstGeom>
          <a:noFill/>
        </p:spPr>
        <p:txBody>
          <a:bodyPr wrap="square" lIns="0" rIns="0" tIns="0" bIns="0">
            <a:spAutoFit/>
          </a:bodyPr>
          <a:lstStyle/>
          <a:p>
            <a:pPr>
              <a:lnSpc>
                <a:spcPct val="135000"/>
              </a:lnSpc>
              <a:spcBef>
                <a:spcPts val="0"/>
              </a:spcBef>
              <a:spcAft>
                <a:spcPts val="0"/>
              </a:spcAft>
            </a:pPr>
            <a:r>
              <a:rPr sz="1600" b="0" i="1">
                <a:solidFill>
                  <a:srgbClr val="9AA4B0"/>
                </a:solidFill>
                <a:latin typeface="Georgia"/>
              </a:rPr>
              <a:t>Run the original design on a second development framework, against a second wellbeing instrument, and one spatial scale down. The levels-to-differences collapse appears every time. The subnational HDI plays a different role: it asks whether the national pattern survives disaggregation.</a:t>
            </a:r>
          </a:p>
        </p:txBody>
      </p:sp>
      <p:sp>
        <p:nvSpPr>
          <p:cNvPr id="7" name="TextBox 6"/>
          <p:cNvSpPr txBox="1"/>
          <p:nvPr/>
        </p:nvSpPr>
        <p:spPr>
          <a:xfrm>
            <a:off x="566928" y="5623560"/>
            <a:ext cx="3503066" cy="914400"/>
          </a:xfrm>
          <a:prstGeom prst="rect">
            <a:avLst/>
          </a:prstGeom>
          <a:noFill/>
        </p:spPr>
        <p:txBody>
          <a:bodyPr wrap="square" lIns="0" rIns="0" tIns="0" bIns="0">
            <a:spAutoFit/>
          </a:bodyPr>
          <a:lstStyle/>
          <a:p>
            <a:pPr>
              <a:spcBef>
                <a:spcPts val="0"/>
              </a:spcBef>
              <a:spcAft>
                <a:spcPts val="400"/>
              </a:spcAft>
            </a:pPr>
            <a:r>
              <a:rPr sz="2200" b="0" i="0">
                <a:solidFill>
                  <a:srgbClr val="FCFCFB"/>
                </a:solidFill>
                <a:latin typeface="Consolas"/>
              </a:rPr>
              <a:t>71% → 5%</a:t>
            </a:r>
          </a:p>
          <a:p>
            <a:pPr>
              <a:lnSpc>
                <a:spcPct val="120000"/>
              </a:lnSpc>
              <a:spcBef>
                <a:spcPts val="0"/>
              </a:spcBef>
              <a:spcAft>
                <a:spcPts val="0"/>
              </a:spcAft>
            </a:pPr>
            <a:r>
              <a:rPr sz="1000" b="0" i="0">
                <a:solidFill>
                  <a:srgbClr val="8A94A0"/>
                </a:solidFill>
                <a:latin typeface="Calibri"/>
              </a:rPr>
              <a:t>of countries significant, SDG levels → differences</a:t>
            </a:r>
          </a:p>
        </p:txBody>
      </p:sp>
      <p:sp>
        <p:nvSpPr>
          <p:cNvPr id="8" name="TextBox 7"/>
          <p:cNvSpPr txBox="1"/>
          <p:nvPr/>
        </p:nvSpPr>
        <p:spPr>
          <a:xfrm>
            <a:off x="4344314" y="5623560"/>
            <a:ext cx="3503066" cy="914400"/>
          </a:xfrm>
          <a:prstGeom prst="rect">
            <a:avLst/>
          </a:prstGeom>
          <a:noFill/>
        </p:spPr>
        <p:txBody>
          <a:bodyPr wrap="square" lIns="0" rIns="0" tIns="0" bIns="0">
            <a:spAutoFit/>
          </a:bodyPr>
          <a:lstStyle/>
          <a:p>
            <a:pPr>
              <a:spcBef>
                <a:spcPts val="0"/>
              </a:spcBef>
              <a:spcAft>
                <a:spcPts val="400"/>
              </a:spcAft>
            </a:pPr>
            <a:r>
              <a:rPr sz="2200" b="0" i="0">
                <a:solidFill>
                  <a:srgbClr val="FCFCFB"/>
                </a:solidFill>
                <a:latin typeface="Consolas"/>
              </a:rPr>
              <a:t>42% → 2%</a:t>
            </a:r>
          </a:p>
          <a:p>
            <a:pPr>
              <a:lnSpc>
                <a:spcPct val="120000"/>
              </a:lnSpc>
              <a:spcBef>
                <a:spcPts val="0"/>
              </a:spcBef>
              <a:spcAft>
                <a:spcPts val="0"/>
              </a:spcAft>
            </a:pPr>
            <a:r>
              <a:rPr sz="1000" b="0" i="0">
                <a:solidFill>
                  <a:srgbClr val="8A94A0"/>
                </a:solidFill>
                <a:latin typeface="Calibri"/>
              </a:rPr>
              <a:t>the same collapse under the HDI composite</a:t>
            </a:r>
          </a:p>
        </p:txBody>
      </p:sp>
      <p:sp>
        <p:nvSpPr>
          <p:cNvPr id="9" name="TextBox 8"/>
          <p:cNvSpPr txBox="1"/>
          <p:nvPr/>
        </p:nvSpPr>
        <p:spPr>
          <a:xfrm>
            <a:off x="8121700" y="5623560"/>
            <a:ext cx="3503066" cy="914400"/>
          </a:xfrm>
          <a:prstGeom prst="rect">
            <a:avLst/>
          </a:prstGeom>
          <a:noFill/>
        </p:spPr>
        <p:txBody>
          <a:bodyPr wrap="square" lIns="0" rIns="0" tIns="0" bIns="0">
            <a:spAutoFit/>
          </a:bodyPr>
          <a:lstStyle/>
          <a:p>
            <a:pPr>
              <a:spcBef>
                <a:spcPts val="0"/>
              </a:spcBef>
              <a:spcAft>
                <a:spcPts val="400"/>
              </a:spcAft>
            </a:pPr>
            <a:r>
              <a:rPr sz="2200" b="0" i="0">
                <a:solidFill>
                  <a:srgbClr val="FCFCFB"/>
                </a:solidFill>
                <a:latin typeface="Consolas"/>
              </a:rPr>
              <a:t>15% → 9%</a:t>
            </a:r>
          </a:p>
          <a:p>
            <a:pPr>
              <a:lnSpc>
                <a:spcPct val="120000"/>
              </a:lnSpc>
              <a:spcBef>
                <a:spcPts val="0"/>
              </a:spcBef>
              <a:spcAft>
                <a:spcPts val="0"/>
              </a:spcAft>
            </a:pPr>
            <a:r>
              <a:rPr sz="1000" b="0" i="0">
                <a:solidFill>
                  <a:srgbClr val="8A94A0"/>
                </a:solidFill>
                <a:latin typeface="Calibri"/>
              </a:rPr>
              <a:t>of cells, against a second wellbeing survey (ESS)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REPLICATION 1 · THE HDI</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A deliberately parsimonious index behaves exactly like the sprawling one</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1150" b="0" i="0">
                <a:solidFill>
                  <a:srgbClr val="5A6068"/>
                </a:solidFill>
                <a:latin typeface="Calibri"/>
              </a:rPr>
              <a:t>The Human Development Index is the opposite of the SDG framework in every way that the dismissal relies on: three dimensions rather than seventeen goals, a single custodian, a stable definition, near-universal coverage. Substituting it for the SDG indicators and holding everything else fixed gives 64 of 151 countries FDR-significant in levels and 3 of 151 in first differences — 42% down to 2%.</a:t>
            </a:r>
          </a:p>
          <a:p>
            <a:pPr>
              <a:lnSpc>
                <a:spcPct val="132000"/>
              </a:lnSpc>
              <a:spcBef>
                <a:spcPts val="0"/>
              </a:spcBef>
              <a:spcAft>
                <a:spcPts val="1100"/>
              </a:spcAft>
            </a:pPr>
            <a:r>
              <a:rPr sz="1150" b="0" i="0">
                <a:solidFill>
                  <a:srgbClr val="5A6068"/>
                </a:solidFill>
                <a:latin typeface="Calibri"/>
              </a:rPr>
              <a:t>The SDG framework collapsed from 71% of countries to 5%. The two rates are not directly comparable, because the SDG test asks whether any of a country's several hundred series is significant while the HDI test asks about one composite; that difference is exactly why the SDG levels rate is higher. What compares is the collapse itself, and it is an order of magnitude in both. Whatever produces the asymmetry, it is not the design of the SDG indicator set.</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a:t>
            </a:r>
          </a:p>
        </p:txBody>
      </p:sp>
      <p:pic>
        <p:nvPicPr>
          <p:cNvPr id="6" name="Picture 5" descr="collapse_hdi_shdi_whr.png"/>
          <p:cNvPicPr>
            <a:picLocks noChangeAspect="1"/>
          </p:cNvPicPr>
          <p:nvPr/>
        </p:nvPicPr>
        <p:blipFill>
          <a:blip r:embed="rId2"/>
          <a:stretch>
            <a:fillRect/>
          </a:stretch>
        </p:blipFill>
        <p:spPr>
          <a:xfrm>
            <a:off x="5120640" y="1353312"/>
            <a:ext cx="6537960" cy="3685032"/>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Countries with an FDR-significant development–happiness association, levels versus first differences, under the SDG framework and under the HDI composite.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THE STRUCTURE UNDERNEATH</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The composite is not the whole result — the five indicators behave differently</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1150" b="0" i="0">
                <a:solidFill>
                  <a:srgbClr val="5A6068"/>
                </a:solidFill>
                <a:latin typeface="Calibri"/>
              </a:rPr>
              <a:t>HappinessHDI.R reports the composite alongside its four sub-components in both specifications, and the sub-components do not simply track the composite. Mean years of schooling has the highest median R² of the five in levels (0.326) and in differences (0.069) — above the composite HDI itself (0.322 and 0.063). Income is level with it in levels and below it in differences; life expectancy is clearly weakest in levels (0.160, 30 of 151 countries).</a:t>
            </a:r>
          </a:p>
          <a:p>
            <a:pPr>
              <a:lnSpc>
                <a:spcPct val="132000"/>
              </a:lnSpc>
              <a:spcBef>
                <a:spcPts val="0"/>
              </a:spcBef>
              <a:spcAft>
                <a:spcPts val="1100"/>
              </a:spcAft>
            </a:pPr>
            <a:r>
              <a:rPr sz="1150" b="0" i="0">
                <a:solidFill>
                  <a:srgbClr val="5A6068"/>
                </a:solidFill>
                <a:latin typeface="Calibri"/>
              </a:rPr>
              <a:t>The result worth carrying forward is in the differences column. Expected years of schooling is significant in 7 of 150 countries — more than the composite's 3, and more than any other indicator. Seven countries is a small number and the collapse is still severe, so this is not a survival story. But it does mean the education pair leads under both specifications rather than only in the cross-section — and that life expectancy, the HDI's proxy for health, is last in levels. Act II shows why that ordering is a property of the HDI's measurement choices rather than of the domains.</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a:t>
            </a:r>
          </a:p>
        </p:txBody>
      </p:sp>
      <p:pic>
        <p:nvPicPr>
          <p:cNvPr id="6" name="Picture 5" descr="hdi_full_structure.png"/>
          <p:cNvPicPr>
            <a:picLocks noChangeAspect="1"/>
          </p:cNvPicPr>
          <p:nvPr/>
        </p:nvPicPr>
        <p:blipFill>
          <a:blip r:embed="rId2"/>
          <a:stretch>
            <a:fillRect/>
          </a:stretch>
        </p:blipFill>
        <p:spPr>
          <a:xfrm>
            <a:off x="5120640" y="1791377"/>
            <a:ext cx="6537960" cy="2808901"/>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The HDI composite and its four sub-components, levels and first differences. Benjamini–Hochberg corrected across the five indicators within each country.</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859536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WHAT THE SUBNATIONAL HDI IS FOR</a:t>
            </a:r>
          </a:p>
        </p:txBody>
      </p:sp>
      <p:sp>
        <p:nvSpPr>
          <p:cNvPr id="3" name="TextBox 2"/>
          <p:cNvSpPr txBox="1"/>
          <p:nvPr/>
        </p:nvSpPr>
        <p:spPr>
          <a:xfrm>
            <a:off x="566928" y="914400"/>
            <a:ext cx="8595360" cy="1371600"/>
          </a:xfrm>
          <a:prstGeom prst="rect">
            <a:avLst/>
          </a:prstGeom>
          <a:noFill/>
        </p:spPr>
        <p:txBody>
          <a:bodyPr wrap="square" lIns="0" rIns="0" tIns="0" bIns="0">
            <a:spAutoFit/>
          </a:bodyPr>
          <a:lstStyle/>
          <a:p>
            <a:pPr>
              <a:lnSpc>
                <a:spcPct val="108000"/>
              </a:lnSpc>
              <a:spcBef>
                <a:spcPts val="0"/>
              </a:spcBef>
              <a:spcAft>
                <a:spcPts val="0"/>
              </a:spcAft>
            </a:pPr>
            <a:r>
              <a:rPr sz="2700" b="0" i="0">
                <a:solidFill>
                  <a:srgbClr val="14171C"/>
                </a:solidFill>
                <a:latin typeface="Georgia"/>
              </a:rPr>
              <a:t>Not a second producer — a test of whether the national pattern holds inside countries</a:t>
            </a:r>
          </a:p>
        </p:txBody>
      </p:sp>
      <p:sp>
        <p:nvSpPr>
          <p:cNvPr id="4" name="TextBox 3"/>
          <p:cNvSpPr txBox="1"/>
          <p:nvPr/>
        </p:nvSpPr>
        <p:spPr>
          <a:xfrm>
            <a:off x="566928" y="2286000"/>
            <a:ext cx="8595360" cy="3840480"/>
          </a:xfrm>
          <a:prstGeom prst="rect">
            <a:avLst/>
          </a:prstGeom>
          <a:noFill/>
        </p:spPr>
        <p:txBody>
          <a:bodyPr wrap="square" lIns="0" rIns="0" tIns="0" bIns="0">
            <a:spAutoFit/>
          </a:bodyPr>
          <a:lstStyle/>
          <a:p>
            <a:pPr>
              <a:lnSpc>
                <a:spcPct val="132000"/>
              </a:lnSpc>
              <a:spcBef>
                <a:spcPts val="0"/>
              </a:spcBef>
              <a:spcAft>
                <a:spcPts val="1100"/>
              </a:spcAft>
            </a:pPr>
            <a:r>
              <a:rPr sz="1400" b="0" i="0">
                <a:solidFill>
                  <a:srgbClr val="5A6068"/>
                </a:solidFill>
                <a:latin typeface="Calibri"/>
              </a:rPr>
              <a:t>The Global Data Lab's SHDI cannot serve as an independent replication, and the commentary should not present it as one. At national level it is numerically identical to the UNDP HDI: all 1,696 overlapping country-years agree exactly, because GDL derives the national figure from the UNDP series. Running the collapse design on it reproduces the HDI result by construction rather than by corroboration.</a:t>
            </a:r>
          </a:p>
          <a:p>
            <a:pPr>
              <a:lnSpc>
                <a:spcPct val="132000"/>
              </a:lnSpc>
              <a:spcBef>
                <a:spcPts val="0"/>
              </a:spcBef>
              <a:spcAft>
                <a:spcPts val="1100"/>
              </a:spcAft>
            </a:pPr>
            <a:r>
              <a:rPr sz="1400" b="0" i="0">
                <a:solidFill>
                  <a:srgbClr val="5A6068"/>
                </a:solidFill>
                <a:latin typeface="Calibri"/>
              </a:rPr>
              <a:t>Its actual value is disaggregation. GDL's region-level values are its own — only 655 of 58,224 region-years coincide with their country's national figure — so the SHDI is what lets us ask whether the national development–wellbeing relationship holds at subnational level, and where it does not. That question is the subject of Act III, and the answer turns out to be the most policy-relevant result in the commentary.</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REPLICATION 3 · A SECOND WELLBEING INSTRUMENT</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It is not an artifact of the Cantril ladder either</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1150" b="0" i="0">
                <a:solidFill>
                  <a:srgbClr val="5A6068"/>
                </a:solidFill>
                <a:latin typeface="Calibri"/>
              </a:rPr>
              <a:t>The World Happiness Report's ladder is a single self-anchoring item asked by one survey house. Replacing it with the European Social Survey's own life-satisfaction and happiness items — 36 countries, 351,023 respondents, seven roughly biennial waves from 2010 to 2023 — preserves the asymmetry.</a:t>
            </a:r>
          </a:p>
          <a:p>
            <a:pPr>
              <a:lnSpc>
                <a:spcPct val="132000"/>
              </a:lnSpc>
              <a:spcBef>
                <a:spcPts val="0"/>
              </a:spcBef>
              <a:spcAft>
                <a:spcPts val="1100"/>
              </a:spcAft>
            </a:pPr>
            <a:r>
              <a:rPr sz="1150" b="0" i="0">
                <a:solidFill>
                  <a:srgbClr val="5A6068"/>
                </a:solidFill>
                <a:latin typeface="Calibri"/>
              </a:rPr>
              <a:t>Statistical power is much lower here: seven biennial waves against twelve or more annual World Happiness Report years, so individual country tests are fragile and the ESS replication should be read as corroboration rather than as independent confirmation at the same strength.</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a:t>
            </a:r>
          </a:p>
        </p:txBody>
      </p:sp>
      <p:pic>
        <p:nvPicPr>
          <p:cNvPr id="6" name="Picture 5" descr="collapse_hdi_ess.png"/>
          <p:cNvPicPr>
            <a:picLocks noChangeAspect="1"/>
          </p:cNvPicPr>
          <p:nvPr/>
        </p:nvPicPr>
        <p:blipFill>
          <a:blip r:embed="rId2"/>
          <a:stretch>
            <a:fillRect/>
          </a:stretch>
        </p:blipFill>
        <p:spPr>
          <a:xfrm>
            <a:off x="5120640" y="1615563"/>
            <a:ext cx="6537960" cy="3160530"/>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The same design with ESS life satisfaction in place of the Cantril ladder. 15% of levels cells and 9% of differences cells are FDR-significant.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REPLICATION 4 · ONE SCALE DOWN</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And it holds across 239 European regions</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1150" b="0" i="0">
                <a:solidFill>
                  <a:srgbClr val="5A6068"/>
                </a:solidFill>
                <a:latin typeface="Calibri"/>
              </a:rPr>
              <a:t>Region-level subnational HDI against region-mean life satisfaction reproduces the same levels-over-differences pattern, noisier as expected. The result is now documented at three scales — SDG-national, HDI-national, SHDI-regional — and against two wellbeing instruments.</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a:t>
            </a:r>
          </a:p>
        </p:txBody>
      </p:sp>
      <p:pic>
        <p:nvPicPr>
          <p:cNvPr id="6" name="Picture 5" descr="collapse_shdi_ess_regional.png"/>
          <p:cNvPicPr>
            <a:picLocks noChangeAspect="1"/>
          </p:cNvPicPr>
          <p:nvPr/>
        </p:nvPicPr>
        <p:blipFill>
          <a:blip r:embed="rId2"/>
          <a:stretch>
            <a:fillRect/>
          </a:stretch>
        </p:blipFill>
        <p:spPr>
          <a:xfrm>
            <a:off x="5546146" y="658368"/>
            <a:ext cx="5686948" cy="5074919"/>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Regional subnational HDI against region-mean ESS life satisfaction, 239 European regions.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E8EBEF"/>
        </a:solidFill>
        <a:effectLst/>
      </p:bgPr>
    </p:bg>
    <p:spTree>
      <p:nvGrpSpPr>
        <p:cNvPr id="1" name=""/>
        <p:cNvGrpSpPr/>
        <p:nvPr/>
      </p:nvGrpSpPr>
      <p:grpSpPr/>
      <p:sp>
        <p:nvSpPr>
          <p:cNvPr id="2" name="Rectangle 1"/>
          <p:cNvSpPr/>
          <p:nvPr/>
        </p:nvSpPr>
        <p:spPr>
          <a:xfrm>
            <a:off x="566928" y="2103120"/>
            <a:ext cx="54864" cy="2377440"/>
          </a:xfrm>
          <a:prstGeom prst="rect">
            <a:avLst/>
          </a:prstGeom>
          <a:solidFill>
            <a:srgbClr val="1754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1600200"/>
            <a:ext cx="8686800" cy="274320"/>
          </a:xfrm>
          <a:prstGeom prst="rect">
            <a:avLst/>
          </a:prstGeom>
          <a:noFill/>
        </p:spPr>
        <p:txBody>
          <a:bodyPr wrap="square" lIns="0" rIns="0" tIns="0" bIns="0">
            <a:spAutoFit/>
          </a:bodyPr>
          <a:lstStyle/>
          <a:p>
            <a:pPr>
              <a:spcBef>
                <a:spcPts val="0"/>
              </a:spcBef>
              <a:spcAft>
                <a:spcPts val="0"/>
              </a:spcAft>
            </a:pPr>
            <a:r>
              <a:rPr sz="1100" b="0" i="0">
                <a:solidFill>
                  <a:srgbClr val="17549E"/>
                </a:solidFill>
                <a:latin typeface="Consolas"/>
              </a:rPr>
              <a:t>WHERE ACT I LEAVES US</a:t>
            </a:r>
          </a:p>
        </p:txBody>
      </p:sp>
      <p:sp>
        <p:nvSpPr>
          <p:cNvPr id="4" name="TextBox 3"/>
          <p:cNvSpPr txBox="1"/>
          <p:nvPr/>
        </p:nvSpPr>
        <p:spPr>
          <a:xfrm>
            <a:off x="914400" y="2148840"/>
            <a:ext cx="9509760" cy="2926080"/>
          </a:xfrm>
          <a:prstGeom prst="rect">
            <a:avLst/>
          </a:prstGeom>
          <a:noFill/>
        </p:spPr>
        <p:txBody>
          <a:bodyPr wrap="square" lIns="0" rIns="0" tIns="0" bIns="0">
            <a:spAutoFit/>
          </a:bodyPr>
          <a:lstStyle/>
          <a:p>
            <a:pPr>
              <a:lnSpc>
                <a:spcPct val="135000"/>
              </a:lnSpc>
              <a:spcBef>
                <a:spcPts val="0"/>
              </a:spcBef>
              <a:spcAft>
                <a:spcPts val="0"/>
              </a:spcAft>
            </a:pPr>
            <a:r>
              <a:rPr sz="2100" b="0" i="0">
                <a:solidFill>
                  <a:srgbClr val="14171C"/>
                </a:solidFill>
                <a:latin typeface="Georgia"/>
              </a:rPr>
              <a:t>Two independent replications and one scale test. The commentary can therefore state the asymmetry as a property of the development–wellbeing relationship rather than of any particular index, and move on to the question that actually matters: given that almost nothing survives the move to within-country change, what carries the level signal?</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14171C"/>
        </a:solidFill>
        <a:effectLst/>
      </p:bgPr>
    </p:bg>
    <p:spTree>
      <p:nvGrpSpPr>
        <p:cNvPr id="1" name=""/>
        <p:cNvGrpSpPr/>
        <p:nvPr/>
      </p:nvGrpSpPr>
      <p:grpSpPr/>
      <p:sp>
        <p:nvSpPr>
          <p:cNvPr id="2" name="TextBox 1"/>
          <p:cNvSpPr txBox="1"/>
          <p:nvPr/>
        </p:nvSpPr>
        <p:spPr>
          <a:xfrm>
            <a:off x="8229600" y="822960"/>
            <a:ext cx="3291840" cy="4114800"/>
          </a:xfrm>
          <a:prstGeom prst="rect">
            <a:avLst/>
          </a:prstGeom>
          <a:noFill/>
        </p:spPr>
        <p:txBody>
          <a:bodyPr wrap="square" lIns="0" rIns="0" tIns="0" bIns="0">
            <a:spAutoFit/>
          </a:bodyPr>
          <a:lstStyle/>
          <a:p>
            <a:pPr algn="r">
              <a:spcBef>
                <a:spcPts val="0"/>
              </a:spcBef>
              <a:spcAft>
                <a:spcPts val="0"/>
              </a:spcAft>
            </a:pPr>
            <a:r>
              <a:rPr sz="20000" b="0" i="0">
                <a:solidFill>
                  <a:srgbClr val="2A3340"/>
                </a:solidFill>
                <a:latin typeface="Georgia"/>
              </a:rPr>
              <a:t>II</a:t>
            </a:r>
          </a:p>
        </p:txBody>
      </p:sp>
      <p:sp>
        <p:nvSpPr>
          <p:cNvPr id="3" name="Rectangle 2"/>
          <p:cNvSpPr/>
          <p:nvPr/>
        </p:nvSpPr>
        <p:spPr>
          <a:xfrm>
            <a:off x="566928" y="1371600"/>
            <a:ext cx="7315200" cy="25400"/>
          </a:xfrm>
          <a:prstGeom prst="rect">
            <a:avLst/>
          </a:prstGeom>
          <a:solidFill>
            <a:srgbClr val="C9D8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60120"/>
            <a:ext cx="5486400" cy="274320"/>
          </a:xfrm>
          <a:prstGeom prst="rect">
            <a:avLst/>
          </a:prstGeom>
          <a:noFill/>
        </p:spPr>
        <p:txBody>
          <a:bodyPr wrap="square" lIns="0" rIns="0" tIns="0" bIns="0">
            <a:spAutoFit/>
          </a:bodyPr>
          <a:lstStyle/>
          <a:p>
            <a:pPr>
              <a:spcBef>
                <a:spcPts val="0"/>
              </a:spcBef>
              <a:spcAft>
                <a:spcPts val="0"/>
              </a:spcAft>
            </a:pPr>
            <a:r>
              <a:rPr sz="1100" b="0" i="0">
                <a:solidFill>
                  <a:srgbClr val="C9D8EC"/>
                </a:solidFill>
                <a:latin typeface="Consolas"/>
              </a:rPr>
              <a:t>ACT II</a:t>
            </a:r>
          </a:p>
        </p:txBody>
      </p:sp>
      <p:sp>
        <p:nvSpPr>
          <p:cNvPr id="5" name="TextBox 4"/>
          <p:cNvSpPr txBox="1"/>
          <p:nvPr/>
        </p:nvSpPr>
        <p:spPr>
          <a:xfrm>
            <a:off x="566928" y="1783080"/>
            <a:ext cx="7223760" cy="1828800"/>
          </a:xfrm>
          <a:prstGeom prst="rect">
            <a:avLst/>
          </a:prstGeom>
          <a:noFill/>
        </p:spPr>
        <p:txBody>
          <a:bodyPr wrap="square" lIns="0" rIns="0" tIns="0" bIns="0">
            <a:spAutoFit/>
          </a:bodyPr>
          <a:lstStyle/>
          <a:p>
            <a:pPr>
              <a:lnSpc>
                <a:spcPct val="102000"/>
              </a:lnSpc>
              <a:spcBef>
                <a:spcPts val="0"/>
              </a:spcBef>
              <a:spcAft>
                <a:spcPts val="0"/>
              </a:spcAft>
            </a:pPr>
            <a:r>
              <a:rPr sz="4000" b="0" i="0">
                <a:solidFill>
                  <a:srgbClr val="FCFCFB"/>
                </a:solidFill>
                <a:latin typeface="Georgia"/>
              </a:rPr>
              <a:t>What matters is decided by how you measure it</a:t>
            </a:r>
          </a:p>
        </p:txBody>
      </p:sp>
      <p:sp>
        <p:nvSpPr>
          <p:cNvPr id="6" name="TextBox 5"/>
          <p:cNvSpPr txBox="1"/>
          <p:nvPr/>
        </p:nvSpPr>
        <p:spPr>
          <a:xfrm>
            <a:off x="566928" y="3886200"/>
            <a:ext cx="6766560" cy="1463040"/>
          </a:xfrm>
          <a:prstGeom prst="rect">
            <a:avLst/>
          </a:prstGeom>
          <a:noFill/>
        </p:spPr>
        <p:txBody>
          <a:bodyPr wrap="square" lIns="0" rIns="0" tIns="0" bIns="0">
            <a:spAutoFit/>
          </a:bodyPr>
          <a:lstStyle/>
          <a:p>
            <a:pPr>
              <a:lnSpc>
                <a:spcPct val="135000"/>
              </a:lnSpc>
              <a:spcBef>
                <a:spcPts val="0"/>
              </a:spcBef>
              <a:spcAft>
                <a:spcPts val="0"/>
              </a:spcAft>
            </a:pPr>
            <a:r>
              <a:rPr sz="1600" b="0" i="1">
                <a:solidFill>
                  <a:srgbClr val="9AA4B0"/>
                </a:solidFill>
                <a:latin typeface="Georgia"/>
              </a:rPr>
              <a:t>Rank the domains and the answer inverts depending on the instrument. Health is the HDI's weakest component and the strongest thing in both the SDG ranking and the ESS. Education is the HDI's strongest and the SDG framework's weakest. Neither disagreement is about the world; both are about how the domain was operationalised.</a:t>
            </a:r>
          </a:p>
        </p:txBody>
      </p:sp>
      <p:sp>
        <p:nvSpPr>
          <p:cNvPr id="7" name="TextBox 6"/>
          <p:cNvSpPr txBox="1"/>
          <p:nvPr/>
        </p:nvSpPr>
        <p:spPr>
          <a:xfrm>
            <a:off x="566928" y="5623560"/>
            <a:ext cx="3503066" cy="914400"/>
          </a:xfrm>
          <a:prstGeom prst="rect">
            <a:avLst/>
          </a:prstGeom>
          <a:noFill/>
        </p:spPr>
        <p:txBody>
          <a:bodyPr wrap="square" lIns="0" rIns="0" tIns="0" bIns="0">
            <a:spAutoFit/>
          </a:bodyPr>
          <a:lstStyle/>
          <a:p>
            <a:pPr>
              <a:spcBef>
                <a:spcPts val="0"/>
              </a:spcBef>
              <a:spcAft>
                <a:spcPts val="400"/>
              </a:spcAft>
            </a:pPr>
            <a:r>
              <a:rPr sz="2200" b="0" i="0">
                <a:solidFill>
                  <a:srgbClr val="FCFCFB"/>
                </a:solidFill>
                <a:latin typeface="Consolas"/>
              </a:rPr>
              <a:t>51% vs 17%</a:t>
            </a:r>
          </a:p>
          <a:p>
            <a:pPr>
              <a:lnSpc>
                <a:spcPct val="120000"/>
              </a:lnSpc>
              <a:spcBef>
                <a:spcPts val="0"/>
              </a:spcBef>
              <a:spcAft>
                <a:spcPts val="0"/>
              </a:spcAft>
            </a:pPr>
            <a:r>
              <a:rPr sz="1000" b="0" i="0">
                <a:solidFill>
                  <a:srgbClr val="8A94A0"/>
                </a:solidFill>
                <a:latin typeface="Calibri"/>
              </a:rPr>
              <a:t>HDI vs SDG at a matched bar: 1 in 5 of a country's indicators</a:t>
            </a:r>
          </a:p>
        </p:txBody>
      </p:sp>
      <p:sp>
        <p:nvSpPr>
          <p:cNvPr id="8" name="TextBox 7"/>
          <p:cNvSpPr txBox="1"/>
          <p:nvPr/>
        </p:nvSpPr>
        <p:spPr>
          <a:xfrm>
            <a:off x="4344314" y="5623560"/>
            <a:ext cx="3503066" cy="914400"/>
          </a:xfrm>
          <a:prstGeom prst="rect">
            <a:avLst/>
          </a:prstGeom>
          <a:noFill/>
        </p:spPr>
        <p:txBody>
          <a:bodyPr wrap="square" lIns="0" rIns="0" tIns="0" bIns="0">
            <a:spAutoFit/>
          </a:bodyPr>
          <a:lstStyle/>
          <a:p>
            <a:pPr>
              <a:spcBef>
                <a:spcPts val="0"/>
              </a:spcBef>
              <a:spcAft>
                <a:spcPts val="400"/>
              </a:spcAft>
            </a:pPr>
            <a:r>
              <a:rPr sz="2200" b="0" i="0">
                <a:solidFill>
                  <a:srgbClr val="FCFCFB"/>
                </a:solidFill>
                <a:latin typeface="Consolas"/>
              </a:rPr>
              <a:t>2.4%</a:t>
            </a:r>
          </a:p>
          <a:p>
            <a:pPr>
              <a:lnSpc>
                <a:spcPct val="120000"/>
              </a:lnSpc>
              <a:spcBef>
                <a:spcPts val="0"/>
              </a:spcBef>
              <a:spcAft>
                <a:spcPts val="0"/>
              </a:spcAft>
            </a:pPr>
            <a:r>
              <a:rPr sz="1000" b="0" i="0">
                <a:solidFill>
                  <a:srgbClr val="8A94A0"/>
                </a:solidFill>
                <a:latin typeface="Calibri"/>
              </a:rPr>
              <a:t>median SDG country: share of its own series significant</a:t>
            </a:r>
          </a:p>
        </p:txBody>
      </p:sp>
      <p:sp>
        <p:nvSpPr>
          <p:cNvPr id="9" name="TextBox 8"/>
          <p:cNvSpPr txBox="1"/>
          <p:nvPr/>
        </p:nvSpPr>
        <p:spPr>
          <a:xfrm>
            <a:off x="8121700" y="5623560"/>
            <a:ext cx="3503066" cy="914400"/>
          </a:xfrm>
          <a:prstGeom prst="rect">
            <a:avLst/>
          </a:prstGeom>
          <a:noFill/>
        </p:spPr>
        <p:txBody>
          <a:bodyPr wrap="square" lIns="0" rIns="0" tIns="0" bIns="0">
            <a:spAutoFit/>
          </a:bodyPr>
          <a:lstStyle/>
          <a:p>
            <a:pPr>
              <a:spcBef>
                <a:spcPts val="0"/>
              </a:spcBef>
              <a:spcAft>
                <a:spcPts val="400"/>
              </a:spcAft>
            </a:pPr>
            <a:r>
              <a:rPr sz="2200" b="0" i="0">
                <a:solidFill>
                  <a:srgbClr val="FCFCFB"/>
                </a:solidFill>
                <a:latin typeface="Consolas"/>
              </a:rPr>
              <a:t>11.2% vs 1.2%</a:t>
            </a:r>
          </a:p>
          <a:p>
            <a:pPr>
              <a:lnSpc>
                <a:spcPct val="120000"/>
              </a:lnSpc>
              <a:spcBef>
                <a:spcPts val="0"/>
              </a:spcBef>
              <a:spcAft>
                <a:spcPts val="0"/>
              </a:spcAft>
            </a:pPr>
            <a:r>
              <a:rPr sz="1000" b="0" i="0">
                <a:solidFill>
                  <a:srgbClr val="8A94A0"/>
                </a:solidFill>
                <a:latin typeface="Calibri"/>
              </a:rPr>
              <a:t>health vs education, SDG data, high-income countries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FRAMEWORK AGAINST FRAMEWORK</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The SDG framework wins only at the loosest bar; at a comparable one the HDI dominates</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1150" b="0" i="0">
                <a:solidFill>
                  <a:srgbClr val="5A6068"/>
                </a:solidFill>
                <a:latin typeface="Calibri"/>
              </a:rPr>
              <a:t>Score each framework on its own full country set. At the loosest possible bar — at least one indicator significant in levels — the SDG framework wins: 30 of its 42 countries qualify (71%) against 77 of the HDR's 150 (51%). Conceded plainly, because it is true.</a:t>
            </a:r>
          </a:p>
          <a:p>
            <a:pPr>
              <a:lnSpc>
                <a:spcPct val="132000"/>
              </a:lnSpc>
              <a:spcBef>
                <a:spcPts val="0"/>
              </a:spcBef>
              <a:spcAft>
                <a:spcPts val="1100"/>
              </a:spcAft>
            </a:pPr>
            <a:r>
              <a:rPr sz="1150" b="0" i="0">
                <a:solidFill>
                  <a:srgbClr val="5A6068"/>
                </a:solidFill>
                <a:latin typeface="Calibri"/>
              </a:rPr>
              <a:t>But that bar is not the same test on both sides. One of roughly 456 series is a far weaker requirement than one of five. Requiring instead a share of each country's own indicators makes the bar comparable, and the ordering reverses hard. At one indicator in five — the HDI's loosest bar expressed proportionally — the HDI reaches 51% of its countries and the SDG framework 17% of its own. The median SDG country has 2.4% of its series significant; the best, Canada, reaches 34.9%. Above roughly 35% no SDG country qualifies at all, while 44% of HDI countries still clear a three-of-five bar.</a:t>
            </a:r>
          </a:p>
          <a:p>
            <a:pPr>
              <a:lnSpc>
                <a:spcPct val="132000"/>
              </a:lnSpc>
              <a:spcBef>
                <a:spcPts val="0"/>
              </a:spcBef>
              <a:spcAft>
                <a:spcPts val="1100"/>
              </a:spcAft>
            </a:pPr>
            <a:r>
              <a:rPr sz="1150" b="0" i="0">
                <a:solidFill>
                  <a:srgbClr val="5A6068"/>
                </a:solidFill>
                <a:latin typeface="Calibri"/>
              </a:rPr>
              <a:t>Per indicator the ordering reverses completely. Across the 609 SDG series with usable coverage the median series is significant in no country at all, and 54% never clear FDR anywhere. The HDI composite, mean years of schooling and GNI per capita each beat essentially the entire SDG field; expected years of schooling beats 98% of it, and even life expectancy — the HDI's weakest component — beats 90%. The HDI is not a broader instrument than the SDG framework. It is a vastly more efficient one.</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II</a:t>
            </a:r>
          </a:p>
        </p:txBody>
      </p:sp>
      <p:pic>
        <p:nvPicPr>
          <p:cNvPr id="6" name="Picture 5" descr="framework_coverage_efficiency.png"/>
          <p:cNvPicPr>
            <a:picLocks noChangeAspect="1"/>
          </p:cNvPicPr>
          <p:nvPr/>
        </p:nvPicPr>
        <p:blipFill>
          <a:blip r:embed="rId2"/>
          <a:stretch>
            <a:fillRect/>
          </a:stretch>
        </p:blipFill>
        <p:spPr>
          <a:xfrm>
            <a:off x="5120640" y="1843147"/>
            <a:ext cx="6537960" cy="2705362"/>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Each framework on its own full country set against WHR happiness. Panel a sweeps the bar from "any one indicator" to "all of them"; panel b shows every SDG series with usable coverage and where the HDI's five components fall among them.</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THE AUTOPSY</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What survives in levels is survival</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1150" b="0" i="0">
                <a:solidFill>
                  <a:srgbClr val="5A6068"/>
                </a:solidFill>
                <a:latin typeface="Calibri"/>
              </a:rPr>
              <a:t>Ranking the 609 SDG series measured in at least 8 countries by the share of countries in which they are FDR-significant puts safely managed sanitation first, then infant deaths, under-five deaths, child stunting, and safely managed drinking water. Sixteen of the top 25 series are health-domain, and none of them is self-reported.</a:t>
            </a:r>
          </a:p>
          <a:p>
            <a:pPr>
              <a:lnSpc>
                <a:spcPct val="132000"/>
              </a:lnSpc>
              <a:spcBef>
                <a:spcPts val="0"/>
              </a:spcBef>
              <a:spcAft>
                <a:spcPts val="1100"/>
              </a:spcAft>
            </a:pPr>
            <a:r>
              <a:rPr sz="1150" b="0" i="0">
                <a:solidFill>
                  <a:srgbClr val="5A6068"/>
                </a:solidFill>
                <a:latin typeface="Calibri"/>
              </a:rPr>
              <a:t>This is the steep part of the development curve — staying alive and not being sick — rather than the 2030 Agenda's institutional superstructure. Goal 3 ranks 4th of 17 goals at 11.5%. Goal 16, the closest thing the framework has to social trust, ranks 15th at 1.5%.</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II</a:t>
            </a:r>
          </a:p>
        </p:txBody>
      </p:sp>
      <p:pic>
        <p:nvPicPr>
          <p:cNvPr id="6" name="Picture 5" descr="sdg_indicator_top20.png"/>
          <p:cNvPicPr>
            <a:picLocks noChangeAspect="1"/>
          </p:cNvPicPr>
          <p:nvPr/>
        </p:nvPicPr>
        <p:blipFill>
          <a:blip r:embed="rId2"/>
          <a:stretch>
            <a:fillRect/>
          </a:stretch>
        </p:blipFill>
        <p:spPr>
          <a:xfrm>
            <a:off x="5279547" y="658368"/>
            <a:ext cx="6220145" cy="5074920"/>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The 20 highest-ranking SDG series of 609, by share of countries FDR-significant in levels.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THE HORSE RACE</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Run the domains against each other in one survey and health wins at every level</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1150" b="0" i="0">
                <a:solidFill>
                  <a:srgbClr val="5A6068"/>
                </a:solidFill>
                <a:latin typeface="Calibri"/>
              </a:rPr>
              <a:t>The ESS measures health, education, income and trust on the same respondents as life satisfaction, so the domains can compete on equal terms. Self-rated health is significant in 36 of 36 countries with a median R² of 0.091 — roughly nine times education's 0.0098, which is the smallest effect of any domain tested. Within countries, across regions, health holds at +0.51 while development falls to +0.12.</a:t>
            </a:r>
          </a:p>
          <a:p>
            <a:pPr>
              <a:lnSpc>
                <a:spcPct val="132000"/>
              </a:lnSpc>
              <a:spcBef>
                <a:spcPts val="0"/>
              </a:spcBef>
              <a:spcAft>
                <a:spcPts val="1100"/>
              </a:spcAft>
            </a:pPr>
            <a:r>
              <a:rPr sz="1150" b="0" i="0">
                <a:solidFill>
                  <a:srgbClr val="5A6068"/>
                </a:solidFill>
                <a:latin typeface="Calibri"/>
              </a:rPr>
              <a:t>The HDI leads between countries, at R² = 0.760, but that is the one comparison where a composite index is expected to win: it proxies every domain at once. It falls to fourth once you look inside countries.</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II</a:t>
            </a:r>
          </a:p>
        </p:txBody>
      </p:sp>
      <p:pic>
        <p:nvPicPr>
          <p:cNvPr id="6" name="Picture 5" descr="domain_horse_race.png"/>
          <p:cNvPicPr>
            <a:picLocks noChangeAspect="1"/>
          </p:cNvPicPr>
          <p:nvPr/>
        </p:nvPicPr>
        <p:blipFill>
          <a:blip r:embed="rId2"/>
          <a:stretch>
            <a:fillRect/>
          </a:stretch>
        </p:blipFill>
        <p:spPr>
          <a:xfrm>
            <a:off x="5120640" y="1888236"/>
            <a:ext cx="6537960" cy="2615184"/>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Domains competing within one instrument, at three levels of aggregation. Health and trust are self-reported alongside the outcome — see the next beat.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THE METHOD CHECK</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Health survives the obvious objection; social trust does not</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1150" b="0" i="0">
                <a:solidFill>
                  <a:srgbClr val="5A6068"/>
                </a:solidFill>
                <a:latin typeface="Calibri"/>
              </a:rPr>
              <a:t>Self-rated health and social trust are reported by the same respondent, in the same survey, as life satisfaction, so shared method variance is the first thing a reader will raise. The UN SDG database is administrative and shares no method with any wellbeing instrument, which makes it the natural check.</a:t>
            </a:r>
          </a:p>
          <a:p>
            <a:pPr>
              <a:lnSpc>
                <a:spcPct val="132000"/>
              </a:lnSpc>
              <a:spcBef>
                <a:spcPts val="0"/>
              </a:spcBef>
              <a:spcAft>
                <a:spcPts val="1100"/>
              </a:spcAft>
            </a:pPr>
            <a:r>
              <a:rPr sz="1150" b="0" i="0">
                <a:solidFill>
                  <a:srgbClr val="5A6068"/>
                </a:solidFill>
                <a:latin typeface="Calibri"/>
              </a:rPr>
              <a:t>Health passes it. Restricted to high-income countries — the same development stratum the ESS covers — the SDG data puts health at 11.2% of country-indicator pairs against education's 1.2%, the same ordering the ESS gives from entirely different measurement. Social trust fails it: there is no interpersonal-trust indicator anywhere in the SDG framework, and Goal 16's best series ranks 125th of 609. Trust is the strongest ESS predictor and has no independent corroboration available. It should enter the commentary as an open question, not a result.</a:t>
            </a:r>
          </a:p>
          <a:p>
            <a:pPr>
              <a:lnSpc>
                <a:spcPct val="132000"/>
              </a:lnSpc>
              <a:spcBef>
                <a:spcPts val="0"/>
              </a:spcBef>
              <a:spcAft>
                <a:spcPts val="1100"/>
              </a:spcAft>
            </a:pPr>
            <a:r>
              <a:rPr sz="1150" b="0" i="0">
                <a:solidFill>
                  <a:srgbClr val="5A6068"/>
                </a:solidFill>
                <a:latin typeface="Calibri"/>
              </a:rPr>
              <a:t>Act III adds a second external check at the regional scale: GDL's externally measured health index leads its education and income indices within countries too, so the health result now holds under administrative measurement at both the national and the regional level.</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II</a:t>
            </a:r>
          </a:p>
        </p:txBody>
      </p:sp>
      <p:pic>
        <p:nvPicPr>
          <p:cNvPr id="6" name="Picture 5" descr="health_trust_corroboration.png"/>
          <p:cNvPicPr>
            <a:picLocks noChangeAspect="1"/>
          </p:cNvPicPr>
          <p:nvPr/>
        </p:nvPicPr>
        <p:blipFill>
          <a:blip r:embed="rId2"/>
          <a:stretch>
            <a:fillRect/>
          </a:stretch>
        </p:blipFill>
        <p:spPr>
          <a:xfrm>
            <a:off x="5120640" y="1858518"/>
            <a:ext cx="6537960" cy="2674620"/>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The same three domains under an administrative source and a self-report source.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859536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THE SATURATION PROBLEM</a:t>
            </a:r>
          </a:p>
        </p:txBody>
      </p:sp>
      <p:sp>
        <p:nvSpPr>
          <p:cNvPr id="3" name="TextBox 2"/>
          <p:cNvSpPr txBox="1"/>
          <p:nvPr/>
        </p:nvSpPr>
        <p:spPr>
          <a:xfrm>
            <a:off x="566928" y="914400"/>
            <a:ext cx="8595360" cy="1371600"/>
          </a:xfrm>
          <a:prstGeom prst="rect">
            <a:avLst/>
          </a:prstGeom>
          <a:noFill/>
        </p:spPr>
        <p:txBody>
          <a:bodyPr wrap="square" lIns="0" rIns="0" tIns="0" bIns="0">
            <a:spAutoFit/>
          </a:bodyPr>
          <a:lstStyle/>
          <a:p>
            <a:pPr>
              <a:lnSpc>
                <a:spcPct val="108000"/>
              </a:lnSpc>
              <a:spcBef>
                <a:spcPts val="0"/>
              </a:spcBef>
              <a:spcAft>
                <a:spcPts val="0"/>
              </a:spcAft>
            </a:pPr>
            <a:r>
              <a:rPr sz="2700" b="0" i="0">
                <a:solidFill>
                  <a:srgbClr val="14171C"/>
                </a:solidFill>
                <a:latin typeface="Georgia"/>
              </a:rPr>
              <a:t>Why the HDI says health barely matters</a:t>
            </a:r>
          </a:p>
        </p:txBody>
      </p:sp>
      <p:sp>
        <p:nvSpPr>
          <p:cNvPr id="4" name="TextBox 3"/>
          <p:cNvSpPr txBox="1"/>
          <p:nvPr/>
        </p:nvSpPr>
        <p:spPr>
          <a:xfrm>
            <a:off x="566928" y="2286000"/>
            <a:ext cx="8595360" cy="3840480"/>
          </a:xfrm>
          <a:prstGeom prst="rect">
            <a:avLst/>
          </a:prstGeom>
          <a:noFill/>
        </p:spPr>
        <p:txBody>
          <a:bodyPr wrap="square" lIns="0" rIns="0" tIns="0" bIns="0">
            <a:spAutoFit/>
          </a:bodyPr>
          <a:lstStyle/>
          <a:p>
            <a:pPr>
              <a:lnSpc>
                <a:spcPct val="132000"/>
              </a:lnSpc>
              <a:spcBef>
                <a:spcPts val="0"/>
              </a:spcBef>
              <a:spcAft>
                <a:spcPts val="1100"/>
              </a:spcAft>
            </a:pPr>
            <a:r>
              <a:rPr sz="1400" b="0" i="0">
                <a:solidFill>
                  <a:srgbClr val="5A6068"/>
                </a:solidFill>
                <a:latin typeface="Calibri"/>
              </a:rPr>
              <a:t>Inside the HDI, life expectancy is the weakest of the five indicators by a wide margin — significant in 30 of 151 countries (19.9%), against 40.7% for mean schooling. Read naively, the HDI says health is the least important thing about development.</a:t>
            </a:r>
          </a:p>
          <a:p>
            <a:pPr>
              <a:lnSpc>
                <a:spcPct val="132000"/>
              </a:lnSpc>
              <a:spcBef>
                <a:spcPts val="0"/>
              </a:spcBef>
              <a:spcAft>
                <a:spcPts val="1100"/>
              </a:spcAft>
            </a:pPr>
            <a:r>
              <a:rPr sz="1400" b="0" i="0">
                <a:solidFill>
                  <a:srgbClr val="5A6068"/>
                </a:solidFill>
                <a:latin typeface="Calibri"/>
              </a:rPr>
              <a:t>It says nothing of the kind. Life expectancy is close to saturated across the countries where it is tested: the variance that would let it predict anything has largely gone. The SDG series that do carry health's signal are survival measures — child and neonatal mortality, stunting — which still vary enormously, and self-rated health captures morbidity that life expectancy cannot see at all. A domain disappears from a framework when that framework measures it with a variable that has run out of room.</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II</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SUB-HIGHLIGHT · EDUCATION</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Education is the same problem running in the opposite direction</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1150" b="0" i="0">
                <a:solidFill>
                  <a:srgbClr val="5A6068"/>
                </a:solidFill>
                <a:latin typeface="Calibri"/>
              </a:rPr>
              <a:t>Education inverts the health story exactly. It is the HDI's strongest domain — mean years of schooling has the highest median R² of all five indicators, 0.326, above the composite itself — and the SDG framework's weakest, at 3.3% pooled, with its best series ranking 100th of 609.</a:t>
            </a:r>
          </a:p>
          <a:p>
            <a:pPr>
              <a:lnSpc>
                <a:spcPct val="132000"/>
              </a:lnSpc>
              <a:spcBef>
                <a:spcPts val="0"/>
              </a:spcBef>
              <a:spcAft>
                <a:spcPts val="1100"/>
              </a:spcAft>
            </a:pPr>
            <a:r>
              <a:rPr sz="1150" b="0" i="0">
                <a:solidFill>
                  <a:srgbClr val="5A6068"/>
                </a:solidFill>
                <a:latin typeface="Calibri"/>
              </a:rPr>
              <a:t>The disagreement is again construct choice. Eighteen of SDG4's 35 official series are equity or parity ratios, six measure learning outcomes, seven measure school infrastructure, and only two measure access and participation directly. Split apart, access reaches 12.7% — comparable to health's 11.5% — while learning outcomes sit at 0.9% and parity ratios at 2.5%. The pooled 3.3% is an average across constructs pointing in different directions and describes none of them. Pooling within a goal can manufacture a null.</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II</a:t>
            </a:r>
          </a:p>
        </p:txBody>
      </p:sp>
      <p:pic>
        <p:nvPicPr>
          <p:cNvPr id="6" name="Picture 5" descr="sdg4_unpooled.png"/>
          <p:cNvPicPr>
            <a:picLocks noChangeAspect="1"/>
          </p:cNvPicPr>
          <p:nvPr/>
        </p:nvPicPr>
        <p:blipFill>
          <a:blip r:embed="rId2"/>
          <a:stretch>
            <a:fillRect/>
          </a:stretch>
        </p:blipFill>
        <p:spPr>
          <a:xfrm>
            <a:off x="5120640" y="1103208"/>
            <a:ext cx="6537960" cy="4185240"/>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SDG4 split by what each indicator actually measures, with the pooled figure marked.</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SUB-HIGHLIGHT · EDUCATION</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And it is the one domain that is significant almost everywhere, if barely</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1150" b="0" i="0">
                <a:solidFill>
                  <a:srgbClr val="5A6068"/>
                </a:solidFill>
                <a:latin typeface="Calibri"/>
              </a:rPr>
              <a:t>Respondents' own attainment predicts their own life satisfaction in 32 to 34 of 36 ESS countries — more consistent across countries than anything except health itself. Aggregated to the country level, ESS-measured years of schooling predicts World Happiness Report happiness at R² = 0.308, against 0.161 for the HDI's own schooling series on the same cells: an independently measured education variable roughly doubles the HDI's.</a:t>
            </a:r>
          </a:p>
          <a:p>
            <a:pPr>
              <a:lnSpc>
                <a:spcPct val="132000"/>
              </a:lnSpc>
              <a:spcBef>
                <a:spcPts val="0"/>
              </a:spcBef>
              <a:spcAft>
                <a:spcPts val="1100"/>
              </a:spcAft>
            </a:pPr>
            <a:r>
              <a:rPr sz="1150" b="0" i="0">
                <a:solidFill>
                  <a:srgbClr val="5A6068"/>
                </a:solidFill>
                <a:latin typeface="Calibri"/>
              </a:rPr>
              <a:t>What it does not have is size. The median individual R² is 0.0098, the smallest of any domain in the horse race, and within countries education sits at +0.13 with 2 of 16 countries significant. Education is the most universal signal and the smallest one, which is a genuinely odd combination and worth stating as such rather than resolving prematurely.</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II</a:t>
            </a:r>
          </a:p>
        </p:txBody>
      </p:sp>
      <p:pic>
        <p:nvPicPr>
          <p:cNvPr id="6" name="Picture 5" descr="ess_individual_education.png"/>
          <p:cNvPicPr>
            <a:picLocks noChangeAspect="1"/>
          </p:cNvPicPr>
          <p:nvPr/>
        </p:nvPicPr>
        <p:blipFill>
          <a:blip r:embed="rId2"/>
          <a:stretch>
            <a:fillRect/>
          </a:stretch>
        </p:blipFill>
        <p:spPr>
          <a:xfrm>
            <a:off x="5120640" y="1214810"/>
            <a:ext cx="6537960" cy="3962035"/>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Per-country tests of respondents' own attainment against their own life satisfaction, 36 ESS countries.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THE COMPOSITE</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The three panels the commentary needs</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1150" b="0" i="0">
                <a:solidFill>
                  <a:srgbClr val="5A6068"/>
                </a:solidFill>
                <a:latin typeface="Calibri"/>
              </a:rPr>
              <a:t>Commentaries carry one or two display items, so the argument has to fit in a single figure: the replicated collapse, the inversion of the health–education ranking across instruments, and the method check that only health passes.</a:t>
            </a:r>
          </a:p>
          <a:p>
            <a:pPr>
              <a:lnSpc>
                <a:spcPct val="132000"/>
              </a:lnSpc>
              <a:spcBef>
                <a:spcPts val="0"/>
              </a:spcBef>
              <a:spcAft>
                <a:spcPts val="1100"/>
              </a:spcAft>
            </a:pPr>
            <a:r>
              <a:rPr sz="1150" b="0" i="0">
                <a:solidFill>
                  <a:srgbClr val="5A6068"/>
                </a:solidFill>
                <a:latin typeface="Calibri"/>
              </a:rPr>
              <a:t>One caution for the caption. Panels b and c both put measures with different units on a shared axis — panel b normalises to the health-plus-education pair, panel c to the leading domain within each source. Both are there to make an ordering readable, not a magnitude, and the raw values are printed on the bars so a reader can check that.</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II</a:t>
            </a:r>
          </a:p>
        </p:txBody>
      </p:sp>
      <p:pic>
        <p:nvPicPr>
          <p:cNvPr id="6" name="Picture 5" descr="Figure1_commentary.png"/>
          <p:cNvPicPr>
            <a:picLocks noChangeAspect="1"/>
          </p:cNvPicPr>
          <p:nvPr/>
        </p:nvPicPr>
        <p:blipFill>
          <a:blip r:embed="rId2"/>
          <a:stretch>
            <a:fillRect/>
          </a:stretch>
        </p:blipFill>
        <p:spPr>
          <a:xfrm>
            <a:off x="5120640" y="808954"/>
            <a:ext cx="6537960" cy="4773748"/>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Proposed Figure 1 for submission. Draft — see the caution above on panels b and c.</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E8EBEF"/>
        </a:solidFill>
        <a:effectLst/>
      </p:bgPr>
    </p:bg>
    <p:spTree>
      <p:nvGrpSpPr>
        <p:cNvPr id="1" name=""/>
        <p:cNvGrpSpPr/>
        <p:nvPr/>
      </p:nvGrpSpPr>
      <p:grpSpPr/>
      <p:sp>
        <p:nvSpPr>
          <p:cNvPr id="2" name="Rectangle 1"/>
          <p:cNvSpPr/>
          <p:nvPr/>
        </p:nvSpPr>
        <p:spPr>
          <a:xfrm>
            <a:off x="566928" y="2103120"/>
            <a:ext cx="54864" cy="2377440"/>
          </a:xfrm>
          <a:prstGeom prst="rect">
            <a:avLst/>
          </a:prstGeom>
          <a:solidFill>
            <a:srgbClr val="1754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1600200"/>
            <a:ext cx="8686800" cy="274320"/>
          </a:xfrm>
          <a:prstGeom prst="rect">
            <a:avLst/>
          </a:prstGeom>
          <a:noFill/>
        </p:spPr>
        <p:txBody>
          <a:bodyPr wrap="square" lIns="0" rIns="0" tIns="0" bIns="0">
            <a:spAutoFit/>
          </a:bodyPr>
          <a:lstStyle/>
          <a:p>
            <a:pPr>
              <a:spcBef>
                <a:spcPts val="0"/>
              </a:spcBef>
              <a:spcAft>
                <a:spcPts val="0"/>
              </a:spcAft>
            </a:pPr>
            <a:r>
              <a:rPr sz="1100" b="0" i="0">
                <a:solidFill>
                  <a:srgbClr val="17549E"/>
                </a:solidFill>
                <a:latin typeface="Consolas"/>
              </a:rPr>
              <a:t>WHERE ACT II LEAVES US</a:t>
            </a:r>
          </a:p>
        </p:txBody>
      </p:sp>
      <p:sp>
        <p:nvSpPr>
          <p:cNvPr id="4" name="TextBox 3"/>
          <p:cNvSpPr txBox="1"/>
          <p:nvPr/>
        </p:nvSpPr>
        <p:spPr>
          <a:xfrm>
            <a:off x="914400" y="2148840"/>
            <a:ext cx="9509760" cy="2926080"/>
          </a:xfrm>
          <a:prstGeom prst="rect">
            <a:avLst/>
          </a:prstGeom>
          <a:noFill/>
        </p:spPr>
        <p:txBody>
          <a:bodyPr wrap="square" lIns="0" rIns="0" tIns="0" bIns="0">
            <a:spAutoFit/>
          </a:bodyPr>
          <a:lstStyle/>
          <a:p>
            <a:pPr>
              <a:lnSpc>
                <a:spcPct val="135000"/>
              </a:lnSpc>
              <a:spcBef>
                <a:spcPts val="0"/>
              </a:spcBef>
              <a:spcAft>
                <a:spcPts val="0"/>
              </a:spcAft>
            </a:pPr>
            <a:r>
              <a:rPr sz="2100" b="0" i="0">
                <a:solidFill>
                  <a:srgbClr val="14171C"/>
                </a:solidFill>
                <a:latin typeface="Georgia"/>
              </a:rPr>
              <a:t>Two domains, two frameworks, two opposite verdicts, and in both cases the disagreement is about measurement rather than about the world. Health leads once it is measured somewhere it still varies; education leads once it is measured as attainment rather than parity. The commentary's contribution is not a ranking of domains but the demonstration that the ranking is an artefact of operationalisation — and that both domains survive when measured properly, while trust cannot yet be checked at all.</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14171C"/>
        </a:solidFill>
        <a:effectLst/>
      </p:bgPr>
    </p:bg>
    <p:spTree>
      <p:nvGrpSpPr>
        <p:cNvPr id="1" name=""/>
        <p:cNvGrpSpPr/>
        <p:nvPr/>
      </p:nvGrpSpPr>
      <p:grpSpPr/>
      <p:sp>
        <p:nvSpPr>
          <p:cNvPr id="2" name="TextBox 1"/>
          <p:cNvSpPr txBox="1"/>
          <p:nvPr/>
        </p:nvSpPr>
        <p:spPr>
          <a:xfrm>
            <a:off x="8229600" y="822960"/>
            <a:ext cx="3291840" cy="4114800"/>
          </a:xfrm>
          <a:prstGeom prst="rect">
            <a:avLst/>
          </a:prstGeom>
          <a:noFill/>
        </p:spPr>
        <p:txBody>
          <a:bodyPr wrap="square" lIns="0" rIns="0" tIns="0" bIns="0">
            <a:spAutoFit/>
          </a:bodyPr>
          <a:lstStyle/>
          <a:p>
            <a:pPr algn="r">
              <a:spcBef>
                <a:spcPts val="0"/>
              </a:spcBef>
              <a:spcAft>
                <a:spcPts val="0"/>
              </a:spcAft>
            </a:pPr>
            <a:r>
              <a:rPr sz="20000" b="0" i="0">
                <a:solidFill>
                  <a:srgbClr val="2A3340"/>
                </a:solidFill>
                <a:latin typeface="Georgia"/>
              </a:rPr>
              <a:t>III</a:t>
            </a:r>
          </a:p>
        </p:txBody>
      </p:sp>
      <p:sp>
        <p:nvSpPr>
          <p:cNvPr id="3" name="Rectangle 2"/>
          <p:cNvSpPr/>
          <p:nvPr/>
        </p:nvSpPr>
        <p:spPr>
          <a:xfrm>
            <a:off x="566928" y="1371600"/>
            <a:ext cx="7315200" cy="25400"/>
          </a:xfrm>
          <a:prstGeom prst="rect">
            <a:avLst/>
          </a:prstGeom>
          <a:solidFill>
            <a:srgbClr val="C9D8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60120"/>
            <a:ext cx="5486400" cy="274320"/>
          </a:xfrm>
          <a:prstGeom prst="rect">
            <a:avLst/>
          </a:prstGeom>
          <a:noFill/>
        </p:spPr>
        <p:txBody>
          <a:bodyPr wrap="square" lIns="0" rIns="0" tIns="0" bIns="0">
            <a:spAutoFit/>
          </a:bodyPr>
          <a:lstStyle/>
          <a:p>
            <a:pPr>
              <a:spcBef>
                <a:spcPts val="0"/>
              </a:spcBef>
              <a:spcAft>
                <a:spcPts val="0"/>
              </a:spcAft>
            </a:pPr>
            <a:r>
              <a:rPr sz="1100" b="0" i="0">
                <a:solidFill>
                  <a:srgbClr val="C9D8EC"/>
                </a:solidFill>
                <a:latin typeface="Consolas"/>
              </a:rPr>
              <a:t>ACT III</a:t>
            </a:r>
          </a:p>
        </p:txBody>
      </p:sp>
      <p:sp>
        <p:nvSpPr>
          <p:cNvPr id="5" name="TextBox 4"/>
          <p:cNvSpPr txBox="1"/>
          <p:nvPr/>
        </p:nvSpPr>
        <p:spPr>
          <a:xfrm>
            <a:off x="566928" y="1783080"/>
            <a:ext cx="7223760" cy="1828800"/>
          </a:xfrm>
          <a:prstGeom prst="rect">
            <a:avLst/>
          </a:prstGeom>
          <a:noFill/>
        </p:spPr>
        <p:txBody>
          <a:bodyPr wrap="square" lIns="0" rIns="0" tIns="0" bIns="0">
            <a:spAutoFit/>
          </a:bodyPr>
          <a:lstStyle/>
          <a:p>
            <a:pPr>
              <a:lnSpc>
                <a:spcPct val="102000"/>
              </a:lnSpc>
              <a:spcBef>
                <a:spcPts val="0"/>
              </a:spcBef>
              <a:spcAft>
                <a:spcPts val="0"/>
              </a:spcAft>
            </a:pPr>
            <a:r>
              <a:rPr sz="4000" b="0" i="0">
                <a:solidFill>
                  <a:srgbClr val="FCFCFB"/>
                </a:solidFill>
                <a:latin typeface="Georgia"/>
              </a:rPr>
              <a:t>Priorities, and what kind of health and education</a:t>
            </a:r>
          </a:p>
        </p:txBody>
      </p:sp>
      <p:sp>
        <p:nvSpPr>
          <p:cNvPr id="6" name="TextBox 5"/>
          <p:cNvSpPr txBox="1"/>
          <p:nvPr/>
        </p:nvSpPr>
        <p:spPr>
          <a:xfrm>
            <a:off x="566928" y="3886200"/>
            <a:ext cx="6766560" cy="1463040"/>
          </a:xfrm>
          <a:prstGeom prst="rect">
            <a:avLst/>
          </a:prstGeom>
          <a:noFill/>
        </p:spPr>
        <p:txBody>
          <a:bodyPr wrap="square" lIns="0" rIns="0" tIns="0" bIns="0">
            <a:spAutoFit/>
          </a:bodyPr>
          <a:lstStyle/>
          <a:p>
            <a:pPr>
              <a:lnSpc>
                <a:spcPct val="135000"/>
              </a:lnSpc>
              <a:spcBef>
                <a:spcPts val="0"/>
              </a:spcBef>
              <a:spcAft>
                <a:spcPts val="0"/>
              </a:spcAft>
            </a:pPr>
            <a:r>
              <a:rPr sz="1600" b="0" i="1">
                <a:solidFill>
                  <a:srgbClr val="9AA4B0"/>
                </a:solidFill>
                <a:latin typeface="Georgia"/>
              </a:rPr>
              <a:t>Two questions follow. Where should the lever be pulled — which turns on scale, because the ordering of predictors inverts inside countries. And what kind of health and education, because in both domains the wellbeing signal sits with one operationalisation and vanishes under another.</a:t>
            </a:r>
          </a:p>
        </p:txBody>
      </p:sp>
      <p:sp>
        <p:nvSpPr>
          <p:cNvPr id="7" name="TextBox 6"/>
          <p:cNvSpPr txBox="1"/>
          <p:nvPr/>
        </p:nvSpPr>
        <p:spPr>
          <a:xfrm>
            <a:off x="566928" y="5623560"/>
            <a:ext cx="3503066" cy="914400"/>
          </a:xfrm>
          <a:prstGeom prst="rect">
            <a:avLst/>
          </a:prstGeom>
          <a:noFill/>
        </p:spPr>
        <p:txBody>
          <a:bodyPr wrap="square" lIns="0" rIns="0" tIns="0" bIns="0">
            <a:spAutoFit/>
          </a:bodyPr>
          <a:lstStyle/>
          <a:p>
            <a:pPr>
              <a:spcBef>
                <a:spcPts val="0"/>
              </a:spcBef>
              <a:spcAft>
                <a:spcPts val="400"/>
              </a:spcAft>
            </a:pPr>
            <a:r>
              <a:rPr sz="2200" b="0" i="0">
                <a:solidFill>
                  <a:srgbClr val="FCFCFB"/>
                </a:solidFill>
                <a:latin typeface="Consolas"/>
              </a:rPr>
              <a:t>+0.87 → +0.12</a:t>
            </a:r>
          </a:p>
          <a:p>
            <a:pPr>
              <a:lnSpc>
                <a:spcPct val="120000"/>
              </a:lnSpc>
              <a:spcBef>
                <a:spcPts val="0"/>
              </a:spcBef>
              <a:spcAft>
                <a:spcPts val="0"/>
              </a:spcAft>
            </a:pPr>
            <a:r>
              <a:rPr sz="1000" b="0" i="0">
                <a:solidFill>
                  <a:srgbClr val="8A94A0"/>
                </a:solidFill>
                <a:latin typeface="Calibri"/>
              </a:rPr>
              <a:t>development, between countries → within them</a:t>
            </a:r>
          </a:p>
        </p:txBody>
      </p:sp>
      <p:sp>
        <p:nvSpPr>
          <p:cNvPr id="8" name="TextBox 7"/>
          <p:cNvSpPr txBox="1"/>
          <p:nvPr/>
        </p:nvSpPr>
        <p:spPr>
          <a:xfrm>
            <a:off x="4344314" y="5623560"/>
            <a:ext cx="3503066" cy="914400"/>
          </a:xfrm>
          <a:prstGeom prst="rect">
            <a:avLst/>
          </a:prstGeom>
          <a:noFill/>
        </p:spPr>
        <p:txBody>
          <a:bodyPr wrap="square" lIns="0" rIns="0" tIns="0" bIns="0">
            <a:spAutoFit/>
          </a:bodyPr>
          <a:lstStyle/>
          <a:p>
            <a:pPr>
              <a:spcBef>
                <a:spcPts val="0"/>
              </a:spcBef>
              <a:spcAft>
                <a:spcPts val="400"/>
              </a:spcAft>
            </a:pPr>
            <a:r>
              <a:rPr sz="2200" b="0" i="0">
                <a:solidFill>
                  <a:srgbClr val="FCFCFB"/>
                </a:solidFill>
                <a:latin typeface="Consolas"/>
              </a:rPr>
              <a:t>+0.51</a:t>
            </a:r>
          </a:p>
          <a:p>
            <a:pPr>
              <a:lnSpc>
                <a:spcPct val="120000"/>
              </a:lnSpc>
              <a:spcBef>
                <a:spcPts val="0"/>
              </a:spcBef>
              <a:spcAft>
                <a:spcPts val="0"/>
              </a:spcAft>
            </a:pPr>
            <a:r>
              <a:rPr sz="1000" b="0" i="0">
                <a:solidFill>
                  <a:srgbClr val="8A94A0"/>
                </a:solidFill>
                <a:latin typeface="Calibri"/>
              </a:rPr>
              <a:t>self-rated health, within countries</a:t>
            </a:r>
          </a:p>
        </p:txBody>
      </p:sp>
      <p:sp>
        <p:nvSpPr>
          <p:cNvPr id="9" name="TextBox 8"/>
          <p:cNvSpPr txBox="1"/>
          <p:nvPr/>
        </p:nvSpPr>
        <p:spPr>
          <a:xfrm>
            <a:off x="8121700" y="5623560"/>
            <a:ext cx="3503066" cy="914400"/>
          </a:xfrm>
          <a:prstGeom prst="rect">
            <a:avLst/>
          </a:prstGeom>
          <a:noFill/>
        </p:spPr>
        <p:txBody>
          <a:bodyPr wrap="square" lIns="0" rIns="0" tIns="0" bIns="0">
            <a:spAutoFit/>
          </a:bodyPr>
          <a:lstStyle/>
          <a:p>
            <a:pPr>
              <a:spcBef>
                <a:spcPts val="0"/>
              </a:spcBef>
              <a:spcAft>
                <a:spcPts val="400"/>
              </a:spcAft>
            </a:pPr>
            <a:r>
              <a:rPr sz="2200" b="0" i="0">
                <a:solidFill>
                  <a:srgbClr val="FCFCFB"/>
                </a:solidFill>
                <a:latin typeface="Consolas"/>
              </a:rPr>
              <a:t>11.2% vs 1.2%</a:t>
            </a:r>
          </a:p>
          <a:p>
            <a:pPr>
              <a:lnSpc>
                <a:spcPct val="120000"/>
              </a:lnSpc>
              <a:spcBef>
                <a:spcPts val="0"/>
              </a:spcBef>
              <a:spcAft>
                <a:spcPts val="0"/>
              </a:spcAft>
            </a:pPr>
            <a:r>
              <a:rPr sz="1000" b="0" i="0">
                <a:solidFill>
                  <a:srgbClr val="8A94A0"/>
                </a:solidFill>
                <a:latin typeface="Calibri"/>
              </a:rPr>
              <a:t>health vs education, SDG data, high-income countries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WHERE THE LEVER IS</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Development inequality inside countries mostly does not become wellbeing inequality</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1150" b="0" i="0">
                <a:solidFill>
                  <a:srgbClr val="5A6068"/>
                </a:solidFill>
                <a:latin typeface="Calibri"/>
              </a:rPr>
              <a:t>Below the Very High tier, countries contain multitudes. Germany's regions span 0.05 of subnational HDI; China's span 0.30 and India's 0.19 — several development tiers' worth of variation inside single countries. If regional development drove regional wellbeing, this is where it would show.</a:t>
            </a:r>
          </a:p>
          <a:p>
            <a:pPr>
              <a:lnSpc>
                <a:spcPct val="132000"/>
              </a:lnSpc>
              <a:spcBef>
                <a:spcPts val="0"/>
              </a:spcBef>
              <a:spcAft>
                <a:spcPts val="1100"/>
              </a:spcAft>
            </a:pPr>
            <a:r>
              <a:rPr sz="1150" b="0" i="0">
                <a:solidFill>
                  <a:srgbClr val="5A6068"/>
                </a:solidFill>
                <a:latin typeface="Calibri"/>
              </a:rPr>
              <a:t>It mostly doesn't. Holding country fixed and regressing region-mean life satisfaction on regional subnational HDI gives a significantly positive gradient in only 3 of 16 ESS countries — France, Belgium, and Germany — and the gradient is not steeper where internal inequality is larger. Which country's ladder you are on matters more than which rung you occupy within it.</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III</a:t>
            </a:r>
          </a:p>
        </p:txBody>
      </p:sp>
      <p:pic>
        <p:nvPicPr>
          <p:cNvPr id="6" name="Picture 5" descr="within_country_gradient.png"/>
          <p:cNvPicPr>
            <a:picLocks noChangeAspect="1"/>
          </p:cNvPicPr>
          <p:nvPr/>
        </p:nvPicPr>
        <p:blipFill>
          <a:blip r:embed="rId2"/>
          <a:stretch>
            <a:fillRect/>
          </a:stretch>
        </p:blipFill>
        <p:spPr>
          <a:xfrm>
            <a:off x="5120640" y="1553033"/>
            <a:ext cx="6537960" cy="3285590"/>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Within-country gradients of region-mean life satisfaction on regional SHDI, 16 ESS countries ordered by national HDI.</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THE FLIP</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Health and social trust do inside countries what development does between them</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1150" b="0" i="0">
                <a:solidFill>
                  <a:srgbClr val="5A6068"/>
                </a:solidFill>
                <a:latin typeface="Calibri"/>
              </a:rPr>
              <a:t>Between countries, development leads and the two wellbeing instruments agree almost exactly: the HDI correlates at r = +0.89 with World Happiness Report happiness and +0.87 with ESS life satisfaction, with trust and health close behind and all three positive.</a:t>
            </a:r>
          </a:p>
          <a:p>
            <a:pPr>
              <a:lnSpc>
                <a:spcPct val="132000"/>
              </a:lnSpc>
              <a:spcBef>
                <a:spcPts val="0"/>
              </a:spcBef>
              <a:spcAft>
                <a:spcPts val="1100"/>
              </a:spcAft>
            </a:pPr>
            <a:r>
              <a:rPr sz="1150" b="0" i="0">
                <a:solidFill>
                  <a:srgbClr val="5A6068"/>
                </a:solidFill>
                <a:latin typeface="Calibri"/>
              </a:rPr>
              <a:t>Within countries the ranking inverts. Development falls to a median regional correlation of +0.12, significant in 3 of 16 countries, while self-rated health holds at +0.51 (8 of 16) and social trust at +0.49 (6 of 16). The World Happiness Report cannot see this at all — it has no subnational values. It is the specific thing the ESS adds.</a:t>
            </a:r>
          </a:p>
          <a:p>
            <a:pPr>
              <a:lnSpc>
                <a:spcPct val="132000"/>
              </a:lnSpc>
              <a:spcBef>
                <a:spcPts val="0"/>
              </a:spcBef>
              <a:spcAft>
                <a:spcPts val="1100"/>
              </a:spcAft>
            </a:pPr>
            <a:r>
              <a:rPr sz="1150" b="0" i="0">
                <a:solidFill>
                  <a:srgbClr val="5A6068"/>
                </a:solidFill>
                <a:latin typeface="Calibri"/>
              </a:rPr>
              <a:t>Two cautions on the detail. The health-versus-trust ordering is not stable: aggregating region means across waves rather than within them reverses it, putting trust at +0.57 and health at +0.50. What is stable, under every specification we tried, is that both sit near +0.5 while development sits near zero. And per-country coverage varies sharply — Italy matches only 30% of respondents to a region, Sweden 57%, Croatia 69%, against 91–100% elsewhere. Dropping those three, or dropping regions built on fewer than 200 respondents, leaves the flip intact.</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III</a:t>
            </a:r>
          </a:p>
        </p:txBody>
      </p:sp>
      <p:pic>
        <p:nvPicPr>
          <p:cNvPr id="6" name="Picture 5" descr="ranking_flip.png"/>
          <p:cNvPicPr>
            <a:picLocks noChangeAspect="1"/>
          </p:cNvPicPr>
          <p:nvPr/>
        </p:nvPicPr>
        <p:blipFill>
          <a:blip r:embed="rId2"/>
          <a:stretch>
            <a:fillRect/>
          </a:stretch>
        </p:blipFill>
        <p:spPr>
          <a:xfrm>
            <a:off x="5120640" y="1711429"/>
            <a:ext cx="6537960" cy="2968798"/>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Candidate Figure 2. National correlations beside within-country regional correlations, for development, health, and trust.</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THE FLIP, EXTERNALLY MEASURED</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It survives with no self-report at all — and it is a health flip</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1150" b="0" i="0">
                <a:solidFill>
                  <a:srgbClr val="5A6068"/>
                </a:solidFill>
                <a:latin typeface="Calibri"/>
              </a:rPr>
              <a:t>The strongest objection to the ranking flip is that health and trust are reported by the same respondents as the outcome. GDL's regional sub-indices remove that objection: health, education and income indices measured per region from external sources, sharing no method with the ESS.</a:t>
            </a:r>
          </a:p>
          <a:p>
            <a:pPr>
              <a:lnSpc>
                <a:spcPct val="132000"/>
              </a:lnSpc>
              <a:spcBef>
                <a:spcPts val="0"/>
              </a:spcBef>
              <a:spcAft>
                <a:spcPts val="1100"/>
              </a:spcAft>
            </a:pPr>
            <a:r>
              <a:rPr sz="1150" b="0" i="0">
                <a:solidFill>
                  <a:srgbClr val="5A6068"/>
                </a:solidFill>
                <a:latin typeface="Calibri"/>
              </a:rPr>
              <a:t>Within countries, the external health index correlates with regional life satisfaction at a median of +0.34, significant in 6 of 15 usable countries, against +0.12 for the income index and +0.06 for the education index. The domain ordering is the same one the self-reports give, from measurement the respondents never touched. Self-rated health still runs higher (+0.50), which is exactly what you expect if part — but only part — of its lead is shared method variance. One country drops out: Albania's regional health index is constant, another instance of a measure with no variance left to predict with.</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III</a:t>
            </a:r>
          </a:p>
        </p:txBody>
      </p:sp>
      <p:pic>
        <p:nvPicPr>
          <p:cNvPr id="6" name="Picture 5" descr="within_country_external.png"/>
          <p:cNvPicPr>
            <a:picLocks noChangeAspect="1"/>
          </p:cNvPicPr>
          <p:nvPr/>
        </p:nvPicPr>
        <p:blipFill>
          <a:blip r:embed="rId2"/>
          <a:stretch>
            <a:fillRect/>
          </a:stretch>
        </p:blipFill>
        <p:spPr>
          <a:xfrm>
            <a:off x="5120640" y="1531620"/>
            <a:ext cx="6537960" cy="3328416"/>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The within-country domain race with externally measured predictors (solid) beside the same-survey self-reports (faded). Sub-indices pooled 2010–2023.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859536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ON PRIORITIES</a:t>
            </a:r>
          </a:p>
        </p:txBody>
      </p:sp>
      <p:sp>
        <p:nvSpPr>
          <p:cNvPr id="3" name="TextBox 2"/>
          <p:cNvSpPr txBox="1"/>
          <p:nvPr/>
        </p:nvSpPr>
        <p:spPr>
          <a:xfrm>
            <a:off x="566928" y="914400"/>
            <a:ext cx="8595360" cy="1371600"/>
          </a:xfrm>
          <a:prstGeom prst="rect">
            <a:avLst/>
          </a:prstGeom>
          <a:noFill/>
        </p:spPr>
        <p:txBody>
          <a:bodyPr wrap="square" lIns="0" rIns="0" tIns="0" bIns="0">
            <a:spAutoFit/>
          </a:bodyPr>
          <a:lstStyle/>
          <a:p>
            <a:pPr>
              <a:lnSpc>
                <a:spcPct val="108000"/>
              </a:lnSpc>
              <a:spcBef>
                <a:spcPts val="0"/>
              </a:spcBef>
              <a:spcAft>
                <a:spcPts val="0"/>
              </a:spcAft>
            </a:pPr>
            <a:r>
              <a:rPr sz="2700" b="0" i="0">
                <a:solidFill>
                  <a:srgbClr val="14171C"/>
                </a:solidFill>
                <a:latin typeface="Georgia"/>
              </a:rPr>
              <a:t>Indicator dashboards are not wellbeing instruments</a:t>
            </a:r>
          </a:p>
        </p:txBody>
      </p:sp>
      <p:sp>
        <p:nvSpPr>
          <p:cNvPr id="4" name="TextBox 3"/>
          <p:cNvSpPr txBox="1"/>
          <p:nvPr/>
        </p:nvSpPr>
        <p:spPr>
          <a:xfrm>
            <a:off x="566928" y="2286000"/>
            <a:ext cx="8595360" cy="3840480"/>
          </a:xfrm>
          <a:prstGeom prst="rect">
            <a:avLst/>
          </a:prstGeom>
          <a:noFill/>
        </p:spPr>
        <p:txBody>
          <a:bodyPr wrap="square" lIns="0" rIns="0" tIns="0" bIns="0">
            <a:spAutoFit/>
          </a:bodyPr>
          <a:lstStyle/>
          <a:p>
            <a:pPr>
              <a:lnSpc>
                <a:spcPct val="132000"/>
              </a:lnSpc>
              <a:spcBef>
                <a:spcPts val="0"/>
              </a:spcBef>
              <a:spcAft>
                <a:spcPts val="1100"/>
              </a:spcAft>
            </a:pPr>
            <a:r>
              <a:rPr sz="1400" b="0" i="0">
                <a:solidFill>
                  <a:srgbClr val="5A6068"/>
                </a:solidFill>
                <a:latin typeface="Calibri"/>
              </a:rPr>
              <a:t>Development indicators tell you reliably where wellbeing is high. They tell you almost nothing about when it will rise. Across every framework tested here, year-on-year indicator movement carries essentially no wellbeing information within the measurement window — a decade or so.</a:t>
            </a:r>
          </a:p>
          <a:p>
            <a:pPr>
              <a:lnSpc>
                <a:spcPct val="132000"/>
              </a:lnSpc>
              <a:spcBef>
                <a:spcPts val="0"/>
              </a:spcBef>
              <a:spcAft>
                <a:spcPts val="1100"/>
              </a:spcAft>
            </a:pPr>
            <a:r>
              <a:rPr sz="1400" b="0" i="0">
                <a:solidFill>
                  <a:srgbClr val="5A6068"/>
                </a:solidFill>
                <a:latin typeface="Calibri"/>
              </a:rPr>
              <a:t>The implication is about horizon and instrument, not about whether development matters. A monitoring architecture designed to reward annual indicator movement should not be read as tracking wellbeing, and a government that improves its dashboard position in a given year should not expect a wellbeing dividend inside the same electoral cycle.</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III</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859536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ON WHAT KIND OF HEALTH</a:t>
            </a:r>
          </a:p>
        </p:txBody>
      </p:sp>
      <p:sp>
        <p:nvSpPr>
          <p:cNvPr id="3" name="TextBox 2"/>
          <p:cNvSpPr txBox="1"/>
          <p:nvPr/>
        </p:nvSpPr>
        <p:spPr>
          <a:xfrm>
            <a:off x="566928" y="914400"/>
            <a:ext cx="8595360" cy="1371600"/>
          </a:xfrm>
          <a:prstGeom prst="rect">
            <a:avLst/>
          </a:prstGeom>
          <a:noFill/>
        </p:spPr>
        <p:txBody>
          <a:bodyPr wrap="square" lIns="0" rIns="0" tIns="0" bIns="0">
            <a:spAutoFit/>
          </a:bodyPr>
          <a:lstStyle/>
          <a:p>
            <a:pPr>
              <a:lnSpc>
                <a:spcPct val="108000"/>
              </a:lnSpc>
              <a:spcBef>
                <a:spcPts val="0"/>
              </a:spcBef>
              <a:spcAft>
                <a:spcPts val="0"/>
              </a:spcAft>
            </a:pPr>
            <a:r>
              <a:rPr sz="2700" b="0" i="0">
                <a:solidFill>
                  <a:srgbClr val="14171C"/>
                </a:solidFill>
                <a:latin typeface="Georgia"/>
              </a:rPr>
              <a:t>Monitor health where it still varies, not where it has already converged</a:t>
            </a:r>
          </a:p>
        </p:txBody>
      </p:sp>
      <p:sp>
        <p:nvSpPr>
          <p:cNvPr id="4" name="TextBox 3"/>
          <p:cNvSpPr txBox="1"/>
          <p:nvPr/>
        </p:nvSpPr>
        <p:spPr>
          <a:xfrm>
            <a:off x="566928" y="2286000"/>
            <a:ext cx="8595360" cy="3840480"/>
          </a:xfrm>
          <a:prstGeom prst="rect">
            <a:avLst/>
          </a:prstGeom>
          <a:noFill/>
        </p:spPr>
        <p:txBody>
          <a:bodyPr wrap="square" lIns="0" rIns="0" tIns="0" bIns="0">
            <a:spAutoFit/>
          </a:bodyPr>
          <a:lstStyle/>
          <a:p>
            <a:pPr>
              <a:lnSpc>
                <a:spcPct val="132000"/>
              </a:lnSpc>
              <a:spcBef>
                <a:spcPts val="0"/>
              </a:spcBef>
              <a:spcAft>
                <a:spcPts val="1100"/>
              </a:spcAft>
            </a:pPr>
            <a:r>
              <a:rPr sz="1400" b="0" i="0">
                <a:solidFill>
                  <a:srgbClr val="5A6068"/>
                </a:solidFill>
                <a:latin typeface="Calibri"/>
              </a:rPr>
              <a:t>Life expectancy is the standard summary of population health and the HDI's only health input, and it is the weakest of the HDI's five indicators against wellbeing. That is a measurement failure rather than a substantive one. What carries health's signal is survival at the margin — child, infant and neonatal mortality, stunting, sanitation and safe water — and, in rich countries, self-rated health, which picks up morbidity and functional limitation that life expectancy cannot see.</a:t>
            </a:r>
          </a:p>
          <a:p>
            <a:pPr>
              <a:lnSpc>
                <a:spcPct val="132000"/>
              </a:lnSpc>
              <a:spcBef>
                <a:spcPts val="0"/>
              </a:spcBef>
              <a:spcAft>
                <a:spcPts val="1100"/>
              </a:spcAft>
            </a:pPr>
            <a:r>
              <a:rPr sz="1400" b="0" i="0">
                <a:solidFill>
                  <a:srgbClr val="5A6068"/>
                </a:solidFill>
                <a:latin typeface="Calibri"/>
              </a:rPr>
              <a:t>For monitoring, that argues for retiring life expectancy as the headline wellbeing-relevant health measure in high-income settings and pairing survival indicators with a subjective health item. The ESS already fields one; most national statistical systems do too. It is close to free.</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III</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859536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ON WHAT KIND OF EDUCATION</a:t>
            </a:r>
          </a:p>
        </p:txBody>
      </p:sp>
      <p:sp>
        <p:nvSpPr>
          <p:cNvPr id="3" name="TextBox 2"/>
          <p:cNvSpPr txBox="1"/>
          <p:nvPr/>
        </p:nvSpPr>
        <p:spPr>
          <a:xfrm>
            <a:off x="566928" y="914400"/>
            <a:ext cx="8595360" cy="1371600"/>
          </a:xfrm>
          <a:prstGeom prst="rect">
            <a:avLst/>
          </a:prstGeom>
          <a:noFill/>
        </p:spPr>
        <p:txBody>
          <a:bodyPr wrap="square" lIns="0" rIns="0" tIns="0" bIns="0">
            <a:spAutoFit/>
          </a:bodyPr>
          <a:lstStyle/>
          <a:p>
            <a:pPr>
              <a:lnSpc>
                <a:spcPct val="108000"/>
              </a:lnSpc>
              <a:spcBef>
                <a:spcPts val="0"/>
              </a:spcBef>
              <a:spcAft>
                <a:spcPts val="0"/>
              </a:spcAft>
            </a:pPr>
            <a:r>
              <a:rPr sz="2700" b="0" i="0">
                <a:solidFill>
                  <a:srgbClr val="14171C"/>
                </a:solidFill>
                <a:latin typeface="Georgia"/>
              </a:rPr>
              <a:t>The consensus moved to learning; the wellbeing evidence points at attainment</a:t>
            </a:r>
          </a:p>
        </p:txBody>
      </p:sp>
      <p:sp>
        <p:nvSpPr>
          <p:cNvPr id="4" name="TextBox 3"/>
          <p:cNvSpPr txBox="1"/>
          <p:nvPr/>
        </p:nvSpPr>
        <p:spPr>
          <a:xfrm>
            <a:off x="566928" y="2286000"/>
            <a:ext cx="8595360" cy="3840480"/>
          </a:xfrm>
          <a:prstGeom prst="rect">
            <a:avLst/>
          </a:prstGeom>
          <a:noFill/>
        </p:spPr>
        <p:txBody>
          <a:bodyPr wrap="square" lIns="0" rIns="0" tIns="0" bIns="0">
            <a:spAutoFit/>
          </a:bodyPr>
          <a:lstStyle/>
          <a:p>
            <a:pPr>
              <a:lnSpc>
                <a:spcPct val="132000"/>
              </a:lnSpc>
              <a:spcBef>
                <a:spcPts val="0"/>
              </a:spcBef>
              <a:spcAft>
                <a:spcPts val="1100"/>
              </a:spcAft>
            </a:pPr>
            <a:r>
              <a:rPr sz="1400" b="0" i="0">
                <a:solidFill>
                  <a:srgbClr val="5A6068"/>
                </a:solidFill>
                <a:latin typeface="Calibri"/>
              </a:rPr>
              <a:t>Global education policy has shifted decisively over the past decade from schooling to learning — the learning-crisis framing, learning-poverty targets, and an indicator architecture built around measured proficiency. The premise is that years in school without demonstrated learning are an empty metric.</a:t>
            </a:r>
          </a:p>
          <a:p>
            <a:pPr>
              <a:lnSpc>
                <a:spcPct val="132000"/>
              </a:lnSpc>
              <a:spcBef>
                <a:spcPts val="0"/>
              </a:spcBef>
              <a:spcAft>
                <a:spcPts val="1100"/>
              </a:spcAft>
            </a:pPr>
            <a:r>
              <a:rPr sz="1400" b="0" i="0">
                <a:solidFill>
                  <a:srgbClr val="5A6068"/>
                </a:solidFill>
                <a:latin typeface="Calibri"/>
              </a:rPr>
              <a:t>Every level of aggregation we can test points the other way. Attainment and access carry the signal — 12.7% for SDG4 access, 40.7% and 34.0% for the HDI's schooling components, 32 of 36 countries at the individual level — while measured learning outcomes sit at 0.9% and parity ratios at 2.5%. The caution from Act II applies: education is the most consistent signal and the smallest one.</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III</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859536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WHAT WE CANNOT SAY</a:t>
            </a:r>
          </a:p>
        </p:txBody>
      </p:sp>
      <p:sp>
        <p:nvSpPr>
          <p:cNvPr id="3" name="TextBox 2"/>
          <p:cNvSpPr txBox="1"/>
          <p:nvPr/>
        </p:nvSpPr>
        <p:spPr>
          <a:xfrm>
            <a:off x="566928" y="914400"/>
            <a:ext cx="8595360" cy="1371600"/>
          </a:xfrm>
          <a:prstGeom prst="rect">
            <a:avLst/>
          </a:prstGeom>
          <a:noFill/>
        </p:spPr>
        <p:txBody>
          <a:bodyPr wrap="square" lIns="0" rIns="0" tIns="0" bIns="0">
            <a:spAutoFit/>
          </a:bodyPr>
          <a:lstStyle/>
          <a:p>
            <a:pPr>
              <a:lnSpc>
                <a:spcPct val="108000"/>
              </a:lnSpc>
              <a:spcBef>
                <a:spcPts val="0"/>
              </a:spcBef>
              <a:spcAft>
                <a:spcPts val="0"/>
              </a:spcAft>
            </a:pPr>
            <a:r>
              <a:rPr sz="2700" b="0" i="0">
                <a:solidFill>
                  <a:srgbClr val="14171C"/>
                </a:solidFill>
                <a:latin typeface="Georgia"/>
              </a:rPr>
              <a:t>Three limits that keep this a question rather than a recommendation</a:t>
            </a:r>
          </a:p>
        </p:txBody>
      </p:sp>
      <p:sp>
        <p:nvSpPr>
          <p:cNvPr id="4" name="TextBox 3"/>
          <p:cNvSpPr txBox="1"/>
          <p:nvPr/>
        </p:nvSpPr>
        <p:spPr>
          <a:xfrm>
            <a:off x="566928" y="2286000"/>
            <a:ext cx="8595360" cy="3840480"/>
          </a:xfrm>
          <a:prstGeom prst="rect">
            <a:avLst/>
          </a:prstGeom>
          <a:noFill/>
        </p:spPr>
        <p:txBody>
          <a:bodyPr wrap="square" lIns="0" rIns="0" tIns="0" bIns="0">
            <a:spAutoFit/>
          </a:bodyPr>
          <a:lstStyle/>
          <a:p>
            <a:pPr>
              <a:lnSpc>
                <a:spcPct val="132000"/>
              </a:lnSpc>
              <a:spcBef>
                <a:spcPts val="0"/>
              </a:spcBef>
              <a:spcAft>
                <a:spcPts val="1100"/>
              </a:spcAft>
            </a:pPr>
            <a:r>
              <a:rPr sz="1400" b="0" i="0">
                <a:solidFill>
                  <a:srgbClr val="5A6068"/>
                </a:solidFill>
                <a:latin typeface="Calibri"/>
              </a:rPr>
              <a:t>None of this is causal. The design is correlational throughout, and the levels results in particular are cross-sectional comparisons between countries.</a:t>
            </a:r>
          </a:p>
          <a:p>
            <a:pPr>
              <a:lnSpc>
                <a:spcPct val="132000"/>
              </a:lnSpc>
              <a:spcBef>
                <a:spcPts val="0"/>
              </a:spcBef>
              <a:spcAft>
                <a:spcPts val="1100"/>
              </a:spcAft>
            </a:pPr>
            <a:r>
              <a:rPr sz="1400" b="0" i="0">
                <a:solidFill>
                  <a:srgbClr val="5A6068"/>
                </a:solidFill>
                <a:latin typeface="Calibri"/>
              </a:rPr>
              <a:t>Schooling cannot be separated from what schooling stands in for. Years attained proxy labour-market position, economic security, autonomy, and social standing, and this design cannot pull them apart. Individual effects are small: a median R² near 0.01.</a:t>
            </a:r>
          </a:p>
          <a:p>
            <a:pPr>
              <a:lnSpc>
                <a:spcPct val="132000"/>
              </a:lnSpc>
              <a:spcBef>
                <a:spcPts val="0"/>
              </a:spcBef>
              <a:spcAft>
                <a:spcPts val="1100"/>
              </a:spcAft>
            </a:pPr>
            <a:r>
              <a:rPr sz="1400" b="0" i="0">
                <a:solidFill>
                  <a:srgbClr val="5A6068"/>
                </a:solidFill>
                <a:latin typeface="Calibri"/>
              </a:rPr>
              <a:t>The within-country results are Europe-only. The ESS is the only regional wellbeing source with the coverage this design needs — Gallup's subnational files are paywalled — so the priorities argument generalises across 16 European countries and not beyond them. That belongs in the text as a scope condition, not buried in a limitations paragraph, because the ranking flip is the most policy-relevant result here and will be the most contested.</a:t>
            </a:r>
          </a:p>
          <a:p>
            <a:pPr>
              <a:lnSpc>
                <a:spcPct val="132000"/>
              </a:lnSpc>
              <a:spcBef>
                <a:spcPts val="0"/>
              </a:spcBef>
              <a:spcAft>
                <a:spcPts val="1100"/>
              </a:spcAft>
            </a:pPr>
            <a:r>
              <a:rPr sz="1400" b="0" i="0">
                <a:solidFill>
                  <a:srgbClr val="5A6068"/>
                </a:solidFill>
                <a:latin typeface="Calibri"/>
              </a:rPr>
              <a:t>Some of the parity and learning indicators' weakness is coverage rather than construct — they are the youngest and thinnest series in the SDG database, and thin series fail significance tests for uninteresting reasons. The commentary should concede this explicitly and say what would settle it.</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III</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859536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THE ASK</a:t>
            </a:r>
          </a:p>
        </p:txBody>
      </p:sp>
      <p:sp>
        <p:nvSpPr>
          <p:cNvPr id="3" name="TextBox 2"/>
          <p:cNvSpPr txBox="1"/>
          <p:nvPr/>
        </p:nvSpPr>
        <p:spPr>
          <a:xfrm>
            <a:off x="566928" y="914400"/>
            <a:ext cx="8595360" cy="1371600"/>
          </a:xfrm>
          <a:prstGeom prst="rect">
            <a:avLst/>
          </a:prstGeom>
          <a:noFill/>
        </p:spPr>
        <p:txBody>
          <a:bodyPr wrap="square" lIns="0" rIns="0" tIns="0" bIns="0">
            <a:spAutoFit/>
          </a:bodyPr>
          <a:lstStyle/>
          <a:p>
            <a:pPr>
              <a:lnSpc>
                <a:spcPct val="108000"/>
              </a:lnSpc>
              <a:spcBef>
                <a:spcPts val="0"/>
              </a:spcBef>
              <a:spcAft>
                <a:spcPts val="0"/>
              </a:spcAft>
            </a:pPr>
            <a:r>
              <a:rPr sz="2700" b="0" i="0">
                <a:solidFill>
                  <a:srgbClr val="14171C"/>
                </a:solidFill>
                <a:latin typeface="Georgia"/>
              </a:rPr>
              <a:t>Should wellbeing be a criterion for how we measure development after 2030?</a:t>
            </a:r>
          </a:p>
        </p:txBody>
      </p:sp>
      <p:sp>
        <p:nvSpPr>
          <p:cNvPr id="4" name="TextBox 3"/>
          <p:cNvSpPr txBox="1"/>
          <p:nvPr/>
        </p:nvSpPr>
        <p:spPr>
          <a:xfrm>
            <a:off x="566928" y="2286000"/>
            <a:ext cx="8595360" cy="3840480"/>
          </a:xfrm>
          <a:prstGeom prst="rect">
            <a:avLst/>
          </a:prstGeom>
          <a:noFill/>
        </p:spPr>
        <p:txBody>
          <a:bodyPr wrap="square" lIns="0" rIns="0" tIns="0" bIns="0">
            <a:spAutoFit/>
          </a:bodyPr>
          <a:lstStyle/>
          <a:p>
            <a:pPr>
              <a:lnSpc>
                <a:spcPct val="132000"/>
              </a:lnSpc>
              <a:spcBef>
                <a:spcPts val="0"/>
              </a:spcBef>
              <a:spcAft>
                <a:spcPts val="1100"/>
              </a:spcAft>
            </a:pPr>
            <a:r>
              <a:rPr sz="1400" b="0" i="0">
                <a:solidFill>
                  <a:srgbClr val="5A6068"/>
                </a:solidFill>
                <a:latin typeface="Calibri"/>
              </a:rPr>
              <a:t>That is the question the commentary exists to pose, and it has a sharp form. Two of the most consequential domains in development are monitored through variables that have either run out of variance or measure a different construct from the one the policy debate is about: health through life expectancy, education through parity and proficiency. If wellbeing is to be a criterion for the post-2030 architecture at all, the first question is not which domain to prioritise but whether each domain is being measured somewhere it can still move.</a:t>
            </a:r>
          </a:p>
          <a:p>
            <a:pPr>
              <a:lnSpc>
                <a:spcPct val="132000"/>
              </a:lnSpc>
              <a:spcBef>
                <a:spcPts val="0"/>
              </a:spcBef>
              <a:spcAft>
                <a:spcPts val="1100"/>
              </a:spcAft>
            </a:pPr>
            <a:r>
              <a:rPr sz="1400" b="0" i="0">
                <a:solidFill>
                  <a:srgbClr val="5A6068"/>
                </a:solidFill>
                <a:latin typeface="Calibri"/>
              </a:rPr>
              <a:t>A commentary cannot settle that. It can put the disagreement on the record with the evidence attached, which is what the three acts are for.</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III</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E8EBEF"/>
        </a:solidFill>
        <a:effectLst/>
      </p:bgPr>
    </p:bg>
    <p:spTree>
      <p:nvGrpSpPr>
        <p:cNvPr id="1" name=""/>
        <p:cNvGrpSpPr/>
        <p:nvPr/>
      </p:nvGrpSpPr>
      <p:grpSpPr/>
      <p:sp>
        <p:nvSpPr>
          <p:cNvPr id="2" name="Rectangle 1"/>
          <p:cNvSpPr/>
          <p:nvPr/>
        </p:nvSpPr>
        <p:spPr>
          <a:xfrm>
            <a:off x="566928" y="2103120"/>
            <a:ext cx="54864" cy="2377440"/>
          </a:xfrm>
          <a:prstGeom prst="rect">
            <a:avLst/>
          </a:prstGeom>
          <a:solidFill>
            <a:srgbClr val="1754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1600200"/>
            <a:ext cx="8686800" cy="274320"/>
          </a:xfrm>
          <a:prstGeom prst="rect">
            <a:avLst/>
          </a:prstGeom>
          <a:noFill/>
        </p:spPr>
        <p:txBody>
          <a:bodyPr wrap="square" lIns="0" rIns="0" tIns="0" bIns="0">
            <a:spAutoFit/>
          </a:bodyPr>
          <a:lstStyle/>
          <a:p>
            <a:pPr>
              <a:spcBef>
                <a:spcPts val="0"/>
              </a:spcBef>
              <a:spcAft>
                <a:spcPts val="0"/>
              </a:spcAft>
            </a:pPr>
            <a:r>
              <a:rPr sz="1100" b="0" i="0">
                <a:solidFill>
                  <a:srgbClr val="17549E"/>
                </a:solidFill>
                <a:latin typeface="Consolas"/>
              </a:rPr>
              <a:t>WHERE ACT III LEAVES US</a:t>
            </a:r>
          </a:p>
        </p:txBody>
      </p:sp>
      <p:sp>
        <p:nvSpPr>
          <p:cNvPr id="4" name="TextBox 3"/>
          <p:cNvSpPr txBox="1"/>
          <p:nvPr/>
        </p:nvSpPr>
        <p:spPr>
          <a:xfrm>
            <a:off x="914400" y="2148840"/>
            <a:ext cx="9509760" cy="2926080"/>
          </a:xfrm>
          <a:prstGeom prst="rect">
            <a:avLst/>
          </a:prstGeom>
          <a:noFill/>
        </p:spPr>
        <p:txBody>
          <a:bodyPr wrap="square" lIns="0" rIns="0" tIns="0" bIns="0">
            <a:spAutoFit/>
          </a:bodyPr>
          <a:lstStyle/>
          <a:p>
            <a:pPr>
              <a:lnSpc>
                <a:spcPct val="135000"/>
              </a:lnSpc>
              <a:spcBef>
                <a:spcPts val="0"/>
              </a:spcBef>
              <a:spcAft>
                <a:spcPts val="0"/>
              </a:spcAft>
            </a:pPr>
            <a:r>
              <a:rPr sz="2100" b="0" i="0">
                <a:solidFill>
                  <a:srgbClr val="14171C"/>
                </a:solidFill>
                <a:latin typeface="Georgia"/>
              </a:rPr>
              <a:t>The recommended framing for submission: lead with the education exception as the positive finding, use the generalised collapse as the backdrop that makes it surprising, and close on the target-setting question. That ordering makes Act I load-bearing without making it the story.</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8229600" cy="822960"/>
          </a:xfrm>
          <a:prstGeom prst="rect">
            <a:avLst/>
          </a:prstGeom>
          <a:noFill/>
        </p:spPr>
        <p:txBody>
          <a:bodyPr wrap="square" lIns="0" rIns="0" tIns="0" bIns="0">
            <a:spAutoFit/>
          </a:bodyPr>
          <a:lstStyle/>
          <a:p>
            <a:pPr>
              <a:spcBef>
                <a:spcPts val="0"/>
              </a:spcBef>
              <a:spcAft>
                <a:spcPts val="600"/>
              </a:spcAft>
            </a:pPr>
            <a:r>
              <a:rPr sz="3200" b="0" i="0">
                <a:solidFill>
                  <a:srgbClr val="14171C"/>
                </a:solidFill>
                <a:latin typeface="Georgia"/>
              </a:rPr>
              <a:t>Decisions for the team</a:t>
            </a:r>
          </a:p>
          <a:p>
            <a:pPr>
              <a:spcBef>
                <a:spcPts val="0"/>
              </a:spcBef>
              <a:spcAft>
                <a:spcPts val="0"/>
              </a:spcAft>
            </a:pPr>
            <a:r>
              <a:rPr sz="1300" b="0" i="0">
                <a:solidFill>
                  <a:srgbClr val="5A6068"/>
                </a:solidFill>
                <a:latin typeface="Calibri"/>
              </a:rPr>
              <a:t>Five things the acts do not settle, in the order they block drafting.</a:t>
            </a:r>
          </a:p>
        </p:txBody>
      </p:sp>
      <p:sp>
        <p:nvSpPr>
          <p:cNvPr id="3" name="Rectangle 2"/>
          <p:cNvSpPr/>
          <p:nvPr/>
        </p:nvSpPr>
        <p:spPr>
          <a:xfrm>
            <a:off x="566928" y="1828800"/>
            <a:ext cx="3472586" cy="25400"/>
          </a:xfrm>
          <a:prstGeom prst="rect">
            <a:avLst/>
          </a:prstGeom>
          <a:solidFill>
            <a:srgbClr val="1754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2011680"/>
            <a:ext cx="3472586" cy="1828800"/>
          </a:xfrm>
          <a:prstGeom prst="rect">
            <a:avLst/>
          </a:prstGeom>
          <a:noFill/>
        </p:spPr>
        <p:txBody>
          <a:bodyPr wrap="square" lIns="0" rIns="0" tIns="0" bIns="0">
            <a:spAutoFit/>
          </a:bodyPr>
          <a:lstStyle/>
          <a:p>
            <a:pPr>
              <a:spcBef>
                <a:spcPts val="0"/>
              </a:spcBef>
              <a:spcAft>
                <a:spcPts val="700"/>
              </a:spcAft>
            </a:pPr>
            <a:r>
              <a:rPr sz="1050" b="0" i="0">
                <a:solidFill>
                  <a:srgbClr val="17549E"/>
                </a:solidFill>
                <a:latin typeface="Consolas"/>
              </a:rPr>
              <a:t>FRAMING</a:t>
            </a:r>
          </a:p>
          <a:p>
            <a:pPr>
              <a:lnSpc>
                <a:spcPct val="130000"/>
              </a:lnSpc>
              <a:spcBef>
                <a:spcPts val="0"/>
              </a:spcBef>
              <a:spcAft>
                <a:spcPts val="0"/>
              </a:spcAft>
            </a:pPr>
            <a:r>
              <a:rPr sz="1100" b="0" i="0">
                <a:solidFill>
                  <a:srgbClr val="5A6068"/>
                </a:solidFill>
                <a:latin typeface="Calibri"/>
              </a:rPr>
              <a:t>Lead with the education exception and use the generalised collapse as Act I backdrop — recommended — or lead with the robustness result and treat education as the coda. This decides title, abstract, and venue.</a:t>
            </a:r>
          </a:p>
        </p:txBody>
      </p:sp>
      <p:sp>
        <p:nvSpPr>
          <p:cNvPr id="5" name="Rectangle 4"/>
          <p:cNvSpPr/>
          <p:nvPr/>
        </p:nvSpPr>
        <p:spPr>
          <a:xfrm>
            <a:off x="4359554" y="1828800"/>
            <a:ext cx="3472586" cy="25400"/>
          </a:xfrm>
          <a:prstGeom prst="rect">
            <a:avLst/>
          </a:prstGeom>
          <a:solidFill>
            <a:srgbClr val="1754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359554" y="2011680"/>
            <a:ext cx="3472586" cy="1828800"/>
          </a:xfrm>
          <a:prstGeom prst="rect">
            <a:avLst/>
          </a:prstGeom>
          <a:noFill/>
        </p:spPr>
        <p:txBody>
          <a:bodyPr wrap="square" lIns="0" rIns="0" tIns="0" bIns="0">
            <a:spAutoFit/>
          </a:bodyPr>
          <a:lstStyle/>
          <a:p>
            <a:pPr>
              <a:spcBef>
                <a:spcPts val="0"/>
              </a:spcBef>
              <a:spcAft>
                <a:spcPts val="700"/>
              </a:spcAft>
            </a:pPr>
            <a:r>
              <a:rPr sz="1050" b="0" i="0">
                <a:solidFill>
                  <a:srgbClr val="17549E"/>
                </a:solidFill>
                <a:latin typeface="Consolas"/>
              </a:rPr>
              <a:t>DISPLAY ITEMS</a:t>
            </a:r>
          </a:p>
          <a:p>
            <a:pPr>
              <a:lnSpc>
                <a:spcPct val="130000"/>
              </a:lnSpc>
              <a:spcBef>
                <a:spcPts val="0"/>
              </a:spcBef>
              <a:spcAft>
                <a:spcPts val="0"/>
              </a:spcAft>
            </a:pPr>
            <a:r>
              <a:rPr sz="1100" b="0" i="0">
                <a:solidFill>
                  <a:srgbClr val="5A6068"/>
                </a:solidFill>
                <a:latin typeface="Calibri"/>
              </a:rPr>
              <a:t>Commentaries allow one or two. Proposed: the three-panel composite as Figure 1, the ranking flip as Figure 2. Everything else moves to supplementary.</a:t>
            </a:r>
          </a:p>
        </p:txBody>
      </p:sp>
      <p:sp>
        <p:nvSpPr>
          <p:cNvPr id="7" name="Rectangle 6"/>
          <p:cNvSpPr/>
          <p:nvPr/>
        </p:nvSpPr>
        <p:spPr>
          <a:xfrm>
            <a:off x="8152180" y="1828800"/>
            <a:ext cx="3472586" cy="25400"/>
          </a:xfrm>
          <a:prstGeom prst="rect">
            <a:avLst/>
          </a:prstGeom>
          <a:solidFill>
            <a:srgbClr val="1754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152180" y="2011680"/>
            <a:ext cx="3472586" cy="1828800"/>
          </a:xfrm>
          <a:prstGeom prst="rect">
            <a:avLst/>
          </a:prstGeom>
          <a:noFill/>
        </p:spPr>
        <p:txBody>
          <a:bodyPr wrap="square" lIns="0" rIns="0" tIns="0" bIns="0">
            <a:spAutoFit/>
          </a:bodyPr>
          <a:lstStyle/>
          <a:p>
            <a:pPr>
              <a:spcBef>
                <a:spcPts val="0"/>
              </a:spcBef>
              <a:spcAft>
                <a:spcPts val="700"/>
              </a:spcAft>
            </a:pPr>
            <a:r>
              <a:rPr sz="1050" b="0" i="0">
                <a:solidFill>
                  <a:srgbClr val="17549E"/>
                </a:solidFill>
                <a:latin typeface="Consolas"/>
              </a:rPr>
              <a:t>SCOPE OF THE WITHIN-COUNTRY WORK</a:t>
            </a:r>
          </a:p>
          <a:p>
            <a:pPr>
              <a:lnSpc>
                <a:spcPct val="130000"/>
              </a:lnSpc>
              <a:spcBef>
                <a:spcPts val="0"/>
              </a:spcBef>
              <a:spcAft>
                <a:spcPts val="0"/>
              </a:spcAft>
            </a:pPr>
            <a:r>
              <a:rPr sz="1100" b="0" i="0">
                <a:solidFill>
                  <a:srgbClr val="5A6068"/>
                </a:solidFill>
                <a:latin typeface="Calibri"/>
              </a:rPr>
              <a:t>It now sits inside Act III as the evidence on priorities. Does it belong there, or in a third paper? It is the most policy-relevant and the most contested result we have, and it is Europe-only.</a:t>
            </a:r>
          </a:p>
        </p:txBody>
      </p:sp>
      <p:sp>
        <p:nvSpPr>
          <p:cNvPr id="9" name="Rectangle 8"/>
          <p:cNvSpPr/>
          <p:nvPr/>
        </p:nvSpPr>
        <p:spPr>
          <a:xfrm>
            <a:off x="566928" y="4069080"/>
            <a:ext cx="3472586" cy="25400"/>
          </a:xfrm>
          <a:prstGeom prst="rect">
            <a:avLst/>
          </a:prstGeom>
          <a:solidFill>
            <a:srgbClr val="1754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66928" y="4251960"/>
            <a:ext cx="3472586" cy="1828800"/>
          </a:xfrm>
          <a:prstGeom prst="rect">
            <a:avLst/>
          </a:prstGeom>
          <a:noFill/>
        </p:spPr>
        <p:txBody>
          <a:bodyPr wrap="square" lIns="0" rIns="0" tIns="0" bIns="0">
            <a:spAutoFit/>
          </a:bodyPr>
          <a:lstStyle/>
          <a:p>
            <a:pPr>
              <a:spcBef>
                <a:spcPts val="0"/>
              </a:spcBef>
              <a:spcAft>
                <a:spcPts val="700"/>
              </a:spcAft>
            </a:pPr>
            <a:r>
              <a:rPr sz="1050" b="0" i="0">
                <a:solidFill>
                  <a:srgbClr val="17549E"/>
                </a:solidFill>
                <a:latin typeface="Consolas"/>
              </a:rPr>
              <a:t>RESOLVED: SUBNATIONAL SUB-INDICES</a:t>
            </a:r>
          </a:p>
          <a:p>
            <a:pPr>
              <a:lnSpc>
                <a:spcPct val="130000"/>
              </a:lnSpc>
              <a:spcBef>
                <a:spcPts val="0"/>
              </a:spcBef>
              <a:spcAft>
                <a:spcPts val="0"/>
              </a:spcAft>
            </a:pPr>
            <a:r>
              <a:rPr sz="1100" b="0" i="0">
                <a:solidFill>
                  <a:srgbClr val="5A6068"/>
                </a:solidFill>
                <a:latin typeface="Calibri"/>
              </a:rPr>
              <a:t>The per-domain GDL exports are in. Within countries the external health index leads education and income (+0.34 vs +0.06 and +0.12), so the flip no longer rests on self-report. GDL's DHS-based Education &amp; Work and Health datasets were also examined: they cover only 6 ESS countries and cannot serve the European design.</a:t>
            </a:r>
          </a:p>
        </p:txBody>
      </p:sp>
      <p:sp>
        <p:nvSpPr>
          <p:cNvPr id="11" name="Rectangle 10"/>
          <p:cNvSpPr/>
          <p:nvPr/>
        </p:nvSpPr>
        <p:spPr>
          <a:xfrm>
            <a:off x="4359554" y="4069080"/>
            <a:ext cx="3472586" cy="25400"/>
          </a:xfrm>
          <a:prstGeom prst="rect">
            <a:avLst/>
          </a:prstGeom>
          <a:solidFill>
            <a:srgbClr val="1754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359554" y="4251960"/>
            <a:ext cx="3472586" cy="1828800"/>
          </a:xfrm>
          <a:prstGeom prst="rect">
            <a:avLst/>
          </a:prstGeom>
          <a:noFill/>
        </p:spPr>
        <p:txBody>
          <a:bodyPr wrap="square" lIns="0" rIns="0" tIns="0" bIns="0">
            <a:spAutoFit/>
          </a:bodyPr>
          <a:lstStyle/>
          <a:p>
            <a:pPr>
              <a:spcBef>
                <a:spcPts val="0"/>
              </a:spcBef>
              <a:spcAft>
                <a:spcPts val="700"/>
              </a:spcAft>
            </a:pPr>
            <a:r>
              <a:rPr sz="1050" b="0" i="0">
                <a:solidFill>
                  <a:srgbClr val="17549E"/>
                </a:solidFill>
                <a:latin typeface="Consolas"/>
              </a:rPr>
              <a:t>METHODS NOTE</a:t>
            </a:r>
          </a:p>
          <a:p>
            <a:pPr>
              <a:lnSpc>
                <a:spcPct val="130000"/>
              </a:lnSpc>
              <a:spcBef>
                <a:spcPts val="0"/>
              </a:spcBef>
              <a:spcAft>
                <a:spcPts val="0"/>
              </a:spcAft>
            </a:pPr>
            <a:r>
              <a:rPr sz="1100" b="0" i="0">
                <a:solidFill>
                  <a:srgbClr val="5A6068"/>
                </a:solidFill>
                <a:latin typeface="Calibri"/>
              </a:rPr>
              <a:t>Pooled R² and significant-country share tell different stories at several points. Proposal: report both throughout and discuss the divergence explicitly as a secondary contribution.</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14171C"/>
        </a:solidFill>
        <a:effectLst/>
      </p:bgPr>
    </p:bg>
    <p:spTree>
      <p:nvGrpSpPr>
        <p:cNvPr id="1" name=""/>
        <p:cNvGrpSpPr/>
        <p:nvPr/>
      </p:nvGrpSpPr>
      <p:grpSpPr/>
      <p:sp>
        <p:nvSpPr>
          <p:cNvPr id="2" name="TextBox 1"/>
          <p:cNvSpPr txBox="1"/>
          <p:nvPr/>
        </p:nvSpPr>
        <p:spPr>
          <a:xfrm>
            <a:off x="566928" y="2743200"/>
            <a:ext cx="8229600" cy="1371600"/>
          </a:xfrm>
          <a:prstGeom prst="rect">
            <a:avLst/>
          </a:prstGeom>
          <a:noFill/>
        </p:spPr>
        <p:txBody>
          <a:bodyPr wrap="square" lIns="0" rIns="0" tIns="0" bIns="0">
            <a:spAutoFit/>
          </a:bodyPr>
          <a:lstStyle/>
          <a:p>
            <a:pPr>
              <a:spcBef>
                <a:spcPts val="0"/>
              </a:spcBef>
              <a:spcAft>
                <a:spcPts val="1000"/>
              </a:spcAft>
            </a:pPr>
            <a:r>
              <a:rPr sz="4000" b="0" i="0">
                <a:solidFill>
                  <a:srgbClr val="FCFCFB"/>
                </a:solidFill>
                <a:latin typeface="Georgia"/>
              </a:rPr>
              <a:t>Evidence appendix</a:t>
            </a:r>
          </a:p>
          <a:p>
            <a:pPr>
              <a:lnSpc>
                <a:spcPct val="135000"/>
              </a:lnSpc>
              <a:spcBef>
                <a:spcPts val="0"/>
              </a:spcBef>
              <a:spcAft>
                <a:spcPts val="0"/>
              </a:spcAft>
            </a:pPr>
            <a:r>
              <a:rPr sz="1400" b="0" i="0">
                <a:solidFill>
                  <a:srgbClr val="9AA4B0"/>
                </a:solidFill>
                <a:latin typeface="Calibri"/>
              </a:rPr>
              <a:t>Everything the three acts rest on but do not carry. In submission these become supplementary material.</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411480"/>
            <a:ext cx="10515600" cy="320040"/>
          </a:xfrm>
          <a:prstGeom prst="rect">
            <a:avLst/>
          </a:prstGeom>
          <a:noFill/>
        </p:spPr>
        <p:txBody>
          <a:bodyPr wrap="square" lIns="0" rIns="0" tIns="0" bIns="0">
            <a:spAutoFit/>
          </a:bodyPr>
          <a:lstStyle/>
          <a:p>
            <a:pPr>
              <a:spcBef>
                <a:spcPts val="0"/>
              </a:spcBef>
              <a:spcAft>
                <a:spcPts val="0"/>
              </a:spcAft>
            </a:pPr>
            <a:r>
              <a:rPr sz="1000" b="0" i="0">
                <a:solidFill>
                  <a:srgbClr val="868D96"/>
                </a:solidFill>
                <a:latin typeface="Consolas"/>
              </a:rPr>
              <a:t>APPENDIX</a:t>
            </a:r>
          </a:p>
        </p:txBody>
      </p:sp>
      <p:sp>
        <p:nvSpPr>
          <p:cNvPr id="3" name="TextBox 2"/>
          <p:cNvSpPr txBox="1"/>
          <p:nvPr/>
        </p:nvSpPr>
        <p:spPr>
          <a:xfrm>
            <a:off x="566928" y="749808"/>
            <a:ext cx="10515600" cy="457200"/>
          </a:xfrm>
          <a:prstGeom prst="rect">
            <a:avLst/>
          </a:prstGeom>
          <a:noFill/>
        </p:spPr>
        <p:txBody>
          <a:bodyPr wrap="square" lIns="0" rIns="0" tIns="0" bIns="0">
            <a:spAutoFit/>
          </a:bodyPr>
          <a:lstStyle/>
          <a:p>
            <a:pPr>
              <a:spcBef>
                <a:spcPts val="0"/>
              </a:spcBef>
              <a:spcAft>
                <a:spcPts val="0"/>
              </a:spcAft>
            </a:pPr>
            <a:r>
              <a:rPr sz="2000" b="0" i="0">
                <a:solidFill>
                  <a:srgbClr val="14171C"/>
                </a:solidFill>
                <a:latin typeface="Georgia"/>
              </a:rPr>
              <a:t>HDI against SDG, domain by domain</a:t>
            </a:r>
          </a:p>
        </p:txBody>
      </p:sp>
      <p:sp>
        <p:nvSpPr>
          <p:cNvPr id="4" name="TextBox 3"/>
          <p:cNvSpPr txBox="1"/>
          <p:nvPr/>
        </p:nvSpPr>
        <p:spPr>
          <a:xfrm>
            <a:off x="566928" y="1207008"/>
            <a:ext cx="10515600" cy="457200"/>
          </a:xfrm>
          <a:prstGeom prst="rect">
            <a:avLst/>
          </a:prstGeom>
          <a:noFill/>
        </p:spPr>
        <p:txBody>
          <a:bodyPr wrap="square" lIns="0" rIns="0" tIns="0" bIns="0">
            <a:spAutoFit/>
          </a:bodyPr>
          <a:lstStyle/>
          <a:p>
            <a:pPr>
              <a:lnSpc>
                <a:spcPct val="128000"/>
              </a:lnSpc>
              <a:spcBef>
                <a:spcPts val="0"/>
              </a:spcBef>
              <a:spcAft>
                <a:spcPts val="0"/>
              </a:spcAft>
            </a:pPr>
            <a:r>
              <a:rPr sz="1100" b="0" i="0">
                <a:solidFill>
                  <a:srgbClr val="5A6068"/>
                </a:solidFill>
                <a:latin typeface="Calibri"/>
              </a:rPr>
              <a:t>Education is the HDI's strongest domain and the SDG framework's weakest, unless SDG4 is split into access versus the rest. Absolute levels are not comparable across frameworks; the within-framework rankings are.</a:t>
            </a:r>
          </a:p>
        </p:txBody>
      </p:sp>
      <p:pic>
        <p:nvPicPr>
          <p:cNvPr id="5" name="Picture 4" descr="hdi_vs_sdg_frameworks.png"/>
          <p:cNvPicPr>
            <a:picLocks noChangeAspect="1"/>
          </p:cNvPicPr>
          <p:nvPr/>
        </p:nvPicPr>
        <p:blipFill>
          <a:blip r:embed="rId2"/>
          <a:stretch>
            <a:fillRect/>
          </a:stretch>
        </p:blipFill>
        <p:spPr>
          <a:xfrm>
            <a:off x="1492967" y="1965960"/>
            <a:ext cx="9205761" cy="4480560"/>
          </a:xfrm>
          <a:prstGeom prst="rect">
            <a:avLst/>
          </a:prstGeom>
        </p:spPr>
      </p:pic>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411480"/>
            <a:ext cx="10515600" cy="320040"/>
          </a:xfrm>
          <a:prstGeom prst="rect">
            <a:avLst/>
          </a:prstGeom>
          <a:noFill/>
        </p:spPr>
        <p:txBody>
          <a:bodyPr wrap="square" lIns="0" rIns="0" tIns="0" bIns="0">
            <a:spAutoFit/>
          </a:bodyPr>
          <a:lstStyle/>
          <a:p>
            <a:pPr>
              <a:spcBef>
                <a:spcPts val="0"/>
              </a:spcBef>
              <a:spcAft>
                <a:spcPts val="0"/>
              </a:spcAft>
            </a:pPr>
            <a:r>
              <a:rPr sz="1000" b="0" i="0">
                <a:solidFill>
                  <a:srgbClr val="868D96"/>
                </a:solidFill>
                <a:latin typeface="Consolas"/>
              </a:rPr>
              <a:t>APPENDIX</a:t>
            </a:r>
          </a:p>
        </p:txBody>
      </p:sp>
      <p:sp>
        <p:nvSpPr>
          <p:cNvPr id="3" name="TextBox 2"/>
          <p:cNvSpPr txBox="1"/>
          <p:nvPr/>
        </p:nvSpPr>
        <p:spPr>
          <a:xfrm>
            <a:off x="566928" y="749808"/>
            <a:ext cx="10515600" cy="457200"/>
          </a:xfrm>
          <a:prstGeom prst="rect">
            <a:avLst/>
          </a:prstGeom>
          <a:noFill/>
        </p:spPr>
        <p:txBody>
          <a:bodyPr wrap="square" lIns="0" rIns="0" tIns="0" bIns="0">
            <a:spAutoFit/>
          </a:bodyPr>
          <a:lstStyle/>
          <a:p>
            <a:pPr>
              <a:spcBef>
                <a:spcPts val="0"/>
              </a:spcBef>
              <a:spcAft>
                <a:spcPts val="0"/>
              </a:spcAft>
            </a:pPr>
            <a:r>
              <a:rPr sz="2000" b="0" i="0">
                <a:solidFill>
                  <a:srgbClr val="14171C"/>
                </a:solidFill>
                <a:latin typeface="Georgia"/>
              </a:rPr>
              <a:t>ESS-measured schooling against WHR happiness</a:t>
            </a:r>
          </a:p>
        </p:txBody>
      </p:sp>
      <p:sp>
        <p:nvSpPr>
          <p:cNvPr id="4" name="TextBox 3"/>
          <p:cNvSpPr txBox="1"/>
          <p:nvPr/>
        </p:nvSpPr>
        <p:spPr>
          <a:xfrm>
            <a:off x="566928" y="1207008"/>
            <a:ext cx="10515600" cy="457200"/>
          </a:xfrm>
          <a:prstGeom prst="rect">
            <a:avLst/>
          </a:prstGeom>
          <a:noFill/>
        </p:spPr>
        <p:txBody>
          <a:bodyPr wrap="square" lIns="0" rIns="0" tIns="0" bIns="0">
            <a:spAutoFit/>
          </a:bodyPr>
          <a:lstStyle/>
          <a:p>
            <a:pPr>
              <a:lnSpc>
                <a:spcPct val="128000"/>
              </a:lnSpc>
              <a:spcBef>
                <a:spcPts val="0"/>
              </a:spcBef>
              <a:spcAft>
                <a:spcPts val="0"/>
              </a:spcAft>
            </a:pPr>
            <a:r>
              <a:rPr sz="1100" b="0" i="0">
                <a:solidFill>
                  <a:srgbClr val="5A6068"/>
                </a:solidFill>
                <a:latin typeface="Calibri"/>
              </a:rPr>
              <a:t>Country-aggregated ESS years of schooling predicts WHR happiness at R² = 0.308, against 0.161 for the HDI's own schooling series on the same cells — an independently measured education variable roughly doubles it.</a:t>
            </a:r>
          </a:p>
        </p:txBody>
      </p:sp>
      <p:pic>
        <p:nvPicPr>
          <p:cNvPr id="5" name="Picture 4" descr="ess_triangulation.png"/>
          <p:cNvPicPr>
            <a:picLocks noChangeAspect="1"/>
          </p:cNvPicPr>
          <p:nvPr/>
        </p:nvPicPr>
        <p:blipFill>
          <a:blip r:embed="rId2"/>
          <a:stretch>
            <a:fillRect/>
          </a:stretch>
        </p:blipFill>
        <p:spPr>
          <a:xfrm>
            <a:off x="566928" y="1965960"/>
            <a:ext cx="11057839" cy="3026903"/>
          </a:xfrm>
          <a:prstGeom prst="rect">
            <a:avLst/>
          </a:prstGeom>
        </p:spPr>
      </p:pic>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411480"/>
            <a:ext cx="10515600" cy="320040"/>
          </a:xfrm>
          <a:prstGeom prst="rect">
            <a:avLst/>
          </a:prstGeom>
          <a:noFill/>
        </p:spPr>
        <p:txBody>
          <a:bodyPr wrap="square" lIns="0" rIns="0" tIns="0" bIns="0">
            <a:spAutoFit/>
          </a:bodyPr>
          <a:lstStyle/>
          <a:p>
            <a:pPr>
              <a:spcBef>
                <a:spcPts val="0"/>
              </a:spcBef>
              <a:spcAft>
                <a:spcPts val="0"/>
              </a:spcAft>
            </a:pPr>
            <a:r>
              <a:rPr sz="1000" b="0" i="0">
                <a:solidFill>
                  <a:srgbClr val="868D96"/>
                </a:solidFill>
                <a:latin typeface="Consolas"/>
              </a:rPr>
              <a:t>APPENDIX</a:t>
            </a:r>
          </a:p>
        </p:txBody>
      </p:sp>
      <p:sp>
        <p:nvSpPr>
          <p:cNvPr id="3" name="TextBox 2"/>
          <p:cNvSpPr txBox="1"/>
          <p:nvPr/>
        </p:nvSpPr>
        <p:spPr>
          <a:xfrm>
            <a:off x="566928" y="749808"/>
            <a:ext cx="10515600" cy="457200"/>
          </a:xfrm>
          <a:prstGeom prst="rect">
            <a:avLst/>
          </a:prstGeom>
          <a:noFill/>
        </p:spPr>
        <p:txBody>
          <a:bodyPr wrap="square" lIns="0" rIns="0" tIns="0" bIns="0">
            <a:spAutoFit/>
          </a:bodyPr>
          <a:lstStyle/>
          <a:p>
            <a:pPr>
              <a:spcBef>
                <a:spcPts val="0"/>
              </a:spcBef>
              <a:spcAft>
                <a:spcPts val="0"/>
              </a:spcAft>
            </a:pPr>
            <a:r>
              <a:rPr sz="2000" b="0" i="0">
                <a:solidFill>
                  <a:srgbClr val="14171C"/>
                </a:solidFill>
                <a:latin typeface="Georgia"/>
              </a:rPr>
              <a:t>Regional development spread within countries</a:t>
            </a:r>
          </a:p>
        </p:txBody>
      </p:sp>
      <p:sp>
        <p:nvSpPr>
          <p:cNvPr id="4" name="TextBox 3"/>
          <p:cNvSpPr txBox="1"/>
          <p:nvPr/>
        </p:nvSpPr>
        <p:spPr>
          <a:xfrm>
            <a:off x="566928" y="1207008"/>
            <a:ext cx="10515600" cy="457200"/>
          </a:xfrm>
          <a:prstGeom prst="rect">
            <a:avLst/>
          </a:prstGeom>
          <a:noFill/>
        </p:spPr>
        <p:txBody>
          <a:bodyPr wrap="square" lIns="0" rIns="0" tIns="0" bIns="0">
            <a:spAutoFit/>
          </a:bodyPr>
          <a:lstStyle/>
          <a:p>
            <a:pPr>
              <a:lnSpc>
                <a:spcPct val="128000"/>
              </a:lnSpc>
              <a:spcBef>
                <a:spcPts val="0"/>
              </a:spcBef>
              <a:spcAft>
                <a:spcPts val="0"/>
              </a:spcAft>
            </a:pPr>
            <a:r>
              <a:rPr sz="1100" b="0" i="0">
                <a:solidFill>
                  <a:srgbClr val="5A6068"/>
                </a:solidFill>
                <a:latin typeface="Calibri"/>
              </a:rPr>
              <a:t>Every region a dot, two countries per UNDP development tier, 2022. Germany's regions span 0.05 of SHDI; China's span 0.30, India's 0.19.</a:t>
            </a:r>
          </a:p>
        </p:txBody>
      </p:sp>
      <p:pic>
        <p:nvPicPr>
          <p:cNvPr id="5" name="Picture 4" descr="shdi_within_country_spread.png"/>
          <p:cNvPicPr>
            <a:picLocks noChangeAspect="1"/>
          </p:cNvPicPr>
          <p:nvPr/>
        </p:nvPicPr>
        <p:blipFill>
          <a:blip r:embed="rId2"/>
          <a:stretch>
            <a:fillRect/>
          </a:stretch>
        </p:blipFill>
        <p:spPr>
          <a:xfrm>
            <a:off x="2653157" y="1965960"/>
            <a:ext cx="6885380" cy="4480560"/>
          </a:xfrm>
          <a:prstGeom prst="rect">
            <a:avLst/>
          </a:prstGeom>
        </p:spPr>
      </p:pic>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411480"/>
            <a:ext cx="10515600" cy="320040"/>
          </a:xfrm>
          <a:prstGeom prst="rect">
            <a:avLst/>
          </a:prstGeom>
          <a:noFill/>
        </p:spPr>
        <p:txBody>
          <a:bodyPr wrap="square" lIns="0" rIns="0" tIns="0" bIns="0">
            <a:spAutoFit/>
          </a:bodyPr>
          <a:lstStyle/>
          <a:p>
            <a:pPr>
              <a:spcBef>
                <a:spcPts val="0"/>
              </a:spcBef>
              <a:spcAft>
                <a:spcPts val="0"/>
              </a:spcAft>
            </a:pPr>
            <a:r>
              <a:rPr sz="1000" b="0" i="0">
                <a:solidFill>
                  <a:srgbClr val="868D96"/>
                </a:solidFill>
                <a:latin typeface="Consolas"/>
              </a:rPr>
              <a:t>APPENDIX</a:t>
            </a:r>
          </a:p>
        </p:txBody>
      </p:sp>
      <p:sp>
        <p:nvSpPr>
          <p:cNvPr id="3" name="TextBox 2"/>
          <p:cNvSpPr txBox="1"/>
          <p:nvPr/>
        </p:nvSpPr>
        <p:spPr>
          <a:xfrm>
            <a:off x="566928" y="749808"/>
            <a:ext cx="10515600" cy="457200"/>
          </a:xfrm>
          <a:prstGeom prst="rect">
            <a:avLst/>
          </a:prstGeom>
          <a:noFill/>
        </p:spPr>
        <p:txBody>
          <a:bodyPr wrap="square" lIns="0" rIns="0" tIns="0" bIns="0">
            <a:spAutoFit/>
          </a:bodyPr>
          <a:lstStyle/>
          <a:p>
            <a:pPr>
              <a:spcBef>
                <a:spcPts val="0"/>
              </a:spcBef>
              <a:spcAft>
                <a:spcPts val="0"/>
              </a:spcAft>
            </a:pPr>
            <a:r>
              <a:rPr sz="2000" b="0" i="0">
                <a:solidFill>
                  <a:srgbClr val="14171C"/>
                </a:solidFill>
                <a:latin typeface="Georgia"/>
              </a:rPr>
              <a:t>SDG significance by goal, pooled</a:t>
            </a:r>
          </a:p>
        </p:txBody>
      </p:sp>
      <p:sp>
        <p:nvSpPr>
          <p:cNvPr id="4" name="TextBox 3"/>
          <p:cNvSpPr txBox="1"/>
          <p:nvPr/>
        </p:nvSpPr>
        <p:spPr>
          <a:xfrm>
            <a:off x="566928" y="1207008"/>
            <a:ext cx="10515600" cy="457200"/>
          </a:xfrm>
          <a:prstGeom prst="rect">
            <a:avLst/>
          </a:prstGeom>
          <a:noFill/>
        </p:spPr>
        <p:txBody>
          <a:bodyPr wrap="square" lIns="0" rIns="0" tIns="0" bIns="0">
            <a:spAutoFit/>
          </a:bodyPr>
          <a:lstStyle/>
          <a:p>
            <a:pPr>
              <a:lnSpc>
                <a:spcPct val="128000"/>
              </a:lnSpc>
              <a:spcBef>
                <a:spcPts val="0"/>
              </a:spcBef>
              <a:spcAft>
                <a:spcPts val="0"/>
              </a:spcAft>
            </a:pPr>
            <a:r>
              <a:rPr sz="1100" b="0" i="0">
                <a:solidFill>
                  <a:srgbClr val="5A6068"/>
                </a:solidFill>
                <a:latin typeface="Calibri"/>
              </a:rPr>
              <a:t>The leading goal (Energy, 16.0%) clears FDR significance in barely one country-test in six; pooled Education ranks 12th of 17.</a:t>
            </a:r>
          </a:p>
        </p:txBody>
      </p:sp>
      <p:pic>
        <p:nvPicPr>
          <p:cNvPr id="5" name="Picture 4" descr="sdg_by_goal.png"/>
          <p:cNvPicPr>
            <a:picLocks noChangeAspect="1"/>
          </p:cNvPicPr>
          <p:nvPr/>
        </p:nvPicPr>
        <p:blipFill>
          <a:blip r:embed="rId2"/>
          <a:stretch>
            <a:fillRect/>
          </a:stretch>
        </p:blipFill>
        <p:spPr>
          <a:xfrm>
            <a:off x="2504357" y="1965960"/>
            <a:ext cx="7182980" cy="4480560"/>
          </a:xfrm>
          <a:prstGeom prst="rect">
            <a:avLst/>
          </a:prstGeom>
        </p:spPr>
      </p:pic>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411480"/>
            <a:ext cx="10515600" cy="320040"/>
          </a:xfrm>
          <a:prstGeom prst="rect">
            <a:avLst/>
          </a:prstGeom>
          <a:noFill/>
        </p:spPr>
        <p:txBody>
          <a:bodyPr wrap="square" lIns="0" rIns="0" tIns="0" bIns="0">
            <a:spAutoFit/>
          </a:bodyPr>
          <a:lstStyle/>
          <a:p>
            <a:pPr>
              <a:spcBef>
                <a:spcPts val="0"/>
              </a:spcBef>
              <a:spcAft>
                <a:spcPts val="0"/>
              </a:spcAft>
            </a:pPr>
            <a:r>
              <a:rPr sz="1000" b="0" i="0">
                <a:solidFill>
                  <a:srgbClr val="868D96"/>
                </a:solidFill>
                <a:latin typeface="Consolas"/>
              </a:rPr>
              <a:t>APPENDIX</a:t>
            </a:r>
          </a:p>
        </p:txBody>
      </p:sp>
      <p:sp>
        <p:nvSpPr>
          <p:cNvPr id="3" name="TextBox 2"/>
          <p:cNvSpPr txBox="1"/>
          <p:nvPr/>
        </p:nvSpPr>
        <p:spPr>
          <a:xfrm>
            <a:off x="566928" y="749808"/>
            <a:ext cx="10515600" cy="457200"/>
          </a:xfrm>
          <a:prstGeom prst="rect">
            <a:avLst/>
          </a:prstGeom>
          <a:noFill/>
        </p:spPr>
        <p:txBody>
          <a:bodyPr wrap="square" lIns="0" rIns="0" tIns="0" bIns="0">
            <a:spAutoFit/>
          </a:bodyPr>
          <a:lstStyle/>
          <a:p>
            <a:pPr>
              <a:spcBef>
                <a:spcPts val="0"/>
              </a:spcBef>
              <a:spcAft>
                <a:spcPts val="0"/>
              </a:spcAft>
            </a:pPr>
            <a:r>
              <a:rPr sz="2000" b="0" i="0">
                <a:solidFill>
                  <a:srgbClr val="14171C"/>
                </a:solidFill>
                <a:latin typeface="Georgia"/>
              </a:rPr>
              <a:t>GDL national SHDI against the UNDP HDI</a:t>
            </a:r>
          </a:p>
        </p:txBody>
      </p:sp>
      <p:sp>
        <p:nvSpPr>
          <p:cNvPr id="4" name="TextBox 3"/>
          <p:cNvSpPr txBox="1"/>
          <p:nvPr/>
        </p:nvSpPr>
        <p:spPr>
          <a:xfrm>
            <a:off x="566928" y="1207008"/>
            <a:ext cx="10515600" cy="457200"/>
          </a:xfrm>
          <a:prstGeom prst="rect">
            <a:avLst/>
          </a:prstGeom>
          <a:noFill/>
        </p:spPr>
        <p:txBody>
          <a:bodyPr wrap="square" lIns="0" rIns="0" tIns="0" bIns="0">
            <a:spAutoFit/>
          </a:bodyPr>
          <a:lstStyle/>
          <a:p>
            <a:pPr>
              <a:lnSpc>
                <a:spcPct val="128000"/>
              </a:lnSpc>
              <a:spcBef>
                <a:spcPts val="0"/>
              </a:spcBef>
              <a:spcAft>
                <a:spcPts val="0"/>
              </a:spcAft>
            </a:pPr>
            <a:r>
              <a:rPr sz="1100" b="0" i="0">
                <a:solidFill>
                  <a:srgbClr val="5A6068"/>
                </a:solidFill>
                <a:latin typeface="Calibri"/>
              </a:rPr>
              <a:t>The two are the same series — R² = 1.000, every country-year identical, because GDL derives the national figure from the UNDP index. Retained to document the check, not as validation: agreement here says nothing about the subnational disaggregation, which is where GDL's own data begins.</a:t>
            </a:r>
          </a:p>
        </p:txBody>
      </p:sp>
      <p:pic>
        <p:nvPicPr>
          <p:cNvPr id="5" name="Picture 4" descr="shdi_vs_hdi_validation.png"/>
          <p:cNvPicPr>
            <a:picLocks noChangeAspect="1"/>
          </p:cNvPicPr>
          <p:nvPr/>
        </p:nvPicPr>
        <p:blipFill>
          <a:blip r:embed="rId2"/>
          <a:stretch>
            <a:fillRect/>
          </a:stretch>
        </p:blipFill>
        <p:spPr>
          <a:xfrm>
            <a:off x="4036999" y="1965960"/>
            <a:ext cx="4117697" cy="4480560"/>
          </a:xfrm>
          <a:prstGeom prst="rect">
            <a:avLst/>
          </a:prstGeom>
        </p:spPr>
      </p:pic>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411480"/>
            <a:ext cx="10515600" cy="320040"/>
          </a:xfrm>
          <a:prstGeom prst="rect">
            <a:avLst/>
          </a:prstGeom>
          <a:noFill/>
        </p:spPr>
        <p:txBody>
          <a:bodyPr wrap="square" lIns="0" rIns="0" tIns="0" bIns="0">
            <a:spAutoFit/>
          </a:bodyPr>
          <a:lstStyle/>
          <a:p>
            <a:pPr>
              <a:spcBef>
                <a:spcPts val="0"/>
              </a:spcBef>
              <a:spcAft>
                <a:spcPts val="0"/>
              </a:spcAft>
            </a:pPr>
            <a:r>
              <a:rPr sz="1000" b="0" i="0">
                <a:solidFill>
                  <a:srgbClr val="868D96"/>
                </a:solidFill>
                <a:latin typeface="Consolas"/>
              </a:rPr>
              <a:t>APPENDIX</a:t>
            </a:r>
          </a:p>
        </p:txBody>
      </p:sp>
      <p:sp>
        <p:nvSpPr>
          <p:cNvPr id="3" name="TextBox 2"/>
          <p:cNvSpPr txBox="1"/>
          <p:nvPr/>
        </p:nvSpPr>
        <p:spPr>
          <a:xfrm>
            <a:off x="566928" y="749808"/>
            <a:ext cx="10515600" cy="457200"/>
          </a:xfrm>
          <a:prstGeom prst="rect">
            <a:avLst/>
          </a:prstGeom>
          <a:noFill/>
        </p:spPr>
        <p:txBody>
          <a:bodyPr wrap="square" lIns="0" rIns="0" tIns="0" bIns="0">
            <a:spAutoFit/>
          </a:bodyPr>
          <a:lstStyle/>
          <a:p>
            <a:pPr>
              <a:spcBef>
                <a:spcPts val="0"/>
              </a:spcBef>
              <a:spcAft>
                <a:spcPts val="0"/>
              </a:spcAft>
            </a:pPr>
            <a:r>
              <a:rPr sz="2000" b="0" i="0">
                <a:solidFill>
                  <a:srgbClr val="14171C"/>
                </a:solidFill>
                <a:latin typeface="Georgia"/>
              </a:rPr>
              <a:t>Subnational HDI against WHR happiness, levels</a:t>
            </a:r>
          </a:p>
        </p:txBody>
      </p:sp>
      <p:sp>
        <p:nvSpPr>
          <p:cNvPr id="4" name="TextBox 3"/>
          <p:cNvSpPr txBox="1"/>
          <p:nvPr/>
        </p:nvSpPr>
        <p:spPr>
          <a:xfrm>
            <a:off x="566928" y="1207008"/>
            <a:ext cx="10515600" cy="457200"/>
          </a:xfrm>
          <a:prstGeom prst="rect">
            <a:avLst/>
          </a:prstGeom>
          <a:noFill/>
        </p:spPr>
        <p:txBody>
          <a:bodyPr wrap="square" lIns="0" rIns="0" tIns="0" bIns="0">
            <a:spAutoFit/>
          </a:bodyPr>
          <a:lstStyle/>
          <a:p>
            <a:pPr>
              <a:lnSpc>
                <a:spcPct val="128000"/>
              </a:lnSpc>
              <a:spcBef>
                <a:spcPts val="0"/>
              </a:spcBef>
              <a:spcAft>
                <a:spcPts val="0"/>
              </a:spcAft>
            </a:pPr>
            <a:r>
              <a:rPr sz="1100" b="0" i="0">
                <a:solidFill>
                  <a:srgbClr val="5A6068"/>
                </a:solidFill>
                <a:latin typeface="Calibri"/>
              </a:rPr>
              <a:t>The familiar development-tier gradient with SHDI in place of HDI.</a:t>
            </a:r>
          </a:p>
        </p:txBody>
      </p:sp>
      <p:pic>
        <p:nvPicPr>
          <p:cNvPr id="5" name="Picture 4" descr="shdi_whr_levels_scatter.png"/>
          <p:cNvPicPr>
            <a:picLocks noChangeAspect="1"/>
          </p:cNvPicPr>
          <p:nvPr/>
        </p:nvPicPr>
        <p:blipFill>
          <a:blip r:embed="rId2"/>
          <a:stretch>
            <a:fillRect/>
          </a:stretch>
        </p:blipFill>
        <p:spPr>
          <a:xfrm>
            <a:off x="3508482" y="1965960"/>
            <a:ext cx="5174731" cy="4480560"/>
          </a:xfrm>
          <a:prstGeom prst="rect">
            <a:avLst/>
          </a:prstGeom>
        </p:spPr>
      </p:pic>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411480"/>
            <a:ext cx="10515600" cy="320040"/>
          </a:xfrm>
          <a:prstGeom prst="rect">
            <a:avLst/>
          </a:prstGeom>
          <a:noFill/>
        </p:spPr>
        <p:txBody>
          <a:bodyPr wrap="square" lIns="0" rIns="0" tIns="0" bIns="0">
            <a:spAutoFit/>
          </a:bodyPr>
          <a:lstStyle/>
          <a:p>
            <a:pPr>
              <a:spcBef>
                <a:spcPts val="0"/>
              </a:spcBef>
              <a:spcAft>
                <a:spcPts val="0"/>
              </a:spcAft>
            </a:pPr>
            <a:r>
              <a:rPr sz="1000" b="0" i="0">
                <a:solidFill>
                  <a:srgbClr val="868D96"/>
                </a:solidFill>
                <a:latin typeface="Consolas"/>
              </a:rPr>
              <a:t>APPENDIX</a:t>
            </a:r>
          </a:p>
        </p:txBody>
      </p:sp>
      <p:sp>
        <p:nvSpPr>
          <p:cNvPr id="3" name="TextBox 2"/>
          <p:cNvSpPr txBox="1"/>
          <p:nvPr/>
        </p:nvSpPr>
        <p:spPr>
          <a:xfrm>
            <a:off x="566928" y="749808"/>
            <a:ext cx="10515600" cy="457200"/>
          </a:xfrm>
          <a:prstGeom prst="rect">
            <a:avLst/>
          </a:prstGeom>
          <a:noFill/>
        </p:spPr>
        <p:txBody>
          <a:bodyPr wrap="square" lIns="0" rIns="0" tIns="0" bIns="0">
            <a:spAutoFit/>
          </a:bodyPr>
          <a:lstStyle/>
          <a:p>
            <a:pPr>
              <a:spcBef>
                <a:spcPts val="0"/>
              </a:spcBef>
              <a:spcAft>
                <a:spcPts val="0"/>
              </a:spcAft>
            </a:pPr>
            <a:r>
              <a:rPr sz="2000" b="0" i="0">
                <a:solidFill>
                  <a:srgbClr val="14171C"/>
                </a:solidFill>
                <a:latin typeface="Georgia"/>
              </a:rPr>
              <a:t>ESS coverage by country and year</a:t>
            </a:r>
          </a:p>
        </p:txBody>
      </p:sp>
      <p:sp>
        <p:nvSpPr>
          <p:cNvPr id="4" name="TextBox 3"/>
          <p:cNvSpPr txBox="1"/>
          <p:nvPr/>
        </p:nvSpPr>
        <p:spPr>
          <a:xfrm>
            <a:off x="566928" y="1207008"/>
            <a:ext cx="10515600" cy="457200"/>
          </a:xfrm>
          <a:prstGeom prst="rect">
            <a:avLst/>
          </a:prstGeom>
          <a:noFill/>
        </p:spPr>
        <p:txBody>
          <a:bodyPr wrap="square" lIns="0" rIns="0" tIns="0" bIns="0">
            <a:spAutoFit/>
          </a:bodyPr>
          <a:lstStyle/>
          <a:p>
            <a:pPr>
              <a:lnSpc>
                <a:spcPct val="128000"/>
              </a:lnSpc>
              <a:spcBef>
                <a:spcPts val="0"/>
              </a:spcBef>
              <a:spcAft>
                <a:spcPts val="0"/>
              </a:spcAft>
            </a:pPr>
            <a:r>
              <a:rPr sz="1100" b="0" i="0">
                <a:solidFill>
                  <a:srgbClr val="5A6068"/>
                </a:solidFill>
                <a:latin typeface="Calibri"/>
              </a:rPr>
              <a:t>A rotating panel: 36 countries, roughly biennial from 2010 to 2023, with 17 countries present in all seven waves. This is the power constraint behind every ESS significance test.</a:t>
            </a:r>
          </a:p>
        </p:txBody>
      </p:sp>
      <p:pic>
        <p:nvPicPr>
          <p:cNvPr id="5" name="Picture 4" descr="ess_year_coverage.png"/>
          <p:cNvPicPr>
            <a:picLocks noChangeAspect="1"/>
          </p:cNvPicPr>
          <p:nvPr/>
        </p:nvPicPr>
        <p:blipFill>
          <a:blip r:embed="rId2"/>
          <a:stretch>
            <a:fillRect/>
          </a:stretch>
        </p:blipFill>
        <p:spPr>
          <a:xfrm>
            <a:off x="4247956" y="1965960"/>
            <a:ext cx="3695783" cy="4480560"/>
          </a:xfrm>
          <a:prstGeom prst="rect">
            <a:avLst/>
          </a:prstGeom>
        </p:spPr>
      </p:pic>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411480"/>
            <a:ext cx="10515600" cy="320040"/>
          </a:xfrm>
          <a:prstGeom prst="rect">
            <a:avLst/>
          </a:prstGeom>
          <a:noFill/>
        </p:spPr>
        <p:txBody>
          <a:bodyPr wrap="square" lIns="0" rIns="0" tIns="0" bIns="0">
            <a:spAutoFit/>
          </a:bodyPr>
          <a:lstStyle/>
          <a:p>
            <a:pPr>
              <a:spcBef>
                <a:spcPts val="0"/>
              </a:spcBef>
              <a:spcAft>
                <a:spcPts val="0"/>
              </a:spcAft>
            </a:pPr>
            <a:r>
              <a:rPr sz="1000" b="0" i="0">
                <a:solidFill>
                  <a:srgbClr val="868D96"/>
                </a:solidFill>
                <a:latin typeface="Consolas"/>
              </a:rPr>
              <a:t>APPENDIX</a:t>
            </a:r>
          </a:p>
        </p:txBody>
      </p:sp>
      <p:sp>
        <p:nvSpPr>
          <p:cNvPr id="3" name="TextBox 2"/>
          <p:cNvSpPr txBox="1"/>
          <p:nvPr/>
        </p:nvSpPr>
        <p:spPr>
          <a:xfrm>
            <a:off x="566928" y="749808"/>
            <a:ext cx="10515600" cy="457200"/>
          </a:xfrm>
          <a:prstGeom prst="rect">
            <a:avLst/>
          </a:prstGeom>
          <a:noFill/>
        </p:spPr>
        <p:txBody>
          <a:bodyPr wrap="square" lIns="0" rIns="0" tIns="0" bIns="0">
            <a:spAutoFit/>
          </a:bodyPr>
          <a:lstStyle/>
          <a:p>
            <a:pPr>
              <a:spcBef>
                <a:spcPts val="0"/>
              </a:spcBef>
              <a:spcAft>
                <a:spcPts val="0"/>
              </a:spcAft>
            </a:pPr>
            <a:r>
              <a:rPr sz="2000" b="0" i="0">
                <a:solidFill>
                  <a:srgbClr val="14171C"/>
                </a:solidFill>
                <a:latin typeface="Georgia"/>
              </a:rPr>
              <a:t>ESS-to-SHDI region crosswalk</a:t>
            </a:r>
          </a:p>
        </p:txBody>
      </p:sp>
      <p:sp>
        <p:nvSpPr>
          <p:cNvPr id="4" name="TextBox 3"/>
          <p:cNvSpPr txBox="1"/>
          <p:nvPr/>
        </p:nvSpPr>
        <p:spPr>
          <a:xfrm>
            <a:off x="566928" y="1207008"/>
            <a:ext cx="10515600" cy="457200"/>
          </a:xfrm>
          <a:prstGeom prst="rect">
            <a:avLst/>
          </a:prstGeom>
          <a:noFill/>
        </p:spPr>
        <p:txBody>
          <a:bodyPr wrap="square" lIns="0" rIns="0" tIns="0" bIns="0">
            <a:spAutoFit/>
          </a:bodyPr>
          <a:lstStyle/>
          <a:p>
            <a:pPr>
              <a:lnSpc>
                <a:spcPct val="128000"/>
              </a:lnSpc>
              <a:spcBef>
                <a:spcPts val="0"/>
              </a:spcBef>
              <a:spcAft>
                <a:spcPts val="0"/>
              </a:spcAft>
            </a:pPr>
            <a:r>
              <a:rPr sz="1100" b="0" i="0">
                <a:solidFill>
                  <a:srgbClr val="5A6068"/>
                </a:solidFill>
                <a:latin typeface="Calibri"/>
              </a:rPr>
              <a:t>62% of respondents, across 24 of 36 countries, matched to a subnational SHDI value through the NUTS-to-GDL crosswalk.</a:t>
            </a:r>
          </a:p>
        </p:txBody>
      </p:sp>
      <p:pic>
        <p:nvPicPr>
          <p:cNvPr id="5" name="Picture 4" descr="region_crosswalk_match.png"/>
          <p:cNvPicPr>
            <a:picLocks noChangeAspect="1"/>
          </p:cNvPicPr>
          <p:nvPr/>
        </p:nvPicPr>
        <p:blipFill>
          <a:blip r:embed="rId2"/>
          <a:stretch>
            <a:fillRect/>
          </a:stretch>
        </p:blipFill>
        <p:spPr>
          <a:xfrm>
            <a:off x="2428154" y="1965960"/>
            <a:ext cx="7335386" cy="4480560"/>
          </a:xfrm>
          <a:prstGeom prst="rect">
            <a:avLst/>
          </a:prstGeom>
        </p:spPr>
      </p:pic>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411480"/>
            <a:ext cx="10515600" cy="320040"/>
          </a:xfrm>
          <a:prstGeom prst="rect">
            <a:avLst/>
          </a:prstGeom>
          <a:noFill/>
        </p:spPr>
        <p:txBody>
          <a:bodyPr wrap="square" lIns="0" rIns="0" tIns="0" bIns="0">
            <a:spAutoFit/>
          </a:bodyPr>
          <a:lstStyle/>
          <a:p>
            <a:pPr>
              <a:spcBef>
                <a:spcPts val="0"/>
              </a:spcBef>
              <a:spcAft>
                <a:spcPts val="0"/>
              </a:spcAft>
            </a:pPr>
            <a:r>
              <a:rPr sz="1000" b="0" i="0">
                <a:solidFill>
                  <a:srgbClr val="868D96"/>
                </a:solidFill>
                <a:latin typeface="Consolas"/>
              </a:rPr>
              <a:t>APPENDIX</a:t>
            </a:r>
          </a:p>
        </p:txBody>
      </p:sp>
      <p:sp>
        <p:nvSpPr>
          <p:cNvPr id="3" name="TextBox 2"/>
          <p:cNvSpPr txBox="1"/>
          <p:nvPr/>
        </p:nvSpPr>
        <p:spPr>
          <a:xfrm>
            <a:off x="566928" y="749808"/>
            <a:ext cx="10515600" cy="457200"/>
          </a:xfrm>
          <a:prstGeom prst="rect">
            <a:avLst/>
          </a:prstGeom>
          <a:noFill/>
        </p:spPr>
        <p:txBody>
          <a:bodyPr wrap="square" lIns="0" rIns="0" tIns="0" bIns="0">
            <a:spAutoFit/>
          </a:bodyPr>
          <a:lstStyle/>
          <a:p>
            <a:pPr>
              <a:spcBef>
                <a:spcPts val="0"/>
              </a:spcBef>
              <a:spcAft>
                <a:spcPts val="0"/>
              </a:spcAft>
            </a:pPr>
            <a:r>
              <a:rPr sz="2000" b="0" i="0">
                <a:solidFill>
                  <a:srgbClr val="14171C"/>
                </a:solidFill>
                <a:latin typeface="Georgia"/>
              </a:rPr>
              <a:t>Country × indicator significance, ESS</a:t>
            </a:r>
          </a:p>
        </p:txBody>
      </p:sp>
      <p:sp>
        <p:nvSpPr>
          <p:cNvPr id="4" name="TextBox 3"/>
          <p:cNvSpPr txBox="1"/>
          <p:nvPr/>
        </p:nvSpPr>
        <p:spPr>
          <a:xfrm>
            <a:off x="566928" y="1207008"/>
            <a:ext cx="10515600" cy="457200"/>
          </a:xfrm>
          <a:prstGeom prst="rect">
            <a:avLst/>
          </a:prstGeom>
          <a:noFill/>
        </p:spPr>
        <p:txBody>
          <a:bodyPr wrap="square" lIns="0" rIns="0" tIns="0" bIns="0">
            <a:spAutoFit/>
          </a:bodyPr>
          <a:lstStyle/>
          <a:p>
            <a:pPr>
              <a:lnSpc>
                <a:spcPct val="128000"/>
              </a:lnSpc>
              <a:spcBef>
                <a:spcPts val="0"/>
              </a:spcBef>
              <a:spcAft>
                <a:spcPts val="0"/>
              </a:spcAft>
            </a:pPr>
            <a:r>
              <a:rPr sz="1100" b="0" i="0">
                <a:solidFill>
                  <a:srgbClr val="5A6068"/>
                </a:solidFill>
                <a:latin typeface="Calibri"/>
              </a:rPr>
              <a:t>15% of levels cells and 9% of differences cells FDR-significant; direction consistent with the WHR results, power much lower.</a:t>
            </a:r>
          </a:p>
        </p:txBody>
      </p:sp>
      <p:pic>
        <p:nvPicPr>
          <p:cNvPr id="5" name="Picture 4" descr="hdi_ess_heatmap.png"/>
          <p:cNvPicPr>
            <a:picLocks noChangeAspect="1"/>
          </p:cNvPicPr>
          <p:nvPr/>
        </p:nvPicPr>
        <p:blipFill>
          <a:blip r:embed="rId2"/>
          <a:stretch>
            <a:fillRect/>
          </a:stretch>
        </p:blipFill>
        <p:spPr>
          <a:xfrm>
            <a:off x="3601923" y="1965960"/>
            <a:ext cx="4987848" cy="4480560"/>
          </a:xfrm>
          <a:prstGeom prst="rect">
            <a:avLst/>
          </a:prstGeom>
        </p:spPr>
      </p:pic>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411480"/>
            <a:ext cx="10515600" cy="320040"/>
          </a:xfrm>
          <a:prstGeom prst="rect">
            <a:avLst/>
          </a:prstGeom>
          <a:noFill/>
        </p:spPr>
        <p:txBody>
          <a:bodyPr wrap="square" lIns="0" rIns="0" tIns="0" bIns="0">
            <a:spAutoFit/>
          </a:bodyPr>
          <a:lstStyle/>
          <a:p>
            <a:pPr>
              <a:spcBef>
                <a:spcPts val="0"/>
              </a:spcBef>
              <a:spcAft>
                <a:spcPts val="0"/>
              </a:spcAft>
            </a:pPr>
            <a:r>
              <a:rPr sz="1000" b="0" i="0">
                <a:solidFill>
                  <a:srgbClr val="868D96"/>
                </a:solidFill>
                <a:latin typeface="Consolas"/>
              </a:rPr>
              <a:t>APPENDIX</a:t>
            </a:r>
          </a:p>
        </p:txBody>
      </p:sp>
      <p:sp>
        <p:nvSpPr>
          <p:cNvPr id="3" name="TextBox 2"/>
          <p:cNvSpPr txBox="1"/>
          <p:nvPr/>
        </p:nvSpPr>
        <p:spPr>
          <a:xfrm>
            <a:off x="566928" y="749808"/>
            <a:ext cx="10515600" cy="457200"/>
          </a:xfrm>
          <a:prstGeom prst="rect">
            <a:avLst/>
          </a:prstGeom>
          <a:noFill/>
        </p:spPr>
        <p:txBody>
          <a:bodyPr wrap="square" lIns="0" rIns="0" tIns="0" bIns="0">
            <a:spAutoFit/>
          </a:bodyPr>
          <a:lstStyle/>
          <a:p>
            <a:pPr>
              <a:spcBef>
                <a:spcPts val="0"/>
              </a:spcBef>
              <a:spcAft>
                <a:spcPts val="0"/>
              </a:spcAft>
            </a:pPr>
            <a:r>
              <a:rPr sz="2000" b="0" i="0">
                <a:solidFill>
                  <a:srgbClr val="14171C"/>
                </a:solidFill>
                <a:latin typeface="Georgia"/>
              </a:rPr>
              <a:t>Per-country collapse, ESS</a:t>
            </a:r>
          </a:p>
        </p:txBody>
      </p:sp>
      <p:sp>
        <p:nvSpPr>
          <p:cNvPr id="4" name="TextBox 3"/>
          <p:cNvSpPr txBox="1"/>
          <p:nvPr/>
        </p:nvSpPr>
        <p:spPr>
          <a:xfrm>
            <a:off x="566928" y="1207008"/>
            <a:ext cx="10515600" cy="457200"/>
          </a:xfrm>
          <a:prstGeom prst="rect">
            <a:avLst/>
          </a:prstGeom>
          <a:noFill/>
        </p:spPr>
        <p:txBody>
          <a:bodyPr wrap="square" lIns="0" rIns="0" tIns="0" bIns="0">
            <a:spAutoFit/>
          </a:bodyPr>
          <a:lstStyle/>
          <a:p>
            <a:pPr>
              <a:lnSpc>
                <a:spcPct val="128000"/>
              </a:lnSpc>
              <a:spcBef>
                <a:spcPts val="0"/>
              </a:spcBef>
              <a:spcAft>
                <a:spcPts val="0"/>
              </a:spcAft>
            </a:pPr>
            <a:r>
              <a:rPr sz="1100" b="0" i="0">
                <a:solidFill>
                  <a:srgbClr val="5A6068"/>
                </a:solidFill>
                <a:latin typeface="Calibri"/>
              </a:rPr>
              <a:t>More above-the-line exceptions than the WHR analysis shows — sparse waves cut both ways.</a:t>
            </a:r>
          </a:p>
        </p:txBody>
      </p:sp>
      <p:pic>
        <p:nvPicPr>
          <p:cNvPr id="5" name="Picture 4" descr="hdi_ess_collapse_scatter.png"/>
          <p:cNvPicPr>
            <a:picLocks noChangeAspect="1"/>
          </p:cNvPicPr>
          <p:nvPr/>
        </p:nvPicPr>
        <p:blipFill>
          <a:blip r:embed="rId2"/>
          <a:stretch>
            <a:fillRect/>
          </a:stretch>
        </p:blipFill>
        <p:spPr>
          <a:xfrm>
            <a:off x="2057001" y="1965960"/>
            <a:ext cx="8077693" cy="4480560"/>
          </a:xfrm>
          <a:prstGeom prst="rect">
            <a:avLst/>
          </a:prstGeom>
        </p:spPr>
      </p:pic>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411480"/>
            <a:ext cx="10515600" cy="320040"/>
          </a:xfrm>
          <a:prstGeom prst="rect">
            <a:avLst/>
          </a:prstGeom>
          <a:noFill/>
        </p:spPr>
        <p:txBody>
          <a:bodyPr wrap="square" lIns="0" rIns="0" tIns="0" bIns="0">
            <a:spAutoFit/>
          </a:bodyPr>
          <a:lstStyle/>
          <a:p>
            <a:pPr>
              <a:spcBef>
                <a:spcPts val="0"/>
              </a:spcBef>
              <a:spcAft>
                <a:spcPts val="0"/>
              </a:spcAft>
            </a:pPr>
            <a:r>
              <a:rPr sz="1000" b="0" i="0">
                <a:solidFill>
                  <a:srgbClr val="868D96"/>
                </a:solidFill>
                <a:latin typeface="Consolas"/>
              </a:rPr>
              <a:t>APPENDIX</a:t>
            </a:r>
          </a:p>
        </p:txBody>
      </p:sp>
      <p:sp>
        <p:nvSpPr>
          <p:cNvPr id="3" name="TextBox 2"/>
          <p:cNvSpPr txBox="1"/>
          <p:nvPr/>
        </p:nvSpPr>
        <p:spPr>
          <a:xfrm>
            <a:off x="566928" y="749808"/>
            <a:ext cx="10515600" cy="457200"/>
          </a:xfrm>
          <a:prstGeom prst="rect">
            <a:avLst/>
          </a:prstGeom>
          <a:noFill/>
        </p:spPr>
        <p:txBody>
          <a:bodyPr wrap="square" lIns="0" rIns="0" tIns="0" bIns="0">
            <a:spAutoFit/>
          </a:bodyPr>
          <a:lstStyle/>
          <a:p>
            <a:pPr>
              <a:spcBef>
                <a:spcPts val="0"/>
              </a:spcBef>
              <a:spcAft>
                <a:spcPts val="0"/>
              </a:spcAft>
            </a:pPr>
            <a:r>
              <a:rPr sz="2000" b="0" i="0">
                <a:solidFill>
                  <a:srgbClr val="14171C"/>
                </a:solidFill>
                <a:latin typeface="Georgia"/>
              </a:rPr>
              <a:t>HDI progress against life-satisfaction trends, 2010–2023</a:t>
            </a:r>
          </a:p>
        </p:txBody>
      </p:sp>
      <p:sp>
        <p:nvSpPr>
          <p:cNvPr id="4" name="TextBox 3"/>
          <p:cNvSpPr txBox="1"/>
          <p:nvPr/>
        </p:nvSpPr>
        <p:spPr>
          <a:xfrm>
            <a:off x="566928" y="1207008"/>
            <a:ext cx="10515600" cy="457200"/>
          </a:xfrm>
          <a:prstGeom prst="rect">
            <a:avLst/>
          </a:prstGeom>
          <a:noFill/>
        </p:spPr>
        <p:txBody>
          <a:bodyPr wrap="square" lIns="0" rIns="0" tIns="0" bIns="0">
            <a:spAutoFit/>
          </a:bodyPr>
          <a:lstStyle/>
          <a:p>
            <a:pPr>
              <a:lnSpc>
                <a:spcPct val="128000"/>
              </a:lnSpc>
              <a:spcBef>
                <a:spcPts val="0"/>
              </a:spcBef>
              <a:spcAft>
                <a:spcPts val="0"/>
              </a:spcAft>
            </a:pPr>
            <a:r>
              <a:rPr sz="1100" b="0" i="0">
                <a:solidFill>
                  <a:srgbClr val="5A6068"/>
                </a:solidFill>
                <a:latin typeface="Calibri"/>
              </a:rPr>
              <a:t>HDI rose nearly everywhere. ESS life satisfaction rose in 19 countries and fell in 8.</a:t>
            </a:r>
          </a:p>
        </p:txBody>
      </p:sp>
      <p:pic>
        <p:nvPicPr>
          <p:cNvPr id="5" name="Picture 4" descr="hdi_vs_lifesat_trends.png"/>
          <p:cNvPicPr>
            <a:picLocks noChangeAspect="1"/>
          </p:cNvPicPr>
          <p:nvPr/>
        </p:nvPicPr>
        <p:blipFill>
          <a:blip r:embed="rId2"/>
          <a:stretch>
            <a:fillRect/>
          </a:stretch>
        </p:blipFill>
        <p:spPr>
          <a:xfrm>
            <a:off x="4009215" y="1965960"/>
            <a:ext cx="4173264" cy="4480560"/>
          </a:xfrm>
          <a:prstGeom prst="rect">
            <a:avLst/>
          </a:prstGeom>
        </p:spPr>
      </p:pic>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411480"/>
            <a:ext cx="10515600" cy="320040"/>
          </a:xfrm>
          <a:prstGeom prst="rect">
            <a:avLst/>
          </a:prstGeom>
          <a:noFill/>
        </p:spPr>
        <p:txBody>
          <a:bodyPr wrap="square" lIns="0" rIns="0" tIns="0" bIns="0">
            <a:spAutoFit/>
          </a:bodyPr>
          <a:lstStyle/>
          <a:p>
            <a:pPr>
              <a:spcBef>
                <a:spcPts val="0"/>
              </a:spcBef>
              <a:spcAft>
                <a:spcPts val="0"/>
              </a:spcAft>
            </a:pPr>
            <a:r>
              <a:rPr sz="1000" b="0" i="0">
                <a:solidFill>
                  <a:srgbClr val="868D96"/>
                </a:solidFill>
                <a:latin typeface="Consolas"/>
              </a:rPr>
              <a:t>APPENDIX</a:t>
            </a:r>
          </a:p>
        </p:txBody>
      </p:sp>
      <p:sp>
        <p:nvSpPr>
          <p:cNvPr id="3" name="TextBox 2"/>
          <p:cNvSpPr txBox="1"/>
          <p:nvPr/>
        </p:nvSpPr>
        <p:spPr>
          <a:xfrm>
            <a:off x="566928" y="749808"/>
            <a:ext cx="10515600" cy="457200"/>
          </a:xfrm>
          <a:prstGeom prst="rect">
            <a:avLst/>
          </a:prstGeom>
          <a:noFill/>
        </p:spPr>
        <p:txBody>
          <a:bodyPr wrap="square" lIns="0" rIns="0" tIns="0" bIns="0">
            <a:spAutoFit/>
          </a:bodyPr>
          <a:lstStyle/>
          <a:p>
            <a:pPr>
              <a:spcBef>
                <a:spcPts val="0"/>
              </a:spcBef>
              <a:spcAft>
                <a:spcPts val="0"/>
              </a:spcAft>
            </a:pPr>
            <a:r>
              <a:rPr sz="2000" b="0" i="0">
                <a:solidFill>
                  <a:srgbClr val="14171C"/>
                </a:solidFill>
                <a:latin typeface="Georgia"/>
              </a:rPr>
              <a:t>Region-level SHDI against life satisfaction, pooled</a:t>
            </a:r>
          </a:p>
        </p:txBody>
      </p:sp>
      <p:sp>
        <p:nvSpPr>
          <p:cNvPr id="4" name="TextBox 3"/>
          <p:cNvSpPr txBox="1"/>
          <p:nvPr/>
        </p:nvSpPr>
        <p:spPr>
          <a:xfrm>
            <a:off x="566928" y="1207008"/>
            <a:ext cx="10515600" cy="457200"/>
          </a:xfrm>
          <a:prstGeom prst="rect">
            <a:avLst/>
          </a:prstGeom>
          <a:noFill/>
        </p:spPr>
        <p:txBody>
          <a:bodyPr wrap="square" lIns="0" rIns="0" tIns="0" bIns="0">
            <a:spAutoFit/>
          </a:bodyPr>
          <a:lstStyle/>
          <a:p>
            <a:pPr>
              <a:lnSpc>
                <a:spcPct val="128000"/>
              </a:lnSpc>
              <a:spcBef>
                <a:spcPts val="0"/>
              </a:spcBef>
              <a:spcAft>
                <a:spcPts val="0"/>
              </a:spcAft>
            </a:pPr>
            <a:r>
              <a:rPr sz="1100" b="0" i="0">
                <a:solidFill>
                  <a:srgbClr val="5A6068"/>
                </a:solidFill>
                <a:latin typeface="Calibri"/>
              </a:rPr>
              <a:t>1,313 region-years, pooled R² = 0.32 — this mixes between- and within-country variation, which the within-country panels separate.</a:t>
            </a:r>
          </a:p>
        </p:txBody>
      </p:sp>
      <p:pic>
        <p:nvPicPr>
          <p:cNvPr id="5" name="Picture 4" descr="region_shdi_lifesat_pooled.png"/>
          <p:cNvPicPr>
            <a:picLocks noChangeAspect="1"/>
          </p:cNvPicPr>
          <p:nvPr/>
        </p:nvPicPr>
        <p:blipFill>
          <a:blip r:embed="rId2"/>
          <a:stretch>
            <a:fillRect/>
          </a:stretch>
        </p:blipFill>
        <p:spPr>
          <a:xfrm>
            <a:off x="3123927" y="1965960"/>
            <a:ext cx="5943841" cy="4480560"/>
          </a:xfrm>
          <a:prstGeom prst="rect">
            <a:avLst/>
          </a:prstGeom>
        </p:spPr>
      </p:pic>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411480"/>
            <a:ext cx="10515600" cy="320040"/>
          </a:xfrm>
          <a:prstGeom prst="rect">
            <a:avLst/>
          </a:prstGeom>
          <a:noFill/>
        </p:spPr>
        <p:txBody>
          <a:bodyPr wrap="square" lIns="0" rIns="0" tIns="0" bIns="0">
            <a:spAutoFit/>
          </a:bodyPr>
          <a:lstStyle/>
          <a:p>
            <a:pPr>
              <a:spcBef>
                <a:spcPts val="0"/>
              </a:spcBef>
              <a:spcAft>
                <a:spcPts val="0"/>
              </a:spcAft>
            </a:pPr>
            <a:r>
              <a:rPr sz="1000" b="0" i="0">
                <a:solidFill>
                  <a:srgbClr val="868D96"/>
                </a:solidFill>
                <a:latin typeface="Consolas"/>
              </a:rPr>
              <a:t>APPENDIX</a:t>
            </a:r>
          </a:p>
        </p:txBody>
      </p:sp>
      <p:sp>
        <p:nvSpPr>
          <p:cNvPr id="3" name="TextBox 2"/>
          <p:cNvSpPr txBox="1"/>
          <p:nvPr/>
        </p:nvSpPr>
        <p:spPr>
          <a:xfrm>
            <a:off x="566928" y="749808"/>
            <a:ext cx="10515600" cy="457200"/>
          </a:xfrm>
          <a:prstGeom prst="rect">
            <a:avLst/>
          </a:prstGeom>
          <a:noFill/>
        </p:spPr>
        <p:txBody>
          <a:bodyPr wrap="square" lIns="0" rIns="0" tIns="0" bIns="0">
            <a:spAutoFit/>
          </a:bodyPr>
          <a:lstStyle/>
          <a:p>
            <a:pPr>
              <a:spcBef>
                <a:spcPts val="0"/>
              </a:spcBef>
              <a:spcAft>
                <a:spcPts val="0"/>
              </a:spcAft>
            </a:pPr>
            <a:r>
              <a:rPr sz="2000" b="0" i="0">
                <a:solidFill>
                  <a:srgbClr val="14171C"/>
                </a:solidFill>
                <a:latin typeface="Georgia"/>
              </a:rPr>
              <a:t>Within-country regional gradients, small multiples</a:t>
            </a:r>
          </a:p>
        </p:txBody>
      </p:sp>
      <p:sp>
        <p:nvSpPr>
          <p:cNvPr id="4" name="TextBox 3"/>
          <p:cNvSpPr txBox="1"/>
          <p:nvPr/>
        </p:nvSpPr>
        <p:spPr>
          <a:xfrm>
            <a:off x="566928" y="1207008"/>
            <a:ext cx="10515600" cy="457200"/>
          </a:xfrm>
          <a:prstGeom prst="rect">
            <a:avLst/>
          </a:prstGeom>
          <a:noFill/>
        </p:spPr>
        <p:txBody>
          <a:bodyPr wrap="square" lIns="0" rIns="0" tIns="0" bIns="0">
            <a:spAutoFit/>
          </a:bodyPr>
          <a:lstStyle/>
          <a:p>
            <a:pPr>
              <a:lnSpc>
                <a:spcPct val="128000"/>
              </a:lnSpc>
              <a:spcBef>
                <a:spcPts val="0"/>
              </a:spcBef>
              <a:spcAft>
                <a:spcPts val="0"/>
              </a:spcAft>
            </a:pPr>
            <a:r>
              <a:rPr sz="1100" b="0" i="0">
                <a:solidFill>
                  <a:srgbClr val="5A6068"/>
                </a:solidFill>
                <a:latin typeface="Calibri"/>
              </a:rPr>
              <a:t>Holding country fixed, the regional development–wellbeing gradient is weak in most countries. France is the clearest exception.</a:t>
            </a:r>
          </a:p>
        </p:txBody>
      </p:sp>
      <p:pic>
        <p:nvPicPr>
          <p:cNvPr id="5" name="Picture 4" descr="within_country_small_multiples.png"/>
          <p:cNvPicPr>
            <a:picLocks noChangeAspect="1"/>
          </p:cNvPicPr>
          <p:nvPr/>
        </p:nvPicPr>
        <p:blipFill>
          <a:blip r:embed="rId2"/>
          <a:stretch>
            <a:fillRect/>
          </a:stretch>
        </p:blipFill>
        <p:spPr>
          <a:xfrm>
            <a:off x="2779954" y="1965960"/>
            <a:ext cx="6631787" cy="4480560"/>
          </a:xfrm>
          <a:prstGeom prst="rect">
            <a:avLst/>
          </a:prstGeom>
        </p:spPr>
      </p:pic>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411480"/>
            <a:ext cx="10515600" cy="320040"/>
          </a:xfrm>
          <a:prstGeom prst="rect">
            <a:avLst/>
          </a:prstGeom>
          <a:noFill/>
        </p:spPr>
        <p:txBody>
          <a:bodyPr wrap="square" lIns="0" rIns="0" tIns="0" bIns="0">
            <a:spAutoFit/>
          </a:bodyPr>
          <a:lstStyle/>
          <a:p>
            <a:pPr>
              <a:spcBef>
                <a:spcPts val="0"/>
              </a:spcBef>
              <a:spcAft>
                <a:spcPts val="0"/>
              </a:spcAft>
            </a:pPr>
            <a:r>
              <a:rPr sz="1000" b="0" i="0">
                <a:solidFill>
                  <a:srgbClr val="868D96"/>
                </a:solidFill>
                <a:latin typeface="Consolas"/>
              </a:rPr>
              <a:t>APPENDIX</a:t>
            </a:r>
          </a:p>
        </p:txBody>
      </p:sp>
      <p:sp>
        <p:nvSpPr>
          <p:cNvPr id="3" name="TextBox 2"/>
          <p:cNvSpPr txBox="1"/>
          <p:nvPr/>
        </p:nvSpPr>
        <p:spPr>
          <a:xfrm>
            <a:off x="566928" y="749808"/>
            <a:ext cx="10515600" cy="457200"/>
          </a:xfrm>
          <a:prstGeom prst="rect">
            <a:avLst/>
          </a:prstGeom>
          <a:noFill/>
        </p:spPr>
        <p:txBody>
          <a:bodyPr wrap="square" lIns="0" rIns="0" tIns="0" bIns="0">
            <a:spAutoFit/>
          </a:bodyPr>
          <a:lstStyle/>
          <a:p>
            <a:pPr>
              <a:spcBef>
                <a:spcPts val="0"/>
              </a:spcBef>
              <a:spcAft>
                <a:spcPts val="0"/>
              </a:spcAft>
            </a:pPr>
            <a:r>
              <a:rPr sz="2000" b="0" i="0">
                <a:solidFill>
                  <a:srgbClr val="14171C"/>
                </a:solidFill>
                <a:latin typeface="Georgia"/>
              </a:rPr>
              <a:t>Regional SHDI spread within ESS countries</a:t>
            </a:r>
          </a:p>
        </p:txBody>
      </p:sp>
      <p:sp>
        <p:nvSpPr>
          <p:cNvPr id="4" name="TextBox 3"/>
          <p:cNvSpPr txBox="1"/>
          <p:nvPr/>
        </p:nvSpPr>
        <p:spPr>
          <a:xfrm>
            <a:off x="566928" y="1207008"/>
            <a:ext cx="10515600" cy="457200"/>
          </a:xfrm>
          <a:prstGeom prst="rect">
            <a:avLst/>
          </a:prstGeom>
          <a:noFill/>
        </p:spPr>
        <p:txBody>
          <a:bodyPr wrap="square" lIns="0" rIns="0" tIns="0" bIns="0">
            <a:spAutoFit/>
          </a:bodyPr>
          <a:lstStyle/>
          <a:p>
            <a:pPr>
              <a:lnSpc>
                <a:spcPct val="128000"/>
              </a:lnSpc>
              <a:spcBef>
                <a:spcPts val="0"/>
              </a:spcBef>
              <a:spcAft>
                <a:spcPts val="0"/>
              </a:spcAft>
            </a:pPr>
            <a:r>
              <a:rPr sz="1100" b="0" i="0">
                <a:solidFill>
                  <a:srgbClr val="5A6068"/>
                </a:solidFill>
                <a:latin typeface="Calibri"/>
              </a:rPr>
              <a:t>Italy and Poland carry several times the internal development inequality of Germany or the Nordics.</a:t>
            </a:r>
          </a:p>
        </p:txBody>
      </p:sp>
      <p:pic>
        <p:nvPicPr>
          <p:cNvPr id="5" name="Picture 4" descr="european_regional_inequality.png"/>
          <p:cNvPicPr>
            <a:picLocks noChangeAspect="1"/>
          </p:cNvPicPr>
          <p:nvPr/>
        </p:nvPicPr>
        <p:blipFill>
          <a:blip r:embed="rId2"/>
          <a:stretch>
            <a:fillRect/>
          </a:stretch>
        </p:blipFill>
        <p:spPr>
          <a:xfrm>
            <a:off x="2097774" y="1965960"/>
            <a:ext cx="7996146" cy="4480560"/>
          </a:xfrm>
          <a:prstGeom prst="rect">
            <a:avLst/>
          </a:prstGeom>
        </p:spPr>
      </p:pic>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411480"/>
            <a:ext cx="10515600" cy="320040"/>
          </a:xfrm>
          <a:prstGeom prst="rect">
            <a:avLst/>
          </a:prstGeom>
          <a:noFill/>
        </p:spPr>
        <p:txBody>
          <a:bodyPr wrap="square" lIns="0" rIns="0" tIns="0" bIns="0">
            <a:spAutoFit/>
          </a:bodyPr>
          <a:lstStyle/>
          <a:p>
            <a:pPr>
              <a:spcBef>
                <a:spcPts val="0"/>
              </a:spcBef>
              <a:spcAft>
                <a:spcPts val="0"/>
              </a:spcAft>
            </a:pPr>
            <a:r>
              <a:rPr sz="1000" b="0" i="0">
                <a:solidFill>
                  <a:srgbClr val="868D96"/>
                </a:solidFill>
                <a:latin typeface="Consolas"/>
              </a:rPr>
              <a:t>APPENDIX</a:t>
            </a:r>
          </a:p>
        </p:txBody>
      </p:sp>
      <p:sp>
        <p:nvSpPr>
          <p:cNvPr id="3" name="TextBox 2"/>
          <p:cNvSpPr txBox="1"/>
          <p:nvPr/>
        </p:nvSpPr>
        <p:spPr>
          <a:xfrm>
            <a:off x="566928" y="749808"/>
            <a:ext cx="10515600" cy="457200"/>
          </a:xfrm>
          <a:prstGeom prst="rect">
            <a:avLst/>
          </a:prstGeom>
          <a:noFill/>
        </p:spPr>
        <p:txBody>
          <a:bodyPr wrap="square" lIns="0" rIns="0" tIns="0" bIns="0">
            <a:spAutoFit/>
          </a:bodyPr>
          <a:lstStyle/>
          <a:p>
            <a:pPr>
              <a:spcBef>
                <a:spcPts val="0"/>
              </a:spcBef>
              <a:spcAft>
                <a:spcPts val="0"/>
              </a:spcAft>
            </a:pPr>
            <a:r>
              <a:rPr sz="2000" b="0" i="0">
                <a:solidFill>
                  <a:srgbClr val="14171C"/>
                </a:solidFill>
                <a:latin typeface="Georgia"/>
              </a:rPr>
              <a:t>Trust and health as rival predictors, nationally</a:t>
            </a:r>
          </a:p>
        </p:txBody>
      </p:sp>
      <p:sp>
        <p:nvSpPr>
          <p:cNvPr id="4" name="TextBox 3"/>
          <p:cNvSpPr txBox="1"/>
          <p:nvPr/>
        </p:nvSpPr>
        <p:spPr>
          <a:xfrm>
            <a:off x="566928" y="1207008"/>
            <a:ext cx="10515600" cy="457200"/>
          </a:xfrm>
          <a:prstGeom prst="rect">
            <a:avLst/>
          </a:prstGeom>
          <a:noFill/>
        </p:spPr>
        <p:txBody>
          <a:bodyPr wrap="square" lIns="0" rIns="0" tIns="0" bIns="0">
            <a:spAutoFit/>
          </a:bodyPr>
          <a:lstStyle/>
          <a:p>
            <a:pPr>
              <a:lnSpc>
                <a:spcPct val="128000"/>
              </a:lnSpc>
              <a:spcBef>
                <a:spcPts val="0"/>
              </a:spcBef>
              <a:spcAft>
                <a:spcPts val="0"/>
              </a:spcAft>
            </a:pPr>
            <a:r>
              <a:rPr sz="1100" b="0" i="0">
                <a:solidFill>
                  <a:srgbClr val="5A6068"/>
                </a:solidFill>
                <a:latin typeface="Calibri"/>
              </a:rPr>
              <a:t>Self-rated health out-predicts the HDI nationally on significant-country share, 37% against 19%.</a:t>
            </a:r>
          </a:p>
        </p:txBody>
      </p:sp>
      <p:pic>
        <p:nvPicPr>
          <p:cNvPr id="5" name="Picture 4" descr="mechanisms_trust_health.png"/>
          <p:cNvPicPr>
            <a:picLocks noChangeAspect="1"/>
          </p:cNvPicPr>
          <p:nvPr/>
        </p:nvPicPr>
        <p:blipFill>
          <a:blip r:embed="rId2"/>
          <a:stretch>
            <a:fillRect/>
          </a:stretch>
        </p:blipFill>
        <p:spPr>
          <a:xfrm>
            <a:off x="3617081" y="1965960"/>
            <a:ext cx="4957532" cy="4480560"/>
          </a:xfrm>
          <a:prstGeom prst="rect">
            <a:avLst/>
          </a:prstGeom>
        </p:spPr>
      </p:pic>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411480"/>
            <a:ext cx="10515600" cy="320040"/>
          </a:xfrm>
          <a:prstGeom prst="rect">
            <a:avLst/>
          </a:prstGeom>
          <a:noFill/>
        </p:spPr>
        <p:txBody>
          <a:bodyPr wrap="square" lIns="0" rIns="0" tIns="0" bIns="0">
            <a:spAutoFit/>
          </a:bodyPr>
          <a:lstStyle/>
          <a:p>
            <a:pPr>
              <a:spcBef>
                <a:spcPts val="0"/>
              </a:spcBef>
              <a:spcAft>
                <a:spcPts val="0"/>
              </a:spcAft>
            </a:pPr>
            <a:r>
              <a:rPr sz="1000" b="0" i="0">
                <a:solidFill>
                  <a:srgbClr val="868D96"/>
                </a:solidFill>
                <a:latin typeface="Consolas"/>
              </a:rPr>
              <a:t>APPENDIX</a:t>
            </a:r>
          </a:p>
        </p:txBody>
      </p:sp>
      <p:sp>
        <p:nvSpPr>
          <p:cNvPr id="3" name="TextBox 2"/>
          <p:cNvSpPr txBox="1"/>
          <p:nvPr/>
        </p:nvSpPr>
        <p:spPr>
          <a:xfrm>
            <a:off x="566928" y="749808"/>
            <a:ext cx="10515600" cy="457200"/>
          </a:xfrm>
          <a:prstGeom prst="rect">
            <a:avLst/>
          </a:prstGeom>
          <a:noFill/>
        </p:spPr>
        <p:txBody>
          <a:bodyPr wrap="square" lIns="0" rIns="0" tIns="0" bIns="0">
            <a:spAutoFit/>
          </a:bodyPr>
          <a:lstStyle/>
          <a:p>
            <a:pPr>
              <a:spcBef>
                <a:spcPts val="0"/>
              </a:spcBef>
              <a:spcAft>
                <a:spcPts val="0"/>
              </a:spcAft>
            </a:pPr>
            <a:r>
              <a:rPr sz="2000" b="0" i="0">
                <a:solidFill>
                  <a:srgbClr val="14171C"/>
                </a:solidFill>
                <a:latin typeface="Georgia"/>
              </a:rPr>
              <a:t>Per-country detail behind the ranking flip</a:t>
            </a:r>
          </a:p>
        </p:txBody>
      </p:sp>
      <p:sp>
        <p:nvSpPr>
          <p:cNvPr id="4" name="TextBox 3"/>
          <p:cNvSpPr txBox="1"/>
          <p:nvPr/>
        </p:nvSpPr>
        <p:spPr>
          <a:xfrm>
            <a:off x="566928" y="1207008"/>
            <a:ext cx="10515600" cy="457200"/>
          </a:xfrm>
          <a:prstGeom prst="rect">
            <a:avLst/>
          </a:prstGeom>
          <a:noFill/>
        </p:spPr>
        <p:txBody>
          <a:bodyPr wrap="square" lIns="0" rIns="0" tIns="0" bIns="0">
            <a:spAutoFit/>
          </a:bodyPr>
          <a:lstStyle/>
          <a:p>
            <a:pPr>
              <a:lnSpc>
                <a:spcPct val="128000"/>
              </a:lnSpc>
              <a:spcBef>
                <a:spcPts val="0"/>
              </a:spcBef>
              <a:spcAft>
                <a:spcPts val="0"/>
              </a:spcAft>
            </a:pPr>
            <a:r>
              <a:rPr sz="1100" b="0" i="0">
                <a:solidFill>
                  <a:srgbClr val="5A6068"/>
                </a:solidFill>
                <a:latin typeface="Calibri"/>
              </a:rPr>
              <a:t>Signed within-country regional correlations for all 16 countries; filled markers are p &lt; .05. Sweden reads negative on all three, but only 57% of Swedish respondents carry a usable region code, so that result should not be interpreted.</a:t>
            </a:r>
          </a:p>
        </p:txBody>
      </p:sp>
      <p:pic>
        <p:nvPicPr>
          <p:cNvPr id="5" name="Picture 4" descr="mechanisms_percountry_detail.png"/>
          <p:cNvPicPr>
            <a:picLocks noChangeAspect="1"/>
          </p:cNvPicPr>
          <p:nvPr/>
        </p:nvPicPr>
        <p:blipFill>
          <a:blip r:embed="rId2"/>
          <a:stretch>
            <a:fillRect/>
          </a:stretch>
        </p:blipFill>
        <p:spPr>
          <a:xfrm>
            <a:off x="3273725" y="1965960"/>
            <a:ext cx="5644245" cy="448056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