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1371600"/>
            <a:ext cx="11057839"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960120"/>
            <a:ext cx="73152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Commentary · working draft</a:t>
            </a:r>
          </a:p>
        </p:txBody>
      </p:sp>
      <p:sp>
        <p:nvSpPr>
          <p:cNvPr id="4" name="TextBox 3"/>
          <p:cNvSpPr txBox="1"/>
          <p:nvPr/>
        </p:nvSpPr>
        <p:spPr>
          <a:xfrm>
            <a:off x="566928" y="1783080"/>
            <a:ext cx="9144000" cy="1645920"/>
          </a:xfrm>
          <a:prstGeom prst="rect">
            <a:avLst/>
          </a:prstGeom>
          <a:noFill/>
        </p:spPr>
        <p:txBody>
          <a:bodyPr wrap="square" lIns="0" rIns="0" tIns="0" bIns="0">
            <a:spAutoFit/>
          </a:bodyPr>
          <a:lstStyle/>
          <a:p>
            <a:pPr>
              <a:lnSpc>
                <a:spcPct val="95000"/>
              </a:lnSpc>
              <a:spcBef>
                <a:spcPts val="0"/>
              </a:spcBef>
              <a:spcAft>
                <a:spcPts val="0"/>
              </a:spcAft>
            </a:pPr>
            <a:r>
              <a:rPr sz="6000" b="0" i="0">
                <a:solidFill>
                  <a:srgbClr val="14171C"/>
                </a:solidFill>
                <a:latin typeface="Georgia"/>
              </a:rPr>
              <a:t>Measured Where It Varies</a:t>
            </a:r>
          </a:p>
        </p:txBody>
      </p:sp>
      <p:sp>
        <p:nvSpPr>
          <p:cNvPr id="5" name="TextBox 4"/>
          <p:cNvSpPr txBox="1"/>
          <p:nvPr/>
        </p:nvSpPr>
        <p:spPr>
          <a:xfrm>
            <a:off x="566928" y="3520440"/>
            <a:ext cx="8412480" cy="1188720"/>
          </a:xfrm>
          <a:prstGeom prst="rect">
            <a:avLst/>
          </a:prstGeom>
          <a:noFill/>
        </p:spPr>
        <p:txBody>
          <a:bodyPr wrap="square" lIns="0" rIns="0" tIns="0" bIns="0">
            <a:spAutoFit/>
          </a:bodyPr>
          <a:lstStyle/>
          <a:p>
            <a:pPr>
              <a:lnSpc>
                <a:spcPct val="135000"/>
              </a:lnSpc>
              <a:spcBef>
                <a:spcPts val="0"/>
              </a:spcBef>
              <a:spcAft>
                <a:spcPts val="0"/>
              </a:spcAft>
            </a:pPr>
            <a:r>
              <a:rPr sz="1700" b="0" i="1">
                <a:solidFill>
                  <a:srgbClr val="5A6068"/>
                </a:solidFill>
                <a:latin typeface="Georgia"/>
              </a:rPr>
              <a:t>Development indicators predict wellbeing between countries and not within them. Working through why: which domains actually track lived experience, and which of them the frameworks built to monitor development are able to see.</a:t>
            </a:r>
          </a:p>
        </p:txBody>
      </p:sp>
      <p:sp>
        <p:nvSpPr>
          <p:cNvPr id="6" name="TextBox 5"/>
          <p:cNvSpPr txBox="1"/>
          <p:nvPr/>
        </p:nvSpPr>
        <p:spPr>
          <a:xfrm>
            <a:off x="566928" y="5577840"/>
            <a:ext cx="10607040" cy="914400"/>
          </a:xfrm>
          <a:prstGeom prst="rect">
            <a:avLst/>
          </a:prstGeom>
          <a:noFill/>
        </p:spPr>
        <p:txBody>
          <a:bodyPr wrap="square" lIns="0" rIns="0" tIns="0" bIns="0">
            <a:spAutoFit/>
          </a:bodyPr>
          <a:lstStyle/>
          <a:p>
            <a:pPr>
              <a:spcBef>
                <a:spcPts val="0"/>
              </a:spcBef>
              <a:spcAft>
                <a:spcPts val="500"/>
              </a:spcAft>
            </a:pPr>
            <a:r>
              <a:rPr sz="1050" b="0" i="0">
                <a:solidFill>
                  <a:srgbClr val="5A6068"/>
                </a:solidFill>
                <a:latin typeface="Consolas"/>
              </a:rPr>
              <a:t>Working synthesis for the co-author team · September 2026</a:t>
            </a:r>
          </a:p>
          <a:p>
            <a:pPr>
              <a:lnSpc>
                <a:spcPct val="130000"/>
              </a:lnSpc>
              <a:spcBef>
                <a:spcPts val="0"/>
              </a:spcBef>
              <a:spcAft>
                <a:spcPts val="0"/>
              </a:spcAft>
            </a:pPr>
            <a:r>
              <a:rPr sz="950" b="0" i="0">
                <a:solidFill>
                  <a:srgbClr val="868D96"/>
                </a:solidFill>
                <a:latin typeface="Consolas"/>
              </a:rPr>
              <a:t>SDG: 42 countries, 661 series · HDI × World Happiness Report: 150 countries, 2011–2023 · Subnational HDI: 167 regions · European Social Survey: 36 countries, 351,023 respondents, rounds 5–11 (2010–2023) · All tests Benjamini–Hochberg FDR at q &lt; .05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66928"/>
            <a:ext cx="5486400" cy="274320"/>
          </a:xfrm>
          <a:prstGeom prst="rect">
            <a:avLst/>
          </a:prstGeom>
          <a:noFill/>
        </p:spPr>
        <p:txBody>
          <a:bodyPr wrap="square" lIns="0" rIns="0" tIns="0" bIns="0">
            <a:spAutoFit/>
          </a:bodyPr>
          <a:lstStyle/>
          <a:p>
            <a:pPr>
              <a:spcBef>
                <a:spcPts val="0"/>
              </a:spcBef>
              <a:spcAft>
                <a:spcPts val="0"/>
              </a:spcAft>
            </a:pPr>
            <a:r>
              <a:rPr sz="1100" b="0" i="0">
                <a:solidFill>
                  <a:srgbClr val="868D96"/>
                </a:solidFill>
                <a:latin typeface="Consolas"/>
              </a:rPr>
              <a:t>WHERE THIS STARTS</a:t>
            </a:r>
          </a:p>
        </p:txBody>
      </p:sp>
      <p:sp>
        <p:nvSpPr>
          <p:cNvPr id="3" name="TextBox 2"/>
          <p:cNvSpPr txBox="1"/>
          <p:nvPr/>
        </p:nvSpPr>
        <p:spPr>
          <a:xfrm>
            <a:off x="566928" y="1024128"/>
            <a:ext cx="5486400" cy="1554480"/>
          </a:xfrm>
          <a:prstGeom prst="rect">
            <a:avLst/>
          </a:prstGeom>
          <a:noFill/>
        </p:spPr>
        <p:txBody>
          <a:bodyPr wrap="square" lIns="0" rIns="0" tIns="0" bIns="0">
            <a:spAutoFit/>
          </a:bodyPr>
          <a:lstStyle/>
          <a:p>
            <a:pPr>
              <a:lnSpc>
                <a:spcPct val="106000"/>
              </a:lnSpc>
              <a:spcBef>
                <a:spcPts val="0"/>
              </a:spcBef>
              <a:spcAft>
                <a:spcPts val="0"/>
              </a:spcAft>
            </a:pPr>
            <a:r>
              <a:rPr sz="3000" b="0" i="0">
                <a:solidFill>
                  <a:srgbClr val="14171C"/>
                </a:solidFill>
                <a:latin typeface="Georgia"/>
              </a:rPr>
              <a:t>The SDG paper found something odd. This is the walk through what it turned out to mean.</a:t>
            </a:r>
          </a:p>
        </p:txBody>
      </p:sp>
      <p:sp>
        <p:nvSpPr>
          <p:cNvPr id="4" name="TextBox 3"/>
          <p:cNvSpPr txBox="1"/>
          <p:nvPr/>
        </p:nvSpPr>
        <p:spPr>
          <a:xfrm>
            <a:off x="566928" y="2880360"/>
            <a:ext cx="5212080" cy="3291840"/>
          </a:xfrm>
          <a:prstGeom prst="rect">
            <a:avLst/>
          </a:prstGeom>
          <a:noFill/>
        </p:spPr>
        <p:txBody>
          <a:bodyPr wrap="square" lIns="0" rIns="0" tIns="0" bIns="0">
            <a:spAutoFit/>
          </a:bodyPr>
          <a:lstStyle/>
          <a:p>
            <a:pPr>
              <a:lnSpc>
                <a:spcPct val="134000"/>
              </a:lnSpc>
              <a:spcBef>
                <a:spcPts val="0"/>
              </a:spcBef>
              <a:spcAft>
                <a:spcPts val="1200"/>
              </a:spcAft>
            </a:pPr>
            <a:r>
              <a:rPr sz="1050" b="0" i="0">
                <a:solidFill>
                  <a:srgbClr val="5A6068"/>
                </a:solidFill>
                <a:latin typeface="Calibri"/>
              </a:rPr>
              <a:t>In the SDG paper, development indicators predict happiness strongly between countries and almost not at all within them year to year. Thirty of 42 countries are significant in levels; two are in differences. The obvious dismissal is that this says more about the SDG framework than about the world — 661 series, uneven coverage, seventeen goals of wildly different maturity.</a:t>
            </a:r>
          </a:p>
          <a:p>
            <a:pPr>
              <a:lnSpc>
                <a:spcPct val="134000"/>
              </a:lnSpc>
              <a:spcBef>
                <a:spcPts val="0"/>
              </a:spcBef>
              <a:spcAft>
                <a:spcPts val="1200"/>
              </a:spcAft>
            </a:pPr>
            <a:r>
              <a:rPr sz="1050" b="0" i="0">
                <a:solidFill>
                  <a:srgbClr val="5A6068"/>
                </a:solidFill>
                <a:latin typeface="Calibri"/>
              </a:rPr>
              <a:t>So we tested that dismissal. Swap the framework for the HDI — built the opposite way on every dimension the dismissal leans on — and the collapse is just as sharp. Swap the Cantril ladder for the European Social Survey and go one spatial scale down, and the levels association holds on an independent instrument. The asymmetry is a property of the design, not of the SDGs, and the levels are where the signal actually lives.</a:t>
            </a:r>
          </a:p>
          <a:p>
            <a:pPr>
              <a:lnSpc>
                <a:spcPct val="134000"/>
              </a:lnSpc>
              <a:spcBef>
                <a:spcPts val="0"/>
              </a:spcBef>
              <a:spcAft>
                <a:spcPts val="1200"/>
              </a:spcAft>
            </a:pPr>
            <a:r>
              <a:rPr sz="1050" b="0" i="0">
                <a:solidFill>
                  <a:srgbClr val="5A6068"/>
                </a:solidFill>
                <a:latin typeface="Calibri"/>
              </a:rPr>
              <a:t>That licenses the next question. If levels are where development and wellbeing meet, which parts of development are doing the work? In the frameworks, health and education both register — but only once you stop pooling education's 35 series together. Then we ask the same question of the ESS, where the domains are measured on people rather than on national aggregates, and a third domain appears that neither framework collects: social trust.</a:t>
            </a:r>
          </a:p>
          <a:p>
            <a:pPr>
              <a:lnSpc>
                <a:spcPct val="134000"/>
              </a:lnSpc>
              <a:spcBef>
                <a:spcPts val="0"/>
              </a:spcBef>
              <a:spcAft>
                <a:spcPts val="1200"/>
              </a:spcAft>
            </a:pPr>
            <a:r>
              <a:rPr sz="1050" b="0" i="0">
                <a:solidFill>
                  <a:srgbClr val="5A6068"/>
                </a:solidFill>
                <a:latin typeface="Calibri"/>
              </a:rPr>
              <a:t>The last act is what that implies. Not that the SDGs and HDI are bad instruments — they do the job they were built for. The narrower claim is that they may not be capturing what shapes lived experience at the individual level, and the evidence points to fairly specific things one could change about that.</a:t>
            </a:r>
          </a:p>
        </p:txBody>
      </p:sp>
      <p:sp>
        <p:nvSpPr>
          <p:cNvPr id="5" name="TextBox 4"/>
          <p:cNvSpPr txBox="1"/>
          <p:nvPr/>
        </p:nvSpPr>
        <p:spPr>
          <a:xfrm>
            <a:off x="6720840" y="566928"/>
            <a:ext cx="484632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THE ARGUMENT</a:t>
            </a:r>
          </a:p>
        </p:txBody>
      </p:sp>
      <p:sp>
        <p:nvSpPr>
          <p:cNvPr id="6" name="Rectangle 5"/>
          <p:cNvSpPr/>
          <p:nvPr/>
        </p:nvSpPr>
        <p:spPr>
          <a:xfrm>
            <a:off x="6720840" y="102412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20840" y="1152144"/>
            <a:ext cx="658368"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a:t>
            </a:r>
          </a:p>
        </p:txBody>
      </p:sp>
      <p:sp>
        <p:nvSpPr>
          <p:cNvPr id="8" name="TextBox 7"/>
          <p:cNvSpPr txBox="1"/>
          <p:nvPr/>
        </p:nvSpPr>
        <p:spPr>
          <a:xfrm>
            <a:off x="7498080" y="1152144"/>
            <a:ext cx="4069080" cy="1097280"/>
          </a:xfrm>
          <a:prstGeom prst="rect">
            <a:avLst/>
          </a:prstGeom>
          <a:noFill/>
        </p:spPr>
        <p:txBody>
          <a:bodyPr wrap="square" lIns="0" rIns="0" tIns="0" bIns="0">
            <a:spAutoFit/>
          </a:bodyPr>
          <a:lstStyle/>
          <a:p>
            <a:pPr>
              <a:spcBef>
                <a:spcPts val="0"/>
              </a:spcBef>
              <a:spcAft>
                <a:spcPts val="300"/>
              </a:spcAft>
            </a:pPr>
            <a:r>
              <a:rPr sz="1200" b="1" i="0">
                <a:solidFill>
                  <a:srgbClr val="14171C"/>
                </a:solidFill>
                <a:latin typeface="Calibri"/>
              </a:rPr>
              <a:t>The collapse is real, and it is not about the SDGs.</a:t>
            </a:r>
          </a:p>
          <a:p>
            <a:pPr>
              <a:lnSpc>
                <a:spcPct val="122000"/>
              </a:lnSpc>
              <a:spcBef>
                <a:spcPts val="0"/>
              </a:spcBef>
              <a:spcAft>
                <a:spcPts val="0"/>
              </a:spcAft>
            </a:pPr>
            <a:r>
              <a:rPr sz="950" b="0" i="0">
                <a:solidFill>
                  <a:srgbClr val="5A6068"/>
                </a:solidFill>
                <a:latin typeface="Calibri"/>
              </a:rPr>
              <a:t>The HDI shows it as sharply as the SDGs do, and an independent wellbeing instrument corroborates the levels half. Differences carry nothing — so analyse the levels.</a:t>
            </a:r>
          </a:p>
        </p:txBody>
      </p:sp>
      <p:sp>
        <p:nvSpPr>
          <p:cNvPr id="9" name="Rectangle 8"/>
          <p:cNvSpPr/>
          <p:nvPr/>
        </p:nvSpPr>
        <p:spPr>
          <a:xfrm>
            <a:off x="6720840" y="212140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2249424"/>
            <a:ext cx="658368"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a:t>
            </a:r>
          </a:p>
        </p:txBody>
      </p:sp>
      <p:sp>
        <p:nvSpPr>
          <p:cNvPr id="11" name="TextBox 10"/>
          <p:cNvSpPr txBox="1"/>
          <p:nvPr/>
        </p:nvSpPr>
        <p:spPr>
          <a:xfrm>
            <a:off x="7498080" y="2249424"/>
            <a:ext cx="4069080" cy="1097280"/>
          </a:xfrm>
          <a:prstGeom prst="rect">
            <a:avLst/>
          </a:prstGeom>
          <a:noFill/>
        </p:spPr>
        <p:txBody>
          <a:bodyPr wrap="square" lIns="0" rIns="0" tIns="0" bIns="0">
            <a:spAutoFit/>
          </a:bodyPr>
          <a:lstStyle/>
          <a:p>
            <a:pPr>
              <a:spcBef>
                <a:spcPts val="0"/>
              </a:spcBef>
              <a:spcAft>
                <a:spcPts val="300"/>
              </a:spcAft>
            </a:pPr>
            <a:r>
              <a:rPr sz="1200" b="1" i="0">
                <a:solidFill>
                  <a:srgbClr val="14171C"/>
                </a:solidFill>
                <a:latin typeface="Calibri"/>
              </a:rPr>
              <a:t>At the levels, health and education carry the frameworks.</a:t>
            </a:r>
          </a:p>
          <a:p>
            <a:pPr>
              <a:lnSpc>
                <a:spcPct val="122000"/>
              </a:lnSpc>
              <a:spcBef>
                <a:spcPts val="0"/>
              </a:spcBef>
              <a:spcAft>
                <a:spcPts val="0"/>
              </a:spcAft>
            </a:pPr>
            <a:r>
              <a:rPr sz="950" b="0" i="0">
                <a:solidFill>
                  <a:srgbClr val="5A6068"/>
                </a:solidFill>
                <a:latin typeface="Calibri"/>
              </a:rPr>
              <a:t>The HDI's five components and the SDGs' seventeen goals, ranked. Health is 4th of 17. Education looks 12th — until you unpool it.</a:t>
            </a:r>
          </a:p>
        </p:txBody>
      </p:sp>
      <p:sp>
        <p:nvSpPr>
          <p:cNvPr id="12" name="Rectangle 11"/>
          <p:cNvSpPr/>
          <p:nvPr/>
        </p:nvSpPr>
        <p:spPr>
          <a:xfrm>
            <a:off x="6720840" y="321868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3346704"/>
            <a:ext cx="658368" cy="457200"/>
          </a:xfrm>
          <a:prstGeom prst="rect">
            <a:avLst/>
          </a:prstGeom>
          <a:noFill/>
        </p:spPr>
        <p:txBody>
          <a:bodyPr wrap="square" lIns="0" rIns="0" tIns="0" bIns="0">
            <a:spAutoFit/>
          </a:bodyPr>
          <a:lstStyle/>
          <a:p>
            <a:pPr>
              <a:spcBef>
                <a:spcPts val="0"/>
              </a:spcBef>
              <a:spcAft>
                <a:spcPts val="0"/>
              </a:spcAft>
            </a:pPr>
            <a:r>
              <a:rPr sz="1700" b="0" i="0">
                <a:solidFill>
                  <a:srgbClr val="17549E"/>
                </a:solidFill>
                <a:latin typeface="Georgia"/>
              </a:rPr>
              <a:t>II-a</a:t>
            </a:r>
          </a:p>
        </p:txBody>
      </p:sp>
      <p:sp>
        <p:nvSpPr>
          <p:cNvPr id="14" name="TextBox 13"/>
          <p:cNvSpPr txBox="1"/>
          <p:nvPr/>
        </p:nvSpPr>
        <p:spPr>
          <a:xfrm>
            <a:off x="7498080" y="3346704"/>
            <a:ext cx="4069080" cy="1097280"/>
          </a:xfrm>
          <a:prstGeom prst="rect">
            <a:avLst/>
          </a:prstGeom>
          <a:noFill/>
        </p:spPr>
        <p:txBody>
          <a:bodyPr wrap="square" lIns="0" rIns="0" tIns="0" bIns="0">
            <a:spAutoFit/>
          </a:bodyPr>
          <a:lstStyle/>
          <a:p>
            <a:pPr>
              <a:spcBef>
                <a:spcPts val="0"/>
              </a:spcBef>
              <a:spcAft>
                <a:spcPts val="300"/>
              </a:spcAft>
            </a:pPr>
            <a:r>
              <a:rPr sz="1200" b="1" i="0">
                <a:solidFill>
                  <a:srgbClr val="14171C"/>
                </a:solidFill>
                <a:latin typeface="Calibri"/>
              </a:rPr>
              <a:t>Measure the same domains on people, and a third one appears.</a:t>
            </a:r>
          </a:p>
          <a:p>
            <a:pPr>
              <a:lnSpc>
                <a:spcPct val="122000"/>
              </a:lnSpc>
              <a:spcBef>
                <a:spcPts val="0"/>
              </a:spcBef>
              <a:spcAft>
                <a:spcPts val="0"/>
              </a:spcAft>
            </a:pPr>
            <a:r>
              <a:rPr sz="950" b="0" i="0">
                <a:solidFill>
                  <a:srgbClr val="5A6068"/>
                </a:solidFill>
                <a:latin typeface="Calibri"/>
              </a:rPr>
              <a:t>Social trust joins health and education, ahead of education. And pooled for power, health and trust keep tracking wellbeing year to year where development composites stop.</a:t>
            </a:r>
          </a:p>
        </p:txBody>
      </p:sp>
      <p:sp>
        <p:nvSpPr>
          <p:cNvPr id="15" name="Rectangle 14"/>
          <p:cNvSpPr/>
          <p:nvPr/>
        </p:nvSpPr>
        <p:spPr>
          <a:xfrm>
            <a:off x="6720840" y="431596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20840" y="4443984"/>
            <a:ext cx="658368"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III</a:t>
            </a:r>
          </a:p>
        </p:txBody>
      </p:sp>
      <p:sp>
        <p:nvSpPr>
          <p:cNvPr id="17" name="TextBox 16"/>
          <p:cNvSpPr txBox="1"/>
          <p:nvPr/>
        </p:nvSpPr>
        <p:spPr>
          <a:xfrm>
            <a:off x="7498080" y="4443984"/>
            <a:ext cx="4069080" cy="1097280"/>
          </a:xfrm>
          <a:prstGeom prst="rect">
            <a:avLst/>
          </a:prstGeom>
          <a:noFill/>
        </p:spPr>
        <p:txBody>
          <a:bodyPr wrap="square" lIns="0" rIns="0" tIns="0" bIns="0">
            <a:spAutoFit/>
          </a:bodyPr>
          <a:lstStyle/>
          <a:p>
            <a:pPr>
              <a:spcBef>
                <a:spcPts val="0"/>
              </a:spcBef>
              <a:spcAft>
                <a:spcPts val="300"/>
              </a:spcAft>
            </a:pPr>
            <a:r>
              <a:rPr sz="1200" b="1" i="0">
                <a:solidFill>
                  <a:srgbClr val="14171C"/>
                </a:solidFill>
                <a:latin typeface="Calibri"/>
              </a:rPr>
              <a:t>Three domains, three different reasons frameworks lose them.</a:t>
            </a:r>
          </a:p>
          <a:p>
            <a:pPr>
              <a:lnSpc>
                <a:spcPct val="122000"/>
              </a:lnSpc>
              <a:spcBef>
                <a:spcPts val="0"/>
              </a:spcBef>
              <a:spcAft>
                <a:spcPts val="0"/>
              </a:spcAft>
            </a:pPr>
            <a:r>
              <a:rPr sz="950" b="0" i="0">
                <a:solidFill>
                  <a:srgbClr val="5A6068"/>
                </a:solidFill>
                <a:latin typeface="Calibri"/>
              </a:rPr>
              <a:t>Wrong construct pooled together, a variable that has stopped varying, and a domain that was never collected at all.</a:t>
            </a:r>
          </a:p>
        </p:txBody>
      </p:sp>
      <p:sp>
        <p:nvSpPr>
          <p:cNvPr id="18" name="Rectangle 17"/>
          <p:cNvSpPr/>
          <p:nvPr/>
        </p:nvSpPr>
        <p:spPr>
          <a:xfrm>
            <a:off x="6720840" y="541324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20840" y="5541264"/>
            <a:ext cx="658368"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IV</a:t>
            </a:r>
          </a:p>
        </p:txBody>
      </p:sp>
      <p:sp>
        <p:nvSpPr>
          <p:cNvPr id="20" name="TextBox 19"/>
          <p:cNvSpPr txBox="1"/>
          <p:nvPr/>
        </p:nvSpPr>
        <p:spPr>
          <a:xfrm>
            <a:off x="7498080" y="5541264"/>
            <a:ext cx="4069080" cy="1097280"/>
          </a:xfrm>
          <a:prstGeom prst="rect">
            <a:avLst/>
          </a:prstGeom>
          <a:noFill/>
        </p:spPr>
        <p:txBody>
          <a:bodyPr wrap="square" lIns="0" rIns="0" tIns="0" bIns="0">
            <a:spAutoFit/>
          </a:bodyPr>
          <a:lstStyle/>
          <a:p>
            <a:pPr>
              <a:spcBef>
                <a:spcPts val="0"/>
              </a:spcBef>
              <a:spcAft>
                <a:spcPts val="300"/>
              </a:spcAft>
            </a:pPr>
            <a:r>
              <a:rPr sz="1200" b="1" i="0">
                <a:solidFill>
                  <a:srgbClr val="14171C"/>
                </a:solidFill>
                <a:latin typeface="Calibri"/>
              </a:rPr>
              <a:t>What this could mean for development frameworks.</a:t>
            </a:r>
          </a:p>
          <a:p>
            <a:pPr>
              <a:lnSpc>
                <a:spcPct val="122000"/>
              </a:lnSpc>
              <a:spcBef>
                <a:spcPts val="0"/>
              </a:spcBef>
              <a:spcAft>
                <a:spcPts val="0"/>
              </a:spcAft>
            </a:pPr>
            <a:r>
              <a:rPr sz="950" b="0" i="0">
                <a:solidFill>
                  <a:srgbClr val="5A6068"/>
                </a:solidFill>
                <a:latin typeface="Calibri"/>
              </a:rPr>
              <a:t>Not a verdict on the SDGs or HDI. A set of specific, evidence-backed things to change if lived experience is meant to be part of what they track.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7680960" y="822960"/>
            <a:ext cx="384048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Does the collapse survive when you change the design?</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The SDG null invites an easy dismissal: sprawling framework, uneven coverage, so the absence of a within-country signal says more about the instrument than about development. Test that by changing one leg of the design at a time. If the collapse is an artefact of the SDGs, it should not survive.</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71% → 5%</a:t>
            </a:r>
          </a:p>
          <a:p>
            <a:pPr>
              <a:lnSpc>
                <a:spcPct val="120000"/>
              </a:lnSpc>
              <a:spcBef>
                <a:spcPts val="0"/>
              </a:spcBef>
              <a:spcAft>
                <a:spcPts val="0"/>
              </a:spcAft>
            </a:pPr>
            <a:r>
              <a:rPr sz="1000" b="0" i="0">
                <a:solidFill>
                  <a:srgbClr val="8A94A0"/>
                </a:solidFill>
                <a:latin typeface="Calibri"/>
              </a:rPr>
              <a:t>SDG × WHR, 42 countries, ~13 years — the original finding</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 2%</a:t>
            </a:r>
          </a:p>
          <a:p>
            <a:pPr>
              <a:lnSpc>
                <a:spcPct val="120000"/>
              </a:lnSpc>
              <a:spcBef>
                <a:spcPts val="0"/>
              </a:spcBef>
              <a:spcAft>
                <a:spcPts val="0"/>
              </a:spcAft>
            </a:pPr>
            <a:r>
              <a:rPr sz="1000" b="0" i="0">
                <a:solidFill>
                  <a:srgbClr val="8A94A0"/>
                </a:solidFill>
                <a:latin typeface="Calibri"/>
              </a:rPr>
              <a:t>HDI × WHR, 150 countries, ~13 years — swap the framework</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+0.44 → +0.20</a:t>
            </a:r>
          </a:p>
          <a:p>
            <a:pPr>
              <a:lnSpc>
                <a:spcPct val="120000"/>
              </a:lnSpc>
              <a:spcBef>
                <a:spcPts val="0"/>
              </a:spcBef>
              <a:spcAft>
                <a:spcPts val="0"/>
              </a:spcAft>
            </a:pPr>
            <a:r>
              <a:rPr sz="1000" b="0" i="0">
                <a:solidFill>
                  <a:srgbClr val="8A94A0"/>
                </a:solidFill>
                <a:latin typeface="Calibri"/>
              </a:rPr>
              <a:t>HDI × ESS pooled, levels → differences — swap the instrument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WHERE WE START · THE SDG PAPER</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Development indicators predict happiness between countries, not within them</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original design is a per-country time-series test: within each country, does the SDG indicator move with the Cantril ladder? Run at levels, 30 of 42 countries come back FDR-significant on at least one of 661 series — 71%. Run the identical test on first differences, and 5% survive.</a:t>
            </a:r>
          </a:p>
          <a:p>
            <a:pPr>
              <a:lnSpc>
                <a:spcPct val="132000"/>
              </a:lnSpc>
              <a:spcBef>
                <a:spcPts val="0"/>
              </a:spcBef>
              <a:spcAft>
                <a:spcPts val="1100"/>
              </a:spcAft>
            </a:pPr>
            <a:r>
              <a:rPr sz="1150" b="0" i="0">
                <a:solidFill>
                  <a:srgbClr val="5A6068"/>
                </a:solidFill>
                <a:latin typeface="Calibri"/>
              </a:rPr>
              <a:t>That gap is the whole starting point. A between-country association this strong and a within-country association this weak are hard to hold at once: either development stops mattering once you look inside a country, or the design cannot see it there. Before interpreting it, it is worth checking that it is not simply the SDG framework misbehaving.</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sdg_by_goal.png"/>
          <p:cNvPicPr>
            <a:picLocks noChangeAspect="1"/>
          </p:cNvPicPr>
          <p:nvPr/>
        </p:nvPicPr>
        <p:blipFill>
          <a:blip r:embed="rId2"/>
          <a:stretch>
            <a:fillRect/>
          </a:stretch>
        </p:blipFill>
        <p:spPr>
          <a:xfrm>
            <a:off x="5120640" y="1156722"/>
            <a:ext cx="6537960" cy="407821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SDG framework at levels, by goal. Even here the pooled rates are low and uneven — health reaches 11.5%, education 3.3% — which is what makes the framework-artefact dismissal plausible enough to need testing.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SWAP 1 · THE FRAMEWORK</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HDI is built the opposite way and shows the same collapse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HDI is the SDG framework's opposite on every dimension the dismissal leans on: three dimensions rather than seventeen goals, one custodian, a stable definition, near-universal coverage. Substituting it and holding everything else fixed gives 42% of 150 countries significant at levels and 2% in differences.</a:t>
            </a:r>
          </a:p>
          <a:p>
            <a:pPr>
              <a:lnSpc>
                <a:spcPct val="132000"/>
              </a:lnSpc>
              <a:spcBef>
                <a:spcPts val="0"/>
              </a:spcBef>
              <a:spcAft>
                <a:spcPts val="1100"/>
              </a:spcAft>
            </a:pPr>
            <a:r>
              <a:rPr sz="1150" b="0" i="0">
                <a:solidFill>
                  <a:srgbClr val="5A6068"/>
                </a:solidFill>
                <a:latin typeface="Calibri"/>
              </a:rPr>
              <a:t>The three panels are the fair-comparison check. The SDG framework detects in more countries (71% vs 51%) simply because it has more shots on goal; give it the HDI's five-indicator budget and its advantage disappears; normalise per indicator and the HDI dominates outright, with 54% of SDG series significant in no country at all. Neither framework is the problem — the ratio between levels and differences is the same order of magnitude in both.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framework_three_comparisons.png"/>
          <p:cNvPicPr>
            <a:picLocks noChangeAspect="1"/>
          </p:cNvPicPr>
          <p:nvPr/>
        </p:nvPicPr>
        <p:blipFill>
          <a:blip r:embed="rId2"/>
          <a:stretch>
            <a:fillRect/>
          </a:stretch>
        </p:blipFill>
        <p:spPr>
          <a:xfrm>
            <a:off x="5120640" y="2093715"/>
            <a:ext cx="6537960" cy="220422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HDI versus the SDG framework on detection, on a matched five-indicator budget, and per indicator. The SDG lead is breadth, not sharper instruments.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SWAP 2 · THE WELLBEING MEASURE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Swapping the Cantril ladder for the ESS: what it can and cannot settle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875" b="0" i="0">
                <a:solidFill>
                  <a:srgbClr val="5A6068"/>
                </a:solidFill>
                <a:latin typeface="Calibri"/>
              </a:rPr>
              <a:t>The World Happiness Report is a single Cantril-ladder question aggregated to countries. The European Social Survey asks its own life-satisfaction item of individuals, on a different sampling frame, run by a different institution. Holding the HDI and the country unit fixed and changing only the wellbeing data isolates that one leg.</a:t>
            </a:r>
          </a:p>
          <a:p>
            <a:pPr>
              <a:lnSpc>
                <a:spcPct val="132000"/>
              </a:lnSpc>
              <a:spcBef>
                <a:spcPts val="0"/>
              </a:spcBef>
              <a:spcAft>
                <a:spcPts val="1100"/>
              </a:spcAft>
            </a:pPr>
            <a:r>
              <a:rPr sz="875" b="0" i="0">
                <a:solidFill>
                  <a:srgbClr val="5A6068"/>
                </a:solidFill>
                <a:latin typeface="Calibri"/>
              </a:rPr>
              <a:t>Run country by country it returns 8% at levels and 16% in differences across 25 countries, which is a null test rather than a finding: the ESS has seven survey rounds where the WHR panels have thirteen years, and panel b shows what that costs — at seven observations a genuine correlation of 0.5 is recovered in about 3% of units. Differences landing above levels is the tell that the test is not working, not a result.</a:t>
            </a:r>
          </a:p>
          <a:p>
            <a:pPr>
              <a:lnSpc>
                <a:spcPct val="132000"/>
              </a:lnSpc>
              <a:spcBef>
                <a:spcPts val="0"/>
              </a:spcBef>
              <a:spcAft>
                <a:spcPts val="1100"/>
              </a:spcAft>
            </a:pPr>
            <a:r>
              <a:rPr sz="875" b="0" i="0">
                <a:solidFill>
                  <a:srgbClr val="5A6068"/>
                </a:solidFill>
                <a:latin typeface="Calibri"/>
              </a:rPr>
              <a:t>Pooled across countries, where the power is, it does replicate: the HDI's within-country association with ESS life satisfaction falls from r = +0.44 at levels to +0.20 in first differences. The attenuation is sharp, though it stops short of the clean null the Cantril ladder gives on the full panel — there, across 1,548 country-year changes, the HDI goes from +0.15 to −0.02 and is not significant at all.</a:t>
            </a:r>
          </a:p>
          <a:p>
            <a:pPr>
              <a:lnSpc>
                <a:spcPct val="132000"/>
              </a:lnSpc>
              <a:spcBef>
                <a:spcPts val="0"/>
              </a:spcBef>
              <a:spcAft>
                <a:spcPts val="1100"/>
              </a:spcAft>
            </a:pPr>
            <a:r>
              <a:rPr sz="875" b="0" i="0">
                <a:solidFill>
                  <a:srgbClr val="5A6068"/>
                </a:solidFill>
                <a:latin typeface="Calibri"/>
              </a:rPr>
              <a:t>The ESS also corroborates the levels half in cross-section, where it has plenty of power: subnational HDI predicts ESS life satisfaction across regions inside each country in 47% of 15 countries, sitting on top of the 42% the HDI reaches nationally. So the collapse survives the instrument swap. What it does not survive — and this is Act II-a — is changing the predictor from a development composite to the domain measures themselves.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ess_levels_diffs_collapse.png"/>
          <p:cNvPicPr>
            <a:picLocks noChangeAspect="1"/>
          </p:cNvPicPr>
          <p:nvPr/>
        </p:nvPicPr>
        <p:blipFill>
          <a:blip r:embed="rId2"/>
          <a:stretch>
            <a:fillRect/>
          </a:stretch>
        </p:blipFill>
        <p:spPr>
          <a:xfrm>
            <a:off x="5120640" y="1791377"/>
            <a:ext cx="6537960" cy="280890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Panel a: the same FDR test, levels and differences on the same units, in all three pairings. Panel b: how much of a genuine association each series length recovers — the reason the hatched bars carry no verdict.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Three pairings, the same asymmetry in all of them: development composites predict wellbeing between units and barely track it within one over time. That holds whichever framework and whichever wellbeing instrument you use. So the levels are where to look next — and the differences question comes back in Act II-a, once the predictor is no longer a composite.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7680960" y="822960"/>
            <a:ext cx="384048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At the levels, what is actually doing the work?</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If the levels are where development and wellbeing meet, the useful question is which components are carrying that association. Ask it of both frameworks' internals: the HDI's five components, and the SDGs' seventeen goals. Two domains come out — but one of them only after you stop pooling it.</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19% vs 41%</a:t>
            </a:r>
          </a:p>
          <a:p>
            <a:pPr>
              <a:lnSpc>
                <a:spcPct val="120000"/>
              </a:lnSpc>
              <a:spcBef>
                <a:spcPts val="0"/>
              </a:spcBef>
              <a:spcAft>
                <a:spcPts val="0"/>
              </a:spcAft>
            </a:pPr>
            <a:r>
              <a:rPr sz="1000" b="0" i="0">
                <a:solidFill>
                  <a:srgbClr val="8A94A0"/>
                </a:solidFill>
                <a:latin typeface="Calibri"/>
              </a:rPr>
              <a:t>HDI life expectancy vs mean years of schooling, at levels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4th of 17</a:t>
            </a:r>
          </a:p>
          <a:p>
            <a:pPr>
              <a:lnSpc>
                <a:spcPct val="120000"/>
              </a:lnSpc>
              <a:spcBef>
                <a:spcPts val="0"/>
              </a:spcBef>
              <a:spcAft>
                <a:spcPts val="0"/>
              </a:spcAft>
            </a:pPr>
            <a:r>
              <a:rPr sz="1000" b="0" i="0">
                <a:solidFill>
                  <a:srgbClr val="8A94A0"/>
                </a:solidFill>
                <a:latin typeface="Calibri"/>
              </a:rPr>
              <a:t>where health ranks among SDG goals (11.5%)</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12.7% vs 3.3%</a:t>
            </a:r>
          </a:p>
          <a:p>
            <a:pPr>
              <a:lnSpc>
                <a:spcPct val="120000"/>
              </a:lnSpc>
              <a:spcBef>
                <a:spcPts val="0"/>
              </a:spcBef>
              <a:spcAft>
                <a:spcPts val="0"/>
              </a:spcAft>
            </a:pPr>
            <a:r>
              <a:rPr sz="1000" b="0" i="0">
                <a:solidFill>
                  <a:srgbClr val="8A94A0"/>
                </a:solidFill>
                <a:latin typeface="Calibri"/>
              </a:rPr>
              <a:t>SDG4 access indicators alone vs all 35 pooled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INSIDE THE HDI</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Schooling leads the HDI's components; life expectancy is the weakest of the five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Decompose the composite and the five components separate cleanly at levels: mean years of schooling 41%, income 40%, expected years of schooling 33%, the composite itself 42% — and life expectancy last at 19%. In differences all five sit between 1% and 5%, so the collapse is a property of the composite and of every part of it.</a:t>
            </a:r>
          </a:p>
          <a:p>
            <a:pPr>
              <a:lnSpc>
                <a:spcPct val="132000"/>
              </a:lnSpc>
              <a:spcBef>
                <a:spcPts val="0"/>
              </a:spcBef>
              <a:spcAft>
                <a:spcPts val="1100"/>
              </a:spcAft>
            </a:pPr>
            <a:r>
              <a:rPr sz="1150" b="0" i="0">
                <a:solidFill>
                  <a:srgbClr val="5A6068"/>
                </a:solidFill>
                <a:latin typeface="Calibri"/>
              </a:rPr>
              <a:t>Life expectancy being the weakest is the first hint that this is about measurement rather than about health. The top 100 countries span 81 to 85 years. A variable with that little range left cannot carry much association, whatever the underlying domain does.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hdi_full_structure.png"/>
          <p:cNvPicPr>
            <a:picLocks noChangeAspect="1"/>
          </p:cNvPicPr>
          <p:nvPr/>
        </p:nvPicPr>
        <p:blipFill>
          <a:blip r:embed="rId2"/>
          <a:stretch>
            <a:fillRect/>
          </a:stretch>
        </p:blipFill>
        <p:spPr>
          <a:xfrm>
            <a:off x="5120640" y="1791377"/>
            <a:ext cx="6537960" cy="280890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HDI composite and its five components, levels and first differences, Benjamini–Hochberg corrected within each country.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INSIDE THE SDGS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ranks 4th of 17 goals; education ranks 12th</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050" b="0" i="0">
                <a:solidFill>
                  <a:srgbClr val="5A6068"/>
                </a:solidFill>
                <a:latin typeface="Calibri"/>
              </a:rPr>
              <a:t>The same question of the SDG side. Pooled within each goal, health (Goal 3) reaches 11.5% of country-indicator pairs — fourth of seventeen, and first among the goals with substantive coverage. Health also dominates the individual-series ranking: 16 of the 25 most predictive series in the whole database fall under Goal 3, and they are survival measures — infant and under-five mortality, stunting, neonatal mortality, sanitation, drinking water.</a:t>
            </a:r>
          </a:p>
          <a:p>
            <a:pPr>
              <a:lnSpc>
                <a:spcPct val="132000"/>
              </a:lnSpc>
              <a:spcBef>
                <a:spcPts val="0"/>
              </a:spcBef>
              <a:spcAft>
                <a:spcPts val="1100"/>
              </a:spcAft>
            </a:pPr>
            <a:r>
              <a:rPr sz="1050" b="0" i="0">
                <a:solidFill>
                  <a:srgbClr val="5A6068"/>
                </a:solidFill>
                <a:latin typeface="Calibri"/>
              </a:rPr>
              <a:t>Education comes twelfth, at 3.3%. Taken at face value that says education barely matters for wellbeing — which contradicts the HDI, where schooling is the strongest component there is. Both cannot be right, and the next slide is why.</a:t>
            </a:r>
          </a:p>
          <a:p>
            <a:pPr>
              <a:lnSpc>
                <a:spcPct val="132000"/>
              </a:lnSpc>
              <a:spcBef>
                <a:spcPts val="0"/>
              </a:spcBef>
              <a:spcAft>
                <a:spcPts val="1100"/>
              </a:spcAft>
            </a:pPr>
            <a:r>
              <a:rPr sz="1050" b="0" i="0">
                <a:solidFill>
                  <a:srgbClr val="5A6068"/>
                </a:solidFill>
                <a:latin typeface="Calibri"/>
              </a:rPr>
              <a:t>One caveat worth stating here rather than later: Goal 16 is where anything trust-shaped would live, and it comes fifteenth at 1.5%. But its thirteen trust-adjacent series measure satisfaction with public services, perceived bribery, and perceived inclusiveness in decision-making. That is confidence in institutions, not trust in other people. It is a different construct, and the low rank should not be read as evidence about interpersonal trust.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_indicator_top20.png"/>
          <p:cNvPicPr>
            <a:picLocks noChangeAspect="1"/>
          </p:cNvPicPr>
          <p:nvPr/>
        </p:nvPicPr>
        <p:blipFill>
          <a:blip r:embed="rId2"/>
          <a:stretch>
            <a:fillRect/>
          </a:stretch>
        </p:blipFill>
        <p:spPr>
          <a:xfrm>
            <a:off x="5279547" y="658368"/>
            <a:ext cx="6220145" cy="50749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25 most predictive individual SDG series. Sixteen are Goal 3 health indicators, nearly all of them survival measures.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ACCESS CHECK</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Education's 3.3% is a pooling artefact: access alone reaches 12.7%</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SDG4 is 35 series measuring six different things. Split them and they do not agree: access and participation 12.7%, financing 11.5%, attainment and completion 3.8%, equity and parity ratios 2.5%, infrastructure 2.0%, learning outcomes 0.9%.</a:t>
            </a:r>
          </a:p>
          <a:p>
            <a:pPr>
              <a:lnSpc>
                <a:spcPct val="132000"/>
              </a:lnSpc>
              <a:spcBef>
                <a:spcPts val="0"/>
              </a:spcBef>
              <a:spcAft>
                <a:spcPts val="1100"/>
              </a:spcAft>
            </a:pPr>
            <a:r>
              <a:rPr sz="1150" b="0" i="0">
                <a:solidFill>
                  <a:srgbClr val="5A6068"/>
                </a:solidFill>
                <a:latin typeface="Calibri"/>
              </a:rPr>
              <a:t>Parity ratios are 18 of the 35 series. Pooling weights every series equally, so the half of the goal that carries no wellbeing signal drags the whole goal below the part that does. Unpooled, education would rank third among the seventeen goals rather than twelfth — and it would agree with the HDI instead of contradicting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4_unpooled.png"/>
          <p:cNvPicPr>
            <a:picLocks noChangeAspect="1"/>
          </p:cNvPicPr>
          <p:nvPr/>
        </p:nvPicPr>
        <p:blipFill>
          <a:blip r:embed="rId2"/>
          <a:stretch>
            <a:fillRect/>
          </a:stretch>
        </p:blipFill>
        <p:spPr>
          <a:xfrm>
            <a:off x="5120640" y="1103208"/>
            <a:ext cx="6537960" cy="41852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SDG4 split by construct. Access and participation (12.7%) against equity and parity ratios (2.5%), infrastructure (2.0%) and learning outcomes (0.9%).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Health and education are what the frameworks can see at the levels. Health registers wherever it is measured somewhere that still varies; education registers only when the construct being counted is access. That is two domains — and it is everything these frameworks are able to test.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7680960" y="822960"/>
            <a:ext cx="3840480" cy="4114800"/>
          </a:xfrm>
          <a:prstGeom prst="rect">
            <a:avLst/>
          </a:prstGeom>
          <a:noFill/>
        </p:spPr>
        <p:txBody>
          <a:bodyPr wrap="square" lIns="0" rIns="0" tIns="0" bIns="0">
            <a:spAutoFit/>
          </a:bodyPr>
          <a:lstStyle/>
          <a:p>
            <a:pPr algn="r">
              <a:spcBef>
                <a:spcPts val="0"/>
              </a:spcBef>
              <a:spcAft>
                <a:spcPts val="0"/>
              </a:spcAft>
            </a:pPr>
            <a:r>
              <a:rPr sz="12000" b="0" i="0">
                <a:solidFill>
                  <a:srgbClr val="2A3340"/>
                </a:solidFill>
                <a:latin typeface="Georgia"/>
              </a:rPr>
              <a:t>II-a</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Now measure the same domains on people</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400" b="0" i="1">
                <a:solidFill>
                  <a:srgbClr val="9AA4B0"/>
                </a:solidFill>
                <a:latin typeface="Georgia"/>
              </a:rPr>
              <a:t>Everything so far uses a development composite as the predictor. The ESS carries the three domains asked directly of people — self-rated health, years of schooling, and whether most people can be trusted — which lets us change the predictor rather than the outcome. That surfaces a third domain neither framework collects, and it turns out to be where the differences half of the argument finally has something to say.</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100% / 97% / 89%</a:t>
            </a:r>
          </a:p>
          <a:p>
            <a:pPr>
              <a:lnSpc>
                <a:spcPct val="120000"/>
              </a:lnSpc>
              <a:spcBef>
                <a:spcPts val="0"/>
              </a:spcBef>
              <a:spcAft>
                <a:spcPts val="0"/>
              </a:spcAft>
            </a:pPr>
            <a:r>
              <a:rPr sz="1000" b="0" i="0">
                <a:solidFill>
                  <a:srgbClr val="8A94A0"/>
                </a:solidFill>
                <a:latin typeface="Calibri"/>
              </a:rPr>
              <a:t>ESS countries significant at levels: health, trust, education</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+0.55 / +0.35</a:t>
            </a:r>
          </a:p>
          <a:p>
            <a:pPr>
              <a:lnSpc>
                <a:spcPct val="120000"/>
              </a:lnSpc>
              <a:spcBef>
                <a:spcPts val="0"/>
              </a:spcBef>
              <a:spcAft>
                <a:spcPts val="0"/>
              </a:spcAft>
            </a:pPr>
            <a:r>
              <a:rPr sz="1000" b="0" i="0">
                <a:solidFill>
                  <a:srgbClr val="8A94A0"/>
                </a:solidFill>
                <a:latin typeface="Calibri"/>
              </a:rPr>
              <a:t>trust and health in differences with NO shared respondents</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+0.03 / −0.02</a:t>
            </a:r>
          </a:p>
          <a:p>
            <a:pPr>
              <a:lnSpc>
                <a:spcPct val="120000"/>
              </a:lnSpc>
              <a:spcBef>
                <a:spcPts val="0"/>
              </a:spcBef>
              <a:spcAft>
                <a:spcPts val="0"/>
              </a:spcAft>
            </a:pPr>
            <a:r>
              <a:rPr sz="1000" b="0" i="0">
                <a:solidFill>
                  <a:srgbClr val="8A94A0"/>
                </a:solidFill>
                <a:latin typeface="Calibri"/>
              </a:rPr>
              <a:t>education and the HDI in differences — they do not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THREE DOMAINS, ONE UNIT</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social trust and education all predict life satisfaction — trust is second</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25" b="0" i="0">
                <a:solidFill>
                  <a:srgbClr val="5A6068"/>
                </a:solidFill>
                <a:latin typeface="Calibri"/>
              </a:rPr>
              <a:t>Same FDR test, same unit, now on 351,023 respondents. Self-rated health is significant in 36 of 36 countries, median individual R² 0.092. Interpersonal trust in 35 of 36, median R² 0.039. Years of schooling in 32 of 36, median R² 0.006 — significant almost everywhere but explaining far less per person than either of the others.</a:t>
            </a:r>
          </a:p>
          <a:p>
            <a:pPr>
              <a:lnSpc>
                <a:spcPct val="132000"/>
              </a:lnSpc>
              <a:spcBef>
                <a:spcPts val="0"/>
              </a:spcBef>
              <a:spcAft>
                <a:spcPts val="1100"/>
              </a:spcAft>
            </a:pPr>
            <a:r>
              <a:rPr sz="1125" b="0" i="0">
                <a:solidFill>
                  <a:srgbClr val="5A6068"/>
                </a:solidFill>
                <a:latin typeface="Calibri"/>
              </a:rPr>
              <a:t>Set against the frameworks, health behaves consistently: strongest on people, and the highest-ranked substantive goal in the SDGs. Education behaves consistently too, once unpooled. Trust is the one that does not appear anywhere else, because there is nowhere else for it to appear — the HDI has no counterpart at all, and SDG16's 1.5% measures confidence in institutions rather than trust in people.</a:t>
            </a:r>
          </a:p>
          <a:p>
            <a:pPr>
              <a:lnSpc>
                <a:spcPct val="132000"/>
              </a:lnSpc>
              <a:spcBef>
                <a:spcPts val="0"/>
              </a:spcBef>
              <a:spcAft>
                <a:spcPts val="1100"/>
              </a:spcAft>
            </a:pPr>
            <a:r>
              <a:rPr sz="1125" b="0" i="0">
                <a:solidFill>
                  <a:srgbClr val="5A6068"/>
                </a:solidFill>
                <a:latin typeface="Calibri"/>
              </a:rPr>
              <a:t>The caveat is real and bounds the claim: the ESS is 36 European countries, self-reported, one trust item. This is not a global result. It is enough to say that a domain the frameworks never collect outranks one they both do.</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a:t>
            </a:r>
          </a:p>
        </p:txBody>
      </p:sp>
      <p:pic>
        <p:nvPicPr>
          <p:cNvPr id="6" name="Picture 5" descr="domains_at_levels_comparison.png"/>
          <p:cNvPicPr>
            <a:picLocks noChangeAspect="1"/>
          </p:cNvPicPr>
          <p:nvPr/>
        </p:nvPicPr>
        <p:blipFill>
          <a:blip r:embed="rId2"/>
          <a:stretch>
            <a:fillRect/>
          </a:stretch>
        </p:blipFill>
        <p:spPr>
          <a:xfrm>
            <a:off x="5120640" y="1934936"/>
            <a:ext cx="6537960" cy="2521784"/>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three domains across all three frameworks, all on % of countries FDR-significant. Trust has no HDI bar because the HDI does not measure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EDUCATION, CLOSE UP</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Significant on people and in the HDI; invisible in the SDGs only because of pooling</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Education across all four ways of measuring it: 89% of ESS countries on individual years of schooling, 33% of HDI countries on expected years of schooling, 12.7% of SDG4 access series, 3.3% pooled across all 35.</a:t>
            </a:r>
          </a:p>
          <a:p>
            <a:pPr>
              <a:lnSpc>
                <a:spcPct val="132000"/>
              </a:lnSpc>
              <a:spcBef>
                <a:spcPts val="0"/>
              </a:spcBef>
              <a:spcAft>
                <a:spcPts val="1100"/>
              </a:spcAft>
            </a:pPr>
            <a:r>
              <a:rPr sz="1150" b="0" i="0">
                <a:solidFill>
                  <a:srgbClr val="5A6068"/>
                </a:solidFill>
                <a:latin typeface="Calibri"/>
              </a:rPr>
              <a:t>Three of those four numbers tell a consistent story and the fourth is a construction choice. Nothing about education changed between the third bar and the fourth — only which series were averaged together. This is the cleanest case in the paper of a framework hiding a domain it does in fact measure.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a:t>
            </a:r>
          </a:p>
        </p:txBody>
      </p:sp>
      <p:pic>
        <p:nvPicPr>
          <p:cNvPr id="6" name="Picture 5" descr="education_levels_comparison.png"/>
          <p:cNvPicPr>
            <a:picLocks noChangeAspect="1"/>
          </p:cNvPicPr>
          <p:nvPr/>
        </p:nvPicPr>
        <p:blipFill>
          <a:blip r:embed="rId2"/>
          <a:stretch>
            <a:fillRect/>
          </a:stretch>
        </p:blipFill>
        <p:spPr>
          <a:xfrm>
            <a:off x="5120640" y="1412748"/>
            <a:ext cx="6537960" cy="356616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Education across four measurements. The gap between the last two bars is entirely pooling, not data.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HEALTH, CLOSE UP</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strongest domain on people, and the weakest component of the HDI</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Self-rated health is the single strongest predictor of life satisfaction in the ESS: every country significant, median R² 0.092, roughly fifteen times education's. In the SDGs, health leads the substantive goals at 11.5%. In the HDI it is last of five, at 19%.</a:t>
            </a:r>
          </a:p>
          <a:p>
            <a:pPr>
              <a:lnSpc>
                <a:spcPct val="132000"/>
              </a:lnSpc>
              <a:spcBef>
                <a:spcPts val="0"/>
              </a:spcBef>
              <a:spcAft>
                <a:spcPts val="1100"/>
              </a:spcAft>
            </a:pPr>
            <a:r>
              <a:rPr sz="1150" b="0" i="0">
                <a:solidFill>
                  <a:srgbClr val="5A6068"/>
                </a:solidFill>
                <a:latin typeface="Calibri"/>
              </a:rPr>
              <a:t>The domain is not weak; the HDI's chosen proxy for it is. Life expectancy has largely saturated across the countries the index covers, and a variable with almost no variance left cannot predict much. Self-rated health, asked of the same populations, is the strongest thing in the ESS. Same domain, different variable, opposite conclusion.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a:t>
            </a:r>
          </a:p>
        </p:txBody>
      </p:sp>
      <p:pic>
        <p:nvPicPr>
          <p:cNvPr id="6" name="Picture 5" descr="health_levels_comparison.png"/>
          <p:cNvPicPr>
            <a:picLocks noChangeAspect="1"/>
          </p:cNvPicPr>
          <p:nvPr/>
        </p:nvPicPr>
        <p:blipFill>
          <a:blip r:embed="rId2"/>
          <a:stretch>
            <a:fillRect/>
          </a:stretch>
        </p:blipFill>
        <p:spPr>
          <a:xfrm>
            <a:off x="5120640" y="1234440"/>
            <a:ext cx="6537960" cy="392277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Health measured three ways. The HDI result is about life expectancy's saturation, not about health.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SOCIAL TRUST, CLOSE UP</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Second strongest on people, and absent from both frameworks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00" b="0" i="0">
                <a:solidFill>
                  <a:srgbClr val="5A6068"/>
                </a:solidFill>
                <a:latin typeface="Calibri"/>
              </a:rPr>
              <a:t>Interpersonal trust — 'generally speaking, would you say that most people can be trusted?' — is significant in 35 of 36 ESS countries, with a median R² of 0.039: below self-rated health, well above years of schooling.</a:t>
            </a:r>
          </a:p>
          <a:p>
            <a:pPr>
              <a:lnSpc>
                <a:spcPct val="132000"/>
              </a:lnSpc>
              <a:spcBef>
                <a:spcPts val="0"/>
              </a:spcBef>
              <a:spcAft>
                <a:spcPts val="1100"/>
              </a:spcAft>
            </a:pPr>
            <a:r>
              <a:rPr sz="1100" b="0" i="0">
                <a:solidFill>
                  <a:srgbClr val="5A6068"/>
                </a:solidFill>
                <a:latin typeface="Calibri"/>
              </a:rPr>
              <a:t>The HDI does not measure trust in any form. The SDG framework's nearest thing is Goal 16's thirteen series, and they measure something else: satisfaction with public services, perceived bribery, perceived inclusiveness in decision-making. Institutional confidence and interpersonal trust are distinct constructs, and the substitution should not pass silently. Coverage compounds it — median one observation per country-series against six for the database overall, and 147 of 163 country-series cannot support a time-series design at all.</a:t>
            </a:r>
          </a:p>
          <a:p>
            <a:pPr>
              <a:lnSpc>
                <a:spcPct val="132000"/>
              </a:lnSpc>
              <a:spcBef>
                <a:spcPts val="0"/>
              </a:spcBef>
              <a:spcAft>
                <a:spcPts val="1100"/>
              </a:spcAft>
            </a:pPr>
            <a:r>
              <a:rPr sz="1100" b="0" i="0">
                <a:solidFill>
                  <a:srgbClr val="5A6068"/>
                </a:solidFill>
                <a:latin typeface="Calibri"/>
              </a:rPr>
              <a:t>Education's and health's problems are about which variable to count inside a domain the framework already has. Trust's is categorically different: there is no variable to choose between, because the domain was never collected.</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a:t>
            </a:r>
          </a:p>
        </p:txBody>
      </p:sp>
      <p:pic>
        <p:nvPicPr>
          <p:cNvPr id="6" name="Picture 5" descr="trust_coverage_comparison.png"/>
          <p:cNvPicPr>
            <a:picLocks noChangeAspect="1"/>
          </p:cNvPicPr>
          <p:nvPr/>
        </p:nvPicPr>
        <p:blipFill>
          <a:blip r:embed="rId2"/>
          <a:stretch>
            <a:fillRect/>
          </a:stretch>
        </p:blipFill>
        <p:spPr>
          <a:xfrm>
            <a:off x="5120640" y="1327839"/>
            <a:ext cx="6537960" cy="3735977"/>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Interpersonal trust in the ESS against the closest SDG counterpart and an absent HDI one. The asterisked bar is a different construct.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BACK TO DIFFERENCES · WHICH DOMAINS SURVIVE IT</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collapse is domain-specific: health tracks wellbeing year to year, development composites do not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850" b="0" i="0">
                <a:solidFill>
                  <a:srgbClr val="5A6068"/>
                </a:solidFill>
                <a:latin typeface="Calibri"/>
              </a:rPr>
              <a:t>Act I left the differences half unresolved, because the per-country design spends its power on 25 separate tests of seven points each. Pool the same within-country question across all countries and it has the power to answer — and the answer is that the collapse is not a universal property of differencing. It is specific to what you differenced.</a:t>
            </a:r>
          </a:p>
          <a:p>
            <a:pPr>
              <a:lnSpc>
                <a:spcPct val="132000"/>
              </a:lnSpc>
              <a:spcBef>
                <a:spcPts val="0"/>
              </a:spcBef>
              <a:spcAft>
                <a:spcPts val="1100"/>
              </a:spcAft>
            </a:pPr>
            <a:r>
              <a:rPr sz="850" b="0" i="0">
                <a:solidFill>
                  <a:srgbClr val="5A6068"/>
                </a:solidFill>
                <a:latin typeface="Calibri"/>
              </a:rPr>
              <a:t>Within the ESS: health goes from r = +0.56 at levels to +0.40 in first differences, and social trust from +0.51 to +0.59. Both survive. Education goes from +0.29 to +0.03, not significant, and the HDI composite from +0.44 to +0.20. Against the World Happiness Report ladder on the full 150-country panel, the HDI collapses outright: +0.15 at levels to −0.02 in differences across 1,548 country-year changes.</a:t>
            </a:r>
          </a:p>
          <a:p>
            <a:pPr>
              <a:lnSpc>
                <a:spcPct val="132000"/>
              </a:lnSpc>
              <a:spcBef>
                <a:spcPts val="0"/>
              </a:spcBef>
              <a:spcAft>
                <a:spcPts val="1100"/>
              </a:spcAft>
            </a:pPr>
            <a:r>
              <a:rPr sz="850" b="0" i="0">
                <a:solidFill>
                  <a:srgbClr val="5A6068"/>
                </a:solidFill>
                <a:latin typeface="Calibri"/>
              </a:rPr>
              <a:t>So when a country's self-rated health rises between rounds, its life satisfaction rises with it. When its HDI rises, that tells you almost nothing. This is the sharpest version of the paper's claim: development composites move too slowly and too smoothly to track how people feel — within a country the HDI moves about a tenth of its between-country spread, where the domain measures move two to three times that.</a:t>
            </a:r>
          </a:p>
          <a:p>
            <a:pPr>
              <a:lnSpc>
                <a:spcPct val="132000"/>
              </a:lnSpc>
              <a:spcBef>
                <a:spcPts val="0"/>
              </a:spcBef>
              <a:spcAft>
                <a:spcPts val="1100"/>
              </a:spcAft>
            </a:pPr>
            <a:r>
              <a:rPr sz="850" b="0" i="0">
                <a:solidFill>
                  <a:srgbClr val="5A6068"/>
                </a:solidFill>
                <a:latin typeface="Calibri"/>
              </a:rPr>
              <a:t>The same question one scale down agrees, and shows where the power is. Per region over survey rounds, subnational HDI explains nothing at all — 0 of 167 regions, on seven rounds each. Across regions inside a country it recovers the levels result, 47% of 15 countries. And at the individual level it is decisive: 36 of 36 countries for health, 35 for trust, on ~10,700 respondents each. Region, country and person all tell the same story; only the individual level has the sample to tell it cleanly.</a:t>
            </a:r>
          </a:p>
          <a:p>
            <a:pPr>
              <a:lnSpc>
                <a:spcPct val="132000"/>
              </a:lnSpc>
              <a:spcBef>
                <a:spcPts val="0"/>
              </a:spcBef>
              <a:spcAft>
                <a:spcPts val="1100"/>
              </a:spcAft>
            </a:pPr>
            <a:r>
              <a:rPr sz="850" b="0" i="0">
                <a:solidFill>
                  <a:srgbClr val="5A6068"/>
                </a:solidFill>
                <a:latin typeface="Calibri"/>
              </a:rPr>
              <a:t>The obvious objection to the trust result is common-method variance: the same people answer the trust question and the life-satisfaction question in the same sitting, so of course the two move together. That is testable. Split each country-round's respondents at random, take the trust mean from one half and life satisfaction from the other, and no person contributes to both sides while sample, fieldwork and timing stay identical. Trust retains 93% of its estimate (+0.59 to +0.55) and health 88% (+0.40 to +0.35). Education stays null. The association is between people in a country, not inside a questionnaire.</a:t>
            </a:r>
          </a:p>
          <a:p>
            <a:pPr>
              <a:lnSpc>
                <a:spcPct val="132000"/>
              </a:lnSpc>
              <a:spcBef>
                <a:spcPts val="0"/>
              </a:spcBef>
              <a:spcAft>
                <a:spcPts val="1100"/>
              </a:spcAft>
            </a:pPr>
            <a:r>
              <a:rPr sz="850" b="0" i="0">
                <a:solidFill>
                  <a:srgbClr val="5A6068"/>
                </a:solidFill>
                <a:latin typeface="Calibri"/>
              </a:rPr>
              <a:t>What does bound the trust claim is the cross-source panel. Against the WHR ladder, trust reaches +0.20 at levels and +0.06 in differences, where health reaches +0.51 and +0.20. But that pairing sets ESS rounds against a different sample, with different fieldwork timing and its own sampling error, and differencing amplifies all of it — trust is the weaker signal to begin with, so it has less to lose before vanishing. Read as a bound, not a refutation: trust has not yet been corroborated against an independent wellbeing instrument, and health has.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a:t>
            </a:r>
          </a:p>
        </p:txBody>
      </p:sp>
      <p:pic>
        <p:nvPicPr>
          <p:cNvPr id="6" name="Picture 5" descr="domains_survive_differences.png"/>
          <p:cNvPicPr>
            <a:picLocks noChangeAspect="1"/>
          </p:cNvPicPr>
          <p:nvPr/>
        </p:nvPicPr>
        <p:blipFill>
          <a:blip r:embed="rId2"/>
          <a:stretch>
            <a:fillRect/>
          </a:stretch>
        </p:blipFill>
        <p:spPr>
          <a:xfrm>
            <a:off x="5120640" y="1791377"/>
            <a:ext cx="6537960" cy="280890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Pooled within-country correlations, levels against first differences. Panel a within the ESS; panel b against the independent WHR ladder. Health is the only domain significant in differences in both.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WHY THE SDG TRUST SERIES CANNOT STAND IN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Institutional confidence does not survive an income control; interpersonal trust does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Worth testing directly rather than asserting. Of the thirteen Goal 16 trust-adjacent series, nine can be tested cross-sectionally and four are significant. Then control for log GNI per capita: perceived bribery survives, but satisfaction with government services, healthcare and secondary education all vanish.</a:t>
            </a:r>
          </a:p>
          <a:p>
            <a:pPr>
              <a:lnSpc>
                <a:spcPct val="132000"/>
              </a:lnSpc>
              <a:spcBef>
                <a:spcPts val="0"/>
              </a:spcBef>
              <a:spcAft>
                <a:spcPts val="1100"/>
              </a:spcAft>
            </a:pPr>
            <a:r>
              <a:rPr sz="1150" b="0" i="0">
                <a:solidFill>
                  <a:srgbClr val="5A6068"/>
                </a:solidFill>
                <a:latin typeface="Calibri"/>
              </a:rPr>
              <a:t>That pattern is a known artefact of subjective institutional scales across income levels — the same question administered in richer and poorer countries produces response shifts unrelated to the construct. Interpersonal trust in the ESS does not behave this way.</a:t>
            </a:r>
          </a:p>
          <a:p>
            <a:pPr>
              <a:lnSpc>
                <a:spcPct val="132000"/>
              </a:lnSpc>
              <a:spcBef>
                <a:spcPts val="0"/>
              </a:spcBef>
              <a:spcAft>
                <a:spcPts val="1100"/>
              </a:spcAft>
            </a:pPr>
            <a:r>
              <a:rPr sz="1150" b="0" i="0">
                <a:solidFill>
                  <a:srgbClr val="5A6068"/>
                </a:solidFill>
                <a:latin typeface="Calibri"/>
              </a:rPr>
              <a:t>So this is not an execution failure in the SDG framework. It reflects what development frameworks are for: they measure institutions and systems. Trust between people is not an institution, and it does not show up when you measure one.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a:t>
            </a:r>
          </a:p>
        </p:txBody>
      </p:sp>
      <p:pic>
        <p:nvPicPr>
          <p:cNvPr id="6" name="Picture 5" descr="K1_sdg_trust_cross_section.png"/>
          <p:cNvPicPr>
            <a:picLocks noChangeAspect="1"/>
          </p:cNvPicPr>
          <p:nvPr/>
        </p:nvPicPr>
        <p:blipFill>
          <a:blip r:embed="rId2"/>
          <a:stretch>
            <a:fillRect/>
          </a:stretch>
        </p:blipFill>
        <p:spPr>
          <a:xfrm>
            <a:off x="5120640" y="1690377"/>
            <a:ext cx="6537960" cy="301090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SDG16 trust series cross-sectionally. Panel (b): net of income, bribery persists and the satisfaction measures do not.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II-A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Health, trust and education are all significant on people, in almost every country, and interpersonal trust — the one domain neither framework collects — outranks education. Pooled for power, health and trust also survive differencing where the HDI does not, and survive a split-half test that rules out the same people answering both questions. The collapse was never about differencing; it was about what the frameworks chose to measure.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7680960" y="822960"/>
            <a:ext cx="384048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Three domains, three ways a framework loses one</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Put the three results together and they are not three findings about three domains. They are three distinct failure modes — and they need different fixes, which is the only reason the distinction matters.</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Pooled</a:t>
            </a:r>
          </a:p>
          <a:p>
            <a:pPr>
              <a:lnSpc>
                <a:spcPct val="120000"/>
              </a:lnSpc>
              <a:spcBef>
                <a:spcPts val="0"/>
              </a:spcBef>
              <a:spcAft>
                <a:spcPts val="0"/>
              </a:spcAft>
            </a:pPr>
            <a:r>
              <a:rPr sz="1000" b="0" i="0">
                <a:solidFill>
                  <a:srgbClr val="8A94A0"/>
                </a:solidFill>
                <a:latin typeface="Calibri"/>
              </a:rPr>
              <a:t>education: the right construct averaged away</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Saturated</a:t>
            </a:r>
          </a:p>
          <a:p>
            <a:pPr>
              <a:lnSpc>
                <a:spcPct val="120000"/>
              </a:lnSpc>
              <a:spcBef>
                <a:spcPts val="0"/>
              </a:spcBef>
              <a:spcAft>
                <a:spcPts val="0"/>
              </a:spcAft>
            </a:pPr>
            <a:r>
              <a:rPr sz="1000" b="0" i="0">
                <a:solidFill>
                  <a:srgbClr val="8A94A0"/>
                </a:solidFill>
                <a:latin typeface="Calibri"/>
              </a:rPr>
              <a:t>health: the chosen variable stopped varying</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Never collected</a:t>
            </a:r>
          </a:p>
          <a:p>
            <a:pPr>
              <a:lnSpc>
                <a:spcPct val="120000"/>
              </a:lnSpc>
              <a:spcBef>
                <a:spcPts val="0"/>
              </a:spcBef>
              <a:spcAft>
                <a:spcPts val="0"/>
              </a:spcAft>
            </a:pPr>
            <a:r>
              <a:rPr sz="1000" b="0" i="0">
                <a:solidFill>
                  <a:srgbClr val="8A94A0"/>
                </a:solidFill>
                <a:latin typeface="Calibri"/>
              </a:rPr>
              <a:t>trust: no variable to choose between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SYNTHESIS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 pooling problem, a saturation problem, and a coverage gap</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Education is a pooling problem. The framework measures the right thing — access and participation, 12.7% — and then averages it together with 18 parity-ratio series that carry no wellbeing signal, landing at 3.3%. The signal is present in the data and absent from the published number.</a:t>
            </a:r>
          </a:p>
          <a:p>
            <a:pPr>
              <a:lnSpc>
                <a:spcPct val="132000"/>
              </a:lnSpc>
              <a:spcBef>
                <a:spcPts val="0"/>
              </a:spcBef>
              <a:spcAft>
                <a:spcPts val="1100"/>
              </a:spcAft>
            </a:pPr>
            <a:r>
              <a:rPr sz="1150" b="0" i="0">
                <a:solidFill>
                  <a:srgbClr val="5A6068"/>
                </a:solidFill>
                <a:latin typeface="Calibri"/>
              </a:rPr>
              <a:t>Health is a saturation problem. The domain is the strongest of the three on people, but the HDI's proxy for it has run out of range across the countries it covers, so it comes last of five components. A different variable in the same domain reverses the result.</a:t>
            </a:r>
          </a:p>
          <a:p>
            <a:pPr>
              <a:lnSpc>
                <a:spcPct val="132000"/>
              </a:lnSpc>
              <a:spcBef>
                <a:spcPts val="0"/>
              </a:spcBef>
              <a:spcAft>
                <a:spcPts val="1100"/>
              </a:spcAft>
            </a:pPr>
            <a:r>
              <a:rPr sz="1150" b="0" i="0">
                <a:solidFill>
                  <a:srgbClr val="5A6068"/>
                </a:solidFill>
                <a:latin typeface="Calibri"/>
              </a:rPr>
              <a:t>Trust is a coverage gap, and it is the one that no amount of better construction reaches. You cannot unpool a series that does not exist or re-specify a variable that was never collected. The only fix available is deciding to collect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domain_scorecard.png"/>
          <p:cNvPicPr>
            <a:picLocks noChangeAspect="1"/>
          </p:cNvPicPr>
          <p:nvPr/>
        </p:nvPicPr>
        <p:blipFill>
          <a:blip r:embed="rId2"/>
          <a:stretch>
            <a:fillRect/>
          </a:stretch>
        </p:blipFill>
        <p:spPr>
          <a:xfrm>
            <a:off x="5120640" y="1469807"/>
            <a:ext cx="6537960" cy="345204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Which framework can test which domain, and whether the test returns a signal. Grey is not a weak result — it is no result available.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WHAT SURVIVES WHICH METHOD</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is robust to how you measure it. Trust only appears when you ask people.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One more cut, because it separates the failure modes cleanly. Health registers in administrative sources (SDG3, 11.5%) and in self-reported ones (ESS, median R² 0.092) alike — it is robust to measurement method, and the HDI's weak result is specific to life expectancy rather than to the domain.</a:t>
            </a:r>
          </a:p>
          <a:p>
            <a:pPr>
              <a:lnSpc>
                <a:spcPct val="132000"/>
              </a:lnSpc>
              <a:spcBef>
                <a:spcPts val="0"/>
              </a:spcBef>
              <a:spcAft>
                <a:spcPts val="1100"/>
              </a:spcAft>
            </a:pPr>
            <a:r>
              <a:rPr sz="1150" b="0" i="0">
                <a:solidFill>
                  <a:srgbClr val="5A6068"/>
                </a:solidFill>
                <a:latin typeface="Calibri"/>
              </a:rPr>
              <a:t>Education registers in both too, once unpooled, so its problem is construction rather than method. Trust registers in one and only one: 97% of ESS countries against 1.5% of SDG16 country-indicator pairs measuring a different construct.</a:t>
            </a:r>
          </a:p>
          <a:p>
            <a:pPr>
              <a:lnSpc>
                <a:spcPct val="132000"/>
              </a:lnSpc>
              <a:spcBef>
                <a:spcPts val="0"/>
              </a:spcBef>
              <a:spcAft>
                <a:spcPts val="1100"/>
              </a:spcAft>
            </a:pPr>
            <a:r>
              <a:rPr sz="1150" b="0" i="0">
                <a:solidFill>
                  <a:srgbClr val="5A6068"/>
                </a:solidFill>
                <a:latin typeface="Calibri"/>
              </a:rPr>
              <a:t>That asymmetry is the argument for why level of measurement matters, and not just which indicator you pick. Some things about a life are legible in national aggregates. Whether you think your neighbours can be trusted is not one of them.</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health_trust_corroboration.png"/>
          <p:cNvPicPr>
            <a:picLocks noChangeAspect="1"/>
          </p:cNvPicPr>
          <p:nvPr/>
        </p:nvPicPr>
        <p:blipFill>
          <a:blip r:embed="rId2"/>
          <a:stretch>
            <a:fillRect/>
          </a:stretch>
        </p:blipFill>
        <p:spPr>
          <a:xfrm>
            <a:off x="5120640" y="1858518"/>
            <a:ext cx="6537960" cy="26746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Health corroborates across administrative and self-reported sources. Trust appears only in individual-level data.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None of this is a criticism of frameworks built to track development. It is the observation that which domain looks consequential for lived experience depends on construction choices made for other reasons — that one domain is missing outright, and that the domain measures track wellbeing dynamically in a way the composites do not.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7680960" y="822960"/>
            <a:ext cx="384048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IV</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IV</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What this could mean for development frameworks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The SDGs and the HDI do the job they were built for, and none of this evidence says otherwise. The narrower claim is that they may not be capturing what shapes lived experience at the individual level — and that the evidence points to reasonably specific things one could do about it.</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Unpool</a:t>
            </a:r>
          </a:p>
          <a:p>
            <a:pPr>
              <a:lnSpc>
                <a:spcPct val="120000"/>
              </a:lnSpc>
              <a:spcBef>
                <a:spcPts val="0"/>
              </a:spcBef>
              <a:spcAft>
                <a:spcPts val="0"/>
              </a:spcAft>
            </a:pPr>
            <a:r>
              <a:rPr sz="1000" b="0" i="0">
                <a:solidFill>
                  <a:srgbClr val="8A94A0"/>
                </a:solidFill>
                <a:latin typeface="Calibri"/>
              </a:rPr>
              <a:t>report SDG4 access separately from parity ratios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Re-specify</a:t>
            </a:r>
          </a:p>
          <a:p>
            <a:pPr>
              <a:lnSpc>
                <a:spcPct val="120000"/>
              </a:lnSpc>
              <a:spcBef>
                <a:spcPts val="0"/>
              </a:spcBef>
              <a:spcAft>
                <a:spcPts val="0"/>
              </a:spcAft>
            </a:pPr>
            <a:r>
              <a:rPr sz="1000" b="0" i="0">
                <a:solidFill>
                  <a:srgbClr val="8A94A0"/>
                </a:solidFill>
                <a:latin typeface="Calibri"/>
              </a:rPr>
              <a:t>a health variable that still varies where it is used</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Collect</a:t>
            </a:r>
          </a:p>
          <a:p>
            <a:pPr>
              <a:lnSpc>
                <a:spcPct val="120000"/>
              </a:lnSpc>
              <a:spcBef>
                <a:spcPts val="0"/>
              </a:spcBef>
              <a:spcAft>
                <a:spcPts val="0"/>
              </a:spcAft>
            </a:pPr>
            <a:r>
              <a:rPr sz="1000" b="0" i="0">
                <a:solidFill>
                  <a:srgbClr val="8A94A0"/>
                </a:solidFill>
                <a:latin typeface="Calibri"/>
              </a:rPr>
              <a:t>interpersonal trust, or link to a survey that has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DISCONNECT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Two different questions, and only one of them is being measured</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shape of what follows, before the detail. Two of the three domains are already inside these frameworks — health, and the access half of education — and on this evidence they are the two that track lived experience. The suggestion is not to add a wellbeing pillar but to let those two carry that weight explicitly: elevate them as wellbeing-relevant highlights, measured with variables that still vary, with social trust flagged as a likely third that neither framework can currently see.</a:t>
            </a:r>
          </a:p>
          <a:p>
            <a:pPr>
              <a:lnSpc>
                <a:spcPct val="132000"/>
              </a:lnSpc>
              <a:spcBef>
                <a:spcPts val="0"/>
              </a:spcBef>
              <a:spcAft>
                <a:spcPts val="1100"/>
              </a:spcAft>
            </a:pPr>
            <a:r>
              <a:rPr sz="1400" b="0" i="0">
                <a:solidFill>
                  <a:srgbClr val="5A6068"/>
                </a:solidFill>
                <a:latin typeface="Calibri"/>
              </a:rPr>
              <a:t>'How is development progressing?' and 'what shapes how people experience their lives?' are not the same question, and the frameworks were built to answer the first. Indicators were chosen before the second was systematically testable, at an aggregate level, on annual or slower cycles. That is scope, not failure.</a:t>
            </a:r>
          </a:p>
          <a:p>
            <a:pPr>
              <a:lnSpc>
                <a:spcPct val="132000"/>
              </a:lnSpc>
              <a:spcBef>
                <a:spcPts val="0"/>
              </a:spcBef>
              <a:spcAft>
                <a:spcPts val="1100"/>
              </a:spcAft>
            </a:pPr>
            <a:r>
              <a:rPr sz="1400" b="0" i="0">
                <a:solidFill>
                  <a:srgbClr val="5A6068"/>
                </a:solidFill>
                <a:latin typeface="Calibri"/>
              </a:rPr>
              <a:t>But the consequence is that a framework can be working exactly as designed and still be a poor guide to lived experience. Two of the three domains that predict life satisfaction in the ESS are present in the frameworks and obscured by construction choices; the third is not present at all. None of that shows up in a framework's own diagnostics, because nothing in those diagnostics is asking about wellbeing.</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CHANGE 1 · EDUCATION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Report access separately, rather than pooling it into a goal-level average</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cheapest change on this list, because it needs no new data collection. SDG4's access and participation series already reach 12.7%; the published goal-level figure of 3.3% is produced by averaging them with parity ratios, infrastructure and learning outcomes, which reach 2.5%, 2.0% and 0.9%.</a:t>
            </a:r>
          </a:p>
          <a:p>
            <a:pPr>
              <a:lnSpc>
                <a:spcPct val="132000"/>
              </a:lnSpc>
              <a:spcBef>
                <a:spcPts val="0"/>
              </a:spcBef>
              <a:spcAft>
                <a:spcPts val="1100"/>
              </a:spcAft>
            </a:pPr>
            <a:r>
              <a:rPr sz="1400" b="0" i="0">
                <a:solidFill>
                  <a:srgbClr val="5A6068"/>
                </a:solidFill>
                <a:latin typeface="Calibri"/>
              </a:rPr>
              <a:t>So the suggestion is a reporting convention rather than a measurement programme: where a goal pools constructs that behave differently, publish the constituents alongside the pooled rate. Every number needed for this already exists in the database. What it would buy is that education stops looking like a domain that does not matter for wellbeing, which on this evidence it plainly does.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CHANGE 2 · HEALTH</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Use a health variable that still varies where the framework is being applied</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Life expectancy is a good development indicator and a poor wellbeing one in exactly the places where development has already happened. Between 81 and 85 years across the top 100 countries, there is very little variance left for it to explain — which is why it comes last of the HDI's five components at 19%, while self-rated health leads the ESS at 100% of countries.</a:t>
            </a:r>
          </a:p>
          <a:p>
            <a:pPr>
              <a:lnSpc>
                <a:spcPct val="132000"/>
              </a:lnSpc>
              <a:spcBef>
                <a:spcPts val="0"/>
              </a:spcBef>
              <a:spcAft>
                <a:spcPts val="1100"/>
              </a:spcAft>
            </a:pPr>
            <a:r>
              <a:rPr sz="1400" b="0" i="0">
                <a:solidFill>
                  <a:srgbClr val="5A6068"/>
                </a:solidFill>
                <a:latin typeface="Calibri"/>
              </a:rPr>
              <a:t>The evidence suggests health measurement could be made conditional on context rather than uniform: life expectancy where mortality still varies, and something with range left — self-rated health, or condition-specific measures — where it does not. This is not two frameworks. It is one domain, measured with an instrument chosen to still be sensitive in the setting it is used in.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CHANGE 3 · SOCIAL TRUST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Collect interpersonal trust, or link systematically to surveys that already do</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350" b="0" i="0">
                <a:solidFill>
                  <a:srgbClr val="5A6068"/>
                </a:solidFill>
                <a:latin typeface="Calibri"/>
              </a:rPr>
              <a:t>This is the expensive one, and the only one that cannot be solved by re-analysing what exists. On the ESS evidence, interpersonal trust is the second strongest of the three domains — ahead of education — and neither framework collects it. SDG16's institutional confidence series are not a substitute: different construct, and they do not survive an income control.</a:t>
            </a:r>
          </a:p>
          <a:p>
            <a:pPr>
              <a:lnSpc>
                <a:spcPct val="132000"/>
              </a:lnSpc>
              <a:spcBef>
                <a:spcPts val="0"/>
              </a:spcBef>
              <a:spcAft>
                <a:spcPts val="1100"/>
              </a:spcAft>
            </a:pPr>
            <a:r>
              <a:rPr sz="1350" b="0" i="0">
                <a:solidFill>
                  <a:srgbClr val="5A6068"/>
                </a:solidFill>
                <a:latin typeface="Calibri"/>
              </a:rPr>
              <a:t>Two routes. Add a trust item to core collection, which is a single well-validated question and cheap per respondent but slow institutionally. Or build systematic linkage to instruments that already carry it — the ESS in Europe, Gallup World Poll and the World Values Survey more broadly — so that country assessments can draw on it without the frameworks having to own the collection.</a:t>
            </a:r>
          </a:p>
          <a:p>
            <a:pPr>
              <a:lnSpc>
                <a:spcPct val="132000"/>
              </a:lnSpc>
              <a:spcBef>
                <a:spcPts val="0"/>
              </a:spcBef>
              <a:spcAft>
                <a:spcPts val="1100"/>
              </a:spcAft>
            </a:pPr>
            <a:r>
              <a:rPr sz="1350" b="0" i="0">
                <a:solidFill>
                  <a:srgbClr val="5A6068"/>
                </a:solidFill>
                <a:latin typeface="Calibri"/>
              </a:rPr>
              <a:t>The caveats stay attached, and they are about coverage rather than about whether the association is real. It rests on 36 European countries and one survey item, and it has not yet been corroborated against an independent wellbeing instrument the way health has. What it is not is a questionnaire artefact: with predictor and outcome taken from different respondents, the within-country result holds at +0.55. So this is the most tentative of the three recommendations on scope, and the one where the cost of being right and not measuring is highest — because a domain no framework collects cannot show up as a gap in any framework's own diagnostics.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WHERE THIS LEAVES THE ARGUMENT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Not a verdict on the frameworks — a question about what they are for</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Two of the three changes above are re-analysis of data that already exists. The third is a collection decision. None of them requires accepting that the SDGs or the HDI are failing at what they set out to do.</a:t>
            </a:r>
          </a:p>
          <a:p>
            <a:pPr>
              <a:lnSpc>
                <a:spcPct val="132000"/>
              </a:lnSpc>
              <a:spcBef>
                <a:spcPts val="0"/>
              </a:spcBef>
              <a:spcAft>
                <a:spcPts val="1100"/>
              </a:spcAft>
            </a:pPr>
            <a:r>
              <a:rPr sz="1400" b="0" i="0">
                <a:solidFill>
                  <a:srgbClr val="5A6068"/>
                </a:solidFill>
                <a:latin typeface="Calibri"/>
              </a:rPr>
              <a:t>What the evidence does support is narrower and, we think, harder to dismiss: which domain looks consequential for lived experience depends heavily on construction choices that were made for other, defensible reasons — and on one domain that was never on the list at all. If wellbeing is meant to be part of what these frameworks track, those choices are now testable rather than conventional, and this is what testing them shows.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IV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Whether wellbeing belongs in the purpose of a development framework is a choice, not a finding. But if it does, the measurement that follows from that intent looks different from the measurement in place today — and the three changes above are where it would start.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229600" cy="822960"/>
          </a:xfrm>
          <a:prstGeom prst="rect">
            <a:avLst/>
          </a:prstGeom>
          <a:noFill/>
        </p:spPr>
        <p:txBody>
          <a:bodyPr wrap="square" lIns="0" rIns="0" tIns="0" bIns="0">
            <a:spAutoFit/>
          </a:bodyPr>
          <a:lstStyle/>
          <a:p>
            <a:pPr>
              <a:spcBef>
                <a:spcPts val="0"/>
              </a:spcBef>
              <a:spcAft>
                <a:spcPts val="600"/>
              </a:spcAft>
            </a:pPr>
            <a:r>
              <a:rPr sz="3200" b="0" i="0">
                <a:solidFill>
                  <a:srgbClr val="14171C"/>
                </a:solidFill>
                <a:latin typeface="Georgia"/>
              </a:rPr>
              <a:t>Decisions for the team</a:t>
            </a:r>
          </a:p>
          <a:p>
            <a:pPr>
              <a:spcBef>
                <a:spcPts val="0"/>
              </a:spcBef>
              <a:spcAft>
                <a:spcPts val="0"/>
              </a:spcAft>
            </a:pPr>
            <a:r>
              <a:rPr sz="1300" b="0" i="0">
                <a:solidFill>
                  <a:srgbClr val="5A6068"/>
                </a:solidFill>
                <a:latin typeface="Calibri"/>
              </a:rPr>
              <a:t>7 things the acts do not settle, in the order they block drafting.</a:t>
            </a:r>
          </a:p>
        </p:txBody>
      </p:sp>
      <p:sp>
        <p:nvSpPr>
          <p:cNvPr id="3" name="Rectangle 2"/>
          <p:cNvSpPr/>
          <p:nvPr/>
        </p:nvSpPr>
        <p:spPr>
          <a:xfrm>
            <a:off x="566928"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FIGURE COUNT</a:t>
            </a:r>
          </a:p>
          <a:p>
            <a:pPr>
              <a:lnSpc>
                <a:spcPct val="130000"/>
              </a:lnSpc>
              <a:spcBef>
                <a:spcPts val="0"/>
              </a:spcBef>
              <a:spcAft>
                <a:spcPts val="0"/>
              </a:spcAft>
            </a:pPr>
            <a:r>
              <a:rPr sz="1100" b="0" i="0">
                <a:solidFill>
                  <a:srgbClr val="5A6068"/>
                </a:solidFill>
                <a:latin typeface="Calibri"/>
              </a:rPr>
              <a:t>Commentaries allow one or two. Proposed: the three-way collapse as Figure 1 and the three-domain comparison as Figure 2. Everything else supplementary.</a:t>
            </a:r>
          </a:p>
        </p:txBody>
      </p:sp>
      <p:sp>
        <p:nvSpPr>
          <p:cNvPr id="5" name="Rectangle 4"/>
          <p:cNvSpPr/>
          <p:nvPr/>
        </p:nvSpPr>
        <p:spPr>
          <a:xfrm>
            <a:off x="4359554"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59554"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ONE UNIT, EVERYWHERE</a:t>
            </a:r>
          </a:p>
          <a:p>
            <a:pPr>
              <a:lnSpc>
                <a:spcPct val="130000"/>
              </a:lnSpc>
              <a:spcBef>
                <a:spcPts val="0"/>
              </a:spcBef>
              <a:spcAft>
                <a:spcPts val="0"/>
              </a:spcAft>
            </a:pPr>
            <a:r>
              <a:rPr sz="1100" b="0" i="0">
                <a:solidFill>
                  <a:srgbClr val="5A6068"/>
                </a:solidFill>
                <a:latin typeface="Calibri"/>
              </a:rPr>
              <a:t>Every headline number is now % of units FDR-significant at q  0.04 on ~7 country-round means; at that n roughly two-thirds of pure noise clears the bar, which inflated the ESS figures and made the framework comparison meaningless. ESS is now estimated on individual respondents, demeaned within country-round.</a:t>
            </a:r>
          </a:p>
        </p:txBody>
      </p:sp>
      <p:sp>
        <p:nvSpPr>
          <p:cNvPr id="7" name="Rectangle 6"/>
          <p:cNvSpPr/>
          <p:nvPr/>
        </p:nvSpPr>
        <p:spPr>
          <a:xfrm>
            <a:off x="8152180"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2180"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WHAT THE ESS PANEL CAN AND CANNOT TEST</a:t>
            </a:r>
          </a:p>
          <a:p>
            <a:pPr>
              <a:lnSpc>
                <a:spcPct val="130000"/>
              </a:lnSpc>
              <a:spcBef>
                <a:spcPts val="0"/>
              </a:spcBef>
              <a:spcAft>
                <a:spcPts val="0"/>
              </a:spcAft>
            </a:pPr>
            <a:r>
              <a:rPr sz="1100" b="0" i="0">
                <a:solidFill>
                  <a:srgbClr val="5A6068"/>
                </a:solidFill>
                <a:latin typeface="Calibri"/>
              </a:rPr>
              <a:t>Seven survey rounds is too short for the per-country time-series design. Simulating a REAL correlation and asking how often the test finds it: at seven observations rho = 0.5 is recovered in ~3% of units and rho = 0.7 in ~23%, against ~50% and ~79% at thirteen years. So HDI x ESS returning 8% levels / 16% differences is a null test, not a finding — and the inversion (differences above levels) is itself the tell. We report the bars and flag them rather than dropping them. The ESS levels contribution comes from cross-section instead: 47% of 15 countries across regions, which is well-powered.</a:t>
            </a:r>
          </a:p>
        </p:txBody>
      </p:sp>
      <p:sp>
        <p:nvSpPr>
          <p:cNvPr id="9" name="Rectangle 8"/>
          <p:cNvSpPr/>
          <p:nvPr/>
        </p:nvSpPr>
        <p:spPr>
          <a:xfrm>
            <a:off x="566928"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SCOPE OF THE TRUST FINDING</a:t>
            </a:r>
          </a:p>
          <a:p>
            <a:pPr>
              <a:lnSpc>
                <a:spcPct val="130000"/>
              </a:lnSpc>
              <a:spcBef>
                <a:spcPts val="0"/>
              </a:spcBef>
              <a:spcAft>
                <a:spcPts val="0"/>
              </a:spcAft>
            </a:pPr>
            <a:r>
              <a:rPr sz="1100" b="0" i="0">
                <a:solidFill>
                  <a:srgbClr val="5A6068"/>
                </a:solidFill>
                <a:latin typeface="Calibri"/>
              </a:rPr>
              <a:t>Trust rests on the ESS: 36 European countries, one item, self-reported. 97% of countries significant at levels; +0.59 within-country in first differences, and +0.55 with predictor and outcome drawn from disjoint respondents, so it is not a common-method artefact. What is still missing is corroboration against an independent wellbeing instrument: against the WHR ladder it is +0.06 n.s. in differences, plausibly attenuation from pairing two samples with different fieldwork timing, but unproven either way. Health has that corroboration and trust does not — worth stating plainly rather than leaning on trust as hard as on health.</a:t>
            </a:r>
          </a:p>
        </p:txBody>
      </p:sp>
      <p:sp>
        <p:nvSpPr>
          <p:cNvPr id="11" name="Rectangle 10"/>
          <p:cNvSpPr/>
          <p:nvPr/>
        </p:nvSpPr>
        <p:spPr>
          <a:xfrm>
            <a:off x="4359554"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59554"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INSTITUTIONAL CONFIDENCE IS NOT INTERPERSONAL TRUST</a:t>
            </a:r>
          </a:p>
          <a:p>
            <a:pPr>
              <a:lnSpc>
                <a:spcPct val="130000"/>
              </a:lnSpc>
              <a:spcBef>
                <a:spcPts val="0"/>
              </a:spcBef>
              <a:spcAft>
                <a:spcPts val="0"/>
              </a:spcAft>
            </a:pPr>
            <a:r>
              <a:rPr sz="1100" b="0" i="0">
                <a:solidFill>
                  <a:srgbClr val="5A6068"/>
                </a:solidFill>
                <a:latin typeface="Calibri"/>
              </a:rPr>
              <a:t>SDG16's trust-adjacent series measure satisfaction with public services, perceived bribery and perceived inclusiveness in decision-making. These are conceptually distinct from 'most people can be trusted', and they do not survive an income control while interpersonal trust does. The commentary must be explicit that SDG16 is not a direct analogue, wherever the 1.5% figure appears.</a:t>
            </a:r>
          </a:p>
        </p:txBody>
      </p:sp>
      <p:sp>
        <p:nvSpPr>
          <p:cNvPr id="13" name="Rectangle 12"/>
          <p:cNvSpPr/>
          <p:nvPr/>
        </p:nvSpPr>
        <p:spPr>
          <a:xfrm>
            <a:off x="8152180"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52180"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THREE FAILURE MODES AS THE META-FINDING</a:t>
            </a:r>
          </a:p>
          <a:p>
            <a:pPr>
              <a:lnSpc>
                <a:spcPct val="130000"/>
              </a:lnSpc>
              <a:spcBef>
                <a:spcPts val="0"/>
              </a:spcBef>
              <a:spcAft>
                <a:spcPts val="0"/>
              </a:spcAft>
            </a:pPr>
            <a:r>
              <a:rPr sz="1100" b="0" i="0">
                <a:solidFill>
                  <a:srgbClr val="5A6068"/>
                </a:solidFill>
                <a:latin typeface="Calibri"/>
              </a:rPr>
              <a:t>The paper's contribution is arguably not the three domains but the three distinct ways a framework loses one: pooled construct, saturated variable, absent coverage. They need different remedies, which is what makes Act IV specific rather than rhetorical.</a:t>
            </a:r>
          </a:p>
        </p:txBody>
      </p:sp>
      <p:sp>
        <p:nvSpPr>
          <p:cNvPr id="15" name="Rectangle 14"/>
          <p:cNvSpPr/>
          <p:nvPr/>
        </p:nvSpPr>
        <p:spPr>
          <a:xfrm>
            <a:off x="566928" y="630936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649224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WHAT WE ARE NOT CLAIMING</a:t>
            </a:r>
          </a:p>
          <a:p>
            <a:pPr>
              <a:lnSpc>
                <a:spcPct val="130000"/>
              </a:lnSpc>
              <a:spcBef>
                <a:spcPts val="0"/>
              </a:spcBef>
              <a:spcAft>
                <a:spcPts val="0"/>
              </a:spcAft>
            </a:pPr>
            <a:r>
              <a:rPr sz="1100" b="0" i="0">
                <a:solidFill>
                  <a:srgbClr val="5A6068"/>
                </a:solidFill>
                <a:latin typeface="Calibri"/>
              </a:rPr>
              <a:t>No causal claim, and no verdict on the SDGs or HDI as development instruments. The claim is about what these frameworks can and cannot see when the question is individual lived experience — and it is bounded by ESS coverage on the trust half.</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566928" y="2743200"/>
            <a:ext cx="8229600" cy="1371600"/>
          </a:xfrm>
          <a:prstGeom prst="rect">
            <a:avLst/>
          </a:prstGeom>
          <a:noFill/>
        </p:spPr>
        <p:txBody>
          <a:bodyPr wrap="square" lIns="0" rIns="0" tIns="0" bIns="0">
            <a:spAutoFit/>
          </a:bodyPr>
          <a:lstStyle/>
          <a:p>
            <a:pPr>
              <a:spcBef>
                <a:spcPts val="0"/>
              </a:spcBef>
              <a:spcAft>
                <a:spcPts val="1000"/>
              </a:spcAft>
            </a:pPr>
            <a:r>
              <a:rPr sz="4000" b="0" i="0">
                <a:solidFill>
                  <a:srgbClr val="FCFCFB"/>
                </a:solidFill>
                <a:latin typeface="Georgia"/>
              </a:rPr>
              <a:t>Evidence appendix</a:t>
            </a:r>
          </a:p>
          <a:p>
            <a:pPr>
              <a:lnSpc>
                <a:spcPct val="135000"/>
              </a:lnSpc>
              <a:spcBef>
                <a:spcPts val="0"/>
              </a:spcBef>
              <a:spcAft>
                <a:spcPts val="0"/>
              </a:spcAft>
            </a:pPr>
            <a:r>
              <a:rPr sz="1400" b="0" i="0">
                <a:solidFill>
                  <a:srgbClr val="9AA4B0"/>
                </a:solidFill>
                <a:latin typeface="Calibri"/>
              </a:rPr>
              <a:t>Everything the three acts rest on but do not carry. In submission these become supplementary material.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The collapse across all three national pairings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Countries FDR-significant at levels versus first differences under the SDG framework, the HDI, and subnational HDI aggregated nationally.</a:t>
            </a:r>
          </a:p>
        </p:txBody>
      </p:sp>
      <p:pic>
        <p:nvPicPr>
          <p:cNvPr id="5" name="Picture 4" descr="collapse_hdi_shdi_whr.png"/>
          <p:cNvPicPr>
            <a:picLocks noChangeAspect="1"/>
          </p:cNvPicPr>
          <p:nvPr/>
        </p:nvPicPr>
        <p:blipFill>
          <a:blip r:embed="rId2"/>
          <a:stretch>
            <a:fillRect/>
          </a:stretch>
        </p:blipFill>
        <p:spPr>
          <a:xfrm>
            <a:off x="2121157" y="1965960"/>
            <a:ext cx="7949380" cy="448056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Per-region collapse, subnational HDI against ESS life satisfaction</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167 regions with at least five survey rounds. Levels R² on the horizontal axis, across-year differences on the vertical.</a:t>
            </a:r>
          </a:p>
        </p:txBody>
      </p:sp>
      <p:pic>
        <p:nvPicPr>
          <p:cNvPr id="5" name="Picture 4" descr="collapse_shdi_ess_regional.png"/>
          <p:cNvPicPr>
            <a:picLocks noChangeAspect="1"/>
          </p:cNvPicPr>
          <p:nvPr/>
        </p:nvPicPr>
        <p:blipFill>
          <a:blip r:embed="rId2"/>
          <a:stretch>
            <a:fillRect/>
          </a:stretch>
        </p:blipFill>
        <p:spPr>
          <a:xfrm>
            <a:off x="3585393" y="1965960"/>
            <a:ext cx="5020909" cy="448056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The three domains competing inside one instrument</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ESS only, at two levels of aggregation: individual respondents on the left, country means on the right.</a:t>
            </a:r>
          </a:p>
        </p:txBody>
      </p:sp>
      <p:pic>
        <p:nvPicPr>
          <p:cNvPr id="5" name="Picture 4" descr="domain_horse_race.png"/>
          <p:cNvPicPr>
            <a:picLocks noChangeAspect="1"/>
          </p:cNvPicPr>
          <p:nvPr/>
        </p:nvPicPr>
        <p:blipFill>
          <a:blip r:embed="rId2"/>
          <a:stretch>
            <a:fillRect/>
          </a:stretch>
        </p:blipFill>
        <p:spPr>
          <a:xfrm>
            <a:off x="1940489" y="1965960"/>
            <a:ext cx="8310716" cy="448056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Individual-level education by country</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distribution behind the 89% figure — per-country associations between years of schooling and life satisfaction across 351,023 respondents.</a:t>
            </a:r>
          </a:p>
        </p:txBody>
      </p:sp>
      <p:pic>
        <p:nvPicPr>
          <p:cNvPr id="5" name="Picture 4" descr="ess_individual_education.png"/>
          <p:cNvPicPr>
            <a:picLocks noChangeAspect="1"/>
          </p:cNvPicPr>
          <p:nvPr/>
        </p:nvPicPr>
        <p:blipFill>
          <a:blip r:embed="rId2"/>
          <a:stretch>
            <a:fillRect/>
          </a:stretch>
        </p:blipFill>
        <p:spPr>
          <a:xfrm>
            <a:off x="2399046" y="1965960"/>
            <a:ext cx="7393603" cy="4480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