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75"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075"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by asking: which parts of development track lived experience at all? And why do some frameworks capture them while others systematically miss them?</a:t>
            </a:r>
          </a:p>
          <a:p>
            <a:pPr>
              <a:lnSpc>
                <a:spcPct val="134000"/>
              </a:lnSpc>
              <a:spcBef>
                <a:spcPts val="0"/>
              </a:spcBef>
              <a:spcAft>
                <a:spcPts val="1200"/>
              </a:spcAft>
            </a:pPr>
            <a:r>
              <a:rPr sz="1075" b="0" i="0">
                <a:solidFill>
                  <a:srgbClr val="5A6068"/>
                </a:solidFill>
                <a:latin typeface="Calibri"/>
              </a:rPr>
              <a:t>The answer turns out to be about the frameworks' construction choices, not about development itself. Education, health, and social trust all matter — but which one you find depends on which framework you measure with, which construct you count, and whether you collected the data in the first place.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So we can analyze the levels.</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three domains emerge: education, health, and social trust.</a:t>
            </a:r>
          </a:p>
          <a:p>
            <a:pPr>
              <a:lnSpc>
                <a:spcPct val="125000"/>
              </a:lnSpc>
              <a:spcBef>
                <a:spcPts val="0"/>
              </a:spcBef>
              <a:spcAft>
                <a:spcPts val="0"/>
              </a:spcAft>
            </a:pPr>
            <a:r>
              <a:rPr sz="1100" b="0" i="0">
                <a:solidFill>
                  <a:srgbClr val="5A6068"/>
                </a:solidFill>
                <a:latin typeface="Calibri"/>
              </a:rPr>
              <a:t>But each framework sees a different subset, for a different reason: the wrong construct, a variable that stopped varying, or no coverage at all.</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What this means for how we measure development.</a:t>
            </a:r>
          </a:p>
          <a:p>
            <a:pPr>
              <a:lnSpc>
                <a:spcPct val="125000"/>
              </a:lnSpc>
              <a:spcBef>
                <a:spcPts val="0"/>
              </a:spcBef>
              <a:spcAft>
                <a:spcPts val="0"/>
              </a:spcAft>
            </a:pPr>
            <a:r>
              <a:rPr sz="1100" b="0" i="0">
                <a:solidFill>
                  <a:srgbClr val="5A6068"/>
                </a:solidFill>
                <a:latin typeface="Calibri"/>
              </a:rPr>
              <a:t>A disconnect between what frameworks capture and what predicts lived experience, with implications for each domain.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25"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25" b="0" i="0">
                <a:solidFill>
                  <a:srgbClr val="5A6068"/>
                </a:solidFill>
                <a:latin typeface="Calibri"/>
              </a:rPr>
              <a:t>Running the same levels-and-differences design against the ESS — 36 European countries, 351,000 respondents — reveals something unexpected: the collapse does NOT hold here. Both levels and differences show significant associations. Life satisfaction and happiness respond to year-to-year changes in how people report themselves, not just to between-country differences. This is a important caveat to our main finding: self-reported wellbeing measures capture changes that administrative development indicators miss — but only at the temporal and geographic resolution of the ESS (36 European countries, annual cycles). The persistence of the collapse in SDG and HDI suggests their construction choices matter more than the measurement method alone.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1264158"/>
            <a:ext cx="6537960" cy="38633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shows persistent associations in differences, unlike SDG and HDI. Caveat: 36 European countries, self-reported measures, annual survey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The HDI still shows the collapse, unlike the ESS, so the question shifts: which components of development are actually strong at the levels, and why does the type of measurement matter? This is the entry point to Act II: which components are actually strong, weak, or invisible when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predicts wellbeing at the levels? Three findings.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75" b="0" i="1">
                <a:solidFill>
                  <a:srgbClr val="9AA4B0"/>
                </a:solidFill>
                <a:latin typeface="Georgia"/>
              </a:rPr>
              <a:t>Three domains emerge when you ask which indicators of education, health, and social trust predict life satisfaction at the levels. But each framework sees a different subset — not because the domains differ across contexts, but because of three distinct reasons frameworks fail to capture what matters for lived experience.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1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The gap between frameworks shows the importance of variable choice, not of health itself.</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1150" b="0" i="0">
                <a:solidFill>
                  <a:srgbClr val="5A6068"/>
                </a:solidFill>
                <a:latin typeface="Calibri"/>
              </a:rPr>
              <a:t>The SDG database does carry 13 trust- and satisfaction-adjacent series under Goal 16: satisfaction with public services, perception of bribery, perceived decision-making inclusiveness. But these measure institutional confidence, not interpersonal trust — a different construct, and one that correlates more weakly with life satisfaction even when tested across countries. Moreover, their median coverage is one observation per country-series against six for the database as a whole; 147 of 163 country-series cannot support a time-series design.</a:t>
            </a:r>
          </a:p>
          <a:p>
            <a:pPr>
              <a:lnSpc>
                <a:spcPct val="132000"/>
              </a:lnSpc>
              <a:spcBef>
                <a:spcPts val="0"/>
              </a:spcBef>
              <a:spcAft>
                <a:spcPts val="1100"/>
              </a:spcAft>
            </a:pPr>
            <a:r>
              <a:rPr sz="1150" b="0" i="0">
                <a:solidFill>
                  <a:srgbClr val="5A6068"/>
                </a:solidFill>
                <a:latin typeface="Calibri"/>
              </a:rPr>
              <a:t>Education's and health's problems are about which variable to count within a domain. Trust's problem is different: it is not in the frameworks at all. That is a coverage gap, not a measurement problem.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trust_coverage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Social trust: 94% of ESS countries significant (individual level), 1.5% of SDG16 country-indicator pairs (institutional confidence, not interpersonal trust), not measured in the HDI.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WITHIN-COUNTRY EVIDENCE · WHY ESS IS DIFFERENT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Individual-level, self-reported data captures year-to-year change that administrative frameworks miss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Here is the critical observation that reshapes the question: unlike SDG (71% levels → 5% differences) and HDI (42% → 2%), the ESS shows 69% levels → 64% differences. The association persists within countries over time. This is not because development frameworks are poorly designed; it is because they measure aggregate, administrative data at long intervals (annual at best for HDI and SDG). Individual survey responses capture year-to-year variation in how people experience their lives.</a:t>
            </a:r>
          </a:p>
          <a:p>
            <a:pPr>
              <a:lnSpc>
                <a:spcPct val="132000"/>
              </a:lnSpc>
              <a:spcBef>
                <a:spcPts val="0"/>
              </a:spcBef>
              <a:spcAft>
                <a:spcPts val="1100"/>
              </a:spcAft>
            </a:pPr>
            <a:r>
              <a:rPr sz="1400" b="0" i="0">
                <a:solidFill>
                  <a:srgbClr val="5A6068"/>
                </a:solidFill>
                <a:latin typeface="Calibri"/>
              </a:rPr>
              <a:t>This matters for social trust most of all. At the country level, SDG has almost no trust coverage; in the HDI, none. But at the individual level, within countries, ESS shows trust is significant in 94% of countries and drives year-to-year change in how satisfied people report being. The three domains emerge not because the frameworks reveal them, but because ESS measures them where people actually experience variation: in themselves, over time.</a:t>
            </a:r>
          </a:p>
          <a:p>
            <a:pPr>
              <a:lnSpc>
                <a:spcPct val="132000"/>
              </a:lnSpc>
              <a:spcBef>
                <a:spcPts val="0"/>
              </a:spcBef>
              <a:spcAft>
                <a:spcPts val="1100"/>
              </a:spcAft>
            </a:pPr>
            <a:r>
              <a:rPr sz="1400" b="0" i="0">
                <a:solidFill>
                  <a:srgbClr val="5A6068"/>
                </a:solidFill>
                <a:latin typeface="Calibri"/>
              </a:rPr>
              <a:t>The caveats are substantial: 36 European countries, self-reported measures, annual cycles. But the implication is clear. Development frameworks' blindness to social trust is not because trust does not matter for wellbeing; it is because development was never designed to measure individual experience at the temporal resolution where people change.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ways frameworks lose sight of what matters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50" b="0" i="0">
                <a:solidFill>
                  <a:srgbClr val="5A6068"/>
                </a:solidFill>
                <a:latin typeface="Calibri"/>
              </a:rPr>
              <a:t>These are not criticisms of the frameworks; they were built to track development, and they do. But which components look most consequential for lived experience is not the question they were built to answer.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(ESS), at two levels of aggregation. Individual level (left) and country means (right).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Each framework's construction choices — which construct to count, which variable to measure, which domains to collect at all — determine what it can see. The problem is not the domains; the problem is the measurement.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work for development. They do not work for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a:t>
            </a:r>
          </a:p>
          <a:p>
            <a:pPr>
              <a:lnSpc>
                <a:spcPct val="132000"/>
              </a:lnSpc>
              <a:spcBef>
                <a:spcPts val="0"/>
              </a:spcBef>
              <a:spcAft>
                <a:spcPts val="1100"/>
              </a:spcAft>
            </a:pPr>
            <a:r>
              <a:rPr sz="1400" b="0" i="0">
                <a:solidFill>
                  <a:srgbClr val="5A6068"/>
                </a:solidFill>
                <a:latin typeface="Calibri"/>
              </a:rPr>
              <a:t>But it means the gap is structural. Education's access indicators work; pooling them with constructs that do not does not fix wellbeing prediction — it just builds a worse measure. Choosing a variable for health that is closer to saturated than the outcome it predicts is a measurement choice, not an incurable problem. And when a domain is never collected, no amount of better construction on the others will reach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the case for measurement specificity</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a:t>
            </a:r>
          </a:p>
          <a:p>
            <a:pPr>
              <a:lnSpc>
                <a:spcPct val="132000"/>
              </a:lnSpc>
              <a:spcBef>
                <a:spcPts val="0"/>
              </a:spcBef>
              <a:spcAft>
                <a:spcPts val="1100"/>
              </a:spcAft>
            </a:pPr>
            <a:r>
              <a:rPr sz="1400" b="0" i="0">
                <a:solidFill>
                  <a:srgbClr val="5A6068"/>
                </a:solidFill>
                <a:latin typeface="Calibri"/>
              </a:rPr>
              <a:t>For education, this suggests development measurement should weigh access and completion more heavily than parity ratios in wellbeing contexts — not universally, but with explicit construction choices that account for what is known to matter. For health, it suggests that wellbeing-motivated measurement may need different variables at different development levels: life expectancy in lower-income settings, self-reported health or specific conditions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you cannot fix a measurement by measuring better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that requires deciding to collect the data in the first place.</a:t>
            </a:r>
          </a:p>
          <a:p>
            <a:pPr>
              <a:lnSpc>
                <a:spcPct val="132000"/>
              </a:lnSpc>
              <a:spcBef>
                <a:spcPts val="0"/>
              </a:spcBef>
              <a:spcAft>
                <a:spcPts val="1100"/>
              </a:spcAft>
            </a:pPr>
            <a:r>
              <a:rPr sz="1400" b="0" i="0">
                <a:solidFill>
                  <a:srgbClr val="5A6068"/>
                </a:solidFill>
                <a:latin typeface="Calibri"/>
              </a:rPr>
              <a:t>For wellbeing-conscious development monitoring, this suggests either building interpersonal-trust measurement into the core frameworks, or acknowledging that other surveys (the ESS, Gallup World Poll, World Values Survey) may be more suitable for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question rather than a prescription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a:t>
            </a:r>
          </a:p>
          <a:p>
            <a:pPr>
              <a:lnSpc>
                <a:spcPct val="132000"/>
              </a:lnSpc>
              <a:spcBef>
                <a:spcPts val="0"/>
              </a:spcBef>
              <a:spcAft>
                <a:spcPts val="1100"/>
              </a:spcAft>
            </a:pPr>
            <a:r>
              <a:rPr sz="1400" b="0" i="0">
                <a:solidFill>
                  <a:srgbClr val="5A6068"/>
                </a:solidFill>
                <a:latin typeface="Calibri"/>
              </a:rPr>
              <a:t>Whether development frameworks should be redesigned around wellbeing is outside the scope here. But if they were, this finding suggests the question to ask: should measurement choices be made with explicit reference to which variables still move and still matter for lived experience? Should coverage be built in for domains the frameworks discovered only by studying something else?</a:t>
            </a:r>
          </a:p>
          <a:p>
            <a:pPr>
              <a:lnSpc>
                <a:spcPct val="132000"/>
              </a:lnSpc>
              <a:spcBef>
                <a:spcPts val="0"/>
              </a:spcBef>
              <a:spcAft>
                <a:spcPts val="1100"/>
              </a:spcAft>
            </a:pPr>
            <a:r>
              <a:rPr sz="1400" b="0" i="0">
                <a:solidFill>
                  <a:srgbClr val="5A6068"/>
                </a:solidFill>
                <a:latin typeface="Calibri"/>
              </a:rPr>
              <a:t>The frameworks work well for their stated purpose. The question is whether wellbeing should become part of that purpose — and if it does, whether the measurement that comes from that intent should be different from the aggregate, development-first measurement in place today.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