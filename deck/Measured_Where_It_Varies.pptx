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on why development predicts where wellbeing is high but not when it rises — and on the three domains that do track lived experience, once each is measured somewhere it still moves</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30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country is compared with its own past. Thirty of the 42 countries with usable SDG coverage show a significant SDG–happiness association in levels. Two do in year-to-year changes.</a:t>
            </a:r>
          </a:p>
          <a:p>
            <a:pPr>
              <a:lnSpc>
                <a:spcPct val="134000"/>
              </a:lnSpc>
              <a:spcBef>
                <a:spcPts val="0"/>
              </a:spcBef>
              <a:spcAft>
                <a:spcPts val="1200"/>
              </a:spcAft>
            </a:pPr>
            <a:r>
              <a:rPr sz="1300" b="0" i="0">
                <a:solidFill>
                  <a:srgbClr val="5A6068"/>
                </a:solidFill>
                <a:latin typeface="Calibri"/>
              </a:rPr>
              <a:t>There is an obvious way to dismiss that result. The SDG framework is a sprawling, politically negotiated instrument of more than two hundred indicators with uneven coverage; a null finding inside it says as much about the framework as about the world. This commentary closes that escape route, and then asks the question the result actually raises: if development in the aggregate does not track wellbeing over time, which of its parts tracks wellbeing at all? Health, education, income, social connection — the frameworks disagree sharply about the answer, and the disagreement turns out to be about measurement rather than about the world.</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We replicate the SDG result outside the SDGs.</a:t>
            </a:r>
          </a:p>
          <a:p>
            <a:pPr>
              <a:lnSpc>
                <a:spcPct val="125000"/>
              </a:lnSpc>
              <a:spcBef>
                <a:spcPts val="0"/>
              </a:spcBef>
              <a:spcAft>
                <a:spcPts val="0"/>
              </a:spcAft>
            </a:pPr>
            <a:r>
              <a:rPr sz="1100" b="0" i="0">
                <a:solidFill>
                  <a:srgbClr val="5A6068"/>
                </a:solidFill>
                <a:latin typeface="Calibri"/>
              </a:rPr>
              <a:t>The same design on the HDI, against a second wellbeing survey, and one spatial scale down. It collapses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Health, education and social trust — and the blind spots.</a:t>
            </a:r>
          </a:p>
          <a:p>
            <a:pPr>
              <a:lnSpc>
                <a:spcPct val="125000"/>
              </a:lnSpc>
              <a:spcBef>
                <a:spcPts val="0"/>
              </a:spcBef>
              <a:spcAft>
                <a:spcPts val="0"/>
              </a:spcAft>
            </a:pPr>
            <a:r>
              <a:rPr sz="1100" b="0" i="0">
                <a:solidFill>
                  <a:srgbClr val="5A6068"/>
                </a:solidFill>
                <a:latin typeface="Calibri"/>
              </a:rPr>
              <a:t>Health leads wherever it varies, education's rank swings on construct, and trust is invisible to every framework but one.</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Which makes the policy question unavoidable.</a:t>
            </a:r>
          </a:p>
          <a:p>
            <a:pPr>
              <a:lnSpc>
                <a:spcPct val="125000"/>
              </a:lnSpc>
              <a:spcBef>
                <a:spcPts val="0"/>
              </a:spcBef>
              <a:spcAft>
                <a:spcPts val="0"/>
              </a:spcAft>
            </a:pPr>
            <a:r>
              <a:rPr sz="1100" b="0" i="0">
                <a:solidFill>
                  <a:srgbClr val="5A6068"/>
                </a:solidFill>
                <a:latin typeface="Calibri"/>
              </a:rPr>
              <a:t>What this means for priorities, what kind of health and education it points at, what to do about the trust gap, and the question we are putting to the field.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beyond the SDGs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a second development framework, against a second wellbeing instrument, and one spatial scale down. The levels-to-differences collapse appears every time. The subnational HDI plays a different role: it asks whether the national pattern survives disaggregation.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15% → 9%</a:t>
            </a:r>
          </a:p>
          <a:p>
            <a:pPr>
              <a:lnSpc>
                <a:spcPct val="120000"/>
              </a:lnSpc>
              <a:spcBef>
                <a:spcPts val="0"/>
              </a:spcBef>
              <a:spcAft>
                <a:spcPts val="0"/>
              </a:spcAft>
            </a:pPr>
            <a:r>
              <a:rPr sz="1000" b="0" i="0">
                <a:solidFill>
                  <a:srgbClr val="8A94A0"/>
                </a:solidFill>
                <a:latin typeface="Calibri"/>
              </a:rPr>
              <a:t>of cells, against a second wellbeing survey (ESS)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under the SDG framework and under the HDI composite.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5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 and that life expectancy, the HDI's proxy for health, is last in levels. Act II shows why that ordering is a property of the HDI's measurement choices rather than of the domains.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THE SUBNATIONAL HDI IS FOR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second producer — a test of whether the national pattern holds inside countries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Lab's SHDI cannot serve as an independent replication, and the commentary should not present it as one. At national level it is numerically identical to the UNDP HDI: all 1,696 overlapping country-years agree exactly, because GDL derives the national figure from the UNDP series. Running the collapse design on it reproduces the HDI result by construction rather than by corroboration.</a:t>
            </a:r>
          </a:p>
          <a:p>
            <a:pPr>
              <a:lnSpc>
                <a:spcPct val="132000"/>
              </a:lnSpc>
              <a:spcBef>
                <a:spcPts val="0"/>
              </a:spcBef>
              <a:spcAft>
                <a:spcPts val="1100"/>
              </a:spcAft>
            </a:pPr>
            <a:r>
              <a:rPr sz="1400" b="0" i="0">
                <a:solidFill>
                  <a:srgbClr val="5A6068"/>
                </a:solidFill>
                <a:latin typeface="Calibri"/>
              </a:rPr>
              <a:t>Its actual value is disaggregation. GDL's region-level values are its own — only 655 of 58,224 region-years coincide with their country's national figure — so the SHDI is what lets us ask whether the national development–wellbeing relationship holds at subnational level, and where it does not. That question is the subject of Act III, and the answer turns out to be the most policy-relevant result in the commentary.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independent replications and one scale test. 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Three domains, and which frameworks can see them</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Three domains carry individual lived experience: health, education and social trust. Each is visible to a different subset of the instruments, and where a framework says a domain does not matter, the reason is almost always in how it measured that domain — or whether it managed to measure it at all.</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5 of 5</a:t>
            </a:r>
          </a:p>
          <a:p>
            <a:pPr>
              <a:lnSpc>
                <a:spcPct val="120000"/>
              </a:lnSpc>
              <a:spcBef>
                <a:spcPts val="0"/>
              </a:spcBef>
              <a:spcAft>
                <a:spcPts val="0"/>
              </a:spcAft>
            </a:pPr>
            <a:r>
              <a:rPr sz="1000" b="0" i="0">
                <a:solidFill>
                  <a:srgbClr val="8A94A0"/>
                </a:solidFill>
                <a:latin typeface="Calibri"/>
              </a:rPr>
              <a:t>instruments where health tracks wellbeing</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 of 163</a:t>
            </a:r>
          </a:p>
          <a:p>
            <a:pPr>
              <a:lnSpc>
                <a:spcPct val="120000"/>
              </a:lnSpc>
              <a:spcBef>
                <a:spcPts val="0"/>
              </a:spcBef>
              <a:spcAft>
                <a:spcPts val="0"/>
              </a:spcAft>
            </a:pPr>
            <a:r>
              <a:rPr sz="1000" b="0" i="0">
                <a:solidFill>
                  <a:srgbClr val="8A94A0"/>
                </a:solidFill>
                <a:latin typeface="Calibri"/>
              </a:rPr>
              <a:t>SDG trust tests significant — on 1 year of data each</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40.7% vs 3.3%</a:t>
            </a:r>
          </a:p>
          <a:p>
            <a:pPr>
              <a:lnSpc>
                <a:spcPct val="120000"/>
              </a:lnSpc>
              <a:spcBef>
                <a:spcPts val="0"/>
              </a:spcBef>
              <a:spcAft>
                <a:spcPts val="0"/>
              </a:spcAft>
            </a:pPr>
            <a:r>
              <a:rPr sz="1000" b="0" i="0">
                <a:solidFill>
                  <a:srgbClr val="8A94A0"/>
                </a:solidFill>
                <a:latin typeface="Calibri"/>
              </a:rPr>
              <a:t>education under the HDI vs pooled SDG4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AGAINST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comparisons, and they do not all point the same way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No single statistic settles which framework tracks wellbeing better, so the commentary should report three and nominate none. Detection: does any indicator show a significant levels association in a given country? The SDG framework reaches 30 of its 42 countries (71%), the HDI 77 of its 150 (51%). This is a fair comparison rather than an artifact — Benjamini–Hochberg under the complete null controls the error rate at the same α whatever the family size — so the SDG lead is genuine statistical power bought with breadth, and should be conceded as such.</a:t>
            </a:r>
          </a:p>
          <a:p>
            <a:pPr>
              <a:lnSpc>
                <a:spcPct val="132000"/>
              </a:lnSpc>
              <a:spcBef>
                <a:spcPts val="0"/>
              </a:spcBef>
              <a:spcAft>
                <a:spcPts val="1100"/>
              </a:spcAft>
            </a:pPr>
            <a:r>
              <a:rPr sz="1150" b="0" i="0">
                <a:solidFill>
                  <a:srgbClr val="5A6068"/>
                </a:solidFill>
                <a:latin typeface="Calibri"/>
              </a:rPr>
              <a:t>Budget-matched: give the SDG framework the same five-indicator budget the HDI gets, drawn at random, 4,000 times. Five random SDG series reach 30% of countries (95% range 19–40%); the HDI's chosen five reach 40% on the same countries. The HDI's selection beats a random five — but lands at the top edge of the random range, not outside it. Most of the SDG framework's advantage in the first comparison is explained by indicator count, and the HDI's advantage at matched budget is real but modest.</a:t>
            </a:r>
          </a:p>
          <a:p>
            <a:pPr>
              <a:lnSpc>
                <a:spcPct val="132000"/>
              </a:lnSpc>
              <a:spcBef>
                <a:spcPts val="0"/>
              </a:spcBef>
              <a:spcAft>
                <a:spcPts val="1100"/>
              </a:spcAft>
            </a:pPr>
            <a:r>
              <a:rPr sz="1150" b="0" i="0">
                <a:solidFill>
                  <a:srgbClr val="5A6068"/>
                </a:solidFill>
                <a:latin typeface="Calibri"/>
              </a:rPr>
              <a:t>Per indicator: across the 609 SDG series with usable coverage the median series is significant in no country at all, and 54% never clear FDR anywhere. The HDI composite, mean schooling and GNI per capita each beat essentially the whole field; even life expectancy, the HDI's weakest component, beats 90% of it. This is the strongest claim because it requires no cross-framework normalisation — though it does set the HDI's best against the SDG median, and the budget-matched test shows that is a generous framing.</a:t>
            </a:r>
          </a:p>
          <a:p>
            <a:pPr>
              <a:lnSpc>
                <a:spcPct val="132000"/>
              </a:lnSpc>
              <a:spcBef>
                <a:spcPts val="0"/>
              </a:spcBef>
              <a:spcAft>
                <a:spcPts val="1100"/>
              </a:spcAft>
            </a:pPr>
            <a:r>
              <a:rPr sz="1150" b="0" i="0">
                <a:solidFill>
                  <a:srgbClr val="5A6068"/>
                </a:solidFill>
                <a:latin typeface="Calibri"/>
              </a:rPr>
              <a:t>An earlier draft normalised by the share of each country's own indicators. That was dropped: it penalises breadth for its own sake — bolt a hundred irrelevant series onto the HDI and its score collapses without any loss of information — and the error-rate argument above shows the detection comparison never needed rescuing.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Each framework on its own full country set against WHR happiness, except panel b which restricts the HDI to the 42 SDG countries so the budgets are comparable.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survival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609 SDG series measured in at least 8 countries by the share of countries in which they are FDR-significant puts safely managed sanitation first, then infant deaths, under-five deaths, child stunting, and safely managed drinking water. Sixteen of the top 25 series are health-domain, and none of them is self-reported.</a:t>
            </a:r>
          </a:p>
          <a:p>
            <a:pPr>
              <a:lnSpc>
                <a:spcPct val="132000"/>
              </a:lnSpc>
              <a:spcBef>
                <a:spcPts val="0"/>
              </a:spcBef>
              <a:spcAft>
                <a:spcPts val="1100"/>
              </a:spcAft>
            </a:pPr>
            <a:r>
              <a:rPr sz="1150" b="0" i="0">
                <a:solidFill>
                  <a:srgbClr val="5A6068"/>
                </a:solidFill>
                <a:latin typeface="Calibri"/>
              </a:rPr>
              <a:t>This is the steep part of the development curve — staying alive and not being sick — rather than the 2030 Agenda's institutional superstructure. Goal 3 ranks 4th of 17 goals at 11.5%. Goal 16, the closest thing the framework has to social trust, ranks 15th at 1.5%.</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609, by share of countries FDR-significant in levels.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HORSE RACE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Run the domains against each other in one survey and health wins at every level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ESS measures health, education, income and trust on the same respondents as life satisfaction, so the domains can compete on equal terms. Self-rated health is significant in 36 of 36 countries with a median R² of 0.091 — roughly nine times education's 0.0098, which is the smallest effect of any domain tested. Within countries, across regions, health holds at +0.51 while development falls to +0.12.</a:t>
            </a:r>
          </a:p>
          <a:p>
            <a:pPr>
              <a:lnSpc>
                <a:spcPct val="132000"/>
              </a:lnSpc>
              <a:spcBef>
                <a:spcPts val="0"/>
              </a:spcBef>
              <a:spcAft>
                <a:spcPts val="1100"/>
              </a:spcAft>
            </a:pPr>
            <a:r>
              <a:rPr sz="1150" b="0" i="0">
                <a:solidFill>
                  <a:srgbClr val="5A6068"/>
                </a:solidFill>
                <a:latin typeface="Calibri"/>
              </a:rPr>
              <a:t>The HDI leads between countries, at R² = 0.760, but that is the one comparison where a composite index is expected to win: it proxies every domain at once. It falls to fourth once you look inside countries.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at three levels of aggregation. Health and trust are self-reported alongside the outcome — see the next beat.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METHOD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survives the obvious objection; social trust does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and social trust are reported by the same respondent, in the same survey, as life satisfaction, so shared method variance is the first thing a reader will raise. The UN SDG database is administrative and shares no method with any wellbeing instrument, which makes it the natural check.</a:t>
            </a:r>
          </a:p>
          <a:p>
            <a:pPr>
              <a:lnSpc>
                <a:spcPct val="132000"/>
              </a:lnSpc>
              <a:spcBef>
                <a:spcPts val="0"/>
              </a:spcBef>
              <a:spcAft>
                <a:spcPts val="1100"/>
              </a:spcAft>
            </a:pPr>
            <a:r>
              <a:rPr sz="1150" b="0" i="0">
                <a:solidFill>
                  <a:srgbClr val="5A6068"/>
                </a:solidFill>
                <a:latin typeface="Calibri"/>
              </a:rPr>
              <a:t>Health passes it. Restricted to high-income countries — the same development stratum the ESS covers — the SDG data puts health at 11.2% of country-indicator pairs against education's 1.2%, the same ordering the ESS gives from entirely different measurement. Social trust fails it: there is no interpersonal-trust indicator anywhere in the SDG framework, and Goal 16's best series ranks 125th of 609. Trust is the strongest ESS predictor and has no independent corroboration available. It should enter the commentary as an open question, not a result.</a:t>
            </a:r>
          </a:p>
          <a:p>
            <a:pPr>
              <a:lnSpc>
                <a:spcPct val="132000"/>
              </a:lnSpc>
              <a:spcBef>
                <a:spcPts val="0"/>
              </a:spcBef>
              <a:spcAft>
                <a:spcPts val="1100"/>
              </a:spcAft>
            </a:pPr>
            <a:r>
              <a:rPr sz="1150" b="0" i="0">
                <a:solidFill>
                  <a:srgbClr val="5A6068"/>
                </a:solidFill>
                <a:latin typeface="Calibri"/>
              </a:rPr>
              <a:t>Act III adds a second external check at the regional scale: GDL's externally measured health index leads its education and income indices within countries too, so the health result now holds under administrative measurement at both the national and the regional level.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three domains under an administrative source and a self-report source.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SATURATION PROBLEM</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Why the HDI says health barely matters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Inside the HDI, life expectancy is the weakest of the five indicators by a wide margin — significant in 30 of 151 countries (19.9%), against 40.7% for mean schooling. Read naively, the HDI says health is the least important thing about development.</a:t>
            </a:r>
          </a:p>
          <a:p>
            <a:pPr>
              <a:lnSpc>
                <a:spcPct val="132000"/>
              </a:lnSpc>
              <a:spcBef>
                <a:spcPts val="0"/>
              </a:spcBef>
              <a:spcAft>
                <a:spcPts val="1100"/>
              </a:spcAft>
            </a:pPr>
            <a:r>
              <a:rPr sz="1400" b="0" i="0">
                <a:solidFill>
                  <a:srgbClr val="5A6068"/>
                </a:solidFill>
                <a:latin typeface="Calibri"/>
              </a:rPr>
              <a:t>It says nothing of the kind. Life expectancy is close to saturated across the countries where it is tested: the variance that would let it predict anything has largely gone. The SDG series that do carry health's signal are survival measures — child and neonatal mortality, stunting — which still vary enormously, and self-rated health captures morbidity that life expectancy cannot see at all. A domain disappears from a framework when that framework measures it with a variable that has run out of room.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is the same problem running in the opposite direction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inverts the health story exactly. It is the HDI's strongest domain — mean years of schooling has the highest median R² of all five indicators, 0.326, above the composite itself — and the SDG framework's weakest, at 3.3% pooled, with its best series ranking 100th of 609.</a:t>
            </a:r>
          </a:p>
          <a:p>
            <a:pPr>
              <a:lnSpc>
                <a:spcPct val="132000"/>
              </a:lnSpc>
              <a:spcBef>
                <a:spcPts val="0"/>
              </a:spcBef>
              <a:spcAft>
                <a:spcPts val="1100"/>
              </a:spcAft>
            </a:pPr>
            <a:r>
              <a:rPr sz="1150" b="0" i="0">
                <a:solidFill>
                  <a:srgbClr val="5A6068"/>
                </a:solidFill>
                <a:latin typeface="Calibri"/>
              </a:rPr>
              <a:t>The disagreement is again construct choice. Eighteen of SDG4's 35 official series are equity or parity ratios, six measure learning outcomes, seven measure school infrastructure, and only two measure access and participation directly. Split apart, access reaches 12.7% — comparable to health's 11.5% — while learning outcomes sit at 0.9% and parity ratios at 2.5%. The pooled 3.3% is an average across constructs pointing in different directions and describes none of them. Pooling within a goal can manufacture a null.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is the one domain that is significant almost everywhere, if barely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Respondents' own attainment predicts their own life satisfaction in 32 to 34 of 36 ESS countries — more consistent across countries than anything except health itself. Aggregated to the country level, ESS-measured years of schooling predicts World Happiness Report happiness at R² = 0.308, against 0.161 for the HDI's own schooling series on the same cells: an independently measured education variable roughly doubles the HDI's.</a:t>
            </a:r>
          </a:p>
          <a:p>
            <a:pPr>
              <a:lnSpc>
                <a:spcPct val="132000"/>
              </a:lnSpc>
              <a:spcBef>
                <a:spcPts val="0"/>
              </a:spcBef>
              <a:spcAft>
                <a:spcPts val="1100"/>
              </a:spcAft>
            </a:pPr>
            <a:r>
              <a:rPr sz="1150" b="0" i="0">
                <a:solidFill>
                  <a:srgbClr val="5A6068"/>
                </a:solidFill>
                <a:latin typeface="Calibri"/>
              </a:rPr>
              <a:t>What it does not have is size. The median individual R² is 0.0098, the smallest of any domain in the horse race, and within countries education sits at +0.13 with 2 of 16 countries significant. Education is the most universal signal and the smallest one, which is a genuinely odd combination and worth stating as such rather than resolving prematurely.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4810"/>
            <a:ext cx="6537960" cy="396203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Near the top wherever it is measured, and invisible almost everywhere else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the third domain and the one the measurement apparatus handles worst. In the ESS, where it is asked of every respondent in every round, it is significant in 34 of 36 countries individually and reaches +0.49 within countries across regions — above education on both. Neither the HDI nor the subnational HDI measures it at all.</a:t>
            </a:r>
          </a:p>
          <a:p>
            <a:pPr>
              <a:lnSpc>
                <a:spcPct val="132000"/>
              </a:lnSpc>
              <a:spcBef>
                <a:spcPts val="0"/>
              </a:spcBef>
              <a:spcAft>
                <a:spcPts val="1100"/>
              </a:spcAft>
            </a:pPr>
            <a:r>
              <a:rPr sz="1400" b="0" i="0">
                <a:solidFill>
                  <a:srgbClr val="5A6068"/>
                </a:solidFill>
                <a:latin typeface="Calibri"/>
              </a:rPr>
              <a:t>The SDG framework appears to: it carries 13 trust- and satisfaction-adjacent series, mostly under Goal 16 — satisfaction with public services, belief that decision-making is inclusive, bribery prevalence. But their median coverage is one year per country-series, against six for the database as a whole, so almost none can support a time-series test. Exactly 1 of 163 country-tests is significant. An earlier draft of this deck read that as evidence that trust does not matter; it is nothing of the kind. It is a measurement gap, and reporting it as a null would be the same error the commentary accuses the frameworks of making.</a:t>
            </a:r>
          </a:p>
          <a:p>
            <a:pPr>
              <a:lnSpc>
                <a:spcPct val="132000"/>
              </a:lnSpc>
              <a:spcBef>
                <a:spcPts val="0"/>
              </a:spcBef>
              <a:spcAft>
                <a:spcPts val="1100"/>
              </a:spcAft>
            </a:pPr>
            <a:r>
              <a:rPr sz="1400" b="0" i="0">
                <a:solidFill>
                  <a:srgbClr val="5A6068"/>
                </a:solidFill>
                <a:latin typeface="Calibri"/>
              </a:rPr>
              <a:t>That leaves trust the weakest-evidenced of the three — one instrument, no external corroboration, and the shared-method caveat still live. It should be presented as the most interesting open question rather than a finding, and it points at a concrete recommendation: a repeated trust item costs almost nothing to field and would make the domain testable.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pattern of blind spots is the result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Laid out side by side, the three domains have different signatures. Health is testable in all five instruments and leads in four of them — weak only inside the HDI, whose single health input has run out of variance. Education is testable in all five and its rank swings from first to near-last depending purely on whether the instrument measures attainment or parity. Trust is at or near the top of the only instrument that can test it, and invisible to the rest.</a:t>
            </a:r>
          </a:p>
          <a:p>
            <a:pPr>
              <a:lnSpc>
                <a:spcPct val="132000"/>
              </a:lnSpc>
              <a:spcBef>
                <a:spcPts val="0"/>
              </a:spcBef>
              <a:spcAft>
                <a:spcPts val="1100"/>
              </a:spcAft>
            </a:pPr>
            <a:r>
              <a:rPr sz="1150" b="0" i="0">
                <a:solidFill>
                  <a:srgbClr val="5A6068"/>
                </a:solidFill>
                <a:latin typeface="Calibri"/>
              </a:rPr>
              <a:t>None of these disagreements is about the world. Every one is about an operationalisation choice made by the framework — which is why the commentary's contribution is not a ranking of domains but an account of why the rankings differ.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scorecard.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three domains against the five instruments. Metrics differ by column and are given under each heading; the colours encode whether the domain tracks wellbeing there, shows little signal, or cannot be tested at 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argument has to fit in a single figure: the replicated collapse, the inversion of the health–education ranking across instruments, and the method check that only health passes.</a:t>
            </a:r>
          </a:p>
          <a:p>
            <a:pPr>
              <a:lnSpc>
                <a:spcPct val="132000"/>
              </a:lnSpc>
              <a:spcBef>
                <a:spcPts val="0"/>
              </a:spcBef>
              <a:spcAft>
                <a:spcPts val="1100"/>
              </a:spcAft>
            </a:pPr>
            <a:r>
              <a:rPr sz="1150" b="0" i="0">
                <a:solidFill>
                  <a:srgbClr val="5A6068"/>
                </a:solidFill>
                <a:latin typeface="Calibri"/>
              </a:rPr>
              <a:t>One caution for the caption. Panels b and c both put measures with different units on a shared axis — panel b normalises to the health-plus-education pair, panel c to the leading domain within each source. Both are there to make an ordering readable, not a magnitude, and the raw values are printed on the bars so a reader can check that.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see the caution above on panels b and 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Three domains, five instruments, and a different verdict from almost every pairing. Health leads once it is measured somewhere it still varies; education leads once it is measured as attainment rather than parity; trust leads wherever it is measured at all, which is almost nowhere. The commentary's contribution is not a ranking of domains but the demonstration that the ranking is an artefact of operationalisation — and that one of the three is missing from the development measurement apparatus entirely.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Priorities, and what kind of health and education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Two questions follow. Where should the lever be pulled — which turns on scale, because the ordering of predictors inverts inside countries. And what kind of health and education, because in both domains the wellbeing signal sits with one operationalisation and vanishes under another.</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+0.87 → +0.12</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+0.51</a:t>
            </a:r>
          </a:p>
          <a:p>
            <a:pPr>
              <a:lnSpc>
                <a:spcPct val="120000"/>
              </a:lnSpc>
              <a:spcBef>
                <a:spcPts val="0"/>
              </a:spcBef>
              <a:spcAft>
                <a:spcPts val="0"/>
              </a:spcAft>
            </a:pPr>
            <a:r>
              <a:rPr sz="1000" b="0" i="0">
                <a:solidFill>
                  <a:srgbClr val="8A94A0"/>
                </a:solidFill>
                <a:latin typeface="Calibri"/>
              </a:rPr>
              <a:t>self-rated health, within countries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THE LEVER 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inside countries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Below the Very High tier, countries contain multitudes. Germany's regions span 0.05 of subnational HDI; China's span 0.30 and India's 0.19 — several development tiers' worth of variation inside single countries. If regional development drove regional wellbeing, this is where it would show.</a:t>
            </a:r>
          </a:p>
          <a:p>
            <a:pPr>
              <a:lnSpc>
                <a:spcPct val="132000"/>
              </a:lnSpc>
              <a:spcBef>
                <a:spcPts val="0"/>
              </a:spcBef>
              <a:spcAft>
                <a:spcPts val="1100"/>
              </a:spcAft>
            </a:pPr>
            <a:r>
              <a:rPr sz="1150" b="0" i="0">
                <a:solidFill>
                  <a:srgbClr val="5A6068"/>
                </a:solidFill>
                <a:latin typeface="Calibri"/>
              </a:rPr>
              <a:t>It mostly doesn't. Holding country fixed and regressing region-mean life satisfaction on regional subnational HDI gives a significantly positive gradient in only 3 of 16 ESS countries — France, Belgium, and Germany — and the gradient is not steeper where internal inequality is larger.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1150" b="0" i="0">
                <a:solidFill>
                  <a:srgbClr val="5A6068"/>
                </a:solidFill>
                <a:latin typeface="Calibri"/>
              </a:rPr>
              <a:t>Within countries the ranking inverts. Development falls to a median regional correlation of +0.12, significant in 3 of 16 countries, while self-rated health holds at +0.51 (8 of 16) and social trust at +0.49 (6 of 16). The World Happiness Report cannot see this at all — it has no subnational values. It is the specific thing the ESS adds.</a:t>
            </a:r>
          </a:p>
          <a:p>
            <a:pPr>
              <a:lnSpc>
                <a:spcPct val="132000"/>
              </a:lnSpc>
              <a:spcBef>
                <a:spcPts val="0"/>
              </a:spcBef>
              <a:spcAft>
                <a:spcPts val="1100"/>
              </a:spcAft>
            </a:pPr>
            <a:r>
              <a:rPr sz="1150" b="0" i="0">
                <a:solidFill>
                  <a:srgbClr val="5A6068"/>
                </a:solidFill>
                <a:latin typeface="Calibri"/>
              </a:rPr>
              <a:t>Two cautions on the detail. The health-versus-trust ordering is not stable: aggregating region means across waves rather than within them reverses it, putting trust at +0.57 and health at +0.50. What is stable, under every specification we tried, is that both sit near +0.5 while development sits near zero. And per-country coverage varies sharply — Italy matches only 30% of respondents to a region, Sweden 57%, Croatia 69%, against 91–100% elsewhere. Dropping those three, or dropping regions built on fewer than 200 respondents, leaves the flip intact.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 EXTERNALLY MEASURED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survives with no self-report at all — and it is a health flip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strongest objection to the ranking flip is that health and trust are reported by the same respondents as the outcome. GDL's regional sub-indices remove that objection: health, education and income indices measured per region from external sources, sharing no method with the ESS.</a:t>
            </a:r>
          </a:p>
          <a:p>
            <a:pPr>
              <a:lnSpc>
                <a:spcPct val="132000"/>
              </a:lnSpc>
              <a:spcBef>
                <a:spcPts val="0"/>
              </a:spcBef>
              <a:spcAft>
                <a:spcPts val="1100"/>
              </a:spcAft>
            </a:pPr>
            <a:r>
              <a:rPr sz="1150" b="0" i="0">
                <a:solidFill>
                  <a:srgbClr val="5A6068"/>
                </a:solidFill>
                <a:latin typeface="Calibri"/>
              </a:rPr>
              <a:t>Within countries, the external health index correlates with regional life satisfaction at a median of +0.34, significant in 6 of 15 usable countries, against +0.12 for the income index and +0.06 for the education index. The domain ordering is the same one the self-reports give, from measurement the respondents never touched. Self-rated health still runs higher (+0.50), which is exactly what you expect if part — but only part — of its lead is shared method variance. One country drops out: Albania's regional health index is constant, another instance of a measure with no variance left to predict with.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external.png"/>
          <p:cNvPicPr>
            <a:picLocks noChangeAspect="1"/>
          </p:cNvPicPr>
          <p:nvPr/>
        </p:nvPicPr>
        <p:blipFill>
          <a:blip r:embed="rId2"/>
          <a:stretch>
            <a:fillRect/>
          </a:stretch>
        </p:blipFill>
        <p:spPr>
          <a:xfrm>
            <a:off x="5120640" y="1531620"/>
            <a:ext cx="6537960" cy="332841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within-country domain race with externally measured predictors (solid) beside the same-survey self-reports (faded). Sub-indices pooled 2010–2023.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PRIORITIES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Indicator dashboards are not wellbeing instruments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a:t>
            </a:r>
          </a:p>
          <a:p>
            <a:pPr>
              <a:lnSpc>
                <a:spcPct val="132000"/>
              </a:lnSpc>
              <a:spcBef>
                <a:spcPts val="0"/>
              </a:spcBef>
              <a:spcAft>
                <a:spcPts val="1100"/>
              </a:spcAft>
            </a:pPr>
            <a:r>
              <a:rPr sz="1400" b="0" i="0">
                <a:solidFill>
                  <a:srgbClr val="5A6068"/>
                </a:solidFill>
                <a:latin typeface="Calibri"/>
              </a:rPr>
              <a:t>The implication is about horizon and instrument, not about whether development matters. A monitoring architecture designed to reward annual indicator movement should not be read as tracking wellbeing, and a government that improves its dashboard position in a given year should not expect a wellbeing dividend inside the same electoral cycle.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Monitor health where it still varies, not where it has already converged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the standard summary of population health and the HDI's only health input, and it is the weakest of the HDI's five indicators against wellbeing. That is a measurement failure rather than a substantive one. What carries health's signal is survival at the margin — child, infant and neonatal mortality, stunting, sanitation and safe water — and, in rich countries, self-rated health, which picks up morbidity and functional limitation that life expectancy cannot see.</a:t>
            </a:r>
          </a:p>
          <a:p>
            <a:pPr>
              <a:lnSpc>
                <a:spcPct val="132000"/>
              </a:lnSpc>
              <a:spcBef>
                <a:spcPts val="0"/>
              </a:spcBef>
              <a:spcAft>
                <a:spcPts val="1100"/>
              </a:spcAft>
            </a:pPr>
            <a:r>
              <a:rPr sz="1400" b="0" i="0">
                <a:solidFill>
                  <a:srgbClr val="5A6068"/>
                </a:solidFill>
                <a:latin typeface="Calibri"/>
              </a:rPr>
              <a:t>For monitoring, that argues for retiring life expectancy as the headline wellbeing-relevant health measure in high-income settings and pairing survival indicators with a subjective health item. The ESS already fields one; most national statistical systems do too. It is close to free.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consensus moved to learning; the wellbeing evidence points at attainment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and an indicator architecture built around measured proficiency. The premise is that years in school without demonstrated learning are an empty metric.</a:t>
            </a:r>
          </a:p>
          <a:p>
            <a:pPr>
              <a:lnSpc>
                <a:spcPct val="132000"/>
              </a:lnSpc>
              <a:spcBef>
                <a:spcPts val="0"/>
              </a:spcBef>
              <a:spcAft>
                <a:spcPts val="1100"/>
              </a:spcAft>
            </a:pPr>
            <a:r>
              <a:rPr sz="1400" b="0" i="0">
                <a:solidFill>
                  <a:srgbClr val="5A6068"/>
                </a:solidFill>
                <a:latin typeface="Calibri"/>
              </a:rPr>
              <a:t>Every level of aggregation we can test points the other way. Attainment and access carry the signal — 12.7% for SDG4 access, 40.7% and 34.0% for the HDI's schooling components, 32 of 36 countries at the individual level — while measured learning outcomes sit at 0.9% and parity ratios at 2.5%. The caution from Act II applies: education is the most consistent signal and the smallest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THE TRUST GAP</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cheapest fix in the paper: field a repeated trust item</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at or near the top of every test the ESS can run, and no development framework can currently check it. The SDG framework's 13 satisfaction and integrity series average one observation per country, which is not enough for any longitudinal design; the HDI and subnational HDI do not measure the construct at all.</a:t>
            </a:r>
          </a:p>
          <a:p>
            <a:pPr>
              <a:lnSpc>
                <a:spcPct val="132000"/>
              </a:lnSpc>
              <a:spcBef>
                <a:spcPts val="0"/>
              </a:spcBef>
              <a:spcAft>
                <a:spcPts val="1100"/>
              </a:spcAft>
            </a:pPr>
            <a:r>
              <a:rPr sz="1400" b="0" i="0">
                <a:solidFill>
                  <a:srgbClr val="5A6068"/>
                </a:solidFill>
                <a:latin typeface="Calibri"/>
              </a:rPr>
              <a:t>This is the one recommendation in the commentary that costs almost nothing. A single generalised-trust item, asked repeatedly, is already standard in the ESS, the World Values Survey and several national statistical series. Adding one to a development monitoring instrument would move trust from untestable to testable — and on the evidence available it would then rank alongside health.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The within-country results are Europe-only. The ESS is the only regional wellbeing source with the coverage this design needs — Gallup's subnational files are paywalled — so the priorities argument generalises across 16 European countries and not beyond them. That belongs in the text as a scope condition, not buried in a limitations paragraph, because the ranking flip is the most policy-relevant result here and will be the most contested.</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ASK</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Should wellbeing be a criterion for how we measure development after 2030?</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question the commentary exists to pose, and it has a sharp form. Two of the most consequential domains in development are monitored through variables that have either run out of variance or measure a different construct from the one the policy debate is about: health through life expectancy, education through parity and proficiency. If wellbeing is to be a criterion for the post-2030 architecture at all, the first question is not which domain to prioritise but whether each domain is being measured somewhere it can still move.</a:t>
            </a:r>
          </a:p>
          <a:p>
            <a:pPr>
              <a:lnSpc>
                <a:spcPct val="132000"/>
              </a:lnSpc>
              <a:spcBef>
                <a:spcPts val="0"/>
              </a:spcBef>
              <a:spcAft>
                <a:spcPts val="1100"/>
              </a:spcAft>
            </a:pPr>
            <a:r>
              <a:rPr sz="1400" b="0" i="0">
                <a:solidFill>
                  <a:srgbClr val="5A6068"/>
                </a:solidFill>
                <a:latin typeface="Calibri"/>
              </a:rPr>
              <a:t>A commentary cannot settle that. It can put the disagreement on the record with the evidence attached, which is what the three acts are for.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the education exception as the positive finding, use the generalised collapse as the backdrop that makes it surprising, and close on the target-setting question. That ordering makes Act I load-bearing without making it the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Five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the education exception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WITHIN-COUNTRY WORK</a:t>
            </a:r>
          </a:p>
          <a:p>
            <a:pPr>
              <a:lnSpc>
                <a:spcPct val="130000"/>
              </a:lnSpc>
              <a:spcBef>
                <a:spcPts val="0"/>
              </a:spcBef>
              <a:spcAft>
                <a:spcPts val="0"/>
              </a:spcAft>
            </a:pPr>
            <a:r>
              <a:rPr sz="1100" b="0" i="0">
                <a:solidFill>
                  <a:srgbClr val="5A6068"/>
                </a:solidFill>
                <a:latin typeface="Calibri"/>
              </a:rPr>
              <a:t>It now sits inside Act III as the evidence on priorities. Does it belong there, or in a third paper? It is the most policy-relevant and the most contested result we have, and it is Europe-only.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RESOLVED: SUBNATIONAL SUB-INDICES</a:t>
            </a:r>
          </a:p>
          <a:p>
            <a:pPr>
              <a:lnSpc>
                <a:spcPct val="130000"/>
              </a:lnSpc>
              <a:spcBef>
                <a:spcPts val="0"/>
              </a:spcBef>
              <a:spcAft>
                <a:spcPts val="0"/>
              </a:spcAft>
            </a:pPr>
            <a:r>
              <a:rPr sz="1100" b="0" i="0">
                <a:solidFill>
                  <a:srgbClr val="5A6068"/>
                </a:solidFill>
                <a:latin typeface="Calibri"/>
              </a:rPr>
              <a:t>The per-domain GDL exports are in. Within countries the external health index leads education and income (+0.34 vs +0.06 and +0.12), so the flip no longer rests on self-report. GDL's DHS-based Education &amp; Work and Health datasets were also examined: they cover only 6 ESS countries and cannot serve the European design.</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against SDG, domain by domain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Education is the HDI's strongest domain and the SDG framework's weakest, unless SDG4 is split into access versus the rest. Absolute levels are not comparable across frameworks; the within-framework rankings are.</a:t>
            </a:r>
          </a:p>
        </p:txBody>
      </p:sp>
      <p:pic>
        <p:nvPicPr>
          <p:cNvPr id="5" name="Picture 4" descr="hdi_vs_sdg_frameworks.png"/>
          <p:cNvPicPr>
            <a:picLocks noChangeAspect="1"/>
          </p:cNvPicPr>
          <p:nvPr/>
        </p:nvPicPr>
        <p:blipFill>
          <a:blip r:embed="rId2"/>
          <a:stretch>
            <a:fillRect/>
          </a:stretch>
        </p:blipFill>
        <p:spPr>
          <a:xfrm>
            <a:off x="1492967" y="1965960"/>
            <a:ext cx="9205761"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ESS-measured schooling against WHR happiness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Country-aggregated ESS years of schooling predicts WHR happiness at R² = 0.308, against 0.161 for the HDI's own schooling series on the same cells — an independently measured education variable roughly doubles it.</a:t>
            </a:r>
          </a:p>
        </p:txBody>
      </p:sp>
      <p:pic>
        <p:nvPicPr>
          <p:cNvPr id="5" name="Picture 4" descr="ess_triangulation.png"/>
          <p:cNvPicPr>
            <a:picLocks noChangeAspect="1"/>
          </p:cNvPicPr>
          <p:nvPr/>
        </p:nvPicPr>
        <p:blipFill>
          <a:blip r:embed="rId2"/>
          <a:stretch>
            <a:fillRect/>
          </a:stretch>
        </p:blipFill>
        <p:spPr>
          <a:xfrm>
            <a:off x="566928" y="1965960"/>
            <a:ext cx="11057839" cy="3026903"/>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development spread within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Every region a dot, two countries per UNDP development tier, 2022. Germany's regions span 0.05 of SHDI; China's span 0.30, India's 0.19.</a:t>
            </a:r>
          </a:p>
        </p:txBody>
      </p:sp>
      <p:pic>
        <p:nvPicPr>
          <p:cNvPr id="5" name="Picture 4" descr="shdi_within_country_spread.png"/>
          <p:cNvPicPr>
            <a:picLocks noChangeAspect="1"/>
          </p:cNvPicPr>
          <p:nvPr/>
        </p:nvPicPr>
        <p:blipFill>
          <a:blip r:embed="rId2"/>
          <a:stretch>
            <a:fillRect/>
          </a:stretch>
        </p:blipFill>
        <p:spPr>
          <a:xfrm>
            <a:off x="2653157" y="1965960"/>
            <a:ext cx="6885380"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GDL national SHDI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two are the same series — R² = 1.000, every country-year identical, because GDL derives the national figure from the UNDP index. Retained to document the check, not as validation: agreement here says nothing about the subnational disaggregation, which is where GDL's own data begins.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3617081" y="1965960"/>
            <a:ext cx="4957532" cy="448056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reads negative on all three, but only 57% of Swedish respondents carry a usable region code, so that result should not be interpreted.</a:t>
            </a:r>
          </a:p>
        </p:txBody>
      </p:sp>
      <p:pic>
        <p:nvPicPr>
          <p:cNvPr id="5" name="Picture 4" descr="mechanisms_percountry_detail.png"/>
          <p:cNvPicPr>
            <a:picLocks noChangeAspect="1"/>
          </p:cNvPicPr>
          <p:nvPr/>
        </p:nvPicPr>
        <p:blipFill>
          <a:blip r:embed="rId2"/>
          <a:stretch>
            <a:fillRect/>
          </a:stretch>
        </p:blipFill>
        <p:spPr>
          <a:xfrm>
            <a:off x="3273725" y="1965960"/>
            <a:ext cx="5644245"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