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three failure modes.</a:t>
            </a:r>
          </a:p>
          <a:p>
            <a:pPr>
              <a:lnSpc>
                <a:spcPct val="125000"/>
              </a:lnSpc>
              <a:spcBef>
                <a:spcPts val="0"/>
              </a:spcBef>
              <a:spcAft>
                <a:spcPts val="0"/>
              </a:spcAft>
            </a:pPr>
            <a:r>
              <a:rPr sz="1100" b="0" i="0">
                <a:solidFill>
                  <a:srgbClr val="5A6068"/>
                </a:solidFill>
                <a:latin typeface="Calibri"/>
              </a:rPr>
              <a:t>Education, health, and social trust all matter. But frameworks see them differently because of construction choices, variable saturation, or missing coverage.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Within-country evidence: why measurement type matters.</a:t>
            </a:r>
          </a:p>
          <a:p>
            <a:pPr>
              <a:lnSpc>
                <a:spcPct val="125000"/>
              </a:lnSpc>
              <a:spcBef>
                <a:spcPts val="0"/>
              </a:spcBef>
              <a:spcAft>
                <a:spcPts val="0"/>
              </a:spcAft>
            </a:pPr>
            <a:r>
              <a:rPr sz="1100" b="0" i="0">
                <a:solidFill>
                  <a:srgbClr val="5A6068"/>
                </a:solidFill>
                <a:latin typeface="Calibri"/>
              </a:rPr>
              <a:t>Individual-level, self-reported data shows ESS captures year-to-year change. Development frameworks measure at the wrong temporal and individual resolution.</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structural disconnect between how development is measured and what predicts lived experience, with implications for each domain and method.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COMPARISON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How the frameworks compare on detection, budget-match, and per-indicator basis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Before we ask what matters, we need to understand how these frameworks differ. The SDG database detects significance in more countries (71% raw) than the HDI (51% raw), but when both are given the same budget — five indicators across 42 countries — the HDI's edge becomes real but modest (30% vs 51% among those 42 countries). When normalized per indicator, the HDI dominates: most SDG series sit in the zero-significance tail, while HDI indicators cluster higher. This is context we need before asking which components matter most.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How SDG and HDI frameworks compare on detection rate, budget-matched analysis, and per-indicator significance distribution.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SDG INDICATOR RANKINGS · WHY HEALTH MATTERS DESPITE LOW %</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indicators rank 4th among 17 SDG goals; the low percentage reflects weak overall SDG signal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SDG database is vast: 661 series across 42 countries testing 17 goals. The overall significance rate is low — only 3-4% of all country-indicator pairs are significant. At the goal level, health (Goal 3) reaches 11.5% of country-indicator pairs, ranking fourth of 17 goals. Within that sparse landscape, health indicators dominate the top-ranked individual series, with 16 of the top 25 most predictive SDG series falling under Goal 3. These are survival measures: infant mortality, under-five mortality, stunting, neonatal mortality, sanitation, drinking water — all objective, externally measured.</a:t>
            </a:r>
          </a:p>
          <a:p>
            <a:pPr>
              <a:lnSpc>
                <a:spcPct val="132000"/>
              </a:lnSpc>
              <a:spcBef>
                <a:spcPts val="0"/>
              </a:spcBef>
              <a:spcAft>
                <a:spcPts val="1100"/>
              </a:spcAft>
            </a:pPr>
            <a:r>
              <a:rPr sz="1150" b="0" i="0">
                <a:solidFill>
                  <a:srgbClr val="5A6068"/>
                </a:solidFill>
                <a:latin typeface="Calibri"/>
              </a:rPr>
              <a:t>The low 11.5% rate for health is not evidence that health doesn't matter. It is evidence that most of the SDG database does not predict wellbeing. Within that context, health ranks high.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Top 25 SDG indicators by significance. Health (Goal 3) dominates: 16 of 25 top series.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BLIND SPOTS · DOMAIN BY DOMAIN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 and which frameworks can see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 summary of the blind spots: which frameworks can test which domains, and whether the test yields a signal. Education is testable in all three frameworks but its rank depends entirely on which construct the framework chose to count. Health is testable everywhere and leads wherever it is measured somewhere it still varies — a robust signal despite the HDI's poor choice of proxy. Social trust is testable in one instrument only: the ESS. It does not appear in the HDI at all, and the SDG framework measures institutional confidence instead, which is a different construct and a weaker predictor.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frameworks can test each domain (green = tracks wellbeing, yellow = measurable but weak signal, gray = framework cannot test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METHOD MATTERS · WHAT SURVIVES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both measurement methods.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 critical test: which domains actually predict wellbeing regardless of how you measure development? Health is significant in both administrative sources (SDG, 11.5% of country-indicator pairs) and self-reported sources (ESS, median R² = 0.091). This is robust. Education shows weak signal in both (SDG 3.3%, ESS R² = 0.0098), so the issue is not method-dependent but measurement-dependent. Social trust, however, only appears in self-reported data: 94% of ESS countries (median R² = 0.041) versus 1.5% of SDG16 country-pairs measuring institutional confidence instead. The three domains do not behave the same way across measurement methods.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is robust across administrative and self-reported sources. Education is weak in both. Social trust appears only in self-reported individual-level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75"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975" b="0" i="0">
                <a:solidFill>
                  <a:srgbClr val="5A6068"/>
                </a:solidFill>
                <a:latin typeface="Calibri"/>
              </a:rPr>
              <a:t>This matters for social trust most of all. At the country level, SDG has almost no trust coverage; in the HDI, none. But at the individual level, within countries, ESS shows trust is significant in 94% of countries and drives year-to-year change in how satisfied people report 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975"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collapse: 167 subnational regions within ESS countries, levels vs. differences. The collapse persists at regional scale, confirming it is not an artifact of national aggregation.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SDG'S TRUST DATA DOESN'T 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SDG16 measures institutional confidence, not interpersonal trust, and the signal is weak</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50" b="0" i="0">
                <a:solidFill>
                  <a:srgbClr val="5A6068"/>
                </a:solidFill>
                <a:latin typeface="Calibri"/>
              </a:rPr>
              <a:t>The SDG framework carries 13 trust-adjacent series under Goal 16, but the detail reveals why they fail. First, coverage: only nine of thirteen can be tested across countries, and four are significant — weaker than the development indicators the frameworks already carry. Second, construct: bribery (individuals), bribery (firms), and decision-making inclusiveness predict the Cantril ladder; satisfaction with healthcare, government services, and secondary education do not. These measure satisfaction with institutions, not trust in people.</a:t>
            </a:r>
          </a:p>
          <a:p>
            <a:pPr>
              <a:lnSpc>
                <a:spcPct val="132000"/>
              </a:lnSpc>
              <a:spcBef>
                <a:spcPts val="0"/>
              </a:spcBef>
              <a:spcAft>
                <a:spcPts val="1100"/>
              </a:spcAft>
            </a:pPr>
            <a:r>
              <a:rPr sz="950" b="0" i="0">
                <a:solidFill>
                  <a:srgbClr val="5A6068"/>
                </a:solidFill>
                <a:latin typeface="Calibri"/>
              </a:rPr>
              <a:t>More critically, when you control for income — net of log GNI per capita — nearly all SDG trust series disappear. Bribery stays significant, but satisfaction with government, services, and education vanishes. This is a known artifact of subjective institutional scales across income levels; the same survey administered at different income levels produces structural differences in response patterns unrelated to trust itself. Interpersonal trust, by contrast, shows robust signal independent of income controls.</a:t>
            </a:r>
          </a:p>
          <a:p>
            <a:pPr>
              <a:lnSpc>
                <a:spcPct val="132000"/>
              </a:lnSpc>
              <a:spcBef>
                <a:spcPts val="0"/>
              </a:spcBef>
              <a:spcAft>
                <a:spcPts val="1100"/>
              </a:spcAft>
            </a:pPr>
            <a:r>
              <a:rPr sz="950" b="0" i="0">
                <a:solidFill>
                  <a:srgbClr val="5A6068"/>
                </a:solidFill>
                <a:latin typeface="Calibri"/>
              </a:rPr>
              <a:t>This is not a flaw in the SDG framework's execution. It reflects a fundamental choice: development frameworks measure institutions and systems, not personal relationships. Social trust emerges in individual-level, self-reported data because that is where it lives — in how people experience their immediate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can barely be tested (9 of 13 measurable, 4 significant) and collapse when controlled for income. Panel (b) shows bribery persists but satisfaction measures disappear.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