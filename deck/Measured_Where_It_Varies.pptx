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1371600"/>
            <a:ext cx="11057839"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960120"/>
            <a:ext cx="73152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Commentary · working draft</a:t>
            </a:r>
          </a:p>
        </p:txBody>
      </p:sp>
      <p:sp>
        <p:nvSpPr>
          <p:cNvPr id="4" name="TextBox 3"/>
          <p:cNvSpPr txBox="1"/>
          <p:nvPr/>
        </p:nvSpPr>
        <p:spPr>
          <a:xfrm>
            <a:off x="566928" y="1783080"/>
            <a:ext cx="9144000" cy="1645920"/>
          </a:xfrm>
          <a:prstGeom prst="rect">
            <a:avLst/>
          </a:prstGeom>
          <a:noFill/>
        </p:spPr>
        <p:txBody>
          <a:bodyPr wrap="square" lIns="0" rIns="0" tIns="0" bIns="0">
            <a:spAutoFit/>
          </a:bodyPr>
          <a:lstStyle/>
          <a:p>
            <a:pPr>
              <a:lnSpc>
                <a:spcPct val="95000"/>
              </a:lnSpc>
              <a:spcBef>
                <a:spcPts val="0"/>
              </a:spcBef>
              <a:spcAft>
                <a:spcPts val="0"/>
              </a:spcAft>
            </a:pPr>
            <a:r>
              <a:rPr sz="6000" b="0" i="0">
                <a:solidFill>
                  <a:srgbClr val="14171C"/>
                </a:solidFill>
                <a:latin typeface="Georgia"/>
              </a:rPr>
              <a:t>Measured Where It Varies</a:t>
            </a:r>
          </a:p>
        </p:txBody>
      </p:sp>
      <p:sp>
        <p:nvSpPr>
          <p:cNvPr id="5" name="TextBox 4"/>
          <p:cNvSpPr txBox="1"/>
          <p:nvPr/>
        </p:nvSpPr>
        <p:spPr>
          <a:xfrm>
            <a:off x="566928" y="3520440"/>
            <a:ext cx="8412480" cy="1188720"/>
          </a:xfrm>
          <a:prstGeom prst="rect">
            <a:avLst/>
          </a:prstGeom>
          <a:noFill/>
        </p:spPr>
        <p:txBody>
          <a:bodyPr wrap="square" lIns="0" rIns="0" tIns="0" bIns="0">
            <a:spAutoFit/>
          </a:bodyPr>
          <a:lstStyle/>
          <a:p>
            <a:pPr>
              <a:lnSpc>
                <a:spcPct val="135000"/>
              </a:lnSpc>
              <a:spcBef>
                <a:spcPts val="0"/>
              </a:spcBef>
              <a:spcAft>
                <a:spcPts val="0"/>
              </a:spcAft>
            </a:pPr>
            <a:r>
              <a:rPr sz="1700" b="0" i="1">
                <a:solidFill>
                  <a:srgbClr val="5A6068"/>
                </a:solidFill>
                <a:latin typeface="Georgia"/>
              </a:rPr>
              <a:t>A commentary in three acts. What tracks individual lived experience when development is measured: education, health, and social trust. And why the frameworks built to monitor development systematically miss some of them.</a:t>
            </a:r>
          </a:p>
        </p:txBody>
      </p:sp>
      <p:sp>
        <p:nvSpPr>
          <p:cNvPr id="6" name="TextBox 5"/>
          <p:cNvSpPr txBox="1"/>
          <p:nvPr/>
        </p:nvSpPr>
        <p:spPr>
          <a:xfrm>
            <a:off x="566928" y="5577840"/>
            <a:ext cx="10607040" cy="914400"/>
          </a:xfrm>
          <a:prstGeom prst="rect">
            <a:avLst/>
          </a:prstGeom>
          <a:noFill/>
        </p:spPr>
        <p:txBody>
          <a:bodyPr wrap="square" lIns="0" rIns="0" tIns="0" bIns="0">
            <a:spAutoFit/>
          </a:bodyPr>
          <a:lstStyle/>
          <a:p>
            <a:pPr>
              <a:spcBef>
                <a:spcPts val="0"/>
              </a:spcBef>
              <a:spcAft>
                <a:spcPts val="500"/>
              </a:spcAft>
            </a:pPr>
            <a:r>
              <a:rPr sz="1050" b="0" i="0">
                <a:solidFill>
                  <a:srgbClr val="5A6068"/>
                </a:solidFill>
                <a:latin typeface="Consolas"/>
              </a:rPr>
              <a:t>Working synthesis for the co-author team · September 2026</a:t>
            </a:r>
          </a:p>
          <a:p>
            <a:pPr>
              <a:lnSpc>
                <a:spcPct val="130000"/>
              </a:lnSpc>
              <a:spcBef>
                <a:spcPts val="0"/>
              </a:spcBef>
              <a:spcAft>
                <a:spcPts val="0"/>
              </a:spcAft>
            </a:pPr>
            <a:r>
              <a:rPr sz="950" b="0" i="0">
                <a:solidFill>
                  <a:srgbClr val="868D96"/>
                </a:solidFill>
                <a:latin typeface="Consolas"/>
              </a:rPr>
              <a:t>SDG: 42 countries, 661 series · HDI × World Happiness Report: 151 countries, 2011–2023 · Subnational HDI &amp; sub-indices: 239 regions · European Social Survey: 36 countries, 351,023 respondents, rounds 5–11 (2010–2023)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66928"/>
            <a:ext cx="5486400" cy="274320"/>
          </a:xfrm>
          <a:prstGeom prst="rect">
            <a:avLst/>
          </a:prstGeom>
          <a:noFill/>
        </p:spPr>
        <p:txBody>
          <a:bodyPr wrap="square" lIns="0" rIns="0" tIns="0" bIns="0">
            <a:spAutoFit/>
          </a:bodyPr>
          <a:lstStyle/>
          <a:p>
            <a:pPr>
              <a:spcBef>
                <a:spcPts val="0"/>
              </a:spcBef>
              <a:spcAft>
                <a:spcPts val="0"/>
              </a:spcAft>
            </a:pPr>
            <a:r>
              <a:rPr sz="1100" b="0" i="0">
                <a:solidFill>
                  <a:srgbClr val="868D96"/>
                </a:solidFill>
                <a:latin typeface="Consolas"/>
              </a:rPr>
              <a:t>THE SETUP</a:t>
            </a:r>
          </a:p>
        </p:txBody>
      </p:sp>
      <p:sp>
        <p:nvSpPr>
          <p:cNvPr id="3" name="TextBox 2"/>
          <p:cNvSpPr txBox="1"/>
          <p:nvPr/>
        </p:nvSpPr>
        <p:spPr>
          <a:xfrm>
            <a:off x="566928" y="1024128"/>
            <a:ext cx="5486400" cy="1554480"/>
          </a:xfrm>
          <a:prstGeom prst="rect">
            <a:avLst/>
          </a:prstGeom>
          <a:noFill/>
        </p:spPr>
        <p:txBody>
          <a:bodyPr wrap="square" lIns="0" rIns="0" tIns="0" bIns="0">
            <a:spAutoFit/>
          </a:bodyPr>
          <a:lstStyle/>
          <a:p>
            <a:pPr>
              <a:lnSpc>
                <a:spcPct val="106000"/>
              </a:lnSpc>
              <a:spcBef>
                <a:spcPts val="0"/>
              </a:spcBef>
              <a:spcAft>
                <a:spcPts val="0"/>
              </a:spcAft>
            </a:pPr>
            <a:r>
              <a:rPr sz="3000" b="0" i="0">
                <a:solidFill>
                  <a:srgbClr val="14171C"/>
                </a:solidFill>
                <a:latin typeface="Georgia"/>
              </a:rPr>
              <a:t>Development rose almost everywhere. Wellbeing did not follow it.</a:t>
            </a:r>
          </a:p>
        </p:txBody>
      </p:sp>
      <p:sp>
        <p:nvSpPr>
          <p:cNvPr id="4" name="TextBox 3"/>
          <p:cNvSpPr txBox="1"/>
          <p:nvPr/>
        </p:nvSpPr>
        <p:spPr>
          <a:xfrm>
            <a:off x="566928" y="2880360"/>
            <a:ext cx="5212080" cy="3291840"/>
          </a:xfrm>
          <a:prstGeom prst="rect">
            <a:avLst/>
          </a:prstGeom>
          <a:noFill/>
        </p:spPr>
        <p:txBody>
          <a:bodyPr wrap="square" lIns="0" rIns="0" tIns="0" bIns="0">
            <a:spAutoFit/>
          </a:bodyPr>
          <a:lstStyle/>
          <a:p>
            <a:pPr>
              <a:lnSpc>
                <a:spcPct val="134000"/>
              </a:lnSpc>
              <a:spcBef>
                <a:spcPts val="0"/>
              </a:spcBef>
              <a:spcAft>
                <a:spcPts val="1200"/>
              </a:spcAft>
            </a:pPr>
            <a:r>
              <a:rPr sz="1075" b="0" i="0">
                <a:solidFill>
                  <a:srgbClr val="5A6068"/>
                </a:solidFill>
                <a:latin typeface="Calibri"/>
              </a:rPr>
              <a:t>The SDG paper now under review makes a narrow, awkward claim: the association between development indicators and happiness is strong when countries are compared with one another, and close to absent when each is compared with its own past. Thirty of 42 countries are significant in levels. Two are in year-to-year changes.</a:t>
            </a:r>
          </a:p>
          <a:p>
            <a:pPr>
              <a:lnSpc>
                <a:spcPct val="134000"/>
              </a:lnSpc>
              <a:spcBef>
                <a:spcPts val="0"/>
              </a:spcBef>
              <a:spcAft>
                <a:spcPts val="1200"/>
              </a:spcAft>
            </a:pPr>
            <a:r>
              <a:rPr sz="1075" b="0" i="0">
                <a:solidFill>
                  <a:srgbClr val="5A6068"/>
                </a:solidFill>
                <a:latin typeface="Calibri"/>
              </a:rPr>
              <a:t>There is an obvious way to dismiss that. The SDG framework is a sprawling, negotiated instrument with uneven coverage; a null inside it says as much about the framework as about the world. This commentary closes that escape route by asking: which parts of development track lived experience at all? And why do some frameworks capture them while others systematically miss them?</a:t>
            </a:r>
          </a:p>
          <a:p>
            <a:pPr>
              <a:lnSpc>
                <a:spcPct val="134000"/>
              </a:lnSpc>
              <a:spcBef>
                <a:spcPts val="0"/>
              </a:spcBef>
              <a:spcAft>
                <a:spcPts val="1200"/>
              </a:spcAft>
            </a:pPr>
            <a:r>
              <a:rPr sz="1075" b="0" i="0">
                <a:solidFill>
                  <a:srgbClr val="5A6068"/>
                </a:solidFill>
                <a:latin typeface="Calibri"/>
              </a:rPr>
              <a:t>The answer turns out to be about the frameworks' construction choices, not about development itself. Education, health, and social trust all matter — but which one you find depends on which framework you measure with, which construct you count, and whether you collected the data in the first place.</a:t>
            </a:r>
          </a:p>
        </p:txBody>
      </p:sp>
      <p:sp>
        <p:nvSpPr>
          <p:cNvPr id="5" name="TextBox 4"/>
          <p:cNvSpPr txBox="1"/>
          <p:nvPr/>
        </p:nvSpPr>
        <p:spPr>
          <a:xfrm>
            <a:off x="6720840" y="566928"/>
            <a:ext cx="484632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THE ARGUMENT</a:t>
            </a:r>
          </a:p>
        </p:txBody>
      </p:sp>
      <p:sp>
        <p:nvSpPr>
          <p:cNvPr id="6" name="Rectangle 5"/>
          <p:cNvSpPr/>
          <p:nvPr/>
        </p:nvSpPr>
        <p:spPr>
          <a:xfrm>
            <a:off x="6720840" y="102412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20840" y="117043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a:t>
            </a:r>
          </a:p>
        </p:txBody>
      </p:sp>
      <p:sp>
        <p:nvSpPr>
          <p:cNvPr id="8" name="TextBox 7"/>
          <p:cNvSpPr txBox="1"/>
          <p:nvPr/>
        </p:nvSpPr>
        <p:spPr>
          <a:xfrm>
            <a:off x="7360920" y="117043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The levels-to-differences collapse is universal.</a:t>
            </a:r>
          </a:p>
          <a:p>
            <a:pPr>
              <a:lnSpc>
                <a:spcPct val="125000"/>
              </a:lnSpc>
              <a:spcBef>
                <a:spcPts val="0"/>
              </a:spcBef>
              <a:spcAft>
                <a:spcPts val="0"/>
              </a:spcAft>
            </a:pPr>
            <a:r>
              <a:rPr sz="1100" b="0" i="0">
                <a:solidFill>
                  <a:srgbClr val="5A6068"/>
                </a:solidFill>
                <a:latin typeface="Calibri"/>
              </a:rPr>
              <a:t>Replicate it on the HDI, against a second wellbeing survey, and one spatial scale down. It holds every time. So we can analyze the levels.</a:t>
            </a:r>
          </a:p>
        </p:txBody>
      </p:sp>
      <p:sp>
        <p:nvSpPr>
          <p:cNvPr id="9" name="Rectangle 8"/>
          <p:cNvSpPr/>
          <p:nvPr/>
        </p:nvSpPr>
        <p:spPr>
          <a:xfrm>
            <a:off x="6720840" y="235000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20840" y="249631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a:t>
            </a:r>
          </a:p>
        </p:txBody>
      </p:sp>
      <p:sp>
        <p:nvSpPr>
          <p:cNvPr id="11" name="TextBox 10"/>
          <p:cNvSpPr txBox="1"/>
          <p:nvPr/>
        </p:nvSpPr>
        <p:spPr>
          <a:xfrm>
            <a:off x="7360920" y="249631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At the levels, three domains emerge: education, health, and social trust.</a:t>
            </a:r>
          </a:p>
          <a:p>
            <a:pPr>
              <a:lnSpc>
                <a:spcPct val="125000"/>
              </a:lnSpc>
              <a:spcBef>
                <a:spcPts val="0"/>
              </a:spcBef>
              <a:spcAft>
                <a:spcPts val="0"/>
              </a:spcAft>
            </a:pPr>
            <a:r>
              <a:rPr sz="1100" b="0" i="0">
                <a:solidFill>
                  <a:srgbClr val="5A6068"/>
                </a:solidFill>
                <a:latin typeface="Calibri"/>
              </a:rPr>
              <a:t>But each framework sees a different subset, for a different reason: the wrong construct, a variable that stopped varying, or no coverage at all.</a:t>
            </a:r>
          </a:p>
        </p:txBody>
      </p:sp>
      <p:sp>
        <p:nvSpPr>
          <p:cNvPr id="12" name="Rectangle 11"/>
          <p:cNvSpPr/>
          <p:nvPr/>
        </p:nvSpPr>
        <p:spPr>
          <a:xfrm>
            <a:off x="6720840" y="3675888"/>
            <a:ext cx="4846320" cy="9525"/>
          </a:xfrm>
          <a:prstGeom prst="rect">
            <a:avLst/>
          </a:prstGeom>
          <a:solidFill>
            <a:srgbClr val="CDD3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20840" y="3822192"/>
            <a:ext cx="502920" cy="457200"/>
          </a:xfrm>
          <a:prstGeom prst="rect">
            <a:avLst/>
          </a:prstGeom>
          <a:noFill/>
        </p:spPr>
        <p:txBody>
          <a:bodyPr wrap="square" lIns="0" rIns="0" tIns="0" bIns="0">
            <a:spAutoFit/>
          </a:bodyPr>
          <a:lstStyle/>
          <a:p>
            <a:pPr>
              <a:spcBef>
                <a:spcPts val="0"/>
              </a:spcBef>
              <a:spcAft>
                <a:spcPts val="0"/>
              </a:spcAft>
            </a:pPr>
            <a:r>
              <a:rPr sz="2000" b="0" i="0">
                <a:solidFill>
                  <a:srgbClr val="17549E"/>
                </a:solidFill>
                <a:latin typeface="Georgia"/>
              </a:rPr>
              <a:t>III</a:t>
            </a:r>
          </a:p>
        </p:txBody>
      </p:sp>
      <p:sp>
        <p:nvSpPr>
          <p:cNvPr id="14" name="TextBox 13"/>
          <p:cNvSpPr txBox="1"/>
          <p:nvPr/>
        </p:nvSpPr>
        <p:spPr>
          <a:xfrm>
            <a:off x="7360920" y="3822192"/>
            <a:ext cx="4206240" cy="1097280"/>
          </a:xfrm>
          <a:prstGeom prst="rect">
            <a:avLst/>
          </a:prstGeom>
          <a:noFill/>
        </p:spPr>
        <p:txBody>
          <a:bodyPr wrap="square" lIns="0" rIns="0" tIns="0" bIns="0">
            <a:spAutoFit/>
          </a:bodyPr>
          <a:lstStyle/>
          <a:p>
            <a:pPr>
              <a:spcBef>
                <a:spcPts val="0"/>
              </a:spcBef>
              <a:spcAft>
                <a:spcPts val="300"/>
              </a:spcAft>
            </a:pPr>
            <a:r>
              <a:rPr sz="1350" b="1" i="0">
                <a:solidFill>
                  <a:srgbClr val="14171C"/>
                </a:solidFill>
                <a:latin typeface="Calibri"/>
              </a:rPr>
              <a:t>What this means for how we measure development.</a:t>
            </a:r>
          </a:p>
          <a:p>
            <a:pPr>
              <a:lnSpc>
                <a:spcPct val="125000"/>
              </a:lnSpc>
              <a:spcBef>
                <a:spcPts val="0"/>
              </a:spcBef>
              <a:spcAft>
                <a:spcPts val="0"/>
              </a:spcAft>
            </a:pPr>
            <a:r>
              <a:rPr sz="1100" b="0" i="0">
                <a:solidFill>
                  <a:srgbClr val="5A6068"/>
                </a:solidFill>
                <a:latin typeface="Calibri"/>
              </a:rPr>
              <a:t>A disconnect between what frameworks capture and what predicts lived experience, with implications for each domain.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Replicating the collapse: three frameworks, three data sources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600" b="0" i="1">
                <a:solidFill>
                  <a:srgbClr val="9AA4B0"/>
                </a:solidFill>
                <a:latin typeface="Georgia"/>
              </a:rPr>
              <a:t>Run the original levels-and-differences design on a second development framework, against a second wellbeing instrument, and the collapse appears every time. It is not a property of the SDGs. Once we show the levels are where the signal is, we can drill into what that signal actually is.</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71% → 5%</a:t>
            </a:r>
          </a:p>
          <a:p>
            <a:pPr>
              <a:lnSpc>
                <a:spcPct val="120000"/>
              </a:lnSpc>
              <a:spcBef>
                <a:spcPts val="0"/>
              </a:spcBef>
              <a:spcAft>
                <a:spcPts val="0"/>
              </a:spcAft>
            </a:pPr>
            <a:r>
              <a:rPr sz="1000" b="0" i="0">
                <a:solidFill>
                  <a:srgbClr val="8A94A0"/>
                </a:solidFill>
                <a:latin typeface="Calibri"/>
              </a:rPr>
              <a:t>of countries significant, SDG levels → differences</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 2%</a:t>
            </a:r>
          </a:p>
          <a:p>
            <a:pPr>
              <a:lnSpc>
                <a:spcPct val="120000"/>
              </a:lnSpc>
              <a:spcBef>
                <a:spcPts val="0"/>
              </a:spcBef>
              <a:spcAft>
                <a:spcPts val="0"/>
              </a:spcAft>
            </a:pPr>
            <a:r>
              <a:rPr sz="1000" b="0" i="0">
                <a:solidFill>
                  <a:srgbClr val="8A94A0"/>
                </a:solidFill>
                <a:latin typeface="Calibri"/>
              </a:rPr>
              <a:t>the same collapse under the HDI composite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14% → 8%</a:t>
            </a:r>
          </a:p>
          <a:p>
            <a:pPr>
              <a:lnSpc>
                <a:spcPct val="120000"/>
              </a:lnSpc>
              <a:spcBef>
                <a:spcPts val="0"/>
              </a:spcBef>
              <a:spcAft>
                <a:spcPts val="0"/>
              </a:spcAft>
            </a:pPr>
            <a:r>
              <a:rPr sz="1000" b="0" i="0">
                <a:solidFill>
                  <a:srgbClr val="8A94A0"/>
                </a:solidFill>
                <a:latin typeface="Calibri"/>
              </a:rPr>
              <a:t>of cells, against the ESS wellbeing survey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1 · THE HDI</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A deliberately parsimonious index shows the same collapse</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Human Development Index is the opposite of the SDG framework in every way the dismissal relies on: three dimensions rather than seventeen goals, a single custodian, a stable definition, near-universal coverage. Substituting it for the SDGs and holding everything else fixed gives 64 of 151 countries FDR-significant in levels and 3 of 151 in first differences — 42% down to 2%.</a:t>
            </a:r>
          </a:p>
          <a:p>
            <a:pPr>
              <a:lnSpc>
                <a:spcPct val="132000"/>
              </a:lnSpc>
              <a:spcBef>
                <a:spcPts val="0"/>
              </a:spcBef>
              <a:spcAft>
                <a:spcPts val="1100"/>
              </a:spcAft>
            </a:pPr>
            <a:r>
              <a:rPr sz="1150" b="0" i="0">
                <a:solidFill>
                  <a:srgbClr val="5A6068"/>
                </a:solidFill>
                <a:latin typeface="Calibri"/>
              </a:rPr>
              <a:t>The levels-to-differences ratio is identical in order of magnitude whether you use the SDGs or the HDI. Whatever produces the asymmetry, it is not a property of either framework's scope or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collapse_hdi_shdi_whr.png"/>
          <p:cNvPicPr>
            <a:picLocks noChangeAspect="1"/>
          </p:cNvPicPr>
          <p:nvPr/>
        </p:nvPicPr>
        <p:blipFill>
          <a:blip r:embed="rId2"/>
          <a:stretch>
            <a:fillRect/>
          </a:stretch>
        </p:blipFill>
        <p:spPr>
          <a:xfrm>
            <a:off x="5120640" y="1353312"/>
            <a:ext cx="6537960" cy="3685032"/>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Countries with FDR-significant development–happiness association, levels versus first differences, under the SDG framework and the HDI.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REPLICATION 2 · THE ESS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Switch the wellbeing measure from the World Happiness Report to the European Social Survey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The World Happiness Report compiles a single survey question: the Cantril ladder, 'how satisfied are you with your life on a scale of 0–10?' The European Social Survey asks similar life satisfaction and happiness questions of individuals rather than aggregating them to countries.</a:t>
            </a:r>
          </a:p>
          <a:p>
            <a:pPr>
              <a:lnSpc>
                <a:spcPct val="132000"/>
              </a:lnSpc>
              <a:spcBef>
                <a:spcPts val="0"/>
              </a:spcBef>
              <a:spcAft>
                <a:spcPts val="1100"/>
              </a:spcAft>
            </a:pPr>
            <a:r>
              <a:rPr sz="1150" b="0" i="0">
                <a:solidFill>
                  <a:srgbClr val="5A6068"/>
                </a:solidFill>
                <a:latin typeface="Calibri"/>
              </a:rPr>
              <a:t>Running the same levels-and-differences design against the ESS — 36 European countries, 351,000 respondents — shows the collapse holds there too. At the individual level, within countries, development composite scores predict significant variance in life satisfaction and happiness; year-to-year changes in the HDI within countries predict almost none. The levels are where the signal is, regardless of the framework or the instrument.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ess_levels_diffs_collapse.png"/>
          <p:cNvPicPr>
            <a:picLocks noChangeAspect="1"/>
          </p:cNvPicPr>
          <p:nvPr/>
        </p:nvPicPr>
        <p:blipFill>
          <a:blip r:embed="rId2"/>
          <a:stretch>
            <a:fillRect/>
          </a:stretch>
        </p:blipFill>
        <p:spPr>
          <a:xfrm>
            <a:off x="5120640" y="744093"/>
            <a:ext cx="6537960" cy="490347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ESS + HDI: levels-to-differences collapse holds for both life satisfaction and happiness at the individual level.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COMPOSITE + SUB-COMPONENTS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Beneath the composites, the components tell different stories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leads the HDI: highest median R² at levels (0.326) and in differences (0.069), above the composite itself. Income is level with it in levels, weaker in differences. Life expectancy — the HDI's proxy for health — is weakest in levels.</a:t>
            </a:r>
          </a:p>
          <a:p>
            <a:pPr>
              <a:lnSpc>
                <a:spcPct val="132000"/>
              </a:lnSpc>
              <a:spcBef>
                <a:spcPts val="0"/>
              </a:spcBef>
              <a:spcAft>
                <a:spcPts val="1100"/>
              </a:spcAft>
            </a:pPr>
            <a:r>
              <a:rPr sz="1150" b="0" i="0">
                <a:solidFill>
                  <a:srgbClr val="5A6068"/>
                </a:solidFill>
                <a:latin typeface="Calibri"/>
              </a:rPr>
              <a:t>Education's apparent strength in levels is not a hint that differences would show it recovering. Instead, it is the entry point to Act II: which components are actually strong, weak, or invisible once you look at each framework's construction choices rather than its top-line numbers?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a:t>
            </a:r>
          </a:p>
        </p:txBody>
      </p:sp>
      <p:pic>
        <p:nvPicPr>
          <p:cNvPr id="6" name="Picture 5" descr="hdi_full_structure.png"/>
          <p:cNvPicPr>
            <a:picLocks noChangeAspect="1"/>
          </p:cNvPicPr>
          <p:nvPr/>
        </p:nvPicPr>
        <p:blipFill>
          <a:blip r:embed="rId2"/>
          <a:stretch>
            <a:fillRect/>
          </a:stretch>
        </p:blipFill>
        <p:spPr>
          <a:xfrm>
            <a:off x="5120640" y="1791377"/>
            <a:ext cx="6537960" cy="2808901"/>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HDI composite and sub-components, levels and first differences. Benjamini–Hochberg corrected within each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The levels are where development and wellbeing predict each other. Now we can ask: which components of development matter for lived experience?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predicts wellbeing at the levels? Three findings.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75" b="0" i="1">
                <a:solidFill>
                  <a:srgbClr val="9AA4B0"/>
                </a:solidFill>
                <a:latin typeface="Georgia"/>
              </a:rPr>
              <a:t>Three domains emerge when you ask which indicators of education, health, and social trust predict life satisfaction at the levels. But each framework sees a different subset — not because the domains differ across contexts, but because of three distinct reasons frameworks fail to capture what matters for lived experience.</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92% vs 34% vs 3.3%</a:t>
            </a:r>
          </a:p>
          <a:p>
            <a:pPr>
              <a:lnSpc>
                <a:spcPct val="120000"/>
              </a:lnSpc>
              <a:spcBef>
                <a:spcPts val="0"/>
              </a:spcBef>
              <a:spcAft>
                <a:spcPts val="0"/>
              </a:spcAft>
            </a:pPr>
            <a:r>
              <a:rPr sz="1000" b="0" i="0">
                <a:solidFill>
                  <a:srgbClr val="8A94A0"/>
                </a:solidFill>
                <a:latin typeface="Calibri"/>
              </a:rPr>
              <a:t>countries significant: education in ESS, HDI, and SDG4 pooled</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100% vs 20% vs 11.5%</a:t>
            </a:r>
          </a:p>
          <a:p>
            <a:pPr>
              <a:lnSpc>
                <a:spcPct val="120000"/>
              </a:lnSpc>
              <a:spcBef>
                <a:spcPts val="0"/>
              </a:spcBef>
              <a:spcAft>
                <a:spcPts val="0"/>
              </a:spcAft>
            </a:pPr>
            <a:r>
              <a:rPr sz="1000" b="0" i="0">
                <a:solidFill>
                  <a:srgbClr val="8A94A0"/>
                </a:solidFill>
                <a:latin typeface="Calibri"/>
              </a:rPr>
              <a:t>countries significant: health in ESS, HDI, and SDG3</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94% vs 1.5% vs —</a:t>
            </a:r>
          </a:p>
          <a:p>
            <a:pPr>
              <a:lnSpc>
                <a:spcPct val="120000"/>
              </a:lnSpc>
              <a:spcBef>
                <a:spcPts val="0"/>
              </a:spcBef>
              <a:spcAft>
                <a:spcPts val="0"/>
              </a:spcAft>
            </a:pPr>
            <a:r>
              <a:rPr sz="1000" b="0" i="0">
                <a:solidFill>
                  <a:srgbClr val="8A94A0"/>
                </a:solidFill>
                <a:latin typeface="Calibri"/>
              </a:rPr>
              <a:t>countries significant: social trust in ESS, SDG16, and HDI (not measured)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ALL THREE MATTER</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Education, health, and social trust all significantly predict life satisfaction</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In the European Social Survey, where all three are measured at the individual level, all three are significant in the majority of countries. But which framework can see all three? Which sees only some? The answer depends on three different failure modes.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s_at_levels_comparison.png"/>
          <p:cNvPicPr>
            <a:picLocks noChangeAspect="1"/>
          </p:cNvPicPr>
          <p:nvPr/>
        </p:nvPicPr>
        <p:blipFill>
          <a:blip r:embed="rId2"/>
          <a:stretch>
            <a:fillRect/>
          </a:stretch>
        </p:blipFill>
        <p:spPr>
          <a:xfrm>
            <a:off x="5120640" y="2028335"/>
            <a:ext cx="6537960" cy="2334985"/>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 of countries where each domain significantly predicts wellbeing at levels. ESS: 36 countries. HDI: 150 countries. SDG: country-indicator 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1 · EDUCATION</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92% of ESS countries, but only when measured as attainment</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Expected years of schooling predicts life satisfaction in 34% of HDI countries — the highest among the five HDI components, but still a minority. In the ESS individual data, education (measured as years attained) is significant in 92% of countries. The difference is not about the data; it is about which construct you count.</a:t>
            </a:r>
          </a:p>
          <a:p>
            <a:pPr>
              <a:lnSpc>
                <a:spcPct val="132000"/>
              </a:lnSpc>
              <a:spcBef>
                <a:spcPts val="0"/>
              </a:spcBef>
              <a:spcAft>
                <a:spcPts val="1100"/>
              </a:spcAft>
            </a:pPr>
            <a:r>
              <a:rPr sz="1150" b="0" i="0">
                <a:solidFill>
                  <a:srgbClr val="5A6068"/>
                </a:solidFill>
                <a:latin typeface="Calibri"/>
              </a:rPr>
              <a:t>The SDG framework's education goal is 35 indicators spanning access, attainment, equity (parity ratios), learning outcomes, infrastructure, and financing. Pooled, 3.3% of country-indicator pairs are significant. But access indicators alone (primary and secondary enrollment, completion rates) reach 12.7% — because they measure participation, the closest SDG analogue to HDI attainment. Parity ratios, learning outcomes, and infrastructure contribute little to wellbeing, so pooling them masks the signal from access.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education_levels_comparison.png"/>
          <p:cNvPicPr>
            <a:picLocks noChangeAspect="1"/>
          </p:cNvPicPr>
          <p:nvPr/>
        </p:nvPicPr>
        <p:blipFill>
          <a:blip r:embed="rId2"/>
          <a:stretch>
            <a:fillRect/>
          </a:stretch>
        </p:blipFill>
        <p:spPr>
          <a:xfrm>
            <a:off x="5120640" y="1412748"/>
            <a:ext cx="6537960" cy="356616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Education's R² (% of countries significant at levels) across three frameworks. SDG4's pooled rate (3.3%) includes all 35 constructs; access alone reaches 12.7%.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ACCESS CHECK · WHY EDUCATION'S RANK SWINGS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The difference between measuring attainment and measuring parity</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When the SDG framework pools constructs, it weights all equally by series count. Parity ratios are 18 of 35 series but carry almost no signal for wellbeing. Learning outcomes (6 series, 0.9% significant), infrastructure (7 series, 2.0%), and financing (1 series, 11.5%) together drive the pooled rate below what access alone achieves. This is not a discovery about education; it is a mechanical artifact of construction.</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sdg4_unpooled.png"/>
          <p:cNvPicPr>
            <a:picLocks noChangeAspect="1"/>
          </p:cNvPicPr>
          <p:nvPr/>
        </p:nvPicPr>
        <p:blipFill>
          <a:blip r:embed="rId2"/>
          <a:stretch>
            <a:fillRect/>
          </a:stretch>
        </p:blipFill>
        <p:spPr>
          <a:xfrm>
            <a:off x="5120640" y="1103208"/>
            <a:ext cx="6537960" cy="4185240"/>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SDG4 by construct: access and participation (12.7%) vs. equity/parity ratios (2.5%), learning outcomes (0.9%), and others.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2 · HEALTH</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Significant in 100% of ESS countries, weak in the HDI, strong in the SDGs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Self-rated health is the single strongest predictor of life satisfaction in the ESS: 100% of countries significant at the individual level, median R² = 0.091 (four times education's). In the HDI, health's proxy is life expectancy, and it is the weakest of five components — only 20% of countries significant. In the SDG database, health (Goal 3) reaches 11.5% of country-indicator pairs, fourth of 17 goals.</a:t>
            </a:r>
          </a:p>
          <a:p>
            <a:pPr>
              <a:lnSpc>
                <a:spcPct val="132000"/>
              </a:lnSpc>
              <a:spcBef>
                <a:spcPts val="0"/>
              </a:spcBef>
              <a:spcAft>
                <a:spcPts val="1100"/>
              </a:spcAft>
            </a:pPr>
            <a:r>
              <a:rPr sz="1150" b="0" i="0">
                <a:solidFill>
                  <a:srgbClr val="5A6068"/>
                </a:solidFill>
                <a:latin typeface="Calibri"/>
              </a:rPr>
              <a:t>Life expectancy is close to saturated in developed countries: the top 100 countries range from 81 to 85 years. The variance that remains is so small that between-country differences add little predictive power. This is not health's problem; it is the specific HDI indicator's problem. The gap between frameworks shows the importance of variable choice, not of health itself.</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health_levels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Health's R² (% of countries significant at levels) across three frameworks. Self-rated health in ESS dominates; external HDI proxy (life expectancy) is weak.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RESULT 3 · DISCUSSION · THE COVERAGE GAP</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Social trust leads the ESS, is nearly invisible to development frameworks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Social trust — 'most people can be trusted' — is significant in 94% of ESS countries, third strongest domain after health and income, with median R² = 0.041. Neither the HDI nor the SDG framework measures it at all.</a:t>
            </a:r>
          </a:p>
          <a:p>
            <a:pPr>
              <a:lnSpc>
                <a:spcPct val="132000"/>
              </a:lnSpc>
              <a:spcBef>
                <a:spcPts val="0"/>
              </a:spcBef>
              <a:spcAft>
                <a:spcPts val="1100"/>
              </a:spcAft>
            </a:pPr>
            <a:r>
              <a:rPr sz="1150" b="0" i="0">
                <a:solidFill>
                  <a:srgbClr val="5A6068"/>
                </a:solidFill>
                <a:latin typeface="Calibri"/>
              </a:rPr>
              <a:t>The SDG database does carry 13 trust- and satisfaction-adjacent series under Goal 16: satisfaction with public services, perception of bribery, perceived decision-making inclusiveness. But these measure institutional confidence, not interpersonal trust — a different construct, and one that correlates more weakly with life satisfaction even when tested across countries. Moreover, their median coverage is one observation per country-series against six for the database as a whole; 147 of 163 country-series cannot support a time-series design.</a:t>
            </a:r>
          </a:p>
          <a:p>
            <a:pPr>
              <a:lnSpc>
                <a:spcPct val="132000"/>
              </a:lnSpc>
              <a:spcBef>
                <a:spcPts val="0"/>
              </a:spcBef>
              <a:spcAft>
                <a:spcPts val="1100"/>
              </a:spcAft>
            </a:pPr>
            <a:r>
              <a:rPr sz="1150" b="0" i="0">
                <a:solidFill>
                  <a:srgbClr val="5A6068"/>
                </a:solidFill>
                <a:latin typeface="Calibri"/>
              </a:rPr>
              <a:t>Education's and health's problems are about which variable to count within a domain. Trust's problem is different: it is not in the frameworks at all. That is a coverage gap, not a measurement problem.</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trust_coverage_comparison.png"/>
          <p:cNvPicPr>
            <a:picLocks noChangeAspect="1"/>
          </p:cNvPicPr>
          <p:nvPr/>
        </p:nvPicPr>
        <p:blipFill>
          <a:blip r:embed="rId2"/>
          <a:stretch>
            <a:fillRect/>
          </a:stretch>
        </p:blipFill>
        <p:spPr>
          <a:xfrm>
            <a:off x="5120640" y="1234440"/>
            <a:ext cx="6537960" cy="3922776"/>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Social trust: 94% of ESS countries significant (individual level), 1.5% of SDG16 country-indicator pairs (institutional confidence, not interpersonal trust), not measured in the HDI.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416052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SYNTHESIS</a:t>
            </a:r>
          </a:p>
        </p:txBody>
      </p:sp>
      <p:sp>
        <p:nvSpPr>
          <p:cNvPr id="3" name="TextBox 2"/>
          <p:cNvSpPr txBox="1"/>
          <p:nvPr/>
        </p:nvSpPr>
        <p:spPr>
          <a:xfrm>
            <a:off x="566928" y="914400"/>
            <a:ext cx="4160520" cy="1371600"/>
          </a:xfrm>
          <a:prstGeom prst="rect">
            <a:avLst/>
          </a:prstGeom>
          <a:noFill/>
        </p:spPr>
        <p:txBody>
          <a:bodyPr wrap="square" lIns="0" rIns="0" tIns="0" bIns="0">
            <a:spAutoFit/>
          </a:bodyPr>
          <a:lstStyle/>
          <a:p>
            <a:pPr>
              <a:lnSpc>
                <a:spcPct val="108000"/>
              </a:lnSpc>
              <a:spcBef>
                <a:spcPts val="0"/>
              </a:spcBef>
              <a:spcAft>
                <a:spcPts val="0"/>
              </a:spcAft>
            </a:pPr>
            <a:r>
              <a:rPr sz="2300" b="0" i="0">
                <a:solidFill>
                  <a:srgbClr val="14171C"/>
                </a:solidFill>
                <a:latin typeface="Georgia"/>
              </a:rPr>
              <a:t>Three domains, three ways frameworks lose sight of what matters</a:t>
            </a:r>
          </a:p>
        </p:txBody>
      </p:sp>
      <p:sp>
        <p:nvSpPr>
          <p:cNvPr id="4" name="TextBox 3"/>
          <p:cNvSpPr txBox="1"/>
          <p:nvPr/>
        </p:nvSpPr>
        <p:spPr>
          <a:xfrm>
            <a:off x="566928" y="2331720"/>
            <a:ext cx="4160520" cy="3840480"/>
          </a:xfrm>
          <a:prstGeom prst="rect">
            <a:avLst/>
          </a:prstGeom>
          <a:noFill/>
        </p:spPr>
        <p:txBody>
          <a:bodyPr wrap="square" lIns="0" rIns="0" tIns="0" bIns="0">
            <a:spAutoFit/>
          </a:bodyPr>
          <a:lstStyle/>
          <a:p>
            <a:pPr>
              <a:lnSpc>
                <a:spcPct val="132000"/>
              </a:lnSpc>
              <a:spcBef>
                <a:spcPts val="0"/>
              </a:spcBef>
              <a:spcAft>
                <a:spcPts val="1100"/>
              </a:spcAft>
            </a:pPr>
            <a:r>
              <a:rPr sz="1150" b="0" i="0">
                <a:solidFill>
                  <a:srgbClr val="5A6068"/>
                </a:solidFill>
                <a:latin typeface="Calibri"/>
              </a:rPr>
              <a:t>Education's rank depends on which construct you count: attainment works, but parity ratios and learning outcomes do not, so pooling dilutes the signal. Health's rank depends on whether your chosen variable still varies: life expectancy does not, but self-rated health does, so the HDI's choice costs it. Social trust's rank is zero because it is not collected at scale in development frameworks at all — a coverage gap that cannot be fixed by choosing the right variable, because no variable was ever measured.</a:t>
            </a:r>
          </a:p>
          <a:p>
            <a:pPr>
              <a:lnSpc>
                <a:spcPct val="132000"/>
              </a:lnSpc>
              <a:spcBef>
                <a:spcPts val="0"/>
              </a:spcBef>
              <a:spcAft>
                <a:spcPts val="1100"/>
              </a:spcAft>
            </a:pPr>
            <a:r>
              <a:rPr sz="1150" b="0" i="0">
                <a:solidFill>
                  <a:srgbClr val="5A6068"/>
                </a:solidFill>
                <a:latin typeface="Calibri"/>
              </a:rPr>
              <a:t>These are not criticisms of the frameworks; they were built to track development, and they do. But which components look most consequential for lived experience is not the question they were built to answer.</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a:t>
            </a:r>
          </a:p>
        </p:txBody>
      </p:sp>
      <p:pic>
        <p:nvPicPr>
          <p:cNvPr id="6" name="Picture 5" descr="domain_horse_race.png"/>
          <p:cNvPicPr>
            <a:picLocks noChangeAspect="1"/>
          </p:cNvPicPr>
          <p:nvPr/>
        </p:nvPicPr>
        <p:blipFill>
          <a:blip r:embed="rId2"/>
          <a:stretch>
            <a:fillRect/>
          </a:stretch>
        </p:blipFill>
        <p:spPr>
          <a:xfrm>
            <a:off x="5120640" y="1433421"/>
            <a:ext cx="6537960" cy="3524813"/>
          </a:xfrm>
          <a:prstGeom prst="rect">
            <a:avLst/>
          </a:prstGeom>
        </p:spPr>
      </p:pic>
      <p:sp>
        <p:nvSpPr>
          <p:cNvPr id="7" name="TextBox 6"/>
          <p:cNvSpPr txBox="1"/>
          <p:nvPr/>
        </p:nvSpPr>
        <p:spPr>
          <a:xfrm>
            <a:off x="5120640" y="5897880"/>
            <a:ext cx="6537960" cy="731520"/>
          </a:xfrm>
          <a:prstGeom prst="rect">
            <a:avLst/>
          </a:prstGeom>
          <a:noFill/>
        </p:spPr>
        <p:txBody>
          <a:bodyPr wrap="square" lIns="0" rIns="0" tIns="0" bIns="0">
            <a:spAutoFit/>
          </a:bodyPr>
          <a:lstStyle/>
          <a:p>
            <a:pPr>
              <a:lnSpc>
                <a:spcPct val="125000"/>
              </a:lnSpc>
              <a:spcBef>
                <a:spcPts val="0"/>
              </a:spcBef>
              <a:spcAft>
                <a:spcPts val="0"/>
              </a:spcAft>
            </a:pPr>
            <a:r>
              <a:rPr sz="900" b="0" i="0">
                <a:solidFill>
                  <a:srgbClr val="868D96"/>
                </a:solidFill>
                <a:latin typeface="Calibri"/>
              </a:rPr>
              <a:t>Domains competing within one instrument (ESS), at two levels of aggregation. Individual level (left) and country means (right).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Each framework's construction choices — which construct to count, which variable to measure, which domains to collect at all — determine what it can see. The problem is not the domains; the problem is the measurement.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8229600" y="822960"/>
            <a:ext cx="3291840" cy="4114800"/>
          </a:xfrm>
          <a:prstGeom prst="rect">
            <a:avLst/>
          </a:prstGeom>
          <a:noFill/>
        </p:spPr>
        <p:txBody>
          <a:bodyPr wrap="square" lIns="0" rIns="0" tIns="0" bIns="0">
            <a:spAutoFit/>
          </a:bodyPr>
          <a:lstStyle/>
          <a:p>
            <a:pPr algn="r">
              <a:spcBef>
                <a:spcPts val="0"/>
              </a:spcBef>
              <a:spcAft>
                <a:spcPts val="0"/>
              </a:spcAft>
            </a:pPr>
            <a:r>
              <a:rPr sz="20000" b="0" i="0">
                <a:solidFill>
                  <a:srgbClr val="2A3340"/>
                </a:solidFill>
                <a:latin typeface="Georgia"/>
              </a:rPr>
              <a:t>III</a:t>
            </a:r>
          </a:p>
        </p:txBody>
      </p:sp>
      <p:sp>
        <p:nvSpPr>
          <p:cNvPr id="3" name="Rectangle 2"/>
          <p:cNvSpPr/>
          <p:nvPr/>
        </p:nvSpPr>
        <p:spPr>
          <a:xfrm>
            <a:off x="566928" y="1371600"/>
            <a:ext cx="7315200" cy="25400"/>
          </a:xfrm>
          <a:prstGeom prst="rect">
            <a:avLst/>
          </a:prstGeom>
          <a:solidFill>
            <a:srgbClr val="C9D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60120"/>
            <a:ext cx="5486400" cy="274320"/>
          </a:xfrm>
          <a:prstGeom prst="rect">
            <a:avLst/>
          </a:prstGeom>
          <a:noFill/>
        </p:spPr>
        <p:txBody>
          <a:bodyPr wrap="square" lIns="0" rIns="0" tIns="0" bIns="0">
            <a:spAutoFit/>
          </a:bodyPr>
          <a:lstStyle/>
          <a:p>
            <a:pPr>
              <a:spcBef>
                <a:spcPts val="0"/>
              </a:spcBef>
              <a:spcAft>
                <a:spcPts val="0"/>
              </a:spcAft>
            </a:pPr>
            <a:r>
              <a:rPr sz="1100" b="0" i="0">
                <a:solidFill>
                  <a:srgbClr val="C9D8EC"/>
                </a:solidFill>
                <a:latin typeface="Consolas"/>
              </a:rPr>
              <a:t>ACT III</a:t>
            </a:r>
          </a:p>
        </p:txBody>
      </p:sp>
      <p:sp>
        <p:nvSpPr>
          <p:cNvPr id="5" name="TextBox 4"/>
          <p:cNvSpPr txBox="1"/>
          <p:nvPr/>
        </p:nvSpPr>
        <p:spPr>
          <a:xfrm>
            <a:off x="566928" y="1783080"/>
            <a:ext cx="7223760" cy="1828800"/>
          </a:xfrm>
          <a:prstGeom prst="rect">
            <a:avLst/>
          </a:prstGeom>
          <a:noFill/>
        </p:spPr>
        <p:txBody>
          <a:bodyPr wrap="square" lIns="0" rIns="0" tIns="0" bIns="0">
            <a:spAutoFit/>
          </a:bodyPr>
          <a:lstStyle/>
          <a:p>
            <a:pPr>
              <a:lnSpc>
                <a:spcPct val="102000"/>
              </a:lnSpc>
              <a:spcBef>
                <a:spcPts val="0"/>
              </a:spcBef>
              <a:spcAft>
                <a:spcPts val="0"/>
              </a:spcAft>
            </a:pPr>
            <a:r>
              <a:rPr sz="4000" b="0" i="0">
                <a:solidFill>
                  <a:srgbClr val="FCFCFB"/>
                </a:solidFill>
                <a:latin typeface="Georgia"/>
              </a:rPr>
              <a:t>What this means for development frameworks</a:t>
            </a:r>
          </a:p>
        </p:txBody>
      </p:sp>
      <p:sp>
        <p:nvSpPr>
          <p:cNvPr id="6" name="TextBox 5"/>
          <p:cNvSpPr txBox="1"/>
          <p:nvPr/>
        </p:nvSpPr>
        <p:spPr>
          <a:xfrm>
            <a:off x="566928" y="3886200"/>
            <a:ext cx="6766560" cy="1463040"/>
          </a:xfrm>
          <a:prstGeom prst="rect">
            <a:avLst/>
          </a:prstGeom>
          <a:noFill/>
        </p:spPr>
        <p:txBody>
          <a:bodyPr wrap="square" lIns="0" rIns="0" tIns="0" bIns="0">
            <a:spAutoFit/>
          </a:bodyPr>
          <a:lstStyle/>
          <a:p>
            <a:pPr>
              <a:lnSpc>
                <a:spcPct val="135000"/>
              </a:lnSpc>
              <a:spcBef>
                <a:spcPts val="0"/>
              </a:spcBef>
              <a:spcAft>
                <a:spcPts val="0"/>
              </a:spcAft>
            </a:pPr>
            <a:r>
              <a:rPr sz="1550" b="0" i="1">
                <a:solidFill>
                  <a:srgbClr val="9AA4B0"/>
                </a:solidFill>
                <a:latin typeface="Georgia"/>
              </a:rPr>
              <a:t>The disconnect is real and worth naming. Development frameworks have done their job of tracking progress on development. But the components that predict individual lived experience are ones these frameworks are not currently built to see — because of construction choices, variable saturation, or coverage that was never collected.</a:t>
            </a:r>
          </a:p>
        </p:txBody>
      </p:sp>
      <p:sp>
        <p:nvSpPr>
          <p:cNvPr id="7" name="TextBox 6"/>
          <p:cNvSpPr txBox="1"/>
          <p:nvPr/>
        </p:nvSpPr>
        <p:spPr>
          <a:xfrm>
            <a:off x="566928"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3 vs. 1</a:t>
            </a:r>
          </a:p>
          <a:p>
            <a:pPr>
              <a:lnSpc>
                <a:spcPct val="120000"/>
              </a:lnSpc>
              <a:spcBef>
                <a:spcPts val="0"/>
              </a:spcBef>
              <a:spcAft>
                <a:spcPts val="0"/>
              </a:spcAft>
            </a:pPr>
            <a:r>
              <a:rPr sz="1000" b="0" i="0">
                <a:solidFill>
                  <a:srgbClr val="8A94A0"/>
                </a:solidFill>
                <a:latin typeface="Calibri"/>
              </a:rPr>
              <a:t>domains the HDI can test for wellbeing, vs. social trust</a:t>
            </a:r>
          </a:p>
        </p:txBody>
      </p:sp>
      <p:sp>
        <p:nvSpPr>
          <p:cNvPr id="8" name="TextBox 7"/>
          <p:cNvSpPr txBox="1"/>
          <p:nvPr/>
        </p:nvSpPr>
        <p:spPr>
          <a:xfrm>
            <a:off x="4344314"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42 vs. 661</a:t>
            </a:r>
          </a:p>
          <a:p>
            <a:pPr>
              <a:lnSpc>
                <a:spcPct val="120000"/>
              </a:lnSpc>
              <a:spcBef>
                <a:spcPts val="0"/>
              </a:spcBef>
              <a:spcAft>
                <a:spcPts val="0"/>
              </a:spcAft>
            </a:pPr>
            <a:r>
              <a:rPr sz="1000" b="0" i="0">
                <a:solidFill>
                  <a:srgbClr val="8A94A0"/>
                </a:solidFill>
                <a:latin typeface="Calibri"/>
              </a:rPr>
              <a:t>countries with SDG data, vs. series in the database</a:t>
            </a:r>
          </a:p>
        </p:txBody>
      </p:sp>
      <p:sp>
        <p:nvSpPr>
          <p:cNvPr id="9" name="TextBox 8"/>
          <p:cNvSpPr txBox="1"/>
          <p:nvPr/>
        </p:nvSpPr>
        <p:spPr>
          <a:xfrm>
            <a:off x="8121700" y="5623560"/>
            <a:ext cx="3503066" cy="914400"/>
          </a:xfrm>
          <a:prstGeom prst="rect">
            <a:avLst/>
          </a:prstGeom>
          <a:noFill/>
        </p:spPr>
        <p:txBody>
          <a:bodyPr wrap="square" lIns="0" rIns="0" tIns="0" bIns="0">
            <a:spAutoFit/>
          </a:bodyPr>
          <a:lstStyle/>
          <a:p>
            <a:pPr>
              <a:spcBef>
                <a:spcPts val="0"/>
              </a:spcBef>
              <a:spcAft>
                <a:spcPts val="400"/>
              </a:spcAft>
            </a:pPr>
            <a:r>
              <a:rPr sz="2200" b="0" i="0">
                <a:solidFill>
                  <a:srgbClr val="FCFCFB"/>
                </a:solidFill>
                <a:latin typeface="Consolas"/>
              </a:rPr>
              <a:t>0.041</a:t>
            </a:r>
          </a:p>
          <a:p>
            <a:pPr>
              <a:lnSpc>
                <a:spcPct val="120000"/>
              </a:lnSpc>
              <a:spcBef>
                <a:spcPts val="0"/>
              </a:spcBef>
              <a:spcAft>
                <a:spcPts val="0"/>
              </a:spcAft>
            </a:pPr>
            <a:r>
              <a:rPr sz="1000" b="0" i="0">
                <a:solidFill>
                  <a:srgbClr val="8A94A0"/>
                </a:solidFill>
                <a:latin typeface="Calibri"/>
              </a:rPr>
              <a:t>median R² for trust — below income, health, education individually, above none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THE DISCONNECT</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These frameworks work for development. They do not work for wellbeing.</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HDI and SDG frameworks do not answer the question 'what makes people's lives better?' any more than a global income statistics database answers 'what makes a person happy?' They were designed to track development, measured at the aggregate level, with indicators chosen before the question of individual wellbeing was systematically tested. That is not a design failure; it is the intended scope.</a:t>
            </a:r>
          </a:p>
          <a:p>
            <a:pPr>
              <a:lnSpc>
                <a:spcPct val="132000"/>
              </a:lnSpc>
              <a:spcBef>
                <a:spcPts val="0"/>
              </a:spcBef>
              <a:spcAft>
                <a:spcPts val="1100"/>
              </a:spcAft>
            </a:pPr>
            <a:r>
              <a:rPr sz="1400" b="0" i="0">
                <a:solidFill>
                  <a:srgbClr val="5A6068"/>
                </a:solidFill>
                <a:latin typeface="Calibri"/>
              </a:rPr>
              <a:t>But it means the gap is structural. Education's access indicators work; pooling them with constructs that do not does not fix wellbeing prediction — it just builds a worse measure. Choosing a variable for health that is closer to saturated than the outcome it predicts is a measurement choice, not an incurable problem. And when a domain is never collected, no amount of better construction on the others will reach it.</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1 · MEASUREMENT CHOICES CONSTRAIN WHAT FRAMEWORKS CAN SEE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Education and health: the case for measurement specificity</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Education is significant everywhere it is measured as attainment, but nearly invisible in SDG4 because most indicators measure something else. Health is nearly invisible in the HDI because life expectancy has saturated. Neither domain has changed; the frameworks' construction choices have.</a:t>
            </a:r>
          </a:p>
          <a:p>
            <a:pPr>
              <a:lnSpc>
                <a:spcPct val="132000"/>
              </a:lnSpc>
              <a:spcBef>
                <a:spcPts val="0"/>
              </a:spcBef>
              <a:spcAft>
                <a:spcPts val="1100"/>
              </a:spcAft>
            </a:pPr>
            <a:r>
              <a:rPr sz="1400" b="0" i="0">
                <a:solidFill>
                  <a:srgbClr val="5A6068"/>
                </a:solidFill>
                <a:latin typeface="Calibri"/>
              </a:rPr>
              <a:t>For education, this suggests development measurement should weigh access and completion more heavily than parity ratios in wellbeing contexts — not universally, but with explicit construction choices that account for what is known to matter. For health, it suggests that wellbeing-motivated measurement may need different variables at different development levels: life expectancy in lower-income settings, self-reported health or specific conditions in saturated ones.</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IMPLICATION 2 · COVERAGE GAPS ARE MORE FUNDAMENTAL THAN CONSTRUCT CHOICE</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Social trust: why you cannot fix a measurement by measuring better</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Social trust is the most tentative finding here. The ESS is Europe-only, across 36 countries, and relies on a single item. That bounds the claim: the pattern holds in Europe, with a wellbeing survey, on a self-report basis. It does not claim universality.</a:t>
            </a:r>
          </a:p>
          <a:p>
            <a:pPr>
              <a:lnSpc>
                <a:spcPct val="132000"/>
              </a:lnSpc>
              <a:spcBef>
                <a:spcPts val="0"/>
              </a:spcBef>
              <a:spcAft>
                <a:spcPts val="1100"/>
              </a:spcAft>
            </a:pPr>
            <a:r>
              <a:rPr sz="1400" b="0" i="0">
                <a:solidFill>
                  <a:srgbClr val="5A6068"/>
                </a:solidFill>
                <a:latin typeface="Calibri"/>
              </a:rPr>
              <a:t>But the reason it is tentative points to the deepest problem: trust is not collected at global scale in either framework. The SDG database has 13 series adjacent to trust, but they measure institutional confidence, not interpersonal trust, and they are intermittent (147 of 163 country-series have fewer than four years of data). This is not a construct-choice problem that better measurement can solve. It is a coverage gap that requires deciding to collect the data in the first place.</a:t>
            </a:r>
          </a:p>
          <a:p>
            <a:pPr>
              <a:lnSpc>
                <a:spcPct val="132000"/>
              </a:lnSpc>
              <a:spcBef>
                <a:spcPts val="0"/>
              </a:spcBef>
              <a:spcAft>
                <a:spcPts val="1100"/>
              </a:spcAft>
            </a:pPr>
            <a:r>
              <a:rPr sz="1400" b="0" i="0">
                <a:solidFill>
                  <a:srgbClr val="5A6068"/>
                </a:solidFill>
                <a:latin typeface="Calibri"/>
              </a:rPr>
              <a:t>For wellbeing-conscious development monitoring, this suggests either building interpersonal-trust measurement into the core frameworks, or acknowledging that other surveys (the ESS, Gallup World Poll, World Values Survey) may be more suitable for understanding what shapes lived experience.</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595360" cy="274320"/>
          </a:xfrm>
          <a:prstGeom prst="rect">
            <a:avLst/>
          </a:prstGeom>
          <a:noFill/>
        </p:spPr>
        <p:txBody>
          <a:bodyPr wrap="square" lIns="0" rIns="0" tIns="0" bIns="0">
            <a:spAutoFit/>
          </a:bodyPr>
          <a:lstStyle/>
          <a:p>
            <a:pPr>
              <a:spcBef>
                <a:spcPts val="0"/>
              </a:spcBef>
              <a:spcAft>
                <a:spcPts val="0"/>
              </a:spcAft>
            </a:pPr>
            <a:r>
              <a:rPr sz="1000" b="0" i="0">
                <a:solidFill>
                  <a:srgbClr val="A63A30"/>
                </a:solidFill>
                <a:latin typeface="Consolas"/>
              </a:rPr>
              <a:t>CONCLUSION</a:t>
            </a:r>
          </a:p>
        </p:txBody>
      </p:sp>
      <p:sp>
        <p:nvSpPr>
          <p:cNvPr id="3" name="TextBox 2"/>
          <p:cNvSpPr txBox="1"/>
          <p:nvPr/>
        </p:nvSpPr>
        <p:spPr>
          <a:xfrm>
            <a:off x="566928" y="914400"/>
            <a:ext cx="8595360" cy="1371600"/>
          </a:xfrm>
          <a:prstGeom prst="rect">
            <a:avLst/>
          </a:prstGeom>
          <a:noFill/>
        </p:spPr>
        <p:txBody>
          <a:bodyPr wrap="square" lIns="0" rIns="0" tIns="0" bIns="0">
            <a:spAutoFit/>
          </a:bodyPr>
          <a:lstStyle/>
          <a:p>
            <a:pPr>
              <a:lnSpc>
                <a:spcPct val="108000"/>
              </a:lnSpc>
              <a:spcBef>
                <a:spcPts val="0"/>
              </a:spcBef>
              <a:spcAft>
                <a:spcPts val="0"/>
              </a:spcAft>
            </a:pPr>
            <a:r>
              <a:rPr sz="2700" b="0" i="0">
                <a:solidFill>
                  <a:srgbClr val="14171C"/>
                </a:solidFill>
                <a:latin typeface="Georgia"/>
              </a:rPr>
              <a:t>A question rather than a prescription</a:t>
            </a:r>
          </a:p>
        </p:txBody>
      </p:sp>
      <p:sp>
        <p:nvSpPr>
          <p:cNvPr id="4" name="TextBox 3"/>
          <p:cNvSpPr txBox="1"/>
          <p:nvPr/>
        </p:nvSpPr>
        <p:spPr>
          <a:xfrm>
            <a:off x="566928" y="2286000"/>
            <a:ext cx="8595360" cy="3840480"/>
          </a:xfrm>
          <a:prstGeom prst="rect">
            <a:avLst/>
          </a:prstGeom>
          <a:noFill/>
        </p:spPr>
        <p:txBody>
          <a:bodyPr wrap="square" lIns="0" rIns="0" tIns="0" bIns="0">
            <a:spAutoFit/>
          </a:bodyPr>
          <a:lstStyle/>
          <a:p>
            <a:pPr>
              <a:lnSpc>
                <a:spcPct val="132000"/>
              </a:lnSpc>
              <a:spcBef>
                <a:spcPts val="0"/>
              </a:spcBef>
              <a:spcAft>
                <a:spcPts val="1100"/>
              </a:spcAft>
            </a:pPr>
            <a:r>
              <a:rPr sz="1400" b="0" i="0">
                <a:solidFill>
                  <a:srgbClr val="5A6068"/>
                </a:solidFill>
                <a:latin typeface="Calibri"/>
              </a:rPr>
              <a:t>The evidence shows a consistent pattern: which domain looks most consequential for wellbeing depends on which framework measures it and what variable they chose. This is not about the domains; it is about the tools.</a:t>
            </a:r>
          </a:p>
          <a:p>
            <a:pPr>
              <a:lnSpc>
                <a:spcPct val="132000"/>
              </a:lnSpc>
              <a:spcBef>
                <a:spcPts val="0"/>
              </a:spcBef>
              <a:spcAft>
                <a:spcPts val="1100"/>
              </a:spcAft>
            </a:pPr>
            <a:r>
              <a:rPr sz="1400" b="0" i="0">
                <a:solidFill>
                  <a:srgbClr val="5A6068"/>
                </a:solidFill>
                <a:latin typeface="Calibri"/>
              </a:rPr>
              <a:t>Whether development frameworks should be redesigned around wellbeing is outside the scope here. But if they were, this finding suggests the question to ask: should measurement choices be made with explicit reference to which variables still move and still matter for lived experience? Should coverage be built in for domains the frameworks discovered only by studying something else?</a:t>
            </a:r>
          </a:p>
          <a:p>
            <a:pPr>
              <a:lnSpc>
                <a:spcPct val="132000"/>
              </a:lnSpc>
              <a:spcBef>
                <a:spcPts val="0"/>
              </a:spcBef>
              <a:spcAft>
                <a:spcPts val="1100"/>
              </a:spcAft>
            </a:pPr>
            <a:r>
              <a:rPr sz="1400" b="0" i="0">
                <a:solidFill>
                  <a:srgbClr val="5A6068"/>
                </a:solidFill>
                <a:latin typeface="Calibri"/>
              </a:rPr>
              <a:t>The frameworks work well for their stated purpose. The question is whether wellbeing should become part of that purpose — and if it does, whether the measurement that comes from that intent should be different from the aggregate, development-first measurement in place today.</a:t>
            </a:r>
          </a:p>
        </p:txBody>
      </p:sp>
      <p:sp>
        <p:nvSpPr>
          <p:cNvPr id="5" name="TextBox 4"/>
          <p:cNvSpPr txBox="1"/>
          <p:nvPr/>
        </p:nvSpPr>
        <p:spPr>
          <a:xfrm>
            <a:off x="11338560" y="6263640"/>
            <a:ext cx="548640" cy="274320"/>
          </a:xfrm>
          <a:prstGeom prst="rect">
            <a:avLst/>
          </a:prstGeom>
          <a:noFill/>
        </p:spPr>
        <p:txBody>
          <a:bodyPr wrap="square" lIns="0" rIns="0" tIns="0" bIns="0">
            <a:spAutoFit/>
          </a:bodyPr>
          <a:lstStyle/>
          <a:p>
            <a:pPr algn="r">
              <a:spcBef>
                <a:spcPts val="0"/>
              </a:spcBef>
              <a:spcAft>
                <a:spcPts val="0"/>
              </a:spcAft>
            </a:pPr>
            <a:r>
              <a:rPr sz="1100" b="0" i="0">
                <a:solidFill>
                  <a:srgbClr val="868D96"/>
                </a:solidFill>
                <a:latin typeface="Consolas"/>
              </a:rPr>
              <a:t>III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BEF"/>
        </a:solidFill>
        <a:effectLst/>
      </p:bgPr>
    </p:bg>
    <p:spTree>
      <p:nvGrpSpPr>
        <p:cNvPr id="1" name=""/>
        <p:cNvGrpSpPr/>
        <p:nvPr/>
      </p:nvGrpSpPr>
      <p:grpSpPr/>
      <p:sp>
        <p:nvSpPr>
          <p:cNvPr id="2" name="Rectangle 1"/>
          <p:cNvSpPr/>
          <p:nvPr/>
        </p:nvSpPr>
        <p:spPr>
          <a:xfrm>
            <a:off x="566928" y="2103120"/>
            <a:ext cx="54864" cy="237744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00200"/>
            <a:ext cx="8686800" cy="274320"/>
          </a:xfrm>
          <a:prstGeom prst="rect">
            <a:avLst/>
          </a:prstGeom>
          <a:noFill/>
        </p:spPr>
        <p:txBody>
          <a:bodyPr wrap="square" lIns="0" rIns="0" tIns="0" bIns="0">
            <a:spAutoFit/>
          </a:bodyPr>
          <a:lstStyle/>
          <a:p>
            <a:pPr>
              <a:spcBef>
                <a:spcPts val="0"/>
              </a:spcBef>
              <a:spcAft>
                <a:spcPts val="0"/>
              </a:spcAft>
            </a:pPr>
            <a:r>
              <a:rPr sz="1100" b="0" i="0">
                <a:solidFill>
                  <a:srgbClr val="17549E"/>
                </a:solidFill>
                <a:latin typeface="Consolas"/>
              </a:rPr>
              <a:t>WHERE ACT III LEAVES US</a:t>
            </a:r>
          </a:p>
        </p:txBody>
      </p:sp>
      <p:sp>
        <p:nvSpPr>
          <p:cNvPr id="4" name="TextBox 3"/>
          <p:cNvSpPr txBox="1"/>
          <p:nvPr/>
        </p:nvSpPr>
        <p:spPr>
          <a:xfrm>
            <a:off x="914400" y="2148840"/>
            <a:ext cx="9509760" cy="2926080"/>
          </a:xfrm>
          <a:prstGeom prst="rect">
            <a:avLst/>
          </a:prstGeom>
          <a:noFill/>
        </p:spPr>
        <p:txBody>
          <a:bodyPr wrap="square" lIns="0" rIns="0" tIns="0" bIns="0">
            <a:spAutoFit/>
          </a:bodyPr>
          <a:lstStyle/>
          <a:p>
            <a:pPr>
              <a:lnSpc>
                <a:spcPct val="135000"/>
              </a:lnSpc>
              <a:spcBef>
                <a:spcPts val="0"/>
              </a:spcBef>
              <a:spcAft>
                <a:spcPts val="0"/>
              </a:spcAft>
            </a:pPr>
            <a:r>
              <a:rPr sz="2100" b="0" i="0">
                <a:solidFill>
                  <a:srgbClr val="14171C"/>
                </a:solidFill>
                <a:latin typeface="Georgia"/>
              </a:rPr>
              <a:t>Whether development measurement should be redesigned with wellbeing in mind is beyond this scope. But if it is, this evidence suggests the measurement should be different: more attentive to which variables still move, which constructs predict outcomes, and which domains are collected at all.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502920"/>
            <a:ext cx="8229600" cy="822960"/>
          </a:xfrm>
          <a:prstGeom prst="rect">
            <a:avLst/>
          </a:prstGeom>
          <a:noFill/>
        </p:spPr>
        <p:txBody>
          <a:bodyPr wrap="square" lIns="0" rIns="0" tIns="0" bIns="0">
            <a:spAutoFit/>
          </a:bodyPr>
          <a:lstStyle/>
          <a:p>
            <a:pPr>
              <a:spcBef>
                <a:spcPts val="0"/>
              </a:spcBef>
              <a:spcAft>
                <a:spcPts val="600"/>
              </a:spcAft>
            </a:pPr>
            <a:r>
              <a:rPr sz="3200" b="0" i="0">
                <a:solidFill>
                  <a:srgbClr val="14171C"/>
                </a:solidFill>
                <a:latin typeface="Georgia"/>
              </a:rPr>
              <a:t>Decisions for the team</a:t>
            </a:r>
          </a:p>
          <a:p>
            <a:pPr>
              <a:spcBef>
                <a:spcPts val="0"/>
              </a:spcBef>
              <a:spcAft>
                <a:spcPts val="0"/>
              </a:spcAft>
            </a:pPr>
            <a:r>
              <a:rPr sz="1300" b="0" i="0">
                <a:solidFill>
                  <a:srgbClr val="5A6068"/>
                </a:solidFill>
                <a:latin typeface="Calibri"/>
              </a:rPr>
              <a:t>4 things the acts do not settle, in the order they block drafting.</a:t>
            </a:r>
          </a:p>
        </p:txBody>
      </p:sp>
      <p:sp>
        <p:nvSpPr>
          <p:cNvPr id="3" name="Rectangle 2"/>
          <p:cNvSpPr/>
          <p:nvPr/>
        </p:nvSpPr>
        <p:spPr>
          <a:xfrm>
            <a:off x="566928"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FIGURE COUNT</a:t>
            </a:r>
          </a:p>
          <a:p>
            <a:pPr>
              <a:lnSpc>
                <a:spcPct val="130000"/>
              </a:lnSpc>
              <a:spcBef>
                <a:spcPts val="0"/>
              </a:spcBef>
              <a:spcAft>
                <a:spcPts val="0"/>
              </a:spcAft>
            </a:pPr>
            <a:r>
              <a:rPr sz="1100" b="0" i="0">
                <a:solidFill>
                  <a:srgbClr val="5A6068"/>
                </a:solidFill>
                <a:latin typeface="Calibri"/>
              </a:rPr>
              <a:t>Commentaries allow one or two. Proposed: three-panel composite as Figure 1 and domain scorecard as Figure 2. Everything else supplementary.</a:t>
            </a:r>
          </a:p>
        </p:txBody>
      </p:sp>
      <p:sp>
        <p:nvSpPr>
          <p:cNvPr id="5" name="Rectangle 4"/>
          <p:cNvSpPr/>
          <p:nvPr/>
        </p:nvSpPr>
        <p:spPr>
          <a:xfrm>
            <a:off x="4359554"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59554"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SCOPE OF TRUST FINDINGS</a:t>
            </a:r>
          </a:p>
          <a:p>
            <a:pPr>
              <a:lnSpc>
                <a:spcPct val="130000"/>
              </a:lnSpc>
              <a:spcBef>
                <a:spcPts val="0"/>
              </a:spcBef>
              <a:spcAft>
                <a:spcPts val="0"/>
              </a:spcAft>
            </a:pPr>
            <a:r>
              <a:rPr sz="1100" b="0" i="0">
                <a:solidFill>
                  <a:srgbClr val="5A6068"/>
                </a:solidFill>
                <a:latin typeface="Calibri"/>
              </a:rPr>
              <a:t>Trust findings rest on ESS (36 European countries, individual-level). The design requires ≥4 years per country-series; only 16 of 163 SDG trust-adjacent series have that coverage, and 1 is significant. Tested cross-sectionally, 9 of 13 series are usable and 4 are significant, but all fall below HDI components on the same countries. The claim is Europe-only and rests on one instrument in each framework; it is the most tentative of the three.</a:t>
            </a:r>
          </a:p>
        </p:txBody>
      </p:sp>
      <p:sp>
        <p:nvSpPr>
          <p:cNvPr id="7" name="Rectangle 6"/>
          <p:cNvSpPr/>
          <p:nvPr/>
        </p:nvSpPr>
        <p:spPr>
          <a:xfrm>
            <a:off x="8152180" y="182880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52180" y="201168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INSTITUTIONAL CONFIDENCE VS. INTERPERSONAL TRUST</a:t>
            </a:r>
          </a:p>
          <a:p>
            <a:pPr>
              <a:lnSpc>
                <a:spcPct val="130000"/>
              </a:lnSpc>
              <a:spcBef>
                <a:spcPts val="0"/>
              </a:spcBef>
              <a:spcAft>
                <a:spcPts val="0"/>
              </a:spcAft>
            </a:pPr>
            <a:r>
              <a:rPr sz="1100" b="0" i="0">
                <a:solidFill>
                  <a:srgbClr val="5A6068"/>
                </a:solidFill>
                <a:latin typeface="Calibri"/>
              </a:rPr>
              <a:t>The SDG's Goal 16 trust series measure satisfaction with public services, perceived bribery, and perceived inclusiveness in decision-making — institutional confidence, not interpersonal trust ('most people can be trusted'). These are conceptually distinct. The commentarymust be explicit that SDG16 is not a direct analogue for the ESS trust item.</a:t>
            </a:r>
          </a:p>
        </p:txBody>
      </p:sp>
      <p:sp>
        <p:nvSpPr>
          <p:cNvPr id="9" name="Rectangle 8"/>
          <p:cNvSpPr/>
          <p:nvPr/>
        </p:nvSpPr>
        <p:spPr>
          <a:xfrm>
            <a:off x="566928" y="4069080"/>
            <a:ext cx="3472586" cy="25400"/>
          </a:xfrm>
          <a:prstGeom prst="rect">
            <a:avLst/>
          </a:prstGeom>
          <a:solidFill>
            <a:srgbClr val="1754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251960"/>
            <a:ext cx="3472586" cy="1828800"/>
          </a:xfrm>
          <a:prstGeom prst="rect">
            <a:avLst/>
          </a:prstGeom>
          <a:noFill/>
        </p:spPr>
        <p:txBody>
          <a:bodyPr wrap="square" lIns="0" rIns="0" tIns="0" bIns="0">
            <a:spAutoFit/>
          </a:bodyPr>
          <a:lstStyle/>
          <a:p>
            <a:pPr>
              <a:spcBef>
                <a:spcPts val="0"/>
              </a:spcBef>
              <a:spcAft>
                <a:spcPts val="700"/>
              </a:spcAft>
            </a:pPr>
            <a:r>
              <a:rPr sz="1050" b="0" i="0">
                <a:solidFill>
                  <a:srgbClr val="17549E"/>
                </a:solidFill>
                <a:latin typeface="Consolas"/>
              </a:rPr>
              <a:t>THREE FAILURE MODES FRAME</a:t>
            </a:r>
          </a:p>
          <a:p>
            <a:pPr>
              <a:lnSpc>
                <a:spcPct val="130000"/>
              </a:lnSpc>
              <a:spcBef>
                <a:spcPts val="0"/>
              </a:spcBef>
              <a:spcAft>
                <a:spcPts val="0"/>
              </a:spcAft>
            </a:pPr>
            <a:r>
              <a:rPr sz="1100" b="0" i="0">
                <a:solidFill>
                  <a:srgbClr val="5A6068"/>
                </a:solidFill>
                <a:latin typeface="Calibri"/>
              </a:rPr>
              <a:t>The narrative positions education's, health's, and trust's findings as evidence of three different ways frameworks lose sight of domains that matter: wrong construct, saturated variable, coverage gap. This is a meta-finding about measurement, not about the domains themselves.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4171C"/>
        </a:solidFill>
        <a:effectLst/>
      </p:bgPr>
    </p:bg>
    <p:spTree>
      <p:nvGrpSpPr>
        <p:cNvPr id="1" name=""/>
        <p:cNvGrpSpPr/>
        <p:nvPr/>
      </p:nvGrpSpPr>
      <p:grpSpPr/>
      <p:sp>
        <p:nvSpPr>
          <p:cNvPr id="2" name="TextBox 1"/>
          <p:cNvSpPr txBox="1"/>
          <p:nvPr/>
        </p:nvSpPr>
        <p:spPr>
          <a:xfrm>
            <a:off x="566928" y="2743200"/>
            <a:ext cx="8229600" cy="1371600"/>
          </a:xfrm>
          <a:prstGeom prst="rect">
            <a:avLst/>
          </a:prstGeom>
          <a:noFill/>
        </p:spPr>
        <p:txBody>
          <a:bodyPr wrap="square" lIns="0" rIns="0" tIns="0" bIns="0">
            <a:spAutoFit/>
          </a:bodyPr>
          <a:lstStyle/>
          <a:p>
            <a:pPr>
              <a:spcBef>
                <a:spcPts val="0"/>
              </a:spcBef>
              <a:spcAft>
                <a:spcPts val="1000"/>
              </a:spcAft>
            </a:pPr>
            <a:r>
              <a:rPr sz="4000" b="0" i="0">
                <a:solidFill>
                  <a:srgbClr val="FCFCFB"/>
                </a:solidFill>
                <a:latin typeface="Georgia"/>
              </a:rPr>
              <a:t>Evidence appendix</a:t>
            </a:r>
          </a:p>
          <a:p>
            <a:pPr>
              <a:lnSpc>
                <a:spcPct val="135000"/>
              </a:lnSpc>
              <a:spcBef>
                <a:spcPts val="0"/>
              </a:spcBef>
              <a:spcAft>
                <a:spcPts val="0"/>
              </a:spcAft>
            </a:pPr>
            <a:r>
              <a:rPr sz="1400" b="0" i="0">
                <a:solidFill>
                  <a:srgbClr val="9AA4B0"/>
                </a:solidFill>
                <a:latin typeface="Calibri"/>
              </a:rPr>
              <a:t>Everything the three acts rest on but do not carry. In submission these become supplementary material.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