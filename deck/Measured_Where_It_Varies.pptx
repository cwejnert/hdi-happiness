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75"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075"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by asking: which parts of development track lived experience at all? And why do some frameworks capture them while others systematically miss them?</a:t>
            </a:r>
          </a:p>
          <a:p>
            <a:pPr>
              <a:lnSpc>
                <a:spcPct val="134000"/>
              </a:lnSpc>
              <a:spcBef>
                <a:spcPts val="0"/>
              </a:spcBef>
              <a:spcAft>
                <a:spcPts val="1200"/>
              </a:spcAft>
            </a:pPr>
            <a:r>
              <a:rPr sz="1075" b="0" i="0">
                <a:solidFill>
                  <a:srgbClr val="5A6068"/>
                </a:solidFill>
                <a:latin typeface="Calibri"/>
              </a:rPr>
              <a:t>The answer turns out to be about the frameworks' construction choices, not about development itself. Education, health, and social trust all matter — but which one you find depends on which framework you measure with, which construct you count, and whether you collected the data in the first place.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 except in ESS, where individual-level data is responsive to change.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three domains, three failure modes.</a:t>
            </a:r>
          </a:p>
          <a:p>
            <a:pPr>
              <a:lnSpc>
                <a:spcPct val="125000"/>
              </a:lnSpc>
              <a:spcBef>
                <a:spcPts val="0"/>
              </a:spcBef>
              <a:spcAft>
                <a:spcPts val="0"/>
              </a:spcAft>
            </a:pPr>
            <a:r>
              <a:rPr sz="1100" b="0" i="0">
                <a:solidFill>
                  <a:srgbClr val="5A6068"/>
                </a:solidFill>
                <a:latin typeface="Calibri"/>
              </a:rPr>
              <a:t>Education, health, and social trust all matter. But frameworks see them differently because of construction choices, variable saturation, or missing coverage.</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Within-country evidence: why measurement type matters.</a:t>
            </a:r>
          </a:p>
          <a:p>
            <a:pPr>
              <a:lnSpc>
                <a:spcPct val="125000"/>
              </a:lnSpc>
              <a:spcBef>
                <a:spcPts val="0"/>
              </a:spcBef>
              <a:spcAft>
                <a:spcPts val="0"/>
              </a:spcAft>
            </a:pPr>
            <a:r>
              <a:rPr sz="1100" b="0" i="0">
                <a:solidFill>
                  <a:srgbClr val="5A6068"/>
                </a:solidFill>
                <a:latin typeface="Calibri"/>
              </a:rPr>
              <a:t>Individual-level, self-reported data shows ESS captures year-to-year change. Development frameworks measure at the wrong temporal and individual resolution.</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What this means for how we measure development.</a:t>
            </a:r>
          </a:p>
          <a:p>
            <a:pPr>
              <a:lnSpc>
                <a:spcPct val="125000"/>
              </a:lnSpc>
              <a:spcBef>
                <a:spcPts val="0"/>
              </a:spcBef>
              <a:spcAft>
                <a:spcPts val="0"/>
              </a:spcAft>
            </a:pPr>
            <a:r>
              <a:rPr sz="1100" b="0" i="0">
                <a:solidFill>
                  <a:srgbClr val="5A6068"/>
                </a:solidFill>
                <a:latin typeface="Calibri"/>
              </a:rPr>
              <a:t>A structural disconnect between how development is measured and what predicts lived experience, with implications for each domain and method.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three domains, three failure modes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predict life satisfaction. But which frameworks can see them depends entirely on construction choices: which construct you count, which variable you measure, which domains you collect. Each framework's limitations reveal different failure modes, not different realities.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0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Within the SDG database's vast landscape of 661 series across 42 countries, health indicators dominate the top-ranked individual series, with 16 of the top 25 most predictive SDG series falling under Goal 3 — survival measures like infant mortality, under-five mortality, stunting, and sanitation. The low 11.5% rate for health is not evidence that health doesn't matter; it is evidence that most of the SDG database does not predict wellbeing. Within that context, health ranks high.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950" b="0" i="0">
                <a:solidFill>
                  <a:srgbClr val="5A6068"/>
                </a:solidFill>
                <a:latin typeface="Calibri"/>
              </a:rPr>
              <a:t>The SDG database does carry 13 trust- and satisfaction-adjacent series under Goal 16, but the detail reveals why they fail to capture interpersonal trust. First, coverage: only nine of thirteen can be tested across countries, and four are significant — weaker than the development indicators the frameworks already carry. Second, construct: bribery (individuals and firms) and decision-making inclusiveness predict wellbeing; satisfaction with healthcare, government services, and secondary education do not. These measure institutional confidence, not interpersonal trust. Third, when you control for income — net of log GNI per capita — nearly all SDG trust series disappear. This is a known artifact of subjective institutional scales; interpersonal trust, by contrast, shows robust signal independent of income controls.</a:t>
            </a:r>
          </a:p>
          <a:p>
            <a:pPr>
              <a:lnSpc>
                <a:spcPct val="132000"/>
              </a:lnSpc>
              <a:spcBef>
                <a:spcPts val="0"/>
              </a:spcBef>
              <a:spcAft>
                <a:spcPts val="1100"/>
              </a:spcAft>
            </a:pPr>
            <a:r>
              <a:rPr sz="950" b="0" i="0">
                <a:solidFill>
                  <a:srgbClr val="5A6068"/>
                </a:solidFill>
                <a:latin typeface="Calibri"/>
              </a:rPr>
              <a:t>Education's and health's problems are about which variable to count within a domain. Trust's problem is different: it is not in the frameworks at all. That is a coverage gap that cannot be fixed by choosing the right variable, because no variable was ever measured.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can barely be tested (9 of 13 measurable, 4 significant) and collapse when controlled for income. Interpersonal trust only appears in 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frameworks, three different blind spots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00" b="0" i="0">
                <a:solidFill>
                  <a:srgbClr val="5A6068"/>
                </a:solidFill>
                <a:latin typeface="Calibri"/>
              </a:rPr>
              <a:t>These are not criticisms of the frameworks; they were built to track development, and they do. Education is testable in all three frameworks but its rank depends entirely on which construct was chosen. Health is testable everywhere and leads wherever it is measured something that still varies — a robust signal despite the HDI's proxy choice. Social trust is testable in one instrument only: the ESS, where it emerges as third strongest. It does not appear in the HDI at all, and the SDG framework measures institutional confidence instead, a different construct entirely.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frameworks can test each domain (green = tracks wellbeing, yellow = measurable but weak signal, gray = framework cannot test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problem is not the domains; the problem is the measurement. Frameworks designed for development, with aggregate indicators measured at long intervals, structurally cannot see what matters for individual lived experience.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Within-country evidence: Why measurement type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75" b="0" i="1">
                <a:solidFill>
                  <a:srgbClr val="9AA4B0"/>
                </a:solidFill>
                <a:latin typeface="Georgia"/>
              </a:rPr>
              <a:t>Individual-level, self-reported data shows a fundamentally different pattern. Unlike administrative development frameworks, ESS captures year-to-year variation within countries. This is not a measurement failure; it is a structural consequence of how development is measured — at the country level, with long intervals. Social trust emerges not because frameworks miss it, but because development frameworks measure at the wrong temporal and individual resolution where trust varies.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69% → 64%</a:t>
            </a:r>
          </a:p>
          <a:p>
            <a:pPr>
              <a:lnSpc>
                <a:spcPct val="120000"/>
              </a:lnSpc>
              <a:spcBef>
                <a:spcPts val="0"/>
              </a:spcBef>
              <a:spcAft>
                <a:spcPts val="0"/>
              </a:spcAft>
            </a:pPr>
            <a:r>
              <a:rPr sz="1000" b="0" i="0">
                <a:solidFill>
                  <a:srgbClr val="8A94A0"/>
                </a:solidFill>
                <a:latin typeface="Calibri"/>
              </a:rPr>
              <a:t>ESS levels → differences (NOT collapsed)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levels → differences (collapsed)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levels → differences (collapsed)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WITHIN-COUNTRY EVIDENCE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Individual-level, self-reported data captures year-to-year change that administrative frameworks miss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Here is the critical observation that reshapes the question: unlike SDG (71% levels → 5% differences) and HDI (42% → 2%), the ESS shows 69% levels → 64% differences. The association persists within countries over time. This is not because development frameworks are poorly designed; it is because they measure aggregate, administrative data at long intervals (annual at best for HDI and SDG). Individual survey responses capture year-to-year variation in how people experience their lives.</a:t>
            </a:r>
          </a:p>
          <a:p>
            <a:pPr>
              <a:lnSpc>
                <a:spcPct val="132000"/>
              </a:lnSpc>
              <a:spcBef>
                <a:spcPts val="0"/>
              </a:spcBef>
              <a:spcAft>
                <a:spcPts val="1100"/>
              </a:spcAft>
            </a:pPr>
            <a:r>
              <a:rPr sz="850" b="0" i="0">
                <a:solidFill>
                  <a:srgbClr val="5A6068"/>
                </a:solidFill>
                <a:latin typeface="Calibri"/>
              </a:rPr>
              <a:t>This is why social trust emerges here. At the country level, the SDG database carries 13 trust-adjacent series, but only nine can be tested, four are significant, and nearly all disappear when controlling for income. They measure institutional confidence, not interpersonal trust. In the HDI, trust is not measured at all. But at the individual level, within countries, the ESS shows interpersonal trust is significant in 94% of countries and drives year-to-year change in wellbeing. The three domains emerge not because the frameworks reveal them, but because ESS measures them where people actually experience variation: in themselves, over time.</a:t>
            </a:r>
          </a:p>
          <a:p>
            <a:pPr>
              <a:lnSpc>
                <a:spcPct val="132000"/>
              </a:lnSpc>
              <a:spcBef>
                <a:spcPts val="0"/>
              </a:spcBef>
              <a:spcAft>
                <a:spcPts val="1100"/>
              </a:spcAft>
            </a:pPr>
            <a:r>
              <a:rPr sz="850" b="0" i="0">
                <a:solidFill>
                  <a:srgbClr val="5A6068"/>
                </a:solidFill>
                <a:latin typeface="Calibri"/>
              </a:rPr>
              <a:t>This is not about measurement error. It is structural. Frameworks designed for tracking aggregate national progress cannot see individual experience responsive to change. At regional scale, the collapse persists: across 167 subnational regions within ESS countries with ≥5 survey years, life satisfaction and regional development show the same pattern as national data — strong levels associations, weak differences associations. The problem is not aggregation; it is temporal resolution and individual measurement.</a:t>
            </a:r>
          </a:p>
          <a:p>
            <a:pPr>
              <a:lnSpc>
                <a:spcPct val="132000"/>
              </a:lnSpc>
              <a:spcBef>
                <a:spcPts val="0"/>
              </a:spcBef>
              <a:spcAft>
                <a:spcPts val="1100"/>
              </a:spcAft>
            </a:pPr>
            <a:r>
              <a:rPr sz="850" b="0" i="0">
                <a:solidFill>
                  <a:srgbClr val="5A6068"/>
                </a:solidFill>
                <a:latin typeface="Calibri"/>
              </a:rPr>
              <a:t>The caveats are substantial: 36 European countries, self-reported measures, annual cycles. But the implication is clear. Development frameworks' blindness to social trust is not because trust does not matter for wellbeing; it is because development was never designed to measure individual experience at the temporal resolution where people and places change.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collapse: 167 subnational regions, levels vs. differences. ESS persists; collapse confirms it is not an artifact of national aggregation but of measurement type.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three domains predict wellbeing differently depending on where and how you measure. Development frameworks' blindness is not incurable; it is structural. Frameworks designed for tracking aggregate national progress cannot see individual experience responsive to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work for development. They do not work for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a:t>
            </a:r>
          </a:p>
          <a:p>
            <a:pPr>
              <a:lnSpc>
                <a:spcPct val="132000"/>
              </a:lnSpc>
              <a:spcBef>
                <a:spcPts val="0"/>
              </a:spcBef>
              <a:spcAft>
                <a:spcPts val="1100"/>
              </a:spcAft>
            </a:pPr>
            <a:r>
              <a:rPr sz="1400" b="0" i="0">
                <a:solidFill>
                  <a:srgbClr val="5A6068"/>
                </a:solidFill>
                <a:latin typeface="Calibri"/>
              </a:rPr>
              <a:t>But it means the gap is structural. Education's access indicators work; pooling them with constructs that do not does not fix wellbeing prediction — it just builds a worse measure. Choosing a variable for health that is closer to saturated than the outcome it predicts is a measurement choice, not an incurable problem. And when a domain is never collected, no amount of better construction on the others will reach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the case for measurement specificity</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a:t>
            </a:r>
          </a:p>
          <a:p>
            <a:pPr>
              <a:lnSpc>
                <a:spcPct val="132000"/>
              </a:lnSpc>
              <a:spcBef>
                <a:spcPts val="0"/>
              </a:spcBef>
              <a:spcAft>
                <a:spcPts val="1100"/>
              </a:spcAft>
            </a:pPr>
            <a:r>
              <a:rPr sz="1400" b="0" i="0">
                <a:solidFill>
                  <a:srgbClr val="5A6068"/>
                </a:solidFill>
                <a:latin typeface="Calibri"/>
              </a:rPr>
              <a:t>For education, this suggests development measurement should weigh access and completion more heavily than parity ratios in wellbeing contexts — not universally, but with explicit construction choices that account for what is known to matter. For health, it suggests that wellbeing-motivated measurement may need different variables at different development levels: life expectancy in lower-income settings, self-reported health or specific conditions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you cannot fix a measurement by measuring better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that requires deciding to collect the data in the first place.</a:t>
            </a:r>
          </a:p>
          <a:p>
            <a:pPr>
              <a:lnSpc>
                <a:spcPct val="132000"/>
              </a:lnSpc>
              <a:spcBef>
                <a:spcPts val="0"/>
              </a:spcBef>
              <a:spcAft>
                <a:spcPts val="1100"/>
              </a:spcAft>
            </a:pPr>
            <a:r>
              <a:rPr sz="1400" b="0" i="0">
                <a:solidFill>
                  <a:srgbClr val="5A6068"/>
                </a:solidFill>
                <a:latin typeface="Calibri"/>
              </a:rPr>
              <a:t>For wellbeing-conscious development monitoring, this suggests either building interpersonal-trust measurement into the core frameworks, or acknowledging that other surveys (the ESS, Gallup World Poll, World Values Survey) may be more suitable for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question rather than a prescription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a:t>
            </a:r>
          </a:p>
          <a:p>
            <a:pPr>
              <a:lnSpc>
                <a:spcPct val="132000"/>
              </a:lnSpc>
              <a:spcBef>
                <a:spcPts val="0"/>
              </a:spcBef>
              <a:spcAft>
                <a:spcPts val="1100"/>
              </a:spcAft>
            </a:pPr>
            <a:r>
              <a:rPr sz="1400" b="0" i="0">
                <a:solidFill>
                  <a:srgbClr val="5A6068"/>
                </a:solidFill>
                <a:latin typeface="Calibri"/>
              </a:rPr>
              <a:t>Whether development frameworks should be redesigned around wellbeing is outside the scope here. But if they were, this finding suggests the question to ask: should measurement choices be made with explicit reference to which variables still move and still matter for lived experience? Should coverage be built in for domains the frameworks discovered only by studying something else?</a:t>
            </a:r>
          </a:p>
          <a:p>
            <a:pPr>
              <a:lnSpc>
                <a:spcPct val="132000"/>
              </a:lnSpc>
              <a:spcBef>
                <a:spcPts val="0"/>
              </a:spcBef>
              <a:spcAft>
                <a:spcPts val="1100"/>
              </a:spcAft>
            </a:pPr>
            <a:r>
              <a:rPr sz="1400" b="0" i="0">
                <a:solidFill>
                  <a:srgbClr val="5A6068"/>
                </a:solidFill>
                <a:latin typeface="Calibri"/>
              </a:rPr>
              <a:t>The frameworks work well for their stated purpose. The question is whether wellbeing should become part of that purpose — and if it does, whether the measurement that comes from that intent should be different from the aggregate, development-first measurement in place today.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