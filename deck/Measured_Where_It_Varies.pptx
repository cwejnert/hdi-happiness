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on the three domains that do track lived experience, once each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education and social trust — and the blind spots.</a:t>
            </a:r>
          </a:p>
          <a:p>
            <a:pPr>
              <a:lnSpc>
                <a:spcPct val="125000"/>
              </a:lnSpc>
              <a:spcBef>
                <a:spcPts val="0"/>
              </a:spcBef>
              <a:spcAft>
                <a:spcPts val="0"/>
              </a:spcAft>
            </a:pPr>
            <a:r>
              <a:rPr sz="1100" b="0" i="0">
                <a:solidFill>
                  <a:srgbClr val="5A6068"/>
                </a:solidFill>
                <a:latin typeface="Calibri"/>
              </a:rPr>
              <a:t>Health leads wherever it varies, education's rank swings on construct, and trust is invisible to every framework but one.</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what to do about the trust gap,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0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and which frameworks can see them</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Three domains carry individual lived experience: health, education and social trust. Each is visible to a different subset of the instruments, and where a framework says a domain does not matter, the reason is almost always in how it measured that domain — or whether it managed to measure it at all.</a:t>
            </a:r>
          </a:p>
        </p:txBody>
      </p:sp>
      <p:sp>
        <p:nvSpPr>
          <p:cNvPr id="7" name="TextBox 6"/>
          <p:cNvSpPr txBox="1"/>
          <p:nvPr/>
        </p:nvSpPr>
        <p:spPr>
          <a:xfrm>
            <a:off x="566928"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5 of 5</a:t>
            </a:r>
          </a:p>
          <a:p>
            <a:pPr>
              <a:lnSpc>
                <a:spcPct val="120000"/>
              </a:lnSpc>
              <a:spcBef>
                <a:spcPts val="0"/>
              </a:spcBef>
              <a:spcAft>
                <a:spcPts val="0"/>
              </a:spcAft>
            </a:pPr>
            <a:r>
              <a:rPr sz="1000" b="0" i="0">
                <a:solidFill>
                  <a:srgbClr val="8A94A0"/>
                </a:solidFill>
                <a:latin typeface="Calibri"/>
              </a:rPr>
              <a:t>instruments where health tracks wellbeing</a:t>
            </a:r>
          </a:p>
        </p:txBody>
      </p:sp>
      <p:sp>
        <p:nvSpPr>
          <p:cNvPr id="8" name="TextBox 7"/>
          <p:cNvSpPr txBox="1"/>
          <p:nvPr/>
        </p:nvSpPr>
        <p:spPr>
          <a:xfrm>
            <a:off x="339996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16 of 163</a:t>
            </a:r>
          </a:p>
          <a:p>
            <a:pPr>
              <a:lnSpc>
                <a:spcPct val="120000"/>
              </a:lnSpc>
              <a:spcBef>
                <a:spcPts val="0"/>
              </a:spcBef>
              <a:spcAft>
                <a:spcPts val="0"/>
              </a:spcAft>
            </a:pPr>
            <a:r>
              <a:rPr sz="1000" b="0" i="0">
                <a:solidFill>
                  <a:srgbClr val="8A94A0"/>
                </a:solidFill>
                <a:latin typeface="Calibri"/>
              </a:rPr>
              <a:t>SDG trust country-series with enough years to test at all</a:t>
            </a:r>
          </a:p>
        </p:txBody>
      </p:sp>
      <p:sp>
        <p:nvSpPr>
          <p:cNvPr id="9" name="TextBox 8"/>
          <p:cNvSpPr txBox="1"/>
          <p:nvPr/>
        </p:nvSpPr>
        <p:spPr>
          <a:xfrm>
            <a:off x="623300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0.55 vs 0.82</a:t>
            </a:r>
          </a:p>
          <a:p>
            <a:pPr>
              <a:lnSpc>
                <a:spcPct val="120000"/>
              </a:lnSpc>
              <a:spcBef>
                <a:spcPts val="0"/>
              </a:spcBef>
              <a:spcAft>
                <a:spcPts val="0"/>
              </a:spcAft>
            </a:pPr>
            <a:r>
              <a:rPr sz="1000" b="0" i="0">
                <a:solidFill>
                  <a:srgbClr val="8A94A0"/>
                </a:solidFill>
                <a:latin typeface="Calibri"/>
              </a:rPr>
              <a:t>best SDG trust series against the HDI, same 134 countries</a:t>
            </a:r>
          </a:p>
        </p:txBody>
      </p:sp>
      <p:sp>
        <p:nvSpPr>
          <p:cNvPr id="10" name="TextBox 9"/>
          <p:cNvSpPr txBox="1"/>
          <p:nvPr/>
        </p:nvSpPr>
        <p:spPr>
          <a:xfrm>
            <a:off x="906604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40.7% vs 3.3%</a:t>
            </a:r>
          </a:p>
          <a:p>
            <a:pPr>
              <a:lnSpc>
                <a:spcPct val="120000"/>
              </a:lnSpc>
              <a:spcBef>
                <a:spcPts val="0"/>
              </a:spcBef>
              <a:spcAft>
                <a:spcPts val="0"/>
              </a:spcAft>
            </a:pPr>
            <a:r>
              <a:rPr sz="1000" b="0" i="0">
                <a:solidFill>
                  <a:srgbClr val="8A94A0"/>
                </a:solidFill>
                <a:latin typeface="Calibri"/>
              </a:rPr>
              <a:t>education under the HDI vs pooled SDG4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This is a fair comparison rather than an artifact — Benjamini–Hochberg under the complete null controls the error rate at the same α whatever the family size — so the SDG lead is genuine statistical power bought with breadth, and should be conceded as such.</a:t>
            </a:r>
          </a:p>
          <a:p>
            <a:pPr>
              <a:lnSpc>
                <a:spcPct val="132000"/>
              </a:lnSpc>
              <a:spcBef>
                <a:spcPts val="0"/>
              </a:spcBef>
              <a:spcAft>
                <a:spcPts val="1100"/>
              </a:spcAft>
            </a:pPr>
            <a:r>
              <a:rPr sz="85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The HDI's selection beats a random five — but lands at the top edge of the random range, not outside it. Most of the SDG framework's advantage in the first comparison is explained by indicator count, and the HDI's advantage at matched budget is real but modest.</a:t>
            </a:r>
          </a:p>
          <a:p>
            <a:pPr>
              <a:lnSpc>
                <a:spcPct val="132000"/>
              </a:lnSpc>
              <a:spcBef>
                <a:spcPts val="0"/>
              </a:spcBef>
              <a:spcAft>
                <a:spcPts val="1100"/>
              </a:spcAft>
            </a:pPr>
            <a:r>
              <a:rPr sz="85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 This is the strongest claim because it requires no cross-framework normalisation — though it does set the HDI's best against the SDG median, and the budget-matched test shows that is a generous framing.</a:t>
            </a:r>
          </a:p>
          <a:p>
            <a:pPr>
              <a:lnSpc>
                <a:spcPct val="132000"/>
              </a:lnSpc>
              <a:spcBef>
                <a:spcPts val="0"/>
              </a:spcBef>
              <a:spcAft>
                <a:spcPts val="1100"/>
              </a:spcAft>
            </a:pPr>
            <a:r>
              <a:rPr sz="850" b="0" i="0">
                <a:solidFill>
                  <a:srgbClr val="5A6068"/>
                </a:solidFill>
                <a:latin typeface="Calibri"/>
              </a:rPr>
              <a:t>An earlier draft normalised by the share of each country's own indicators. That was dropped: it penalises breadth for its own sake — bolt a hundred irrelevant series onto the HDI and its score collapses without any loss of information — and the error-rate argument above shows the detection comparison never needed rescuing.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25"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025"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025"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Near the top wherever it is measured, and invisible almost everywhere else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275" b="0" i="0">
                <a:solidFill>
                  <a:srgbClr val="5A6068"/>
                </a:solidFill>
                <a:latin typeface="Calibri"/>
              </a:rPr>
              <a:t>Social trust is the third domain and the one the measurement apparatus handles worst. In the ESS, where it is asked of every respondent in every round, it is significant in 34 of 36 countries individually and reaches +0.49 within countries across regions — above education on both. Neither the HDI nor the subnational HDI measures it at all.</a:t>
            </a:r>
          </a:p>
          <a:p>
            <a:pPr>
              <a:lnSpc>
                <a:spcPct val="132000"/>
              </a:lnSpc>
              <a:spcBef>
                <a:spcPts val="0"/>
              </a:spcBef>
              <a:spcAft>
                <a:spcPts val="1100"/>
              </a:spcAft>
            </a:pPr>
            <a:r>
              <a:rPr sz="1275" b="0" i="0">
                <a:solidFill>
                  <a:srgbClr val="5A6068"/>
                </a:solidFill>
                <a:latin typeface="Calibri"/>
              </a:rPr>
              <a:t>The SDG framework appears to: it carries 13 trust- and satisfaction-adjacent series, mostly under Goal 16 — satisfaction with public services, belief that decision-making is inclusive, bribery prevalence. But their median coverage is one year per country-series, against six for the database as a whole, so almost none can support a time-series test. The design needs at least four years per country-series; 147 of the 163 fall short and are never computed at all. Of the 16 that can be run, 1 is significant.</a:t>
            </a:r>
          </a:p>
          <a:p>
            <a:pPr>
              <a:lnSpc>
                <a:spcPct val="132000"/>
              </a:lnSpc>
              <a:spcBef>
                <a:spcPts val="0"/>
              </a:spcBef>
              <a:spcAft>
                <a:spcPts val="1100"/>
              </a:spcAft>
            </a:pPr>
            <a:r>
              <a:rPr sz="1275" b="0" i="0">
                <a:solidFill>
                  <a:srgbClr val="5A6068"/>
                </a:solidFill>
                <a:latin typeface="Calibri"/>
              </a:rPr>
              <a:t>The distinction matters and the commentary must keep it. "1 of 163" reads as a null result; the truth is 1 of 16 tested and 147 untestable. An earlier draft of this deck made exactly that slip, and reporting a coverage gap as a null would repeat the error the commentary accuses the frameworks of making.</a:t>
            </a:r>
          </a:p>
          <a:p>
            <a:pPr>
              <a:lnSpc>
                <a:spcPct val="132000"/>
              </a:lnSpc>
              <a:spcBef>
                <a:spcPts val="0"/>
              </a:spcBef>
              <a:spcAft>
                <a:spcPts val="1100"/>
              </a:spcAft>
            </a:pPr>
            <a:r>
              <a:rPr sz="1275" b="0" i="0">
                <a:solidFill>
                  <a:srgbClr val="5A6068"/>
                </a:solidFill>
                <a:latin typeface="Calibri"/>
              </a:rPr>
              <a:t>Untestable in this design is not untestable in principle, though, and the next beat runs the test the coverage does allow.</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 THE TEST THE COVERAGE ALLOWS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Tested across countries instead of across years — and it still does not rescue the domain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25" b="0" i="0">
                <a:solidFill>
                  <a:srgbClr val="5A6068"/>
                </a:solidFill>
                <a:latin typeface="Calibri"/>
              </a:rPr>
              <a:t>One year per country is useless longitudinally and perfectly usable cross-sectionally. So we pulled the raw values from the UN SDG database and ran the series against the ladder across countries. Nine of the 13 clear a 12-country minimum, and four are significant: bribery paid by individuals (−0.55) and firms (−0.51), inclusive decision-making (−0.42), satisfaction with healthcare (+0.33).</a:t>
            </a:r>
          </a:p>
          <a:p>
            <a:pPr>
              <a:lnSpc>
                <a:spcPct val="132000"/>
              </a:lnSpc>
              <a:spcBef>
                <a:spcPts val="0"/>
              </a:spcBef>
              <a:spcAft>
                <a:spcPts val="1100"/>
              </a:spcAft>
            </a:pPr>
            <a:r>
              <a:rPr sz="1025" b="0" i="0">
                <a:solidFill>
                  <a:srgbClr val="5A6068"/>
                </a:solidFill>
                <a:latin typeface="Calibri"/>
              </a:rPr>
              <a:t>Three things stop that being a rescue. Every one of the four is weaker than what the frameworks already carry — on the same 134 countries the HDI and its components sit at |r| 0.71–0.83. The broadest series, satisfaction with healthcare, is Gallup World Poll, the same survey that produces the ladder, so it falls to exactly the shared-instrument objection we raise against the ESS. And none of the 13 measures interpersonal trust: they measure institutional confidence, a different construct.</a:t>
            </a:r>
          </a:p>
          <a:p>
            <a:pPr>
              <a:lnSpc>
                <a:spcPct val="132000"/>
              </a:lnSpc>
              <a:spcBef>
                <a:spcPts val="0"/>
              </a:spcBef>
              <a:spcAft>
                <a:spcPts val="1100"/>
              </a:spcAft>
            </a:pPr>
            <a:r>
              <a:rPr sz="1025" b="0" i="0">
                <a:solidFill>
                  <a:srgbClr val="5A6068"/>
                </a:solidFill>
                <a:latin typeface="Calibri"/>
              </a:rPr>
              <a:t>Income control kills all nine — but it also kills the HDI (+0.82 raw, +0.09 net). No cross-section of countries separates anything from income, which is why the levels-and-differences design exists, and the panel says so to stop the null being read as trust-specific.</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Nine of the 13 SDG trust- and satisfaction-adjacent series, one observation per country, against the WHR Cantril ladder. Raw values pulled from the UN SDG Global Database API.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 WHERE IT LEAVES THE DOMAIN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weakest-evidenced of the three, and the cheapest to fix</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leaves trust the weakest-evidenced of the three — one instrument, no external corroboration, and the shared-method caveat still live. It should be presented as the most interesting open question rather than a finding, and it points at a concrete recommendation: a repeated trust item costs almost nothing to field and would make the domain testable.</a:t>
            </a:r>
          </a:p>
          <a:p>
            <a:pPr>
              <a:lnSpc>
                <a:spcPct val="132000"/>
              </a:lnSpc>
              <a:spcBef>
                <a:spcPts val="0"/>
              </a:spcBef>
              <a:spcAft>
                <a:spcPts val="1100"/>
              </a:spcAft>
            </a:pPr>
            <a:r>
              <a:rPr sz="1400" b="0" i="0">
                <a:solidFill>
                  <a:srgbClr val="5A6068"/>
                </a:solidFill>
                <a:latin typeface="Calibri"/>
              </a:rPr>
              <a:t>The cross-sectional test is what makes that recommendation defensible rather than rhetorical. We did not assert that the existing series are inadequate; we ran them the only way their coverage permits and showed where they land.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pattern of blind spots is the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Laid out side by side, the three domains have different signatures. Health is testable in all five instruments and leads in four of them — weak only inside the HDI, whose single health input has run out of variance. Education is testable in all five and its rank swings from first to near-last depending purely on whether the instrument measures attainment or parity. Trust is at or near the top of the only instrument that can test it, and invisible to the rest.</a:t>
            </a:r>
          </a:p>
          <a:p>
            <a:pPr>
              <a:lnSpc>
                <a:spcPct val="132000"/>
              </a:lnSpc>
              <a:spcBef>
                <a:spcPts val="0"/>
              </a:spcBef>
              <a:spcAft>
                <a:spcPts val="1100"/>
              </a:spcAft>
            </a:pPr>
            <a:r>
              <a:rPr sz="1150" b="0" i="0">
                <a:solidFill>
                  <a:srgbClr val="5A6068"/>
                </a:solidFill>
                <a:latin typeface="Calibri"/>
              </a:rPr>
              <a:t>None of these disagreements is about the world. Every one is about an operationalisation choice made by the framework — which is why the commentary's contribution is not a ranking of domains but an account of why the rankings differ.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against the five instruments. Metrics differ by column and are given under each heading; the colours encode whether the domain tracks wellbeing there, shows little signal, or cannot be tested at 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domains, five instruments, and a different verdict from almost every pairing. Health leads once it is measured somewhere it still varies; education leads once it is measured as attainment rather than parity; trust leads wherever it is measured at all, which is almost nowhere. The commentary's contribution is not a ranking of domains but the demonstration that the ranking is an artefact of operationalisation — and that one of the three is missing from the development measurement apparatus entirely.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25"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025"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025"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THE TRUST GAP</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cheapest fix in the paper: field a repeated trust item</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at or near the top of every test the ESS can run, and no development framework can currently check it. The SDG framework's 13 satisfaction and integrity series average one observation per country, which is not enough for any longitudinal design; the HDI and subnational HDI do not measure the construct at all.</a:t>
            </a:r>
          </a:p>
          <a:p>
            <a:pPr>
              <a:lnSpc>
                <a:spcPct val="132000"/>
              </a:lnSpc>
              <a:spcBef>
                <a:spcPts val="0"/>
              </a:spcBef>
              <a:spcAft>
                <a:spcPts val="1100"/>
              </a:spcAft>
            </a:pPr>
            <a:r>
              <a:rPr sz="1400" b="0" i="0">
                <a:solidFill>
                  <a:srgbClr val="5A6068"/>
                </a:solidFill>
                <a:latin typeface="Calibri"/>
              </a:rPr>
              <a:t>We did not stop at asserting that. Act II runs those 13 series the only way their coverage permits — across countries rather than across years — and the answer is that 9 are testable, 4 are significant, and all four land below the HDI and its own components on the same countries. The existing series are not a substitute, and now we can say so with a number rather than an argument.</a:t>
            </a:r>
          </a:p>
          <a:p>
            <a:pPr>
              <a:lnSpc>
                <a:spcPct val="132000"/>
              </a:lnSpc>
              <a:spcBef>
                <a:spcPts val="0"/>
              </a:spcBef>
              <a:spcAft>
                <a:spcPts val="1100"/>
              </a:spcAft>
            </a:pPr>
            <a:r>
              <a:rPr sz="1400" b="0" i="0">
                <a:solidFill>
                  <a:srgbClr val="5A6068"/>
                </a:solidFill>
                <a:latin typeface="Calibri"/>
              </a:rPr>
              <a:t>This is the one recommendation in the commentary that costs almost nothing. A single generalised-trust item, asked repeatedly, is already standard in the ESS, the World Values Survey and several national statistical series. Adding one to a development monitoring instrument would move trust from untestable to testable — and on the evidence available it would then rank alongside health.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