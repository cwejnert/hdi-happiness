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health and education carry the frameworks.</a:t>
            </a:r>
          </a:p>
          <a:p>
            <a:pPr>
              <a:lnSpc>
                <a:spcPct val="122000"/>
              </a:lnSpc>
              <a:spcBef>
                <a:spcPts val="0"/>
              </a:spcBef>
              <a:spcAft>
                <a:spcPts val="0"/>
              </a:spcAft>
            </a:pPr>
            <a:r>
              <a:rPr sz="950" b="0" i="0">
                <a:solidFill>
                  <a:srgbClr val="5A6068"/>
                </a:solidFill>
                <a:latin typeface="Calibri"/>
              </a:rPr>
              <a:t>The HDI's five components and the SDGs' seventeen goals, ranked. Health is 4th of 17. Education looks 12th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Measure the same domains on people, and a third one appears.</a:t>
            </a:r>
          </a:p>
          <a:p>
            <a:pPr>
              <a:lnSpc>
                <a:spcPct val="122000"/>
              </a:lnSpc>
              <a:spcBef>
                <a:spcPts val="0"/>
              </a:spcBef>
              <a:spcAft>
                <a:spcPts val="0"/>
              </a:spcAft>
            </a:pPr>
            <a:r>
              <a:rPr sz="950" b="0" i="0">
                <a:solidFill>
                  <a:srgbClr val="5A6068"/>
                </a:solidFill>
                <a:latin typeface="Calibri"/>
              </a:rPr>
              <a:t>Social trust joins health and education, ahead of education. And pooled for power, health and trust keep tracking wellbeing year to year where development composites stop.</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+0.44 → +0.20</a:t>
            </a:r>
          </a:p>
          <a:p>
            <a:pPr>
              <a:lnSpc>
                <a:spcPct val="120000"/>
              </a:lnSpc>
              <a:spcBef>
                <a:spcPts val="0"/>
              </a:spcBef>
              <a:spcAft>
                <a:spcPts val="0"/>
              </a:spcAft>
            </a:pPr>
            <a:r>
              <a:rPr sz="1000" b="0" i="0">
                <a:solidFill>
                  <a:srgbClr val="8A94A0"/>
                </a:solidFill>
                <a:latin typeface="Calibri"/>
              </a:rPr>
              <a:t>HDI × ESS pooled, levels → differences — swap the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75"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875" b="0" i="0">
                <a:solidFill>
                  <a:srgbClr val="5A6068"/>
                </a:solidFill>
                <a:latin typeface="Calibri"/>
              </a:rPr>
              <a:t>Run country by country it returns 8% at levels and 16% in differences across 25 countries, which is a null test rather than a finding: the ESS has seven survey rounds where the WHR panels have thirteen years, and panel b shows what that costs — at seven observations a genuine correlation of 0.5 is recovered in about 3% of units. Differences landing above levels is the tell that the test is not working, not a result.</a:t>
            </a:r>
          </a:p>
          <a:p>
            <a:pPr>
              <a:lnSpc>
                <a:spcPct val="132000"/>
              </a:lnSpc>
              <a:spcBef>
                <a:spcPts val="0"/>
              </a:spcBef>
              <a:spcAft>
                <a:spcPts val="1100"/>
              </a:spcAft>
            </a:pPr>
            <a:r>
              <a:rPr sz="875" b="0" i="0">
                <a:solidFill>
                  <a:srgbClr val="5A6068"/>
                </a:solidFill>
                <a:latin typeface="Calibri"/>
              </a:rPr>
              <a:t>Pooled across countries, where the power is, it does replicate: the HDI's within-country association with ESS life satisfaction falls from r = +0.44 at levels to +0.20 in first differences. The attenuation is sharp, though it stops short of the clean null the Cantril ladder gives on the full panel — there, across 1,548 country-year changes, the HDI goes from +0.15 to −0.02 and is not significant at all.</a:t>
            </a:r>
          </a:p>
          <a:p>
            <a:pPr>
              <a:lnSpc>
                <a:spcPct val="132000"/>
              </a:lnSpc>
              <a:spcBef>
                <a:spcPts val="0"/>
              </a:spcBef>
              <a:spcAft>
                <a:spcPts val="1100"/>
              </a:spcAft>
            </a:pPr>
            <a:r>
              <a:rPr sz="875" b="0" i="0">
                <a:solidFill>
                  <a:srgbClr val="5A6068"/>
                </a:solidFill>
                <a:latin typeface="Calibri"/>
              </a:rPr>
              <a:t>The ESS also corroborates the levels half in cross-section, where it has plenty of power: subnational HDI predicts ESS life satisfaction across regions inside each country in 47% of 15 countries, sitting on top of the 42% the HDI reaches nationally. So the collapse survives the instrument swap. What it does not survive — and this is Act II-a — is changing the predictor from a development composite to the domain measures themselves.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same FDR test, levels and differences on the same units, in all three pairings. Panel b: how much of a genuine association each series length recovers — the reason the hatched bars carry no verdict.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pairings, the same asymmetry in all of them: development composites predict wellbeing between units and barely track it within one over time. That holds whichever framework and whichever wellbeing instrument you use. So the levels are where to look next — and the differences question comes back in Act II-a, once the predictor is no longer a composite.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what is actually doing the work?</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If the levels are where development and wellbeing meet, the useful question is which components are carrying that association. Ask it of both frameworks' internals: the HDI's five components, and the SDGs' seventeen goals. Two domains come out — but one of them only after you stop pooling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19% vs 41%</a:t>
            </a:r>
          </a:p>
          <a:p>
            <a:pPr>
              <a:lnSpc>
                <a:spcPct val="120000"/>
              </a:lnSpc>
              <a:spcBef>
                <a:spcPts val="0"/>
              </a:spcBef>
              <a:spcAft>
                <a:spcPts val="0"/>
              </a:spcAft>
            </a:pPr>
            <a:r>
              <a:rPr sz="1000" b="0" i="0">
                <a:solidFill>
                  <a:srgbClr val="8A94A0"/>
                </a:solidFill>
                <a:latin typeface="Calibri"/>
              </a:rPr>
              <a:t>HDI life expectancy vs mean years of schooling,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4th of 17</a:t>
            </a:r>
          </a:p>
          <a:p>
            <a:pPr>
              <a:lnSpc>
                <a:spcPct val="120000"/>
              </a:lnSpc>
              <a:spcBef>
                <a:spcPts val="0"/>
              </a:spcBef>
              <a:spcAft>
                <a:spcPts val="0"/>
              </a:spcAft>
            </a:pPr>
            <a:r>
              <a:rPr sz="1000" b="0" i="0">
                <a:solidFill>
                  <a:srgbClr val="8A94A0"/>
                </a:solidFill>
                <a:latin typeface="Calibri"/>
              </a:rPr>
              <a:t>where health ranks among SDG goals (11.5%)</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Schooling leads the HDI's components; life expectancy is the weakest of the five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Decompose the composite and the five components separate cleanly at levels: mean years of schooling 41%, income 40%, expected years of schooling 33%, the composite itself 42% — and life expectancy last at 19%. In differences all five sit between 1% and 5%, so the collapse is a property of the composite and of every part of it.</a:t>
            </a:r>
          </a:p>
          <a:p>
            <a:pPr>
              <a:lnSpc>
                <a:spcPct val="132000"/>
              </a:lnSpc>
              <a:spcBef>
                <a:spcPts val="0"/>
              </a:spcBef>
              <a:spcAft>
                <a:spcPts val="1100"/>
              </a:spcAft>
            </a:pPr>
            <a:r>
              <a:rPr sz="1150" b="0" i="0">
                <a:solidFill>
                  <a:srgbClr val="5A6068"/>
                </a:solidFill>
                <a:latin typeface="Calibri"/>
              </a:rPr>
              <a:t>Life expectancy being the weakest is the first hint that this is about measurement rather than about health. The top 100 countries span 81 to 85 years. A variable with that little range left cannot carry much association, whatever the underlying domain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its five components, levels and first differences, Benjamini–Hochberg corrected within each country.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INSIDE THE SDGS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ranks 4th of 17 goals; education ranks 12th</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50" b="0" i="0">
                <a:solidFill>
                  <a:srgbClr val="5A6068"/>
                </a:solidFill>
                <a:latin typeface="Calibri"/>
              </a:rPr>
              <a:t>The same question of the SDG side. Pooled within each goal, health (Goal 3) reaches 11.5% of country-indicator pairs — fourth of seventeen, and first among the goals with substantive coverage. Health also dominates the individual-series ranking: 16 of the 25 most predictive series in the whole database fall under Goal 3, and they are survival measures — infant and under-five mortality, stunting, neonatal mortality, sanitation, drinking water.</a:t>
            </a:r>
          </a:p>
          <a:p>
            <a:pPr>
              <a:lnSpc>
                <a:spcPct val="132000"/>
              </a:lnSpc>
              <a:spcBef>
                <a:spcPts val="0"/>
              </a:spcBef>
              <a:spcAft>
                <a:spcPts val="1100"/>
              </a:spcAft>
            </a:pPr>
            <a:r>
              <a:rPr sz="1050" b="0" i="0">
                <a:solidFill>
                  <a:srgbClr val="5A6068"/>
                </a:solidFill>
                <a:latin typeface="Calibri"/>
              </a:rPr>
              <a:t>Education comes twelfth, at 3.3%. Taken at face value that says education barely matters for wellbeing — which contradicts the HDI, where schooling is the strongest component there is. Both cannot be right, and the next slide is why.</a:t>
            </a:r>
          </a:p>
          <a:p>
            <a:pPr>
              <a:lnSpc>
                <a:spcPct val="132000"/>
              </a:lnSpc>
              <a:spcBef>
                <a:spcPts val="0"/>
              </a:spcBef>
              <a:spcAft>
                <a:spcPts val="1100"/>
              </a:spcAft>
            </a:pPr>
            <a:r>
              <a:rPr sz="1050" b="0" i="0">
                <a:solidFill>
                  <a:srgbClr val="5A6068"/>
                </a:solidFill>
                <a:latin typeface="Calibri"/>
              </a:rPr>
              <a:t>One caveat worth stating here rather than later: Goal 16 is where anything trust-shaped would live, and it comes fifteenth at 1.5%. But its thirteen trust-adjacent series measure satisfaction with public services, perceived bribery, and perceived inclusiveness in decision-making. That is confidence in institutions, not trust in other people. It is a different construct, and the low rank should not be read as evidence about interpersonal trust.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25 most predictive individual SDG series. Sixteen are Goal 3 health indicators, nearly all of them survival measures.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 would rank third among the seventeen goals rather than twelfth — and it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it is everything these frameworks are able to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Now measure the same domains on people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400" b="0" i="1">
                <a:solidFill>
                  <a:srgbClr val="9AA4B0"/>
                </a:solidFill>
                <a:latin typeface="Georgia"/>
              </a:rPr>
              <a:t>Everything so far uses a development composite as the predictor. The ESS carries the three domains asked directly of people — self-rated health, years of schooling, and whether most people can be trusted — which lets us change the predictor rather than the outcome. That surfaces a third domain neither framework collects, and it turns out to be where the differences half of the argument finally has something to say.</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 97% / 89%</a:t>
            </a:r>
          </a:p>
          <a:p>
            <a:pPr>
              <a:lnSpc>
                <a:spcPct val="120000"/>
              </a:lnSpc>
              <a:spcBef>
                <a:spcPts val="0"/>
              </a:spcBef>
              <a:spcAft>
                <a:spcPts val="0"/>
              </a:spcAft>
            </a:pPr>
            <a:r>
              <a:rPr sz="1000" b="0" i="0">
                <a:solidFill>
                  <a:srgbClr val="8A94A0"/>
                </a:solidFill>
                <a:latin typeface="Calibri"/>
              </a:rPr>
              <a:t>ESS countries significant at levels: health, trust, education</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+0.40 / +0.59</a:t>
            </a:r>
          </a:p>
          <a:p>
            <a:pPr>
              <a:lnSpc>
                <a:spcPct val="120000"/>
              </a:lnSpc>
              <a:spcBef>
                <a:spcPts val="0"/>
              </a:spcBef>
              <a:spcAft>
                <a:spcPts val="0"/>
              </a:spcAft>
            </a:pPr>
            <a:r>
              <a:rPr sz="1000" b="0" i="0">
                <a:solidFill>
                  <a:srgbClr val="8A94A0"/>
                </a:solidFill>
                <a:latin typeface="Calibri"/>
              </a:rPr>
              <a:t>health and trust in first differences, pooled — they survive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+0.03 / −0.02</a:t>
            </a:r>
          </a:p>
          <a:p>
            <a:pPr>
              <a:lnSpc>
                <a:spcPct val="120000"/>
              </a:lnSpc>
              <a:spcBef>
                <a:spcPts val="0"/>
              </a:spcBef>
              <a:spcAft>
                <a:spcPts val="0"/>
              </a:spcAft>
            </a:pPr>
            <a:r>
              <a:rPr sz="1000" b="0" i="0">
                <a:solidFill>
                  <a:srgbClr val="8A94A0"/>
                </a:solidFill>
                <a:latin typeface="Calibri"/>
              </a:rPr>
              <a:t>education and the HDI in differences — they do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THREE DOMAINS, ONE UNIT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social trust and education all predict life satisfaction — trust is second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Same FDR test, same unit, now on 351,023 respondents. Self-rated health is significant in 36 of 36 countries, median individual R² 0.092. Interpersonal trust in 35 of 36, median R² 0.039. Years of schooling in 32 of 36, median R² 0.006 — significant almost everywhere but explaining far less per person than either of the others.</a:t>
            </a:r>
          </a:p>
          <a:p>
            <a:pPr>
              <a:lnSpc>
                <a:spcPct val="132000"/>
              </a:lnSpc>
              <a:spcBef>
                <a:spcPts val="0"/>
              </a:spcBef>
              <a:spcAft>
                <a:spcPts val="1100"/>
              </a:spcAft>
            </a:pPr>
            <a:r>
              <a:rPr sz="1125" b="0" i="0">
                <a:solidFill>
                  <a:srgbClr val="5A6068"/>
                </a:solidFill>
                <a:latin typeface="Calibri"/>
              </a:rPr>
              <a:t>Set against the frameworks, health behaves consistently: strongest on people, and the highest-ranked substantive goal in the SDGs. Education behaves consistently too, once unpooled. Trust is the one that does not appear anywhere else, because there is nowhere else for it to appear — the HDI has no counterpart at all, and SDG16's 1.5% measures confidence in institutions rather than trust in people.</a:t>
            </a:r>
          </a:p>
          <a:p>
            <a:pPr>
              <a:lnSpc>
                <a:spcPct val="132000"/>
              </a:lnSpc>
              <a:spcBef>
                <a:spcPts val="0"/>
              </a:spcBef>
              <a:spcAft>
                <a:spcPts val="1100"/>
              </a:spcAft>
            </a:pPr>
            <a:r>
              <a:rPr sz="1125" b="0" i="0">
                <a:solidFill>
                  <a:srgbClr val="5A6068"/>
                </a:solidFill>
                <a:latin typeface="Calibri"/>
              </a:rPr>
              <a:t>The caveat is real and bounds the claim: the ESS is 36 European countries, self-reported, one trust item. This is not a global result. It is enough to say that a domain the frameworks never collect outranks one they both do.</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across all three frameworks, all on % of countries FDR-significant. Trust has no HDI bar because the HDI does not measure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on people and in the HDI; invisible in the SDGs only because of pooling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across all four ways of measuring it: 89% of ESS countries on individual years of schooling, 33% of HDI countries on expected years of schooling, 12.7% of SDG4 access series, 3.3% pooled across all 35.</a:t>
            </a:r>
          </a:p>
          <a:p>
            <a:pPr>
              <a:lnSpc>
                <a:spcPct val="132000"/>
              </a:lnSpc>
              <a:spcBef>
                <a:spcPts val="0"/>
              </a:spcBef>
              <a:spcAft>
                <a:spcPts val="1100"/>
              </a:spcAft>
            </a:pPr>
            <a:r>
              <a:rPr sz="1150" b="0" i="0">
                <a:solidFill>
                  <a:srgbClr val="5A6068"/>
                </a:solidFill>
                <a:latin typeface="Calibri"/>
              </a:rPr>
              <a:t>Three of those four numbers tell a consistent story and the fourth is a construction choice. Nothing about education changed between the third bar and the fourth — only which series were averaged together. This is the cleanest case in the paper of a framework hiding a domain it does in fact measure.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The gap between the last two bars is entirely pooling, not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and the weakest component of the HDI</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R² 0.092, roughly fifteen times education's. In the SDGs, health leads the substantive goals at 11.5%. In the HDI it is last of five, at 19%.</a:t>
            </a:r>
          </a:p>
          <a:p>
            <a:pPr>
              <a:lnSpc>
                <a:spcPct val="132000"/>
              </a:lnSpc>
              <a:spcBef>
                <a:spcPts val="0"/>
              </a:spcBef>
              <a:spcAft>
                <a:spcPts val="1100"/>
              </a:spcAft>
            </a:pPr>
            <a:r>
              <a:rPr sz="1150" b="0" i="0">
                <a:solidFill>
                  <a:srgbClr val="5A6068"/>
                </a:solidFill>
                <a:latin typeface="Calibri"/>
              </a:rPr>
              <a:t>The domain is not weak; the HDI's chosen proxy for it is. Life expectancy has largely saturated across the countries the index covers, and a variable with almost no variance left cannot predict much. Self-rated health, asked of the same populations, is the strongest thing in the ESS. Same domain, different variable, opposite conclusion.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CLOSE UP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on people, and absent from both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satisfaction with public services, perceived bribery, perceived inclusiveness in decision-making. Institutional confidence and interpersonal trust are distinct constructs, and the substitution should not pass silently. Coverage compounds it —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are about which variable to count inside a domain the framework already has. Trust's is categorically different: there is no variable to choose between, because the domain was never collected.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BACK TO DIFFERENCES · WHICH DOMAINS SURVIVE IT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collapse is domain-specific: health tracks wellbeing year to year, development composites do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Act I left the differences half unresolved, because the per-country design spends its power on 25 separate tests of seven points each. Pool the same within-country question across all countries and it has the power to answer — and the answer is that the collapse is not a universal property of differencing. It is specific to what you differenced.</a:t>
            </a:r>
          </a:p>
          <a:p>
            <a:pPr>
              <a:lnSpc>
                <a:spcPct val="132000"/>
              </a:lnSpc>
              <a:spcBef>
                <a:spcPts val="0"/>
              </a:spcBef>
              <a:spcAft>
                <a:spcPts val="1100"/>
              </a:spcAft>
            </a:pPr>
            <a:r>
              <a:rPr sz="850" b="0" i="0">
                <a:solidFill>
                  <a:srgbClr val="5A6068"/>
                </a:solidFill>
                <a:latin typeface="Calibri"/>
              </a:rPr>
              <a:t>Within the ESS: health goes from r = +0.56 at levels to +0.40 in first differences, and social trust from +0.51 to +0.59. Both survive. Education goes from +0.29 to +0.03, not significant, and the HDI composite from +0.44 to +0.20. Against the World Happiness Report ladder on the full 150-country panel, the HDI collapses outright: +0.15 at levels to −0.02 in differences across 1,548 country-year changes.</a:t>
            </a:r>
          </a:p>
          <a:p>
            <a:pPr>
              <a:lnSpc>
                <a:spcPct val="132000"/>
              </a:lnSpc>
              <a:spcBef>
                <a:spcPts val="0"/>
              </a:spcBef>
              <a:spcAft>
                <a:spcPts val="1100"/>
              </a:spcAft>
            </a:pPr>
            <a:r>
              <a:rPr sz="850" b="0" i="0">
                <a:solidFill>
                  <a:srgbClr val="5A6068"/>
                </a:solidFill>
                <a:latin typeface="Calibri"/>
              </a:rPr>
              <a:t>So when a country's self-rated health rises between rounds, its life satisfaction rises with it. When its HDI rises, that tells you almost nothing. This is the sharpest version of the paper's claim: development composites move too slowly and too smoothly to track how people feel — within a country the HDI moves about a tenth of its between-country spread, where the domain measures move two to three times that.</a:t>
            </a:r>
          </a:p>
          <a:p>
            <a:pPr>
              <a:lnSpc>
                <a:spcPct val="132000"/>
              </a:lnSpc>
              <a:spcBef>
                <a:spcPts val="0"/>
              </a:spcBef>
              <a:spcAft>
                <a:spcPts val="1100"/>
              </a:spcAft>
            </a:pPr>
            <a:r>
              <a:rPr sz="850" b="0" i="0">
                <a:solidFill>
                  <a:srgbClr val="5A6068"/>
                </a:solidFill>
                <a:latin typeface="Calibri"/>
              </a:rPr>
              <a:t>The same question one scale down agrees, and shows where the power is. Per region over survey rounds, subnational HDI explains nothing at all — 0 of 167 regions, on seven rounds each. Across regions inside a country it recovers the levels result, 47% of 15 countries. And at the individual level it is decisive: 36 of 36 countries for health, 35 for trust, on ~10,700 respondents each. Region, country and person all tell the same story; only the individual level has the sample to tell it cleanly.</a:t>
            </a:r>
          </a:p>
          <a:p>
            <a:pPr>
              <a:lnSpc>
                <a:spcPct val="132000"/>
              </a:lnSpc>
              <a:spcBef>
                <a:spcPts val="0"/>
              </a:spcBef>
              <a:spcAft>
                <a:spcPts val="1100"/>
              </a:spcAft>
            </a:pPr>
            <a:r>
              <a:rPr sz="850" b="0" i="0">
                <a:solidFill>
                  <a:srgbClr val="5A6068"/>
                </a:solidFill>
                <a:latin typeface="Calibri"/>
              </a:rPr>
              <a:t>One caveat has to travel with the trust result. It is strong within the ESS (+0.59) and absent against the independent WHR outcome (+0.06, not significant). Health survives both (+0.40 and +0.20). That difference is the signature of common-method variance — same questionnaire, same respondents — so the trust dynamic is reported as same-survey only, and health is the domain that carries a clean cross-source result.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survive_differences.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Pooled within-country correlations, levels against first differences. Panel a within the ESS; panel b against the independent WHR ladder. Health is the only domain significant in differences in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trust and education are all significant on people, in almost every country, and interpersonal trust — the one domain neither framework collects — outranks education. Pooled for power, health and trust also survive differencing where the HDI does not. The collapse was never about differencing; it was about what the frameworks chose to measure.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that one domain is missing outright, and that the domain measures track wellbeing dynamically in a way the composites do not.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shape of what follows, before the detail. Two of the three domains are already inside these frameworks — health, and the access half of education — and on this evidence they are the two that track lived experience. The suggestion is not to add a wellbeing pillar but to let those two carry that weight explicitly: elevate them as wellbeing-relevant highlights, measured with variables that still vary, with social trust flagged as a likely third that neither framework can currently see.</a:t>
            </a:r>
          </a:p>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40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400" b="0" i="0">
                <a:solidFill>
                  <a:srgbClr val="5A6068"/>
                </a:solidFill>
                <a:latin typeface="Calibri"/>
              </a:rPr>
              <a:t>The honest caveat stays attached: this rests on 36 European countries and one survey item. It is the most tentative finding in the paper. It is also the one where the cost of being right and not measuring is highest, because the gap is invisible from inside the frameworks.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7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ONE UNIT, EVERYWHERE</a:t>
            </a:r>
          </a:p>
          <a:p>
            <a:pPr>
              <a:lnSpc>
                <a:spcPct val="130000"/>
              </a:lnSpc>
              <a:spcBef>
                <a:spcPts val="0"/>
              </a:spcBef>
              <a:spcAft>
                <a:spcPts val="0"/>
              </a:spcAft>
            </a:pPr>
            <a:r>
              <a:rPr sz="110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THE ESS PANEL CAN AND CANNOT TEST</a:t>
            </a:r>
          </a:p>
          <a:p>
            <a:pPr>
              <a:lnSpc>
                <a:spcPct val="130000"/>
              </a:lnSpc>
              <a:spcBef>
                <a:spcPts val="0"/>
              </a:spcBef>
              <a:spcAft>
                <a:spcPts val="0"/>
              </a:spcAft>
            </a:pPr>
            <a:r>
              <a:rPr sz="110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TRUST FINDING</a:t>
            </a:r>
          </a:p>
          <a:p>
            <a:pPr>
              <a:lnSpc>
                <a:spcPct val="130000"/>
              </a:lnSpc>
              <a:spcBef>
                <a:spcPts val="0"/>
              </a:spcBef>
              <a:spcAft>
                <a:spcPts val="0"/>
              </a:spcAft>
            </a:pPr>
            <a:r>
              <a:rPr sz="1100" b="0" i="0">
                <a:solidFill>
                  <a:srgbClr val="5A6068"/>
                </a:solidFill>
                <a:latin typeface="Calibri"/>
              </a:rPr>
              <a:t>Trust rests on the ESS: 36 European countries, one item, self-reported. 97% of countries significant with median individual R² 0.039. The SDG16 comparison is cross-sectional because only 16 of 163 country-series have the four years a time-series design needs. This is the most tentative of the three domains and should be framed as such.</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IS NOT INTERPERSONAL TRUST</a:t>
            </a:r>
          </a:p>
          <a:p>
            <a:pPr>
              <a:lnSpc>
                <a:spcPct val="130000"/>
              </a:lnSpc>
              <a:spcBef>
                <a:spcPts val="0"/>
              </a:spcBef>
              <a:spcAft>
                <a:spcPts val="0"/>
              </a:spcAft>
            </a:pPr>
            <a:r>
              <a:rPr sz="110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AS THE META-FINDING</a:t>
            </a:r>
          </a:p>
          <a:p>
            <a:pPr>
              <a:lnSpc>
                <a:spcPct val="130000"/>
              </a:lnSpc>
              <a:spcBef>
                <a:spcPts val="0"/>
              </a:spcBef>
              <a:spcAft>
                <a:spcPts val="0"/>
              </a:spcAft>
            </a:pPr>
            <a:r>
              <a:rPr sz="1100"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15" name="Rectangle 14"/>
          <p:cNvSpPr/>
          <p:nvPr/>
        </p:nvSpPr>
        <p:spPr>
          <a:xfrm>
            <a:off x="566928" y="63093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49224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WHAT WE ARE NOT CLAIMING</a:t>
            </a:r>
          </a:p>
          <a:p>
            <a:pPr>
              <a:lnSpc>
                <a:spcPct val="130000"/>
              </a:lnSpc>
              <a:spcBef>
                <a:spcPts val="0"/>
              </a:spcBef>
              <a:spcAft>
                <a:spcPts val="0"/>
              </a:spcAft>
            </a:pPr>
            <a:r>
              <a:rPr sz="1100"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