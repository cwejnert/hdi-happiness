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Swap the Cantril ladder for the European Social Survey. Go one spatial scale down to subnational regions. The collapse survives all three swaps, which means it is a property of the design, not of the SDGs — and it means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Swap the framework, the wellbeing measure, and the spatial scale. Levels hold every time; differences go to almost nothing every time.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health and education carry the frameworks.</a:t>
            </a:r>
          </a:p>
          <a:p>
            <a:pPr>
              <a:lnSpc>
                <a:spcPct val="122000"/>
              </a:lnSpc>
              <a:spcBef>
                <a:spcPts val="0"/>
              </a:spcBef>
              <a:spcAft>
                <a:spcPts val="0"/>
              </a:spcAft>
            </a:pPr>
            <a:r>
              <a:rPr sz="950" b="0" i="0">
                <a:solidFill>
                  <a:srgbClr val="5A6068"/>
                </a:solidFill>
                <a:latin typeface="Calibri"/>
              </a:rPr>
              <a:t>The HDI's five components and the SDGs' seventeen goals, ranked. Health is 4th of 17. Education looks 12th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Measure the same domains on people, and a third one appears.</a:t>
            </a:r>
          </a:p>
          <a:p>
            <a:pPr>
              <a:lnSpc>
                <a:spcPct val="122000"/>
              </a:lnSpc>
              <a:spcBef>
                <a:spcPts val="0"/>
              </a:spcBef>
              <a:spcAft>
                <a:spcPts val="0"/>
              </a:spcAft>
            </a:pPr>
            <a:r>
              <a:rPr sz="950" b="0" i="0">
                <a:solidFill>
                  <a:srgbClr val="5A6068"/>
                </a:solidFill>
                <a:latin typeface="Calibri"/>
              </a:rPr>
              <a:t>In the ESS, health, education and social trust are all significant within countries. Trust is second strongest — and neither framework collects it.</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47% → 0%</a:t>
            </a:r>
          </a:p>
          <a:p>
            <a:pPr>
              <a:lnSpc>
                <a:spcPct val="120000"/>
              </a:lnSpc>
              <a:spcBef>
                <a:spcPts val="0"/>
              </a:spcBef>
              <a:spcAft>
                <a:spcPts val="0"/>
              </a:spcAft>
            </a:pPr>
            <a:r>
              <a:rPr sz="1000" b="0" i="0">
                <a:solidFill>
                  <a:srgbClr val="8A94A0"/>
                </a:solidFill>
                <a:latin typeface="Calibri"/>
              </a:rPr>
              <a:t>SHDI × ESS — swap the wellbeing measure and the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AND 3 · THE WELLBEING MEASURE, AND THE SCALE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Change the happiness data and the unit of analysis, and it still collapses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 is a single Cantril-ladder question aggregated to countries. The European Social Survey asks its own life-satisfaction and happiness items of individuals, on a different sampling frame, in a different institution. And subnational HDI lets us drop one spatial scale below the country.</a:t>
            </a:r>
          </a:p>
          <a:p>
            <a:pPr>
              <a:lnSpc>
                <a:spcPct val="132000"/>
              </a:lnSpc>
              <a:spcBef>
                <a:spcPts val="0"/>
              </a:spcBef>
              <a:spcAft>
                <a:spcPts val="1100"/>
              </a:spcAft>
            </a:pPr>
            <a:r>
              <a:rPr sz="1150" b="0" i="0">
                <a:solidFill>
                  <a:srgbClr val="5A6068"/>
                </a:solidFill>
                <a:latin typeface="Calibri"/>
              </a:rPr>
              <a:t>Pairing subnational HDI with ESS life satisfaction: across regions inside a country, 47% of countries are FDR-significant at levels. Within each region over survey rounds, 0 of 167 regions survive. The levels result sits right on top of the national one (47% against 42%), and the differences result is, if anything, more complete.</a:t>
            </a:r>
          </a:p>
          <a:p>
            <a:pPr>
              <a:lnSpc>
                <a:spcPct val="132000"/>
              </a:lnSpc>
              <a:spcBef>
                <a:spcPts val="0"/>
              </a:spcBef>
              <a:spcAft>
                <a:spcPts val="1100"/>
              </a:spcAft>
            </a:pPr>
            <a:r>
              <a:rPr sz="1150" b="0" i="0">
                <a:solidFill>
                  <a:srgbClr val="5A6068"/>
                </a:solidFill>
                <a:latin typeface="Calibri"/>
              </a:rPr>
              <a:t>Three independent swaps — framework, wellbeing instrument, spatial scale — and the same asymmetry each time. Whatever produces it is structural to comparing a slow-moving aggregate against a noisy annual outcome, not specific to any dataset.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FDR test in all three pairings. Levels between 42% and 71%; differences between 0% and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swaps, three collapses. The asymmetry belongs to the design, not to any one framework. Differences are too noisy to carry an argument — so everything that follows is a question about the levels.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what is actually doing the work?</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levels are where development and wellbeing meet, the useful question is which components are carrying that association. Ask it of both frameworks' internals: the HDI's five components, and the SDGs' seventeen goals. Two domains come out — but one of them only after you stop pooling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 vs 41%</a:t>
            </a:r>
          </a:p>
          <a:p>
            <a:pPr>
              <a:lnSpc>
                <a:spcPct val="120000"/>
              </a:lnSpc>
              <a:spcBef>
                <a:spcPts val="0"/>
              </a:spcBef>
              <a:spcAft>
                <a:spcPts val="0"/>
              </a:spcAft>
            </a:pPr>
            <a:r>
              <a:rPr sz="1000" b="0" i="0">
                <a:solidFill>
                  <a:srgbClr val="8A94A0"/>
                </a:solidFill>
                <a:latin typeface="Calibri"/>
              </a:rPr>
              <a:t>HDI life expectancy vs mean years of schooling,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4th of 17</a:t>
            </a:r>
          </a:p>
          <a:p>
            <a:pPr>
              <a:lnSpc>
                <a:spcPct val="120000"/>
              </a:lnSpc>
              <a:spcBef>
                <a:spcPts val="0"/>
              </a:spcBef>
              <a:spcAft>
                <a:spcPts val="0"/>
              </a:spcAft>
            </a:pPr>
            <a:r>
              <a:rPr sz="1000" b="0" i="0">
                <a:solidFill>
                  <a:srgbClr val="8A94A0"/>
                </a:solidFill>
                <a:latin typeface="Calibri"/>
              </a:rPr>
              <a:t>where health ranks among SDG goals (11.5%)</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Schooling leads the HDI's components; life expectancy is the weakest of the five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Decompose the composite and the five components separate cleanly at levels: mean years of schooling 41%, income 40%, expected years of schooling 33%, the composite itself 42% — and life expectancy last at 19%. In differences all five sit between 1% and 5%, so the collapse is a property of the composite and of every part of it.</a:t>
            </a:r>
          </a:p>
          <a:p>
            <a:pPr>
              <a:lnSpc>
                <a:spcPct val="132000"/>
              </a:lnSpc>
              <a:spcBef>
                <a:spcPts val="0"/>
              </a:spcBef>
              <a:spcAft>
                <a:spcPts val="1100"/>
              </a:spcAft>
            </a:pPr>
            <a:r>
              <a:rPr sz="1150" b="0" i="0">
                <a:solidFill>
                  <a:srgbClr val="5A6068"/>
                </a:solidFill>
                <a:latin typeface="Calibri"/>
              </a:rPr>
              <a:t>Life expectancy being the weakest is the first hint that this is about measurement rather than about health. The top 100 countries span 81 to 85 years. A variable with that little range left cannot carry much association, whatever the underlying domain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its five components, levels and first differences, Benjamini–Hochberg corrected within each country.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SDGS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ranks 4th of 17 goals; education ranks 12th</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The same question of the SDG side. Pooled within each goal, health (Goal 3) reaches 11.5% of country-indicator pairs — fourth of seventeen, and first among the goals with substantive coverage. Health also dominates the individual-series ranking: 16 of the 25 most predictive series in the whole database fall under Goal 3, and they are survival measures — infant and under-five mortality, stunting, neonatal mortality, sanitation, drinking water.</a:t>
            </a:r>
          </a:p>
          <a:p>
            <a:pPr>
              <a:lnSpc>
                <a:spcPct val="132000"/>
              </a:lnSpc>
              <a:spcBef>
                <a:spcPts val="0"/>
              </a:spcBef>
              <a:spcAft>
                <a:spcPts val="1100"/>
              </a:spcAft>
            </a:pPr>
            <a:r>
              <a:rPr sz="1050" b="0" i="0">
                <a:solidFill>
                  <a:srgbClr val="5A6068"/>
                </a:solidFill>
                <a:latin typeface="Calibri"/>
              </a:rPr>
              <a:t>Education comes twelfth, at 3.3%. Taken at face value that says education barely matters for wellbeing — which contradicts the HDI, where schooling is the strongest component there is. Both cannot be right, and the next slide is why.</a:t>
            </a:r>
          </a:p>
          <a:p>
            <a:pPr>
              <a:lnSpc>
                <a:spcPct val="132000"/>
              </a:lnSpc>
              <a:spcBef>
                <a:spcPts val="0"/>
              </a:spcBef>
              <a:spcAft>
                <a:spcPts val="1100"/>
              </a:spcAft>
            </a:pPr>
            <a:r>
              <a:rPr sz="1050" b="0" i="0">
                <a:solidFill>
                  <a:srgbClr val="5A6068"/>
                </a:solidFill>
                <a:latin typeface="Calibri"/>
              </a:rPr>
              <a:t>One caveat worth stating here rather than later: Goal 16 is where anything trust-shaped would live, and it comes fifteenth at 1.5%. But its thirteen trust-adjacent series measure satisfaction with public services, perceived bribery, and perceived inclusiveness in decision-making. That is confidence in institutions, not trust in other people. It is a different construct, and the low rank should not be read as evidence about interpersonal trust.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25 most predictive individual SDG series. Sixteen are Goal 3 health indicators, nearly all of them survival measures.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 would rank third among the seventeen goals rather than twelfth — and it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it is everything these frameworks are able to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Now measure the same domains on people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450" b="0" i="1">
                <a:solidFill>
                  <a:srgbClr val="9AA4B0"/>
                </a:solidFill>
                <a:latin typeface="Georgia"/>
              </a:rPr>
              <a:t>Everything so far is national aggregates against national aggregates. The ESS carries the same three domains asked directly of individuals — self-rated health, years of schooling, and whether most people can be trusted. Estimated across respondents and demeaned within country-round, so the association is within-country and within-year by construction.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 97% / 89%</a:t>
            </a:r>
          </a:p>
          <a:p>
            <a:pPr>
              <a:lnSpc>
                <a:spcPct val="120000"/>
              </a:lnSpc>
              <a:spcBef>
                <a:spcPts val="0"/>
              </a:spcBef>
              <a:spcAft>
                <a:spcPts val="0"/>
              </a:spcAft>
            </a:pPr>
            <a:r>
              <a:rPr sz="1000" b="0" i="0">
                <a:solidFill>
                  <a:srgbClr val="8A94A0"/>
                </a:solidFill>
                <a:latin typeface="Calibri"/>
              </a:rPr>
              <a:t>ESS countries significant: health, trust, education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0.092 / 0.039 / 0.006</a:t>
            </a:r>
          </a:p>
          <a:p>
            <a:pPr>
              <a:lnSpc>
                <a:spcPct val="120000"/>
              </a:lnSpc>
              <a:spcBef>
                <a:spcPts val="0"/>
              </a:spcBef>
              <a:spcAft>
                <a:spcPts val="0"/>
              </a:spcAft>
            </a:pPr>
            <a:r>
              <a:rPr sz="1000" b="0" i="0">
                <a:solidFill>
                  <a:srgbClr val="8A94A0"/>
                </a:solidFill>
                <a:latin typeface="Calibri"/>
              </a:rPr>
              <a:t>median individual R² for the same three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351,023</a:t>
            </a:r>
          </a:p>
          <a:p>
            <a:pPr>
              <a:lnSpc>
                <a:spcPct val="120000"/>
              </a:lnSpc>
              <a:spcBef>
                <a:spcPts val="0"/>
              </a:spcBef>
              <a:spcAft>
                <a:spcPts val="0"/>
              </a:spcAft>
            </a:pPr>
            <a:r>
              <a:rPr sz="1000" b="0" i="0">
                <a:solidFill>
                  <a:srgbClr val="8A94A0"/>
                </a:solidFill>
                <a:latin typeface="Calibri"/>
              </a:rPr>
              <a:t>respondents, 36 countries, ~10,700 per country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THREE DOMAINS, ONE UNIT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social trust and education all predict life satisfaction — trust is second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Same FDR test, same unit, now on 351,023 respondents. Self-rated health is significant in 36 of 36 countries, median individual R² 0.092. Interpersonal trust in 35 of 36, median R² 0.039. Years of schooling in 32 of 36, median R² 0.006 — significant almost everywhere but explaining far less per person than either of the others.</a:t>
            </a:r>
          </a:p>
          <a:p>
            <a:pPr>
              <a:lnSpc>
                <a:spcPct val="132000"/>
              </a:lnSpc>
              <a:spcBef>
                <a:spcPts val="0"/>
              </a:spcBef>
              <a:spcAft>
                <a:spcPts val="1100"/>
              </a:spcAft>
            </a:pPr>
            <a:r>
              <a:rPr sz="1125" b="0" i="0">
                <a:solidFill>
                  <a:srgbClr val="5A6068"/>
                </a:solidFill>
                <a:latin typeface="Calibri"/>
              </a:rPr>
              <a:t>Set against the frameworks, health behaves consistently: strongest on people, and the highest-ranked substantive goal in the SDGs. Education behaves consistently too, once unpooled. Trust is the one that does not appear anywhere else, because there is nowhere else for it to appear — the HDI has no counterpart at all, and SDG16's 1.5% measures confidence in institutions rather than trust in people.</a:t>
            </a:r>
          </a:p>
          <a:p>
            <a:pPr>
              <a:lnSpc>
                <a:spcPct val="132000"/>
              </a:lnSpc>
              <a:spcBef>
                <a:spcPts val="0"/>
              </a:spcBef>
              <a:spcAft>
                <a:spcPts val="1100"/>
              </a:spcAft>
            </a:pPr>
            <a:r>
              <a:rPr sz="1125" b="0" i="0">
                <a:solidFill>
                  <a:srgbClr val="5A6068"/>
                </a:solidFill>
                <a:latin typeface="Calibri"/>
              </a:rPr>
              <a:t>The caveat is real and bounds the claim: the ESS is 36 European countries, self-reported, one trust item. This is not a global result. It is enough to say that a domain the frameworks never collect outranks one they both do.</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across all three frameworks, all on % of countries FDR-significant. Trust has no HDI bar because the HDI does not measure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on people and in the HDI; invisible in the SDGs only because of pooling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across all four ways of measuring it: 89% of ESS countries on individual years of schooling, 33% of HDI countries on expected years of schooling, 12.7% of SDG4 access series, 3.3% pooled across all 35.</a:t>
            </a:r>
          </a:p>
          <a:p>
            <a:pPr>
              <a:lnSpc>
                <a:spcPct val="132000"/>
              </a:lnSpc>
              <a:spcBef>
                <a:spcPts val="0"/>
              </a:spcBef>
              <a:spcAft>
                <a:spcPts val="1100"/>
              </a:spcAft>
            </a:pPr>
            <a:r>
              <a:rPr sz="1150" b="0" i="0">
                <a:solidFill>
                  <a:srgbClr val="5A6068"/>
                </a:solidFill>
                <a:latin typeface="Calibri"/>
              </a:rPr>
              <a:t>Three of those four numbers tell a consistent story and the fourth is a construction choice. Nothing about education changed between the third bar and the fourth — only which series were averaged together. This is the cleanest case in the paper of a framework hiding a domain it does in fact measure.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The gap between the last two bars is entirely pooling, not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and the weakest component of the HDI</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R² 0.092, roughly fifteen times education's. In the SDGs, health leads the substantive goals at 11.5%. In the HDI it is last of five, at 19%.</a:t>
            </a:r>
          </a:p>
          <a:p>
            <a:pPr>
              <a:lnSpc>
                <a:spcPct val="132000"/>
              </a:lnSpc>
              <a:spcBef>
                <a:spcPts val="0"/>
              </a:spcBef>
              <a:spcAft>
                <a:spcPts val="1100"/>
              </a:spcAft>
            </a:pPr>
            <a:r>
              <a:rPr sz="1150" b="0" i="0">
                <a:solidFill>
                  <a:srgbClr val="5A6068"/>
                </a:solidFill>
                <a:latin typeface="Calibri"/>
              </a:rPr>
              <a:t>The domain is not weak; the HDI's chosen proxy for it is. Life expectancy has largely saturated across the countries the index covers, and a variable with almost no variance left cannot predict much. Self-rated health, asked of the same populations, is the strongest thing in the ESS. Same domain, different variable, opposite conclusion.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on people, and absent from both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satisfaction with public services, perceived bribery, perceived inclusiveness in decision-making. Institutional confidence and interpersonal trust are distinct constructs, and the substitution should not pass silently. Coverage compounds it —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are about which variable to count inside a domain the framework already has. Trust's is categorically different: there is no variable to choose between, because the domain was never collected.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trust and education are all significant on people, in almost every country. The ordering is the surprise: interpersonal trust is second, ahead of education, and it is the one domain of the three that neither development framework collects.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and that one domain is missing outright.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40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400" b="0" i="0">
                <a:solidFill>
                  <a:srgbClr val="5A6068"/>
                </a:solidFill>
                <a:latin typeface="Calibri"/>
              </a:rPr>
              <a:t>The honest caveat stays attached: this rests on 36 European countries and one survey item. It is the most tentative finding in the paper. It is also the one where the cost of being right and not measuring is highest, because the gap is invisible from inside the frameworks.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6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ONE UNIT, EVERYWHERE</a:t>
            </a:r>
          </a:p>
          <a:p>
            <a:pPr>
              <a:lnSpc>
                <a:spcPct val="130000"/>
              </a:lnSpc>
              <a:spcBef>
                <a:spcPts val="0"/>
              </a:spcBef>
              <a:spcAft>
                <a:spcPts val="0"/>
              </a:spcAft>
            </a:pPr>
            <a:r>
              <a:rPr sz="110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TRUST FINDING</a:t>
            </a:r>
          </a:p>
          <a:p>
            <a:pPr>
              <a:lnSpc>
                <a:spcPct val="130000"/>
              </a:lnSpc>
              <a:spcBef>
                <a:spcPts val="0"/>
              </a:spcBef>
              <a:spcAft>
                <a:spcPts val="0"/>
              </a:spcAft>
            </a:pPr>
            <a:r>
              <a:rPr sz="1100" b="0" i="0">
                <a:solidFill>
                  <a:srgbClr val="5A6068"/>
                </a:solidFill>
                <a:latin typeface="Calibri"/>
              </a:rPr>
              <a:t>Trust rests on the ESS: 36 European countries, one item, self-reported. 97% of countries significant with median individual R² 0.039. The SDG16 comparison is cross-sectional because only 16 of 163 country-series have the four years a time-series design needs. This is the most tentative of the three domains and should be framed as such.</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IS NOT INTERPERSONAL TRUST</a:t>
            </a:r>
          </a:p>
          <a:p>
            <a:pPr>
              <a:lnSpc>
                <a:spcPct val="130000"/>
              </a:lnSpc>
              <a:spcBef>
                <a:spcPts val="0"/>
              </a:spcBef>
              <a:spcAft>
                <a:spcPts val="0"/>
              </a:spcAft>
            </a:pPr>
            <a:r>
              <a:rPr sz="110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AS THE META-FINDING</a:t>
            </a:r>
          </a:p>
          <a:p>
            <a:pPr>
              <a:lnSpc>
                <a:spcPct val="130000"/>
              </a:lnSpc>
              <a:spcBef>
                <a:spcPts val="0"/>
              </a:spcBef>
              <a:spcAft>
                <a:spcPts val="0"/>
              </a:spcAft>
            </a:pPr>
            <a:r>
              <a:rPr sz="1100"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WE ARE NOT CLAIMING</a:t>
            </a:r>
          </a:p>
          <a:p>
            <a:pPr>
              <a:lnSpc>
                <a:spcPct val="130000"/>
              </a:lnSpc>
              <a:spcBef>
                <a:spcPts val="0"/>
              </a:spcBef>
              <a:spcAft>
                <a:spcPts val="0"/>
              </a:spcAft>
            </a:pPr>
            <a:r>
              <a:rPr sz="1100"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