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on the three domains that do track lived experience, once each is measured somewhere it still moves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asks the question the result actually raises: if development in the aggregate does not track wellbeing over time, which of its parts tracks wellbeing at all? Health, education, income, social connection — the frameworks disagree sharply about the answer, and the disagreement turns out to be about measurement rather than about the world.</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Health, education and social trust — and the blind spots.</a:t>
            </a:r>
          </a:p>
          <a:p>
            <a:pPr>
              <a:lnSpc>
                <a:spcPct val="125000"/>
              </a:lnSpc>
              <a:spcBef>
                <a:spcPts val="0"/>
              </a:spcBef>
              <a:spcAft>
                <a:spcPts val="0"/>
              </a:spcAft>
            </a:pPr>
            <a:r>
              <a:rPr sz="1100" b="0" i="0">
                <a:solidFill>
                  <a:srgbClr val="5A6068"/>
                </a:solidFill>
                <a:latin typeface="Calibri"/>
              </a:rPr>
              <a:t>Health leads wherever it varies, education's rank swings on construct, and trust is invisible to every framework but one.</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health and education it points at, what to do about the trust gap,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and which frameworks can see them</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Three domains carry individual lived experience: health, education and social trust. Each is visible to a different subset of the instruments, and where a framework says a domain does not matter, the reason is almost always in how it measured that domain — or whether it managed to measure it at all.</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5 of 5</a:t>
            </a:r>
          </a:p>
          <a:p>
            <a:pPr>
              <a:lnSpc>
                <a:spcPct val="120000"/>
              </a:lnSpc>
              <a:spcBef>
                <a:spcPts val="0"/>
              </a:spcBef>
              <a:spcAft>
                <a:spcPts val="0"/>
              </a:spcAft>
            </a:pPr>
            <a:r>
              <a:rPr sz="1000" b="0" i="0">
                <a:solidFill>
                  <a:srgbClr val="8A94A0"/>
                </a:solidFill>
                <a:latin typeface="Calibri"/>
              </a:rPr>
              <a:t>instruments where health tracks wellbeing</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16 of 163</a:t>
            </a:r>
          </a:p>
          <a:p>
            <a:pPr>
              <a:lnSpc>
                <a:spcPct val="120000"/>
              </a:lnSpc>
              <a:spcBef>
                <a:spcPts val="0"/>
              </a:spcBef>
              <a:spcAft>
                <a:spcPts val="0"/>
              </a:spcAft>
            </a:pPr>
            <a:r>
              <a:rPr sz="1000" b="0" i="0">
                <a:solidFill>
                  <a:srgbClr val="8A94A0"/>
                </a:solidFill>
                <a:latin typeface="Calibri"/>
              </a:rPr>
              <a:t>SDG trust country-series with enough years to test at all</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40.7% vs 3.3%</a:t>
            </a:r>
          </a:p>
          <a:p>
            <a:pPr>
              <a:lnSpc>
                <a:spcPct val="120000"/>
              </a:lnSpc>
              <a:spcBef>
                <a:spcPts val="0"/>
              </a:spcBef>
              <a:spcAft>
                <a:spcPts val="0"/>
              </a:spcAft>
            </a:pPr>
            <a:r>
              <a:rPr sz="1000" b="0" i="0">
                <a:solidFill>
                  <a:srgbClr val="8A94A0"/>
                </a:solidFill>
                <a:latin typeface="Calibri"/>
              </a:rPr>
              <a:t>education under the HDI vs pooled SDG4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comparisons, and they do not all point the same way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No single statistic settles which framework tracks wellbeing better, so the commentary should report three and nominate none. Detection: does any indicator show a significant levels association in a given country? The SDG framework reaches 30 of its 42 countries (71%), the HDI 77 of its 150 (51%). This is a fair comparison rather than an artifact — Benjamini–Hochberg under the complete null controls the error rate at the same α whatever the family size — so the SDG lead is genuine statistical power bought with breadth, and should be conceded as such.</a:t>
            </a:r>
          </a:p>
          <a:p>
            <a:pPr>
              <a:lnSpc>
                <a:spcPct val="132000"/>
              </a:lnSpc>
              <a:spcBef>
                <a:spcPts val="0"/>
              </a:spcBef>
              <a:spcAft>
                <a:spcPts val="1100"/>
              </a:spcAft>
            </a:pPr>
            <a:r>
              <a:rPr sz="1150" b="0" i="0">
                <a:solidFill>
                  <a:srgbClr val="5A6068"/>
                </a:solidFill>
                <a:latin typeface="Calibri"/>
              </a:rPr>
              <a:t>Budget-matched: give the SDG framework the same five-indicator budget the HDI gets, drawn at random, 4,000 times. Five random SDG series reach 30% of countries (95% range 19–40%); the HDI's chosen five reach 40% on the same countries. The HDI's selection beats a random five — but lands at the top edge of the random range, not outside it. Most of the SDG framework's advantage in the first comparison is explained by indicator count, and the HDI's advantage at matched budget is real but modest.</a:t>
            </a:r>
          </a:p>
          <a:p>
            <a:pPr>
              <a:lnSpc>
                <a:spcPct val="132000"/>
              </a:lnSpc>
              <a:spcBef>
                <a:spcPts val="0"/>
              </a:spcBef>
              <a:spcAft>
                <a:spcPts val="1100"/>
              </a:spcAft>
            </a:pPr>
            <a:r>
              <a:rPr sz="1150" b="0" i="0">
                <a:solidFill>
                  <a:srgbClr val="5A6068"/>
                </a:solidFill>
                <a:latin typeface="Calibri"/>
              </a:rPr>
              <a:t>Per indicator: across the 609 SDG series with usable coverage the median series is significant in no country at all, and 54% never clear FDR anywhere. The HDI composite, mean schooling and GNI per capita each beat essentially the whole field; even life expectancy, the HDI's weakest component, beats 90% of it. This is the strongest claim because it requires no cross-framework normalisation — though it does set the HDI's best against the SDG median, and the budget-matched test shows that is a generous framing.</a:t>
            </a:r>
          </a:p>
          <a:p>
            <a:pPr>
              <a:lnSpc>
                <a:spcPct val="132000"/>
              </a:lnSpc>
              <a:spcBef>
                <a:spcPts val="0"/>
              </a:spcBef>
              <a:spcAft>
                <a:spcPts val="1100"/>
              </a:spcAft>
            </a:pPr>
            <a:r>
              <a:rPr sz="1150" b="0" i="0">
                <a:solidFill>
                  <a:srgbClr val="5A6068"/>
                </a:solidFill>
                <a:latin typeface="Calibri"/>
              </a:rPr>
              <a:t>An earlier draft normalised by the share of each country's own indicators. That was dropped: it penalises breadth for its own sake — bolt a hundred irrelevant series onto the HDI and its score collapses without any loss of information — and the error-rate argument above shows the detection comparison never needed rescuing.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Each framework on its own full country set against WHR happiness, except panel b which restricts the HDI to the 42 SDG countries so the budgets are comparable.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Goal 3 ranks 4th of 17 goals at 11.5%. Goal 16, the closest thing the framework has to social trust, ranks 15th at 1.5%.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 one survey and health wins at every level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Self-rated health is significant in 36 of 36 countries with a median R² of 0.091 — roughly nine times education's 0.0098, which is the smallest effect of any domain tested. Within countries, across regions, health holds at +0.51 while development falls to +0.12.</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where a composite index is expected to win: it proxies every domain at once. It falls to fourth once you look inside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 Health and trust are self-reported alongside the outcome — see the next beat.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METHOD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the obvious objection;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and social trust are reported by the same respondent, in the same survey, as life satisfaction, so shared method variance is the first thing a reader will raise. The UN SDG database is administrative and shares no method with any wellbeing instrument, which makes it the natural check.</a:t>
            </a:r>
          </a:p>
          <a:p>
            <a:pPr>
              <a:lnSpc>
                <a:spcPct val="132000"/>
              </a:lnSpc>
              <a:spcBef>
                <a:spcPts val="0"/>
              </a:spcBef>
              <a:spcAft>
                <a:spcPts val="1100"/>
              </a:spcAft>
            </a:pPr>
            <a:r>
              <a:rPr sz="1150" b="0" i="0">
                <a:solidFill>
                  <a:srgbClr val="5A6068"/>
                </a:solidFill>
                <a:latin typeface="Calibri"/>
              </a:rPr>
              <a:t>Health passes it. Restricted to high-income countries — the same development stratum the ESS covers — the SDG data puts health at 11.2% of country-indicator pairs against education's 1.2%, the same ordering the ESS gives from entirely different measurement. Social trust fails it: there is no interpersonal-trust indicator anywhere in the SDG framework, and Goal 16's best series ranks 125th of 609. Trust is the strongest ESS predictor and has no independent corroboration available. It should enter the commentary as an open question, not a result.</a:t>
            </a:r>
          </a:p>
          <a:p>
            <a:pPr>
              <a:lnSpc>
                <a:spcPct val="132000"/>
              </a:lnSpc>
              <a:spcBef>
                <a:spcPts val="0"/>
              </a:spcBef>
              <a:spcAft>
                <a:spcPts val="1100"/>
              </a:spcAft>
            </a:pPr>
            <a:r>
              <a:rPr sz="1150" b="0" i="0">
                <a:solidFill>
                  <a:srgbClr val="5A6068"/>
                </a:solidFill>
                <a:latin typeface="Calibri"/>
              </a:rPr>
              <a:t>Act III adds a second external check at the regional scale: GDL's externally measured health index leads its education and income indices within countries too, so the health result now holds under administrative measurement at both the national and the regional level.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three domains under an administrative source and a self-report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SATURATION PROBLEM</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health barely matters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significant in 30 of 151 countries (19.9%), against 40.7% for mean schooling. Read naively, the HDI says health is the least important thing about development.</a:t>
            </a:r>
          </a:p>
          <a:p>
            <a:pPr>
              <a:lnSpc>
                <a:spcPct val="132000"/>
              </a:lnSpc>
              <a:spcBef>
                <a:spcPts val="0"/>
              </a:spcBef>
              <a:spcAft>
                <a:spcPts val="1100"/>
              </a:spcAft>
            </a:pPr>
            <a:r>
              <a:rPr sz="1400" b="0" i="0">
                <a:solidFill>
                  <a:srgbClr val="5A6068"/>
                </a:solidFill>
                <a:latin typeface="Calibri"/>
              </a:rPr>
              <a:t>It says nothing of the kind. Life expectancy is close to saturated across the countries where it is tested: the variance that would let it predict anything has largely gone. The SDG series that do carry health's signal are survival measures — child and neonatal mortality, stunting — which still vary enormously, and self-rated health captures morbidity that life expectancy cannot see at all. A domain disappears from a framework when that framework measures it with a variable that has run out of room.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is the same problem running in the opposite direction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inverts the health story exactly. It is the HDI's strongest domain — mean years of schooling has the highest median R² of all five indicators, 0.326, above the composite itself — and the SDG framework's weakest, at 3.3% pooled, with its best series ranking 100th of 609.</a:t>
            </a:r>
          </a:p>
          <a:p>
            <a:pPr>
              <a:lnSpc>
                <a:spcPct val="132000"/>
              </a:lnSpc>
              <a:spcBef>
                <a:spcPts val="0"/>
              </a:spcBef>
              <a:spcAft>
                <a:spcPts val="1100"/>
              </a:spcAft>
            </a:pPr>
            <a:r>
              <a:rPr sz="1150" b="0" i="0">
                <a:solidFill>
                  <a:srgbClr val="5A6068"/>
                </a:solidFill>
                <a:latin typeface="Calibri"/>
              </a:rPr>
              <a:t>The disagreement is again construct choice. Eighteen of SDG4's 35 official series are equity or parity ratios, six measure learning outcomes, seven measure school infrastructure, and only two measure access and participation directly. Split apart, access reaches 12.7% — comparable to health's 11.5% — while learning outcomes sit at 0.9% and parity ratios at 2.5%. The pooled 3.3% is an average across constructs pointing in different directions and describes none of them.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is the one domain that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itself. Aggregated to the country level, ESS-measured years of schooling predicts World Happiness Report happiness at R² = 0.308, against 0.161 for the HDI's own schooling series on the same cells: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in the horse race, and within countries education sits at +0.13 with 2 of 16 countries significant. Education is the most universal signal and the smallest one, which is a genuinely odd combination and worth stating as such rather than resolving prematurely.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Near the top wherever it is measured, and invisible almost everywhere else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third domain and the one the measurement apparatus handles worst. In the ESS, where it is asked of every respondent in every round, it is significant in 34 of 36 countries individually and reaches +0.49 within countries across regions — above education on both. Neither the HDI nor the subnational HDI measures it at all.</a:t>
            </a:r>
          </a:p>
          <a:p>
            <a:pPr>
              <a:lnSpc>
                <a:spcPct val="132000"/>
              </a:lnSpc>
              <a:spcBef>
                <a:spcPts val="0"/>
              </a:spcBef>
              <a:spcAft>
                <a:spcPts val="1100"/>
              </a:spcAft>
            </a:pPr>
            <a:r>
              <a:rPr sz="1400" b="0" i="0">
                <a:solidFill>
                  <a:srgbClr val="5A6068"/>
                </a:solidFill>
                <a:latin typeface="Calibri"/>
              </a:rPr>
              <a:t>The SDG framework appears to: it carries 13 trust- and satisfaction-adjacent series, mostly under Goal 16 — satisfaction with public services, belief that decision-making is inclusive, bribery prevalence. But their median coverage is one year per country-series, against six for the database as a whole, so almost none can support a time-series test. The design needs at least four years per country-series; 147 of the 163 fall short and are never computed at all. Of the 16 that can be run, 1 is significant.</a:t>
            </a:r>
          </a:p>
          <a:p>
            <a:pPr>
              <a:lnSpc>
                <a:spcPct val="132000"/>
              </a:lnSpc>
              <a:spcBef>
                <a:spcPts val="0"/>
              </a:spcBef>
              <a:spcAft>
                <a:spcPts val="1100"/>
              </a:spcAft>
            </a:pPr>
            <a:r>
              <a:rPr sz="1400" b="0" i="0">
                <a:solidFill>
                  <a:srgbClr val="5A6068"/>
                </a:solidFill>
                <a:latin typeface="Calibri"/>
              </a:rPr>
              <a:t>The distinction matters and the commentary must keep it. "1 of 163" reads as a null result; the truth is 1 of 16 tested and 147 untestable. An earlier draft of this deck made exactly that slip, and reporting a coverage gap as a null would repeat the error the commentary accuses the frameworks of making.</a:t>
            </a:r>
          </a:p>
          <a:p>
            <a:pPr>
              <a:lnSpc>
                <a:spcPct val="132000"/>
              </a:lnSpc>
              <a:spcBef>
                <a:spcPts val="0"/>
              </a:spcBef>
              <a:spcAft>
                <a:spcPts val="1100"/>
              </a:spcAft>
            </a:pPr>
            <a:r>
              <a:rPr sz="1400" b="0" i="0">
                <a:solidFill>
                  <a:srgbClr val="5A6068"/>
                </a:solidFill>
                <a:latin typeface="Calibri"/>
              </a:rPr>
              <a:t>That leaves trust the weakest-evidenced of the three — one instrument, no external corroboration, and the shared-method caveat still live. It should be presented as the most interesting open question rather than a finding, and it points at a concrete recommendation: a repeated trust item costs almost nothing to field and would make the domain testable.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pattern of blind spots is the result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Laid out side by side, the three domains have different signatures. Health is testable in all five instruments and leads in four of them — weak only inside the HDI, whose single health input has run out of variance. Education is testable in all five and its rank swings from first to near-last depending purely on whether the instrument measures attainment or parity. Trust is at or near the top of the only instrument that can test it, and invisible to the rest.</a:t>
            </a:r>
          </a:p>
          <a:p>
            <a:pPr>
              <a:lnSpc>
                <a:spcPct val="132000"/>
              </a:lnSpc>
              <a:spcBef>
                <a:spcPts val="0"/>
              </a:spcBef>
              <a:spcAft>
                <a:spcPts val="1100"/>
              </a:spcAft>
            </a:pPr>
            <a:r>
              <a:rPr sz="1150" b="0" i="0">
                <a:solidFill>
                  <a:srgbClr val="5A6068"/>
                </a:solidFill>
                <a:latin typeface="Calibri"/>
              </a:rPr>
              <a:t>None of these disagreements is about the world. Every one is about an operationalisation choice made by the framework — which is why the commentary's contribution is not a ranking of domains but an account of why the rankings differ.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against the five instruments. Metrics differ by column and are given under each heading; the colours encode whether the domain tracks wellbeing there, shows little signal, or cannot be tested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Three domains, five instruments, and a different verdict from almost every pairing. Health leads once it is measured somewhere it still varies; education leads once it is measured as attainment rather than parity; trust leads wherever it is measured at all, which is almost nowhere. The commentary's contribution is not a ranking of domains but the demonstration that the ranking is an artefact of operationalisation — and that one of the three is missing from the development measurement apparatus entirely.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health and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health and education, because in both domains the wellbeing signal sits with one operationalisation and vanishes under another.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The World Happiness Report cannot see this at all — it has no subnational values. It is the specific thing the ESS adds.</a:t>
            </a:r>
          </a:p>
          <a:p>
            <a:pPr>
              <a:lnSpc>
                <a:spcPct val="132000"/>
              </a:lnSpc>
              <a:spcBef>
                <a:spcPts val="0"/>
              </a:spcBef>
              <a:spcAft>
                <a:spcPts val="1100"/>
              </a:spcAft>
            </a:pPr>
            <a:r>
              <a:rPr sz="1150" b="0" i="0">
                <a:solidFill>
                  <a:srgbClr val="5A6068"/>
                </a:solidFill>
                <a:latin typeface="Calibri"/>
              </a:rPr>
              <a:t>Two cautions on the detail. The health-versus-trust ordering is not stable: aggregating region means across waves rather than within them reverses it, putting trust at +0.57 and health at +0.50. What is stable, under every specification we tried, is that both sit near +0.5 while development sits near zero. And per-country coverage varies sharply — Italy matches only 30% of respondents to a region, Sweden 57%, Croatia 69%, against 91–100% elsewhere. Dropping those three, or dropping regions built on fewer than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 EXTERNALLY MEASURED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survives with no self-report at all — and it is a health flip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strongest objection to the ranking flip is that health and trust are reported by the same respondents as the outcome. GDL's regional sub-indices remove that objection: health, education and income indices measured per region from external sources, sharing no method with the ESS.</a:t>
            </a:r>
          </a:p>
          <a:p>
            <a:pPr>
              <a:lnSpc>
                <a:spcPct val="132000"/>
              </a:lnSpc>
              <a:spcBef>
                <a:spcPts val="0"/>
              </a:spcBef>
              <a:spcAft>
                <a:spcPts val="1100"/>
              </a:spcAft>
            </a:pPr>
            <a:r>
              <a:rPr sz="1150" b="0" i="0">
                <a:solidFill>
                  <a:srgbClr val="5A6068"/>
                </a:solidFill>
                <a:latin typeface="Calibri"/>
              </a:rPr>
              <a:t>Within countries, the external health index correlates with regional life satisfaction at a median of +0.34, significant in 6 of 15 usable countries, against +0.12 for the income index and +0.06 for the education index. The domain ordering is the same one the self-reports give, from measurement the respondents never touched. Self-rated health still runs higher (+0.50), which is exactly what you expect if part — but only part — of its lead is shared method variance. One country drops out: Albania's regional health index is constant, another instance of a measure with no variance left to predict with.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external.png"/>
          <p:cNvPicPr>
            <a:picLocks noChangeAspect="1"/>
          </p:cNvPicPr>
          <p:nvPr/>
        </p:nvPicPr>
        <p:blipFill>
          <a:blip r:embed="rId2"/>
          <a:stretch>
            <a:fillRect/>
          </a:stretch>
        </p:blipFill>
        <p:spPr>
          <a:xfrm>
            <a:off x="5120640" y="1531620"/>
            <a:ext cx="6537960" cy="332841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within-country domain race with externally measured predictors (solid) beside the same-survey self-reports (faded). Sub-indices pooled 2010–2023.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Monitor health where it still varies, not where it has already converged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HDI's five indicators against wellbeing. That is a measurement failure rather than a substantive one. What carries health's signal is survival at the margin — child, infant and neonatal mortality, stunting, sanitation and safe water — and, in rich countries, self-rated health, which picks up morbidity and functional limitation that life expectancy cannot see.</a:t>
            </a:r>
          </a:p>
          <a:p>
            <a:pPr>
              <a:lnSpc>
                <a:spcPct val="132000"/>
              </a:lnSpc>
              <a:spcBef>
                <a:spcPts val="0"/>
              </a:spcBef>
              <a:spcAft>
                <a:spcPts val="1100"/>
              </a:spcAft>
            </a:pPr>
            <a:r>
              <a:rPr sz="1400" b="0" i="0">
                <a:solidFill>
                  <a:srgbClr val="5A6068"/>
                </a:solidFill>
                <a:latin typeface="Calibri"/>
              </a:rPr>
              <a:t>For monitoring, that argues for retiring life expectancy as the headline wellbeing-relevant health measure in high-income settings and pairing survival indicators with a subjective health item. The ESS already fields one; most national statistical systems do too. It is close to free.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signal — 12.7% for SDG4 access, 40.7% and 34.0% for the HDI's schooling components, 32 of 36 countries at the individual level — while measured learning outcomes sit at 0.9% and parity ratios at 2.5%. The caution from Act II applies: education is the most consistent signal and the smallest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THE TRUST GAP</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cheapest fix in the paper: field a repeated trust item</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at or near the top of every test the ESS can run, and no development framework can currently check it. The SDG framework's 13 satisfaction and integrity series average one observation per country, which is not enough for any longitudinal design; the HDI and subnational HDI do not measure the construct at all.</a:t>
            </a:r>
          </a:p>
          <a:p>
            <a:pPr>
              <a:lnSpc>
                <a:spcPct val="132000"/>
              </a:lnSpc>
              <a:spcBef>
                <a:spcPts val="0"/>
              </a:spcBef>
              <a:spcAft>
                <a:spcPts val="1100"/>
              </a:spcAft>
            </a:pPr>
            <a:r>
              <a:rPr sz="1400" b="0" i="0">
                <a:solidFill>
                  <a:srgbClr val="5A6068"/>
                </a:solidFill>
                <a:latin typeface="Calibri"/>
              </a:rPr>
              <a:t>This is the one recommendation in the commentary that costs almost nothing. A single generalised-trust item, asked repeatedly, is already standard in the ESS, the World Values Survey and several national statistical series. Adding one to a development monitoring instrument would move trust from untestable to testable — and on the evidence available it would then rank alongside health.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how we measure development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Two of the most consequential domains in development are monitored through variables that have either run out of variance or measure a different construct from the one the policy debate is about: health through life expectancy, education through parity and proficiency. If wellbeing is to be a criterion for the post-2030 architecture at all, the first question is not which domain to prioritise but whether each domain is being measured somewhere it can still move.</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Within countries the external health index leads education and income (+0.34 vs +0.06 and +0.12), so the flip no longer rests on self-report. GDL's DHS-based Education &amp; Work and Health datasets were also examined: they cover only 6 ESS countries and cannot serve the European design.</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