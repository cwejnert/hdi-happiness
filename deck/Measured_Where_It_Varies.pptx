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What tracks individual lived experience when development is measured: education, health, and social trust. And why the frameworks built to monitor development systematically miss some of them.</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September 2026</a:t>
            </a:r>
          </a:p>
          <a:p>
            <a:pPr>
              <a:lnSpc>
                <a:spcPct val="130000"/>
              </a:lnSpc>
              <a:spcBef>
                <a:spcPts val="0"/>
              </a:spcBef>
              <a:spcAft>
                <a:spcPts val="0"/>
              </a:spcAft>
            </a:pPr>
            <a:r>
              <a:rPr sz="950" b="0" i="0">
                <a:solidFill>
                  <a:srgbClr val="868D96"/>
                </a:solidFill>
                <a:latin typeface="Consolas"/>
              </a:rPr>
              <a:t>SDG: 42 countries, 661 series · HDI × World Happiness Report: 151 countries, 2011–2023 · Subnational HDI &amp; sub-indices: 239 regions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THREE QUESTIONS ABOUT MEASUREMENT</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What actually matters for individual lived experience, and are development frameworks measuring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050" b="0" i="0">
                <a:solidFill>
                  <a:srgbClr val="5A6068"/>
                </a:solidFill>
                <a:latin typeface="Calibri"/>
              </a:rPr>
              <a:t>Development measurement has a wellbeing problem. Frameworks like the SDG and HDI were built to track progress on development goals, not to understand what predicts how people experience their lives. But if development is meant to improve wellbeing, we should ask: Do the frameworks capture what actually matters? What does matter at the individual level? And if they don't align, how should development measurement change?</a:t>
            </a:r>
          </a:p>
          <a:p>
            <a:pPr>
              <a:lnSpc>
                <a:spcPct val="134000"/>
              </a:lnSpc>
              <a:spcBef>
                <a:spcPts val="0"/>
              </a:spcBef>
              <a:spcAft>
                <a:spcPts val="1200"/>
              </a:spcAft>
            </a:pPr>
            <a:r>
              <a:rPr sz="1050" b="0" i="0">
                <a:solidFill>
                  <a:srgbClr val="5A6068"/>
                </a:solidFill>
                <a:latin typeface="Calibri"/>
              </a:rPr>
              <a:t>The SDG paper under review provides the opening: the association between development indicators and happiness is strong between countries but nearly absent within them year-to-year. Thirty of 42 countries are significant in levels. Two are in differences. The obvious dismissal: the SDG framework is sprawling and unevenly covered; a null says as much about the framework as the world.</a:t>
            </a:r>
          </a:p>
          <a:p>
            <a:pPr>
              <a:lnSpc>
                <a:spcPct val="134000"/>
              </a:lnSpc>
              <a:spcBef>
                <a:spcPts val="0"/>
              </a:spcBef>
              <a:spcAft>
                <a:spcPts val="1200"/>
              </a:spcAft>
            </a:pPr>
            <a:r>
              <a:rPr sz="1050" b="0" i="0">
                <a:solidFill>
                  <a:srgbClr val="5A6068"/>
                </a:solidFill>
                <a:latin typeface="Calibri"/>
              </a:rPr>
              <a:t>This commentary answers the three questions by testing them across frameworks. We replicate the collapse on the HDI, test it against individual-level wellbeing data (the ESS), and ask what domains actually predict life satisfaction when measured at the right level and resolution. The answer: education, health, and social trust all matter. But which framework sees them depends entirely on construction choices—which construct you count, which variable you measure, which domains you collect. Based on that evidence, we suggest how development measurement could evolve.</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The levels-to-differences collapse is universal.</a:t>
            </a:r>
          </a:p>
          <a:p>
            <a:pPr>
              <a:lnSpc>
                <a:spcPct val="125000"/>
              </a:lnSpc>
              <a:spcBef>
                <a:spcPts val="0"/>
              </a:spcBef>
              <a:spcAft>
                <a:spcPts val="0"/>
              </a:spcAft>
            </a:pPr>
            <a:r>
              <a:rPr sz="1100" b="0" i="0">
                <a:solidFill>
                  <a:srgbClr val="5A6068"/>
                </a:solidFill>
                <a:latin typeface="Calibri"/>
              </a:rPr>
              <a:t>Replicate it on the HDI, against a second wellbeing survey, and one spatial scale down. It holds every time — except in ESS, where individual-level data is responsive to change.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At the levels: what actually matters for lived experience?</a:t>
            </a:r>
          </a:p>
          <a:p>
            <a:pPr>
              <a:lnSpc>
                <a:spcPct val="125000"/>
              </a:lnSpc>
              <a:spcBef>
                <a:spcPts val="0"/>
              </a:spcBef>
              <a:spcAft>
                <a:spcPts val="0"/>
              </a:spcAft>
            </a:pPr>
            <a:r>
              <a:rPr sz="1100" b="0" i="0">
                <a:solidFill>
                  <a:srgbClr val="5A6068"/>
                </a:solidFill>
                <a:latin typeface="Calibri"/>
              </a:rPr>
              <a:t>Three domains predict life satisfaction: education, health, and social trust. But frameworks see them differently because of construction choices, variable saturation, or missing coverage. This is what measurement shows matters.</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Why measurement type matters: within-country evidence.</a:t>
            </a:r>
          </a:p>
          <a:p>
            <a:pPr>
              <a:lnSpc>
                <a:spcPct val="125000"/>
              </a:lnSpc>
              <a:spcBef>
                <a:spcPts val="0"/>
              </a:spcBef>
              <a:spcAft>
                <a:spcPts val="0"/>
              </a:spcAft>
            </a:pPr>
            <a:r>
              <a:rPr sz="1100" b="0" i="0">
                <a:solidFill>
                  <a:srgbClr val="5A6068"/>
                </a:solidFill>
                <a:latin typeface="Calibri"/>
              </a:rPr>
              <a:t>Individual-level, self-reported data captures year-to-year change that administrative frameworks miss. Development frameworks measure at the wrong temporal and individual resolution to see lived experience.</a:t>
            </a:r>
          </a:p>
        </p:txBody>
      </p:sp>
      <p:sp>
        <p:nvSpPr>
          <p:cNvPr id="15" name="Rectangle 14"/>
          <p:cNvSpPr/>
          <p:nvPr/>
        </p:nvSpPr>
        <p:spPr>
          <a:xfrm>
            <a:off x="6720840" y="500176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514807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IV</a:t>
            </a:r>
          </a:p>
        </p:txBody>
      </p:sp>
      <p:sp>
        <p:nvSpPr>
          <p:cNvPr id="17" name="TextBox 16"/>
          <p:cNvSpPr txBox="1"/>
          <p:nvPr/>
        </p:nvSpPr>
        <p:spPr>
          <a:xfrm>
            <a:off x="7360920" y="514807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How development frameworks could evolve.</a:t>
            </a:r>
          </a:p>
          <a:p>
            <a:pPr>
              <a:lnSpc>
                <a:spcPct val="125000"/>
              </a:lnSpc>
              <a:spcBef>
                <a:spcPts val="0"/>
              </a:spcBef>
              <a:spcAft>
                <a:spcPts val="0"/>
              </a:spcAft>
            </a:pPr>
            <a:r>
              <a:rPr sz="1100" b="0" i="0">
                <a:solidFill>
                  <a:srgbClr val="5A6068"/>
                </a:solidFill>
                <a:latin typeface="Calibri"/>
              </a:rPr>
              <a:t>Based on what matters for individual wellbeing, specific recommendations for education, health, and social trust. A roadmap for aligning development measurement with what research shows actually predicts lived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three frameworks, three data sources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levels-and-differences design on a second development framework, against a second wellbeing instrument, and the collapse appears every time. It is not a property of the SDGs. Once we show the levels are where the signal is, we can drill into what that signal actually is.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14% → 8%</a:t>
            </a:r>
          </a:p>
          <a:p>
            <a:pPr>
              <a:lnSpc>
                <a:spcPct val="120000"/>
              </a:lnSpc>
              <a:spcBef>
                <a:spcPts val="0"/>
              </a:spcBef>
              <a:spcAft>
                <a:spcPts val="0"/>
              </a:spcAft>
            </a:pPr>
            <a:r>
              <a:rPr sz="1000" b="0" i="0">
                <a:solidFill>
                  <a:srgbClr val="8A94A0"/>
                </a:solidFill>
                <a:latin typeface="Calibri"/>
              </a:rPr>
              <a:t>of cells, against the ESS wellbeing survey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shows the same collapse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the dismissal relies on: three dimensions rather than seventeen goals, a single custodian, a stable definition, near-universal coverage. Substituting it for the SDGs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levels-to-differences ratio is identical in order of magnitude whether you use the SDGs or the HDI. Whatever produces the asymmetry, it is not a property of either framework's scope or construction.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FDR-significant development–happiness association, levels versus first differences, under the SDG framework and the HDI.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2 · THE ESS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Switch the wellbeing measure from the World Happiness Report to the European Social Survey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25" b="0" i="0">
                <a:solidFill>
                  <a:srgbClr val="5A6068"/>
                </a:solidFill>
                <a:latin typeface="Calibri"/>
              </a:rPr>
              <a:t>The World Happiness Report compiles a single survey question: the Cantril ladder, 'how satisfied are you with your life on a scale of 0–10?' The European Social Survey asks similar life satisfaction and happiness questions of individuals rather than aggregating them to countries.</a:t>
            </a:r>
          </a:p>
          <a:p>
            <a:pPr>
              <a:lnSpc>
                <a:spcPct val="132000"/>
              </a:lnSpc>
              <a:spcBef>
                <a:spcPts val="0"/>
              </a:spcBef>
              <a:spcAft>
                <a:spcPts val="1100"/>
              </a:spcAft>
            </a:pPr>
            <a:r>
              <a:rPr sz="1125" b="0" i="0">
                <a:solidFill>
                  <a:srgbClr val="5A6068"/>
                </a:solidFill>
                <a:latin typeface="Calibri"/>
              </a:rPr>
              <a:t>Running the same levels-and-differences design against the ESS — 36 European countries, 351,000 respondents — reveals something unexpected: the collapse does NOT hold here. Both levels and differences show significant associations. Life satisfaction and happiness respond to year-to-year changes in how people report themselves, not just to between-country differences. This is a important caveat to our main finding: self-reported wellbeing measures capture changes that administrative development indicators miss — but only at the temporal and geographic resolution of the ESS (36 European countries, annual cycles). The persistence of the collapse in SDG and HDI suggests their construction choices matter more than the measurement method alone.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ess_levels_diffs_collapse.png"/>
          <p:cNvPicPr>
            <a:picLocks noChangeAspect="1"/>
          </p:cNvPicPr>
          <p:nvPr/>
        </p:nvPicPr>
        <p:blipFill>
          <a:blip r:embed="rId2"/>
          <a:stretch>
            <a:fillRect/>
          </a:stretch>
        </p:blipFill>
        <p:spPr>
          <a:xfrm>
            <a:off x="5120640" y="1264158"/>
            <a:ext cx="6537960" cy="38633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ESS shows persistent associations in differences, unlike SDG and HDI. Caveat: 36 European countries, self-reported measures, annual survey cycles.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 + SUB-COMPONENTS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Beneath the composites, the components tell different stories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Expected years of schooling leads the HDI: highest median R² at levels (0.326) and in differences (0.069), above the composite itself. Income is level with it in levels, weaker in differences. Life expectancy — the HDI's proxy for health — is weakest in levels.</a:t>
            </a:r>
          </a:p>
          <a:p>
            <a:pPr>
              <a:lnSpc>
                <a:spcPct val="132000"/>
              </a:lnSpc>
              <a:spcBef>
                <a:spcPts val="0"/>
              </a:spcBef>
              <a:spcAft>
                <a:spcPts val="1100"/>
              </a:spcAft>
            </a:pPr>
            <a:r>
              <a:rPr sz="1150" b="0" i="0">
                <a:solidFill>
                  <a:srgbClr val="5A6068"/>
                </a:solidFill>
                <a:latin typeface="Calibri"/>
              </a:rPr>
              <a:t>The HDI still shows the collapse, unlike the ESS, so the question shifts: which components of development are actually strong at the levels, and why does the type of measurement matter? This is the entry point to Act II: which components are actually strong, weak, or invisible when you look at each framework's construction choices rather than its top-line numbers?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HDI composite and sub-components, levels and first differences. Benjamini–Hochberg corrected within each country.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levels are where development and wellbeing predict each other. Now we can ask: which components of development matter for lived experience?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At the levels: three domains, three failure modes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Three domains predict life satisfaction. But which frameworks can see them depends entirely on construction choices: which construct you count, which variable you measure, which domains you collect. Each framework's limitations reveal different failure modes, not different realities.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92% vs 34% vs 3.3%</a:t>
            </a:r>
          </a:p>
          <a:p>
            <a:pPr>
              <a:lnSpc>
                <a:spcPct val="120000"/>
              </a:lnSpc>
              <a:spcBef>
                <a:spcPts val="0"/>
              </a:spcBef>
              <a:spcAft>
                <a:spcPts val="0"/>
              </a:spcAft>
            </a:pPr>
            <a:r>
              <a:rPr sz="1000" b="0" i="0">
                <a:solidFill>
                  <a:srgbClr val="8A94A0"/>
                </a:solidFill>
                <a:latin typeface="Calibri"/>
              </a:rPr>
              <a:t>countries significant: education in ESS, HDI, and SDG4 pooled</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100% vs 20% vs 11.5%</a:t>
            </a:r>
          </a:p>
          <a:p>
            <a:pPr>
              <a:lnSpc>
                <a:spcPct val="120000"/>
              </a:lnSpc>
              <a:spcBef>
                <a:spcPts val="0"/>
              </a:spcBef>
              <a:spcAft>
                <a:spcPts val="0"/>
              </a:spcAft>
            </a:pPr>
            <a:r>
              <a:rPr sz="1000" b="0" i="0">
                <a:solidFill>
                  <a:srgbClr val="8A94A0"/>
                </a:solidFill>
                <a:latin typeface="Calibri"/>
              </a:rPr>
              <a:t>countries significant: health in ESS, HDI, and SDG3</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94% vs 1.5% vs —</a:t>
            </a:r>
          </a:p>
          <a:p>
            <a:pPr>
              <a:lnSpc>
                <a:spcPct val="120000"/>
              </a:lnSpc>
              <a:spcBef>
                <a:spcPts val="0"/>
              </a:spcBef>
              <a:spcAft>
                <a:spcPts val="0"/>
              </a:spcAft>
            </a:pPr>
            <a:r>
              <a:rPr sz="1000" b="0" i="0">
                <a:solidFill>
                  <a:srgbClr val="8A94A0"/>
                </a:solidFill>
                <a:latin typeface="Calibri"/>
              </a:rPr>
              <a:t>countries significant: social trust in ESS, SDG16, and HDI (not measured)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FRAMEWORK COMPARISON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How the frameworks compare on detection, budget-match, and per-indicator basis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Before we ask what matters, we need to understand how these frameworks differ. The SDG database detects significance in more countries (71% raw) than the HDI (51% raw), but when both are given the same budget — five indicators across 42 countries — the HDI's edge becomes real but modest (30% vs 51% among those 42 countries). When normalized per indicator, the HDI dominates: most SDG series sit in the zero-significance tail, while HDI indicators cluster higher. This is context we need before asking which components matter most.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ramework_three_comparisons.png"/>
          <p:cNvPicPr>
            <a:picLocks noChangeAspect="1"/>
          </p:cNvPicPr>
          <p:nvPr/>
        </p:nvPicPr>
        <p:blipFill>
          <a:blip r:embed="rId2"/>
          <a:stretch>
            <a:fillRect/>
          </a:stretch>
        </p:blipFill>
        <p:spPr>
          <a:xfrm>
            <a:off x="5120640" y="2093715"/>
            <a:ext cx="6537960" cy="220422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How SDG and HDI frameworks compare on detection rate, budget-matched analysis, and per-indicator significance distribution.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ALL THREE MATTER</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 health, and social trust all significantly predict life satisfaction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In the European Social Survey, where all three are measured at the individual level, all three are significant in the majority of countries. But which framework can see all three? Which sees only some? The answer depends on three different failure modes.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s_at_levels_comparison.png"/>
          <p:cNvPicPr>
            <a:picLocks noChangeAspect="1"/>
          </p:cNvPicPr>
          <p:nvPr/>
        </p:nvPicPr>
        <p:blipFill>
          <a:blip r:embed="rId2"/>
          <a:stretch>
            <a:fillRect/>
          </a:stretch>
        </p:blipFill>
        <p:spPr>
          <a:xfrm>
            <a:off x="5120640" y="2028335"/>
            <a:ext cx="6537960" cy="233498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 of countries where each domain significantly predicts wellbeing at levels. ESS: 36 countries. HDI: 150 countries. SDG: country-indicator pairs.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1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in 92% of ESS countries, but only when measured as attainment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Expected years of schooling predicts life satisfaction in 34% of HDI countries — the highest among the five HDI components, but still a minority. In the ESS individual data, education (measured as years attained) is significant in 92% of countries. The difference is not about the data; it is about which construct you count.</a:t>
            </a:r>
          </a:p>
          <a:p>
            <a:pPr>
              <a:lnSpc>
                <a:spcPct val="132000"/>
              </a:lnSpc>
              <a:spcBef>
                <a:spcPts val="0"/>
              </a:spcBef>
              <a:spcAft>
                <a:spcPts val="1100"/>
              </a:spcAft>
            </a:pPr>
            <a:r>
              <a:rPr sz="1150" b="0" i="0">
                <a:solidFill>
                  <a:srgbClr val="5A6068"/>
                </a:solidFill>
                <a:latin typeface="Calibri"/>
              </a:rPr>
              <a:t>The SDG framework's education goal is 35 indicators spanning access, attainment, equity (parity ratios), learning outcomes, infrastructure, and financing. Pooled, 3.3% of country-indicator pairs are significant. But access indicators alone (primary and secondary enrollment, completion rates) reach 12.7% — because they measure participation, the closest SDG analogue to HDI attainment. Parity ratios, learning outcomes, and infrastructure contribute little to wellbeing, so pooling them masks the signal from access.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ducation_levels_comparison.png"/>
          <p:cNvPicPr>
            <a:picLocks noChangeAspect="1"/>
          </p:cNvPicPr>
          <p:nvPr/>
        </p:nvPicPr>
        <p:blipFill>
          <a:blip r:embed="rId2"/>
          <a:stretch>
            <a:fillRect/>
          </a:stretch>
        </p:blipFill>
        <p:spPr>
          <a:xfrm>
            <a:off x="5120640" y="1412748"/>
            <a:ext cx="6537960" cy="356616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Education's R² (% of countries significant at levels) across three frameworks. SDG4's pooled rate (3.3%) includes all 35 constructs; access alone reaches 12.7%.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ACCESS CHECK · WHY EDUCATION'S RANK SWINGS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difference between measuring attainment and measuring parity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When the SDG framework pools constructs, it weights all equally by series count. Parity ratios are 18 of 35 series but carry almost no signal for wellbeing. Learning outcomes (6 series, 0.9% significant), infrastructure (7 series, 2.0%), and financing (1 series, 11.5%) together drive the pooled rate below what access alone achieves. This is not a discovery about education; it is a mechanical artifact of construction.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by construct: access and participation (12.7%) vs. equity/parity ratios (2.5%), learning outcomes (0.9%), and others.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2 · HEALTH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in 100% of ESS countries, weak in the HDI, strong in the SDGs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Self-rated health is the single strongest predictor of life satisfaction in the ESS: 100% of countries significant at the individual level, median R² = 0.091 (four times education's). In the HDI, health's proxy is life expectancy, and it is the weakest of five components — only 20% of countries significant. In the SDG database, health (Goal 3) reaches 11.5% of country-indicator pairs, fourth of 17 goals.</a:t>
            </a:r>
          </a:p>
          <a:p>
            <a:pPr>
              <a:lnSpc>
                <a:spcPct val="132000"/>
              </a:lnSpc>
              <a:spcBef>
                <a:spcPts val="0"/>
              </a:spcBef>
              <a:spcAft>
                <a:spcPts val="1100"/>
              </a:spcAft>
            </a:pPr>
            <a:r>
              <a:rPr sz="1150" b="0" i="0">
                <a:solidFill>
                  <a:srgbClr val="5A6068"/>
                </a:solidFill>
                <a:latin typeface="Calibri"/>
              </a:rPr>
              <a:t>Life expectancy is close to saturated in developed countries: the top 100 countries range from 81 to 85 years. The variance that remains is so small that between-country differences add little predictive power. This is not health's problem; it is the specific HDI indicator's problem. The gap between frameworks shows the importance of variable choice, not of health itself.</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levels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Health's R² (% of countries significant at levels) across three frameworks. Self-rated health in ESS dominates; external HDI proxy (life expectancy) is weak.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SDG INDICATOR RANKINGS · WHY HEALTH MATTERS DESPITE LOW %</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indicators rank 4th among 17 SDG goals; the low percentage reflects weak overall SDG signal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SDG database is vast: 661 series across 42 countries testing 17 goals. The overall significance rate is low — only 3-4% of all country-indicator pairs are significant. At the goal level, health (Goal 3) reaches 11.5% of country-indicator pairs, ranking fourth of 17 goals. Within that sparse landscape, health indicators dominate the top-ranked individual series, with 16 of the top 25 most predictive SDG series falling under Goal 3. These are survival measures: infant mortality, under-five mortality, stunting, neonatal mortality, sanitation, drinking water — all objective, externally measured.</a:t>
            </a:r>
          </a:p>
          <a:p>
            <a:pPr>
              <a:lnSpc>
                <a:spcPct val="132000"/>
              </a:lnSpc>
              <a:spcBef>
                <a:spcPts val="0"/>
              </a:spcBef>
              <a:spcAft>
                <a:spcPts val="1100"/>
              </a:spcAft>
            </a:pPr>
            <a:r>
              <a:rPr sz="1150" b="0" i="0">
                <a:solidFill>
                  <a:srgbClr val="5A6068"/>
                </a:solidFill>
                <a:latin typeface="Calibri"/>
              </a:rPr>
              <a:t>The low 11.5% rate for health is not evidence that health doesn't matter. It is evidence that most of the SDG database does not predict wellbeing. Within that context, health ranks high.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Top 25 SDG indicators by significance. Health (Goal 3) dominates: 16 of 25 top series.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3 · SOCIAL TRUST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Social trust leads the ESS, is nearly invisible to development frameworks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Social trust — 'most people can be trusted' — is significant in 94% of ESS countries, third strongest domain after health and income, with median R² = 0.041. Neither the HDI nor the SDG framework measures it at all.</a:t>
            </a:r>
          </a:p>
          <a:p>
            <a:pPr>
              <a:lnSpc>
                <a:spcPct val="132000"/>
              </a:lnSpc>
              <a:spcBef>
                <a:spcPts val="0"/>
              </a:spcBef>
              <a:spcAft>
                <a:spcPts val="1100"/>
              </a:spcAft>
            </a:pPr>
            <a:r>
              <a:rPr sz="1150" b="0" i="0">
                <a:solidFill>
                  <a:srgbClr val="5A6068"/>
                </a:solidFill>
                <a:latin typeface="Calibri"/>
              </a:rPr>
              <a:t>The SDG database does carry 13 trust- and satisfaction-adjacent series under Goal 16: satisfaction with public services, perception of bribery, perceived decision-making inclusiveness. But these measure institutional confidence, not interpersonal trust — a different construct, and one that correlates more weakly with life satisfaction even when tested across countries. Moreover, their median coverage is one observation per country-series against six for the database as a whole; 147 of 163 country-series cannot support a time-series design.</a:t>
            </a:r>
          </a:p>
          <a:p>
            <a:pPr>
              <a:lnSpc>
                <a:spcPct val="132000"/>
              </a:lnSpc>
              <a:spcBef>
                <a:spcPts val="0"/>
              </a:spcBef>
              <a:spcAft>
                <a:spcPts val="1100"/>
              </a:spcAft>
            </a:pPr>
            <a:r>
              <a:rPr sz="1150" b="0" i="0">
                <a:solidFill>
                  <a:srgbClr val="5A6068"/>
                </a:solidFill>
                <a:latin typeface="Calibri"/>
              </a:rPr>
              <a:t>Education's and health's problems are about which variable to count within a domain. Trust's problem is different: it is not in the frameworks at all. That is a coverage gap, not a measurement problem.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trust_coverage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Social trust: 94% of ESS countries significant (individual level), 1.5% of SDG16 country-indicator pairs (institutional confidence, not interpersonal trust), not measured in the HDI.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Three domains, three ways frameworks lose sight of what matters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Education's rank depends on which construct you count: attainment works, but parity ratios and learning outcomes do not, so pooling dilutes the signal. Health's rank depends on whether your chosen variable still varies: life expectancy does not, but self-rated health does, so the HDI's choice costs it. Social trust's rank is zero because it is not collected at scale in development frameworks at all — a coverage gap that cannot be fixed by choosing the right variable, because no variable was ever measured.</a:t>
            </a:r>
          </a:p>
          <a:p>
            <a:pPr>
              <a:lnSpc>
                <a:spcPct val="132000"/>
              </a:lnSpc>
              <a:spcBef>
                <a:spcPts val="0"/>
              </a:spcBef>
              <a:spcAft>
                <a:spcPts val="1100"/>
              </a:spcAft>
            </a:pPr>
            <a:r>
              <a:rPr sz="1150" b="0" i="0">
                <a:solidFill>
                  <a:srgbClr val="5A6068"/>
                </a:solidFill>
                <a:latin typeface="Calibri"/>
              </a:rPr>
              <a:t>These are not criticisms of the frameworks; they were built to track development, and they do. But which components look most consequential for lived experience is not the question they were built to answer.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horse_race.png"/>
          <p:cNvPicPr>
            <a:picLocks noChangeAspect="1"/>
          </p:cNvPicPr>
          <p:nvPr/>
        </p:nvPicPr>
        <p:blipFill>
          <a:blip r:embed="rId2"/>
          <a:stretch>
            <a:fillRect/>
          </a:stretch>
        </p:blipFill>
        <p:spPr>
          <a:xfrm>
            <a:off x="5120640" y="1433421"/>
            <a:ext cx="6537960" cy="3524813"/>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Domains competing within one instrument (ESS), at two levels of aggregation. Individual level (left) and country means (right).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FRAMEWORK BLIND SPOTS · DOMAIN BY DOMAIN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 health and social trust — and which frameworks can see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A summary of the blind spots: which frameworks can test which domains, and whether the test yields a signal. Education is testable in all three frameworks but its rank depends entirely on which construct the framework chose to count. Health is testable everywhere and leads wherever it is measured somewhere it still varies — a robust signal despite the HDI's poor choice of proxy. Social trust is testable in one instrument only: the ESS. It does not appear in the HDI at all, and the SDG framework measures institutional confidence instead, which is a different construct and a weaker predictor.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scorecard.png"/>
          <p:cNvPicPr>
            <a:picLocks noChangeAspect="1"/>
          </p:cNvPicPr>
          <p:nvPr/>
        </p:nvPicPr>
        <p:blipFill>
          <a:blip r:embed="rId2"/>
          <a:stretch>
            <a:fillRect/>
          </a:stretch>
        </p:blipFill>
        <p:spPr>
          <a:xfrm>
            <a:off x="5120640" y="1469807"/>
            <a:ext cx="6537960" cy="345204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Which frameworks can test each domain (green = tracks wellbeing, yellow = measurable but weak signal, gray = framework cannot test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problem is not the domains; the problem is the measurement. Frameworks designed for development, with aggregate indicators measured at long intervals, structurally cannot see what matters for individual lived experience.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Within-country evidence: Why measurement type matters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275" b="0" i="1">
                <a:solidFill>
                  <a:srgbClr val="9AA4B0"/>
                </a:solidFill>
                <a:latin typeface="Georgia"/>
              </a:rPr>
              <a:t>Individual-level, self-reported data shows a fundamentally different pattern. Unlike administrative development frameworks, ESS captures year-to-year variation within countries. This is not a measurement failure; it is a structural consequence of how development is measured — at the country level, with long intervals. Social trust emerges not because frameworks miss it, but because development frameworks measure at the wrong temporal and individual resolution where trust varies.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69% → 64%</a:t>
            </a:r>
          </a:p>
          <a:p>
            <a:pPr>
              <a:lnSpc>
                <a:spcPct val="120000"/>
              </a:lnSpc>
              <a:spcBef>
                <a:spcPts val="0"/>
              </a:spcBef>
              <a:spcAft>
                <a:spcPts val="0"/>
              </a:spcAft>
            </a:pPr>
            <a:r>
              <a:rPr sz="1000" b="0" i="0">
                <a:solidFill>
                  <a:srgbClr val="8A94A0"/>
                </a:solidFill>
                <a:latin typeface="Calibri"/>
              </a:rPr>
              <a:t>ESS levels → differences (NOT collapsed)</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SDG levels → differences (collapsed)</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HDI levels → differences (collapsed)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METHOD MATTERS · WHAT SURVIVES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survives both measurement methods. Social trust does not.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A critical test: which domains actually predict wellbeing regardless of how you measure development? Health is significant in both administrative sources (SDG, 11.5% of country-indicator pairs) and self-reported sources (ESS, median R² = 0.091). This is robust. Education shows weak signal in both (SDG 3.3%, ESS R² = 0.0098), so the issue is not method-dependent but measurement-dependent. Social trust, however, only appears in self-reported data: 94% of ESS countries (median R² = 0.041) versus 1.5% of SDG16 country-pairs measuring institutional confidence instead. The three domains do not behave the same way across measurement methods.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health_trust_corroboration.png"/>
          <p:cNvPicPr>
            <a:picLocks noChangeAspect="1"/>
          </p:cNvPicPr>
          <p:nvPr/>
        </p:nvPicPr>
        <p:blipFill>
          <a:blip r:embed="rId2"/>
          <a:stretch>
            <a:fillRect/>
          </a:stretch>
        </p:blipFill>
        <p:spPr>
          <a:xfrm>
            <a:off x="5120640" y="1858518"/>
            <a:ext cx="6537960" cy="26746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 is robust across administrative and self-reported sources. Education is weak in both. Social trust appears only in self-reported individual-level 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WITHIN-COUNTRY EVIDENCE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Individual-level, self-reported data captures year-to-year change that administrative frameworks miss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975" b="0" i="0">
                <a:solidFill>
                  <a:srgbClr val="5A6068"/>
                </a:solidFill>
                <a:latin typeface="Calibri"/>
              </a:rPr>
              <a:t>Here is the critical observation that reshapes the question: unlike SDG (71% levels → 5% differences) and HDI (42% → 2%), the ESS shows 69% levels → 64% differences. The association persists within countries over time. This is not because development frameworks are poorly designed; it is because they measure aggregate, administrative data at long intervals (annual at best for HDI and SDG). Individual survey responses capture year-to-year variation in how people experience their lives.</a:t>
            </a:r>
          </a:p>
          <a:p>
            <a:pPr>
              <a:lnSpc>
                <a:spcPct val="132000"/>
              </a:lnSpc>
              <a:spcBef>
                <a:spcPts val="0"/>
              </a:spcBef>
              <a:spcAft>
                <a:spcPts val="1100"/>
              </a:spcAft>
            </a:pPr>
            <a:r>
              <a:rPr sz="975" b="0" i="0">
                <a:solidFill>
                  <a:srgbClr val="5A6068"/>
                </a:solidFill>
                <a:latin typeface="Calibri"/>
              </a:rPr>
              <a:t>This matters for social trust most of all. At the country level, SDG has almost no trust coverage; in the HDI, none. But at the individual level, within countries, ESS shows trust is significant in 94% of countries and drives year-to-year change in how satisfied people report being. The three domains emerge not because the frameworks reveal them, but because ESS measures them where people actually experience variation: in themselves, over time.</a:t>
            </a:r>
          </a:p>
          <a:p>
            <a:pPr>
              <a:lnSpc>
                <a:spcPct val="132000"/>
              </a:lnSpc>
              <a:spcBef>
                <a:spcPts val="0"/>
              </a:spcBef>
              <a:spcAft>
                <a:spcPts val="1100"/>
              </a:spcAft>
            </a:pPr>
            <a:r>
              <a:rPr sz="975" b="0" i="0">
                <a:solidFill>
                  <a:srgbClr val="5A6068"/>
                </a:solidFill>
                <a:latin typeface="Calibri"/>
              </a:rPr>
              <a:t>The caveats are substantial: 36 European countries, self-reported measures, annual cycles. But the implication is clear. Development frameworks' blindness to social trust is not because trust does not matter for wellbeing; it is because development was never designed to measure individual experience at the temporal resolution where people change.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collapse_shdi_ess_regional.png"/>
          <p:cNvPicPr>
            <a:picLocks noChangeAspect="1"/>
          </p:cNvPicPr>
          <p:nvPr/>
        </p:nvPicPr>
        <p:blipFill>
          <a:blip r:embed="rId2"/>
          <a:stretch>
            <a:fillRect/>
          </a:stretch>
        </p:blipFill>
        <p:spPr>
          <a:xfrm>
            <a:off x="5546146" y="658368"/>
            <a:ext cx="5686948" cy="5074919"/>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Regional collapse: 167 subnational regions within ESS countries, levels vs. differences. The collapse persists at regional scale, confirming it is not an artifact of national aggregation.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WHY SDG'S TRUST DATA DOESN'T WORK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SDG16 measures institutional confidence, not interpersonal trust, and the signal is weak</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950" b="0" i="0">
                <a:solidFill>
                  <a:srgbClr val="5A6068"/>
                </a:solidFill>
                <a:latin typeface="Calibri"/>
              </a:rPr>
              <a:t>The SDG framework carries 13 trust-adjacent series under Goal 16, but the detail reveals why they fail. First, coverage: only nine of thirteen can be tested across countries, and four are significant — weaker than the development indicators the frameworks already carry. Second, construct: bribery (individuals), bribery (firms), and decision-making inclusiveness predict the Cantril ladder; satisfaction with healthcare, government services, and secondary education do not. These measure satisfaction with institutions, not trust in people.</a:t>
            </a:r>
          </a:p>
          <a:p>
            <a:pPr>
              <a:lnSpc>
                <a:spcPct val="132000"/>
              </a:lnSpc>
              <a:spcBef>
                <a:spcPts val="0"/>
              </a:spcBef>
              <a:spcAft>
                <a:spcPts val="1100"/>
              </a:spcAft>
            </a:pPr>
            <a:r>
              <a:rPr sz="950" b="0" i="0">
                <a:solidFill>
                  <a:srgbClr val="5A6068"/>
                </a:solidFill>
                <a:latin typeface="Calibri"/>
              </a:rPr>
              <a:t>More critically, when you control for income — net of log GNI per capita — nearly all SDG trust series disappear. Bribery stays significant, but satisfaction with government, services, and education vanishes. This is a known artifact of subjective institutional scales across income levels; the same survey administered at different income levels produces structural differences in response patterns unrelated to trust itself. Interpersonal trust, by contrast, shows robust signal independent of income controls.</a:t>
            </a:r>
          </a:p>
          <a:p>
            <a:pPr>
              <a:lnSpc>
                <a:spcPct val="132000"/>
              </a:lnSpc>
              <a:spcBef>
                <a:spcPts val="0"/>
              </a:spcBef>
              <a:spcAft>
                <a:spcPts val="1100"/>
              </a:spcAft>
            </a:pPr>
            <a:r>
              <a:rPr sz="950" b="0" i="0">
                <a:solidFill>
                  <a:srgbClr val="5A6068"/>
                </a:solidFill>
                <a:latin typeface="Calibri"/>
              </a:rPr>
              <a:t>This is not a flaw in the SDG framework's execution. It reflects a fundamental choice: development frameworks measure institutions and systems, not personal relationships. Social trust emerges in individual-level, self-reported data because that is where it lives — in how people experience their immediate world.</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K1_sdg_trust_cross_section.png"/>
          <p:cNvPicPr>
            <a:picLocks noChangeAspect="1"/>
          </p:cNvPicPr>
          <p:nvPr/>
        </p:nvPicPr>
        <p:blipFill>
          <a:blip r:embed="rId2"/>
          <a:stretch>
            <a:fillRect/>
          </a:stretch>
        </p:blipFill>
        <p:spPr>
          <a:xfrm>
            <a:off x="5120640" y="1690377"/>
            <a:ext cx="6537960" cy="301090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SDG16 trust series can barely be tested (9 of 13 measurable, 4 significant) and collapse when controlled for income. Panel (b) shows bribery persists but satisfaction measures disappear.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three domains predict wellbeing differently depending on where and how you measure. Development frameworks' blindness is not incurable; it is structural. Frameworks designed for tracking aggregate national progress cannot see individual experience responsive to change.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IV</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IV</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this means for development frameworks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550" b="0" i="1">
                <a:solidFill>
                  <a:srgbClr val="9AA4B0"/>
                </a:solidFill>
                <a:latin typeface="Georgia"/>
              </a:rPr>
              <a:t>The disconnect is real and worth naming. Development frameworks have done their job of tracking progress on development. But the components that predict individual lived experience are ones these frameworks are not currently built to see — because of construction choices, variable saturation, or coverage that was never collected.</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3 vs. 1</a:t>
            </a:r>
          </a:p>
          <a:p>
            <a:pPr>
              <a:lnSpc>
                <a:spcPct val="120000"/>
              </a:lnSpc>
              <a:spcBef>
                <a:spcPts val="0"/>
              </a:spcBef>
              <a:spcAft>
                <a:spcPts val="0"/>
              </a:spcAft>
            </a:pPr>
            <a:r>
              <a:rPr sz="1000" b="0" i="0">
                <a:solidFill>
                  <a:srgbClr val="8A94A0"/>
                </a:solidFill>
                <a:latin typeface="Calibri"/>
              </a:rPr>
              <a:t>domains the HDI can test for wellbeing, vs. social trust</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vs. 661</a:t>
            </a:r>
          </a:p>
          <a:p>
            <a:pPr>
              <a:lnSpc>
                <a:spcPct val="120000"/>
              </a:lnSpc>
              <a:spcBef>
                <a:spcPts val="0"/>
              </a:spcBef>
              <a:spcAft>
                <a:spcPts val="0"/>
              </a:spcAft>
            </a:pPr>
            <a:r>
              <a:rPr sz="1000" b="0" i="0">
                <a:solidFill>
                  <a:srgbClr val="8A94A0"/>
                </a:solidFill>
                <a:latin typeface="Calibri"/>
              </a:rPr>
              <a:t>countries with SDG data, vs. series in the database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0.041</a:t>
            </a:r>
          </a:p>
          <a:p>
            <a:pPr>
              <a:lnSpc>
                <a:spcPct val="120000"/>
              </a:lnSpc>
              <a:spcBef>
                <a:spcPts val="0"/>
              </a:spcBef>
              <a:spcAft>
                <a:spcPts val="0"/>
              </a:spcAft>
            </a:pPr>
            <a:r>
              <a:rPr sz="1000" b="0" i="0">
                <a:solidFill>
                  <a:srgbClr val="8A94A0"/>
                </a:solidFill>
                <a:latin typeface="Calibri"/>
              </a:rPr>
              <a:t>median R² for trust — below income, health, education individually, above none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DISCONNECT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Development frameworks and wellbeing frameworks are solving different problems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HDI and SDG frameworks do not answer the question 'what makes people's lives better?' any more than a global income statistics database answers 'what makes a person happy?' They were designed to track development, measured at the aggregate level, with indicators chosen before the question of individual wellbeing was systematically tested. That is not a design failure; it is the intended scope. The problem is that these two questions — how development progresses, and what shapes lived experience — are not the same question.</a:t>
            </a:r>
          </a:p>
          <a:p>
            <a:pPr>
              <a:lnSpc>
                <a:spcPct val="132000"/>
              </a:lnSpc>
              <a:spcBef>
                <a:spcPts val="0"/>
              </a:spcBef>
              <a:spcAft>
                <a:spcPts val="1100"/>
              </a:spcAft>
            </a:pPr>
            <a:r>
              <a:rPr sz="1400" b="0" i="0">
                <a:solidFill>
                  <a:srgbClr val="5A6068"/>
                </a:solidFill>
                <a:latin typeface="Calibri"/>
              </a:rPr>
              <a:t>The gap is structural and manifests in three ways. Education's access indicators predict wellbeing; its parity ratios do not. Pooling them does not fix the problem; it just averages out the signal. For health, life expectancy is saturated in developed countries; choosing it as the universal proxy sacrifices prediction where it matters most for wellbeing measurement. And social trust is not collected at scale in either framework, so no measurement choice can recover what was never measured. These are not failures to improve. They are features of frameworks built to answer a different question.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1 · MEASUREMENT CHOICES CONSTRAIN WHAT FRAMEWORKS CAN SEE</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Education and health: what prescriptive measurement looks like</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Education is significant everywhere it is measured as attainment, but nearly invisible in SDG4 because most indicators measure something else. Health is nearly invisible in the HDI because life expectancy has saturated. Neither domain has changed; the frameworks' construction choices have. The evidence suggests three concrete shifts.</a:t>
            </a:r>
          </a:p>
          <a:p>
            <a:pPr>
              <a:lnSpc>
                <a:spcPct val="132000"/>
              </a:lnSpc>
              <a:spcBef>
                <a:spcPts val="0"/>
              </a:spcBef>
              <a:spcAft>
                <a:spcPts val="1100"/>
              </a:spcAft>
            </a:pPr>
            <a:r>
              <a:rPr sz="1400" b="0" i="0">
                <a:solidFill>
                  <a:srgbClr val="5A6068"/>
                </a:solidFill>
                <a:latin typeface="Calibri"/>
              </a:rPr>
              <a:t>For education: development measurement should prioritize access and completion over parity ratios and learning outcomes when the intent is tracking lived experience. The data shows access indicators reach 12.7% significance in predicting wellbeing; equity parity ratios reach 2.5%. Weighting constructs explicitly by their wellbeing correlation, rather than equally by series count, would surface what actually matters.</a:t>
            </a:r>
          </a:p>
          <a:p>
            <a:pPr>
              <a:lnSpc>
                <a:spcPct val="132000"/>
              </a:lnSpc>
              <a:spcBef>
                <a:spcPts val="0"/>
              </a:spcBef>
              <a:spcAft>
                <a:spcPts val="1100"/>
              </a:spcAft>
            </a:pPr>
            <a:r>
              <a:rPr sz="1400" b="0" i="0">
                <a:solidFill>
                  <a:srgbClr val="5A6068"/>
                </a:solidFill>
                <a:latin typeface="Calibri"/>
              </a:rPr>
              <a:t>For health: measurement should become adaptive, varying by development context. Life expectancy works as a proxy in lower-income settings where variance remains; in saturated regions, self-reported health or diagnosis-specific conditions (depression, chronic conditions) capture variation life expectancy misses. This is not suggesting two separate frameworks; it is suggesting that the same domain — health — should be measured differently where the same variable no longer moves.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2 · COVERAGE GAPS ARE MORE FUNDAMENTAL THAN CONSTRUCT CHOICE</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Social trust: building what was never measured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Social trust is the most tentative finding here. The ESS is Europe-only, across 36 countries, and relies on a single item. That bounds the claim: the pattern holds in Europe, with a wellbeing survey, on a self-report basis. It does not claim universality.</a:t>
            </a:r>
          </a:p>
          <a:p>
            <a:pPr>
              <a:lnSpc>
                <a:spcPct val="132000"/>
              </a:lnSpc>
              <a:spcBef>
                <a:spcPts val="0"/>
              </a:spcBef>
              <a:spcAft>
                <a:spcPts val="1100"/>
              </a:spcAft>
            </a:pPr>
            <a:r>
              <a:rPr sz="1400" b="0" i="0">
                <a:solidFill>
                  <a:srgbClr val="5A6068"/>
                </a:solidFill>
                <a:latin typeface="Calibri"/>
              </a:rPr>
              <a:t>But the reason it is tentative points to the deepest problem: trust is not collected at global scale in either framework. The SDG database has 13 series adjacent to trust, but they measure institutional confidence, not interpersonal trust, and they are intermittent (147 of 163 country-series have fewer than four years of data). This is not a construct-choice problem that better measurement can solve. It is a coverage gap, and the prescription follows directly: if wellbeing-conscious development monitoring is the intent, interpersonal trust must be collected at scale.</a:t>
            </a:r>
          </a:p>
          <a:p>
            <a:pPr>
              <a:lnSpc>
                <a:spcPct val="132000"/>
              </a:lnSpc>
              <a:spcBef>
                <a:spcPts val="0"/>
              </a:spcBef>
              <a:spcAft>
                <a:spcPts val="1100"/>
              </a:spcAft>
            </a:pPr>
            <a:r>
              <a:rPr sz="1400" b="0" i="0">
                <a:solidFill>
                  <a:srgbClr val="5A6068"/>
                </a:solidFill>
                <a:latin typeface="Calibri"/>
              </a:rPr>
              <a:t>This does not mean overloading the HDI or SDG questionnaires. It could mean systematic linkage between core development frameworks and dedicated wellbeing surveys — the ESS in Europe, Gallup World Poll and World Values Survey globally — that measure trust at individual level and can be integrated into country-level assessments. The evidence suggests this is not optional if the goal is understanding what shapes lived experience.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CONCLUSION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From evidence to intent: what should wellbeing measurement look like?</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325" b="0" i="0">
                <a:solidFill>
                  <a:srgbClr val="5A6068"/>
                </a:solidFill>
                <a:latin typeface="Calibri"/>
              </a:rPr>
              <a:t>The evidence shows a consistent pattern: which domain looks most consequential for wellbeing depends on which framework measures it and what variable they chose. This is not about the domains; it is about the tools. And if the tools were redesigned with wellbeing in mind, the evidence points to concrete changes.</a:t>
            </a:r>
          </a:p>
          <a:p>
            <a:pPr>
              <a:lnSpc>
                <a:spcPct val="132000"/>
              </a:lnSpc>
              <a:spcBef>
                <a:spcPts val="0"/>
              </a:spcBef>
              <a:spcAft>
                <a:spcPts val="1100"/>
              </a:spcAft>
            </a:pPr>
            <a:r>
              <a:rPr sz="1325" b="0" i="0">
                <a:solidFill>
                  <a:srgbClr val="5A6068"/>
                </a:solidFill>
                <a:latin typeface="Calibri"/>
              </a:rPr>
              <a:t>Three recommendations emerge from this analysis. First: for education, construct measurement choices explicitly to favor access and completion over equity parity ratios when the intent is tracking lived experience. Second: for health, make variable choice adaptive — life expectancy where variance remains, self-reported measures or condition-specific indicators where it does not. Third: for social trust, build interpersonal-trust measurement into development frameworks, either directly or through systematic integration with wellbeing surveys that capture it.</a:t>
            </a:r>
          </a:p>
          <a:p>
            <a:pPr>
              <a:lnSpc>
                <a:spcPct val="132000"/>
              </a:lnSpc>
              <a:spcBef>
                <a:spcPts val="0"/>
              </a:spcBef>
              <a:spcAft>
                <a:spcPts val="1100"/>
              </a:spcAft>
            </a:pPr>
            <a:r>
              <a:rPr sz="1325" b="0" i="0">
                <a:solidFill>
                  <a:srgbClr val="5A6068"/>
                </a:solidFill>
                <a:latin typeface="Calibri"/>
              </a:rPr>
              <a:t>Whether development frameworks should take on wellbeing as part of their purpose remains a choice, not a necessity. These frameworks have done important work tracking development. But if the intent is understanding what actually shapes how people experience their lives, the evidence suggests the measurement that serves that intent should be different — more granular in which constructs to count, more responsive to where variables still move, and more systematic about collecting domains that matter but have never been measured at scale.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IV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Whether development measurement should be redesigned with wellbeing in mind is beyond this scope. But if it is, this evidence suggests the measurement should be different: more attentive to which variables still move, which constructs predict outcomes, and which domains are collected at all.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4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FIGURE COUNT</a:t>
            </a:r>
          </a:p>
          <a:p>
            <a:pPr>
              <a:lnSpc>
                <a:spcPct val="130000"/>
              </a:lnSpc>
              <a:spcBef>
                <a:spcPts val="0"/>
              </a:spcBef>
              <a:spcAft>
                <a:spcPts val="0"/>
              </a:spcAft>
            </a:pPr>
            <a:r>
              <a:rPr sz="1100" b="0" i="0">
                <a:solidFill>
                  <a:srgbClr val="5A6068"/>
                </a:solidFill>
                <a:latin typeface="Calibri"/>
              </a:rPr>
              <a:t>Commentaries allow one or two. Proposed: three-panel composite as Figure 1 and domain scorecard as Figure 2. Everything else supplementary.</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TRUST FINDINGS</a:t>
            </a:r>
          </a:p>
          <a:p>
            <a:pPr>
              <a:lnSpc>
                <a:spcPct val="130000"/>
              </a:lnSpc>
              <a:spcBef>
                <a:spcPts val="0"/>
              </a:spcBef>
              <a:spcAft>
                <a:spcPts val="0"/>
              </a:spcAft>
            </a:pPr>
            <a:r>
              <a:rPr sz="1100" b="0" i="0">
                <a:solidFill>
                  <a:srgbClr val="5A6068"/>
                </a:solidFill>
                <a:latin typeface="Calibri"/>
              </a:rPr>
              <a:t>Trust findings rest on ESS (36 European countries, individual-level). The design requires ≥4 years per country-series; only 16 of 163 SDG trust-adjacent series have that coverage, and 1 is significant. Tested cross-sectionally, 9 of 13 series are usable and 4 are significant, but all fall below HDI components on the same countries. The claim is Europe-only and rests on one instrument in each framework; it is the most tentative of the three.</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INSTITUTIONAL CONFIDENCE VS. INTERPERSONAL TRUST</a:t>
            </a:r>
          </a:p>
          <a:p>
            <a:pPr>
              <a:lnSpc>
                <a:spcPct val="130000"/>
              </a:lnSpc>
              <a:spcBef>
                <a:spcPts val="0"/>
              </a:spcBef>
              <a:spcAft>
                <a:spcPts val="0"/>
              </a:spcAft>
            </a:pPr>
            <a:r>
              <a:rPr sz="1100" b="0" i="0">
                <a:solidFill>
                  <a:srgbClr val="5A6068"/>
                </a:solidFill>
                <a:latin typeface="Calibri"/>
              </a:rPr>
              <a:t>The SDG's Goal 16 trust series measure satisfaction with public services, perceived bribery, and perceived inclusiveness in decision-making — institutional confidence, not interpersonal trust ('most people can be trusted'). These are conceptually distinct. The commentarymust be explicit that SDG16 is not a direct analogue for the ESS trust item.</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THREE FAILURE MODES FRAME</a:t>
            </a:r>
          </a:p>
          <a:p>
            <a:pPr>
              <a:lnSpc>
                <a:spcPct val="130000"/>
              </a:lnSpc>
              <a:spcBef>
                <a:spcPts val="0"/>
              </a:spcBef>
              <a:spcAft>
                <a:spcPts val="0"/>
              </a:spcAft>
            </a:pPr>
            <a:r>
              <a:rPr sz="1100" b="0" i="0">
                <a:solidFill>
                  <a:srgbClr val="5A6068"/>
                </a:solidFill>
                <a:latin typeface="Calibri"/>
              </a:rPr>
              <a:t>The narrative positions education's, health's, and trust's findings as evidence of three different ways frameworks lose sight of domains that matter: wrong construct, saturated variable, coverage gap. This is a meta-finding about measurement, not about the domains themselves.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