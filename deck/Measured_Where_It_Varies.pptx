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EBEF"/>
        </a:solidFill>
        <a:effectLst/>
      </p:bgPr>
    </p:bg>
    <p:spTree>
      <p:nvGrpSpPr>
        <p:cNvPr id="1" name=""/>
        <p:cNvGrpSpPr/>
        <p:nvPr/>
      </p:nvGrpSpPr>
      <p:grpSpPr/>
      <p:sp>
        <p:nvSpPr>
          <p:cNvPr id="2" name="Rectangle 1"/>
          <p:cNvSpPr/>
          <p:nvPr/>
        </p:nvSpPr>
        <p:spPr>
          <a:xfrm>
            <a:off x="566928" y="1371600"/>
            <a:ext cx="11057839"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960120"/>
            <a:ext cx="731520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Commentary · working draft</a:t>
            </a:r>
          </a:p>
        </p:txBody>
      </p:sp>
      <p:sp>
        <p:nvSpPr>
          <p:cNvPr id="4" name="TextBox 3"/>
          <p:cNvSpPr txBox="1"/>
          <p:nvPr/>
        </p:nvSpPr>
        <p:spPr>
          <a:xfrm>
            <a:off x="566928" y="1783080"/>
            <a:ext cx="9144000" cy="1645920"/>
          </a:xfrm>
          <a:prstGeom prst="rect">
            <a:avLst/>
          </a:prstGeom>
          <a:noFill/>
        </p:spPr>
        <p:txBody>
          <a:bodyPr wrap="square" lIns="0" rIns="0" tIns="0" bIns="0">
            <a:spAutoFit/>
          </a:bodyPr>
          <a:lstStyle/>
          <a:p>
            <a:pPr>
              <a:lnSpc>
                <a:spcPct val="95000"/>
              </a:lnSpc>
              <a:spcBef>
                <a:spcPts val="0"/>
              </a:spcBef>
              <a:spcAft>
                <a:spcPts val="0"/>
              </a:spcAft>
            </a:pPr>
            <a:r>
              <a:rPr sz="6000" b="0" i="0">
                <a:solidFill>
                  <a:srgbClr val="14171C"/>
                </a:solidFill>
                <a:latin typeface="Georgia"/>
              </a:rPr>
              <a:t>Measured Where It Varies</a:t>
            </a:r>
          </a:p>
        </p:txBody>
      </p:sp>
      <p:sp>
        <p:nvSpPr>
          <p:cNvPr id="5" name="TextBox 4"/>
          <p:cNvSpPr txBox="1"/>
          <p:nvPr/>
        </p:nvSpPr>
        <p:spPr>
          <a:xfrm>
            <a:off x="566928" y="3520440"/>
            <a:ext cx="8412480" cy="1188720"/>
          </a:xfrm>
          <a:prstGeom prst="rect">
            <a:avLst/>
          </a:prstGeom>
          <a:noFill/>
        </p:spPr>
        <p:txBody>
          <a:bodyPr wrap="square" lIns="0" rIns="0" tIns="0" bIns="0">
            <a:spAutoFit/>
          </a:bodyPr>
          <a:lstStyle/>
          <a:p>
            <a:pPr>
              <a:lnSpc>
                <a:spcPct val="135000"/>
              </a:lnSpc>
              <a:spcBef>
                <a:spcPts val="0"/>
              </a:spcBef>
              <a:spcAft>
                <a:spcPts val="0"/>
              </a:spcAft>
            </a:pPr>
            <a:r>
              <a:rPr sz="1700" b="0" i="1">
                <a:solidFill>
                  <a:srgbClr val="5A6068"/>
                </a:solidFill>
                <a:latin typeface="Georgia"/>
              </a:rPr>
              <a:t>A commentary in three acts, on why development predicts where wellbeing is high but not when it rises — on education and health, which each track lived experience once measured somewhere they still move, and on what changes when the question moves inside countries</a:t>
            </a:r>
          </a:p>
        </p:txBody>
      </p:sp>
      <p:sp>
        <p:nvSpPr>
          <p:cNvPr id="6" name="TextBox 5"/>
          <p:cNvSpPr txBox="1"/>
          <p:nvPr/>
        </p:nvSpPr>
        <p:spPr>
          <a:xfrm>
            <a:off x="566928" y="5577840"/>
            <a:ext cx="10607040" cy="914400"/>
          </a:xfrm>
          <a:prstGeom prst="rect">
            <a:avLst/>
          </a:prstGeom>
          <a:noFill/>
        </p:spPr>
        <p:txBody>
          <a:bodyPr wrap="square" lIns="0" rIns="0" tIns="0" bIns="0">
            <a:spAutoFit/>
          </a:bodyPr>
          <a:lstStyle/>
          <a:p>
            <a:pPr>
              <a:spcBef>
                <a:spcPts val="0"/>
              </a:spcBef>
              <a:spcAft>
                <a:spcPts val="500"/>
              </a:spcAft>
            </a:pPr>
            <a:r>
              <a:rPr sz="1050" b="0" i="0">
                <a:solidFill>
                  <a:srgbClr val="5A6068"/>
                </a:solidFill>
                <a:latin typeface="Consolas"/>
              </a:rPr>
              <a:t>Working synthesis for the co-author team · August 2026</a:t>
            </a:r>
          </a:p>
          <a:p>
            <a:pPr>
              <a:lnSpc>
                <a:spcPct val="130000"/>
              </a:lnSpc>
              <a:spcBef>
                <a:spcPts val="0"/>
              </a:spcBef>
              <a:spcAft>
                <a:spcPts val="0"/>
              </a:spcAft>
            </a:pPr>
            <a:r>
              <a:rPr sz="950" b="0" i="0">
                <a:solidFill>
                  <a:srgbClr val="868D96"/>
                </a:solidFill>
                <a:latin typeface="Consolas"/>
              </a:rPr>
              <a:t>SDG: 42 countries, 661 series · HDI × World Happiness Report: 151 countries, 2011–2023 · Subnational HDI &amp; sub-indices: 239 regions · European Social Survey: 36 countries, 351,023 respondents, rounds 5–11 (2010–2023)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66928"/>
            <a:ext cx="5486400" cy="274320"/>
          </a:xfrm>
          <a:prstGeom prst="rect">
            <a:avLst/>
          </a:prstGeom>
          <a:noFill/>
        </p:spPr>
        <p:txBody>
          <a:bodyPr wrap="square" lIns="0" rIns="0" tIns="0" bIns="0">
            <a:spAutoFit/>
          </a:bodyPr>
          <a:lstStyle/>
          <a:p>
            <a:pPr>
              <a:spcBef>
                <a:spcPts val="0"/>
              </a:spcBef>
              <a:spcAft>
                <a:spcPts val="0"/>
              </a:spcAft>
            </a:pPr>
            <a:r>
              <a:rPr sz="1100" b="0" i="0">
                <a:solidFill>
                  <a:srgbClr val="868D96"/>
                </a:solidFill>
                <a:latin typeface="Consolas"/>
              </a:rPr>
              <a:t>THE SETUP</a:t>
            </a:r>
          </a:p>
        </p:txBody>
      </p:sp>
      <p:sp>
        <p:nvSpPr>
          <p:cNvPr id="3" name="TextBox 2"/>
          <p:cNvSpPr txBox="1"/>
          <p:nvPr/>
        </p:nvSpPr>
        <p:spPr>
          <a:xfrm>
            <a:off x="566928" y="1024128"/>
            <a:ext cx="5486400" cy="1554480"/>
          </a:xfrm>
          <a:prstGeom prst="rect">
            <a:avLst/>
          </a:prstGeom>
          <a:noFill/>
        </p:spPr>
        <p:txBody>
          <a:bodyPr wrap="square" lIns="0" rIns="0" tIns="0" bIns="0">
            <a:spAutoFit/>
          </a:bodyPr>
          <a:lstStyle/>
          <a:p>
            <a:pPr>
              <a:lnSpc>
                <a:spcPct val="106000"/>
              </a:lnSpc>
              <a:spcBef>
                <a:spcPts val="0"/>
              </a:spcBef>
              <a:spcAft>
                <a:spcPts val="0"/>
              </a:spcAft>
            </a:pPr>
            <a:r>
              <a:rPr sz="3000" b="0" i="0">
                <a:solidFill>
                  <a:srgbClr val="14171C"/>
                </a:solidFill>
                <a:latin typeface="Georgia"/>
              </a:rPr>
              <a:t>Development rose almost everywhere. Wellbeing did not follow it.</a:t>
            </a:r>
          </a:p>
        </p:txBody>
      </p:sp>
      <p:sp>
        <p:nvSpPr>
          <p:cNvPr id="4" name="TextBox 3"/>
          <p:cNvSpPr txBox="1"/>
          <p:nvPr/>
        </p:nvSpPr>
        <p:spPr>
          <a:xfrm>
            <a:off x="566928" y="2880360"/>
            <a:ext cx="5212080" cy="3291840"/>
          </a:xfrm>
          <a:prstGeom prst="rect">
            <a:avLst/>
          </a:prstGeom>
          <a:noFill/>
        </p:spPr>
        <p:txBody>
          <a:bodyPr wrap="square" lIns="0" rIns="0" tIns="0" bIns="0">
            <a:spAutoFit/>
          </a:bodyPr>
          <a:lstStyle/>
          <a:p>
            <a:pPr>
              <a:lnSpc>
                <a:spcPct val="134000"/>
              </a:lnSpc>
              <a:spcBef>
                <a:spcPts val="0"/>
              </a:spcBef>
              <a:spcAft>
                <a:spcPts val="1200"/>
              </a:spcAft>
            </a:pPr>
            <a:r>
              <a:rPr sz="1150" b="0" i="0">
                <a:solidFill>
                  <a:srgbClr val="5A6068"/>
                </a:solidFill>
                <a:latin typeface="Calibri"/>
              </a:rPr>
              <a:t>The SDG paper now under review makes a narrow, awkward claim: the association between development indicators and happiness is strong when countries are compared with one another, and close to absent when each is compared with its own past. Thirty of 42 countries are significant in levels. Two are in year-to-year changes.</a:t>
            </a:r>
          </a:p>
          <a:p>
            <a:pPr>
              <a:lnSpc>
                <a:spcPct val="134000"/>
              </a:lnSpc>
              <a:spcBef>
                <a:spcPts val="0"/>
              </a:spcBef>
              <a:spcAft>
                <a:spcPts val="1200"/>
              </a:spcAft>
            </a:pPr>
            <a:r>
              <a:rPr sz="1150" b="0" i="0">
                <a:solidFill>
                  <a:srgbClr val="5A6068"/>
                </a:solidFill>
                <a:latin typeface="Calibri"/>
              </a:rPr>
              <a:t>There is an obvious way to dismiss that. The SDG framework is a sprawling, negotiated instrument with uneven coverage; a null inside it says as much about the framework as about the world. This commentary closes that escape route, then asks what the result actually raises: which parts of development track lived experience at all?</a:t>
            </a:r>
          </a:p>
          <a:p>
            <a:pPr>
              <a:lnSpc>
                <a:spcPct val="134000"/>
              </a:lnSpc>
              <a:spcBef>
                <a:spcPts val="0"/>
              </a:spcBef>
              <a:spcAft>
                <a:spcPts val="1200"/>
              </a:spcAft>
            </a:pPr>
            <a:r>
              <a:rPr sz="1150" b="0" i="0">
                <a:solidFill>
                  <a:srgbClr val="5A6068"/>
                </a:solidFill>
                <a:latin typeface="Calibri"/>
              </a:rPr>
              <a:t>Where it lands is a disconnect rather than an indictment. These frameworks were built to track development and they do. But the components that look most consequential for how individuals experience their lives are the ones development measurement is currently least arranged to see.</a:t>
            </a:r>
          </a:p>
        </p:txBody>
      </p:sp>
      <p:sp>
        <p:nvSpPr>
          <p:cNvPr id="5" name="TextBox 4"/>
          <p:cNvSpPr txBox="1"/>
          <p:nvPr/>
        </p:nvSpPr>
        <p:spPr>
          <a:xfrm>
            <a:off x="6720840" y="566928"/>
            <a:ext cx="484632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THE ARGUMENT</a:t>
            </a:r>
          </a:p>
        </p:txBody>
      </p:sp>
      <p:sp>
        <p:nvSpPr>
          <p:cNvPr id="6" name="Rectangle 5"/>
          <p:cNvSpPr/>
          <p:nvPr/>
        </p:nvSpPr>
        <p:spPr>
          <a:xfrm>
            <a:off x="6720840" y="1024128"/>
            <a:ext cx="4846320" cy="9525"/>
          </a:xfrm>
          <a:prstGeom prst="rect">
            <a:avLst/>
          </a:prstGeom>
          <a:solidFill>
            <a:srgbClr val="CDD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20840" y="1170432"/>
            <a:ext cx="502920" cy="457200"/>
          </a:xfrm>
          <a:prstGeom prst="rect">
            <a:avLst/>
          </a:prstGeom>
          <a:noFill/>
        </p:spPr>
        <p:txBody>
          <a:bodyPr wrap="square" lIns="0" rIns="0" tIns="0" bIns="0">
            <a:spAutoFit/>
          </a:bodyPr>
          <a:lstStyle/>
          <a:p>
            <a:pPr>
              <a:spcBef>
                <a:spcPts val="0"/>
              </a:spcBef>
              <a:spcAft>
                <a:spcPts val="0"/>
              </a:spcAft>
            </a:pPr>
            <a:r>
              <a:rPr sz="2000" b="0" i="0">
                <a:solidFill>
                  <a:srgbClr val="17549E"/>
                </a:solidFill>
                <a:latin typeface="Georgia"/>
              </a:rPr>
              <a:t>I</a:t>
            </a:r>
          </a:p>
        </p:txBody>
      </p:sp>
      <p:sp>
        <p:nvSpPr>
          <p:cNvPr id="8" name="TextBox 7"/>
          <p:cNvSpPr txBox="1"/>
          <p:nvPr/>
        </p:nvSpPr>
        <p:spPr>
          <a:xfrm>
            <a:off x="7360920" y="1170432"/>
            <a:ext cx="4206240" cy="1097280"/>
          </a:xfrm>
          <a:prstGeom prst="rect">
            <a:avLst/>
          </a:prstGeom>
          <a:noFill/>
        </p:spPr>
        <p:txBody>
          <a:bodyPr wrap="square" lIns="0" rIns="0" tIns="0" bIns="0">
            <a:spAutoFit/>
          </a:bodyPr>
          <a:lstStyle/>
          <a:p>
            <a:pPr>
              <a:spcBef>
                <a:spcPts val="0"/>
              </a:spcBef>
              <a:spcAft>
                <a:spcPts val="300"/>
              </a:spcAft>
            </a:pPr>
            <a:r>
              <a:rPr sz="1350" b="1" i="0">
                <a:solidFill>
                  <a:srgbClr val="14171C"/>
                </a:solidFill>
                <a:latin typeface="Calibri"/>
              </a:rPr>
              <a:t>We replicate the SDG result outside the SDGs.</a:t>
            </a:r>
          </a:p>
          <a:p>
            <a:pPr>
              <a:lnSpc>
                <a:spcPct val="125000"/>
              </a:lnSpc>
              <a:spcBef>
                <a:spcPts val="0"/>
              </a:spcBef>
              <a:spcAft>
                <a:spcPts val="0"/>
              </a:spcAft>
            </a:pPr>
            <a:r>
              <a:rPr sz="1100" b="0" i="0">
                <a:solidFill>
                  <a:srgbClr val="5A6068"/>
                </a:solidFill>
                <a:latin typeface="Calibri"/>
              </a:rPr>
              <a:t>The same design on the HDI, against a second wellbeing survey, and one spatial scale down. It collapses every time.</a:t>
            </a:r>
          </a:p>
        </p:txBody>
      </p:sp>
      <p:sp>
        <p:nvSpPr>
          <p:cNvPr id="9" name="Rectangle 8"/>
          <p:cNvSpPr/>
          <p:nvPr/>
        </p:nvSpPr>
        <p:spPr>
          <a:xfrm>
            <a:off x="6720840" y="2350008"/>
            <a:ext cx="4846320" cy="9525"/>
          </a:xfrm>
          <a:prstGeom prst="rect">
            <a:avLst/>
          </a:prstGeom>
          <a:solidFill>
            <a:srgbClr val="CDD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2496312"/>
            <a:ext cx="502920" cy="457200"/>
          </a:xfrm>
          <a:prstGeom prst="rect">
            <a:avLst/>
          </a:prstGeom>
          <a:noFill/>
        </p:spPr>
        <p:txBody>
          <a:bodyPr wrap="square" lIns="0" rIns="0" tIns="0" bIns="0">
            <a:spAutoFit/>
          </a:bodyPr>
          <a:lstStyle/>
          <a:p>
            <a:pPr>
              <a:spcBef>
                <a:spcPts val="0"/>
              </a:spcBef>
              <a:spcAft>
                <a:spcPts val="0"/>
              </a:spcAft>
            </a:pPr>
            <a:r>
              <a:rPr sz="2000" b="0" i="0">
                <a:solidFill>
                  <a:srgbClr val="17549E"/>
                </a:solidFill>
                <a:latin typeface="Georgia"/>
              </a:rPr>
              <a:t>II</a:t>
            </a:r>
          </a:p>
        </p:txBody>
      </p:sp>
      <p:sp>
        <p:nvSpPr>
          <p:cNvPr id="11" name="TextBox 10"/>
          <p:cNvSpPr txBox="1"/>
          <p:nvPr/>
        </p:nvSpPr>
        <p:spPr>
          <a:xfrm>
            <a:off x="7360920" y="2496312"/>
            <a:ext cx="4206240" cy="1097280"/>
          </a:xfrm>
          <a:prstGeom prst="rect">
            <a:avLst/>
          </a:prstGeom>
          <a:noFill/>
        </p:spPr>
        <p:txBody>
          <a:bodyPr wrap="square" lIns="0" rIns="0" tIns="0" bIns="0">
            <a:spAutoFit/>
          </a:bodyPr>
          <a:lstStyle/>
          <a:p>
            <a:pPr>
              <a:spcBef>
                <a:spcPts val="0"/>
              </a:spcBef>
              <a:spcAft>
                <a:spcPts val="300"/>
              </a:spcAft>
            </a:pPr>
            <a:r>
              <a:rPr sz="1350" b="1" i="0">
                <a:solidFill>
                  <a:srgbClr val="14171C"/>
                </a:solidFill>
                <a:latin typeface="Calibri"/>
              </a:rPr>
              <a:t>Education, health, and the blind spots.</a:t>
            </a:r>
          </a:p>
          <a:p>
            <a:pPr>
              <a:lnSpc>
                <a:spcPct val="125000"/>
              </a:lnSpc>
              <a:spcBef>
                <a:spcPts val="0"/>
              </a:spcBef>
              <a:spcAft>
                <a:spcPts val="0"/>
              </a:spcAft>
            </a:pPr>
            <a:r>
              <a:rPr sz="1100" b="0" i="0">
                <a:solidFill>
                  <a:srgbClr val="5A6068"/>
                </a:solidFill>
                <a:latin typeface="Calibri"/>
              </a:rPr>
              <a:t>Education's rank swings on construct, health's on saturation, and the whole ranking turns over again once the question moves from between countries to inside them.</a:t>
            </a:r>
          </a:p>
        </p:txBody>
      </p:sp>
      <p:sp>
        <p:nvSpPr>
          <p:cNvPr id="12" name="Rectangle 11"/>
          <p:cNvSpPr/>
          <p:nvPr/>
        </p:nvSpPr>
        <p:spPr>
          <a:xfrm>
            <a:off x="6720840" y="3675888"/>
            <a:ext cx="4846320" cy="9525"/>
          </a:xfrm>
          <a:prstGeom prst="rect">
            <a:avLst/>
          </a:prstGeom>
          <a:solidFill>
            <a:srgbClr val="CDD3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3822192"/>
            <a:ext cx="502920" cy="457200"/>
          </a:xfrm>
          <a:prstGeom prst="rect">
            <a:avLst/>
          </a:prstGeom>
          <a:noFill/>
        </p:spPr>
        <p:txBody>
          <a:bodyPr wrap="square" lIns="0" rIns="0" tIns="0" bIns="0">
            <a:spAutoFit/>
          </a:bodyPr>
          <a:lstStyle/>
          <a:p>
            <a:pPr>
              <a:spcBef>
                <a:spcPts val="0"/>
              </a:spcBef>
              <a:spcAft>
                <a:spcPts val="0"/>
              </a:spcAft>
            </a:pPr>
            <a:r>
              <a:rPr sz="2000" b="0" i="0">
                <a:solidFill>
                  <a:srgbClr val="17549E"/>
                </a:solidFill>
                <a:latin typeface="Georgia"/>
              </a:rPr>
              <a:t>III</a:t>
            </a:r>
          </a:p>
        </p:txBody>
      </p:sp>
      <p:sp>
        <p:nvSpPr>
          <p:cNvPr id="14" name="TextBox 13"/>
          <p:cNvSpPr txBox="1"/>
          <p:nvPr/>
        </p:nvSpPr>
        <p:spPr>
          <a:xfrm>
            <a:off x="7360920" y="3822192"/>
            <a:ext cx="4206240" cy="1097280"/>
          </a:xfrm>
          <a:prstGeom prst="rect">
            <a:avLst/>
          </a:prstGeom>
          <a:noFill/>
        </p:spPr>
        <p:txBody>
          <a:bodyPr wrap="square" lIns="0" rIns="0" tIns="0" bIns="0">
            <a:spAutoFit/>
          </a:bodyPr>
          <a:lstStyle/>
          <a:p>
            <a:pPr>
              <a:spcBef>
                <a:spcPts val="0"/>
              </a:spcBef>
              <a:spcAft>
                <a:spcPts val="300"/>
              </a:spcAft>
            </a:pPr>
            <a:r>
              <a:rPr sz="1350" b="1" i="0">
                <a:solidFill>
                  <a:srgbClr val="14171C"/>
                </a:solidFill>
                <a:latin typeface="Calibri"/>
              </a:rPr>
              <a:t>Which points to a disconnect worth naming.</a:t>
            </a:r>
          </a:p>
          <a:p>
            <a:pPr>
              <a:lnSpc>
                <a:spcPct val="125000"/>
              </a:lnSpc>
              <a:spcBef>
                <a:spcPts val="0"/>
              </a:spcBef>
              <a:spcAft>
                <a:spcPts val="0"/>
              </a:spcAft>
            </a:pPr>
            <a:r>
              <a:rPr sz="1100" b="0" i="0">
                <a:solidFill>
                  <a:srgbClr val="5A6068"/>
                </a:solidFill>
                <a:latin typeface="Calibri"/>
              </a:rPr>
              <a:t>Not that these frameworks should stay away from wellbeing, but that the components that track lived experience are ones they are not currently arranged to see.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0" y="822960"/>
            <a:ext cx="3291840" cy="4114800"/>
          </a:xfrm>
          <a:prstGeom prst="rect">
            <a:avLst/>
          </a:prstGeom>
          <a:noFill/>
        </p:spPr>
        <p:txBody>
          <a:bodyPr wrap="square" lIns="0" rIns="0" tIns="0" bIns="0">
            <a:spAutoFit/>
          </a:bodyPr>
          <a:lstStyle/>
          <a:p>
            <a:pPr algn="r">
              <a:spcBef>
                <a:spcPts val="0"/>
              </a:spcBef>
              <a:spcAft>
                <a:spcPts val="0"/>
              </a:spcAft>
            </a:pPr>
            <a:r>
              <a:rPr sz="20000" b="0" i="0">
                <a:solidFill>
                  <a:srgbClr val="2A3340"/>
                </a:solidFill>
                <a:latin typeface="Georgia"/>
              </a:rPr>
              <a:t>I</a:t>
            </a:r>
          </a:p>
        </p:txBody>
      </p:sp>
      <p:sp>
        <p:nvSpPr>
          <p:cNvPr id="3" name="Rectangle 2"/>
          <p:cNvSpPr/>
          <p:nvPr/>
        </p:nvSpPr>
        <p:spPr>
          <a:xfrm>
            <a:off x="566928" y="1371600"/>
            <a:ext cx="7315200" cy="25400"/>
          </a:xfrm>
          <a:prstGeom prst="rect">
            <a:avLst/>
          </a:prstGeom>
          <a:solidFill>
            <a:srgbClr val="C9D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60120"/>
            <a:ext cx="5486400" cy="274320"/>
          </a:xfrm>
          <a:prstGeom prst="rect">
            <a:avLst/>
          </a:prstGeom>
          <a:noFill/>
        </p:spPr>
        <p:txBody>
          <a:bodyPr wrap="square" lIns="0" rIns="0" tIns="0" bIns="0">
            <a:spAutoFit/>
          </a:bodyPr>
          <a:lstStyle/>
          <a:p>
            <a:pPr>
              <a:spcBef>
                <a:spcPts val="0"/>
              </a:spcBef>
              <a:spcAft>
                <a:spcPts val="0"/>
              </a:spcAft>
            </a:pPr>
            <a:r>
              <a:rPr sz="1100" b="0" i="0">
                <a:solidFill>
                  <a:srgbClr val="C9D8EC"/>
                </a:solidFill>
                <a:latin typeface="Consolas"/>
              </a:rPr>
              <a:t>ACT I</a:t>
            </a:r>
          </a:p>
        </p:txBody>
      </p:sp>
      <p:sp>
        <p:nvSpPr>
          <p:cNvPr id="5" name="TextBox 4"/>
          <p:cNvSpPr txBox="1"/>
          <p:nvPr/>
        </p:nvSpPr>
        <p:spPr>
          <a:xfrm>
            <a:off x="566928" y="1783080"/>
            <a:ext cx="7223760" cy="1828800"/>
          </a:xfrm>
          <a:prstGeom prst="rect">
            <a:avLst/>
          </a:prstGeom>
          <a:noFill/>
        </p:spPr>
        <p:txBody>
          <a:bodyPr wrap="square" lIns="0" rIns="0" tIns="0" bIns="0">
            <a:spAutoFit/>
          </a:bodyPr>
          <a:lstStyle/>
          <a:p>
            <a:pPr>
              <a:lnSpc>
                <a:spcPct val="102000"/>
              </a:lnSpc>
              <a:spcBef>
                <a:spcPts val="0"/>
              </a:spcBef>
              <a:spcAft>
                <a:spcPts val="0"/>
              </a:spcAft>
            </a:pPr>
            <a:r>
              <a:rPr sz="4000" b="0" i="0">
                <a:solidFill>
                  <a:srgbClr val="FCFCFB"/>
                </a:solidFill>
                <a:latin typeface="Georgia"/>
              </a:rPr>
              <a:t>Replicating the collapse beyond the SDGs</a:t>
            </a:r>
          </a:p>
        </p:txBody>
      </p:sp>
      <p:sp>
        <p:nvSpPr>
          <p:cNvPr id="6" name="TextBox 5"/>
          <p:cNvSpPr txBox="1"/>
          <p:nvPr/>
        </p:nvSpPr>
        <p:spPr>
          <a:xfrm>
            <a:off x="566928" y="3886200"/>
            <a:ext cx="6766560" cy="1463040"/>
          </a:xfrm>
          <a:prstGeom prst="rect">
            <a:avLst/>
          </a:prstGeom>
          <a:noFill/>
        </p:spPr>
        <p:txBody>
          <a:bodyPr wrap="square" lIns="0" rIns="0" tIns="0" bIns="0">
            <a:spAutoFit/>
          </a:bodyPr>
          <a:lstStyle/>
          <a:p>
            <a:pPr>
              <a:lnSpc>
                <a:spcPct val="135000"/>
              </a:lnSpc>
              <a:spcBef>
                <a:spcPts val="0"/>
              </a:spcBef>
              <a:spcAft>
                <a:spcPts val="0"/>
              </a:spcAft>
            </a:pPr>
            <a:r>
              <a:rPr sz="1600" b="0" i="1">
                <a:solidFill>
                  <a:srgbClr val="9AA4B0"/>
                </a:solidFill>
                <a:latin typeface="Georgia"/>
              </a:rPr>
              <a:t>Run the original design on a second development framework, against a second wellbeing instrument, and one spatial scale down. The levels-to-differences collapse appears every time. The subnational HDI plays a different role: it asks whether the national pattern survives disaggregation.</a:t>
            </a:r>
          </a:p>
        </p:txBody>
      </p:sp>
      <p:sp>
        <p:nvSpPr>
          <p:cNvPr id="7" name="TextBox 6"/>
          <p:cNvSpPr txBox="1"/>
          <p:nvPr/>
        </p:nvSpPr>
        <p:spPr>
          <a:xfrm>
            <a:off x="566928"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71% → 5%</a:t>
            </a:r>
          </a:p>
          <a:p>
            <a:pPr>
              <a:lnSpc>
                <a:spcPct val="120000"/>
              </a:lnSpc>
              <a:spcBef>
                <a:spcPts val="0"/>
              </a:spcBef>
              <a:spcAft>
                <a:spcPts val="0"/>
              </a:spcAft>
            </a:pPr>
            <a:r>
              <a:rPr sz="1000" b="0" i="0">
                <a:solidFill>
                  <a:srgbClr val="8A94A0"/>
                </a:solidFill>
                <a:latin typeface="Calibri"/>
              </a:rPr>
              <a:t>of countries significant, SDG levels → differences</a:t>
            </a:r>
          </a:p>
        </p:txBody>
      </p:sp>
      <p:sp>
        <p:nvSpPr>
          <p:cNvPr id="8" name="TextBox 7"/>
          <p:cNvSpPr txBox="1"/>
          <p:nvPr/>
        </p:nvSpPr>
        <p:spPr>
          <a:xfrm>
            <a:off x="4344314"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42% → 2%</a:t>
            </a:r>
          </a:p>
          <a:p>
            <a:pPr>
              <a:lnSpc>
                <a:spcPct val="120000"/>
              </a:lnSpc>
              <a:spcBef>
                <a:spcPts val="0"/>
              </a:spcBef>
              <a:spcAft>
                <a:spcPts val="0"/>
              </a:spcAft>
            </a:pPr>
            <a:r>
              <a:rPr sz="1000" b="0" i="0">
                <a:solidFill>
                  <a:srgbClr val="8A94A0"/>
                </a:solidFill>
                <a:latin typeface="Calibri"/>
              </a:rPr>
              <a:t>the same collapse under the HDI composite</a:t>
            </a:r>
          </a:p>
        </p:txBody>
      </p:sp>
      <p:sp>
        <p:nvSpPr>
          <p:cNvPr id="9" name="TextBox 8"/>
          <p:cNvSpPr txBox="1"/>
          <p:nvPr/>
        </p:nvSpPr>
        <p:spPr>
          <a:xfrm>
            <a:off x="8121700"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15% → 9%</a:t>
            </a:r>
          </a:p>
          <a:p>
            <a:pPr>
              <a:lnSpc>
                <a:spcPct val="120000"/>
              </a:lnSpc>
              <a:spcBef>
                <a:spcPts val="0"/>
              </a:spcBef>
              <a:spcAft>
                <a:spcPts val="0"/>
              </a:spcAft>
            </a:pPr>
            <a:r>
              <a:rPr sz="1000" b="0" i="0">
                <a:solidFill>
                  <a:srgbClr val="8A94A0"/>
                </a:solidFill>
                <a:latin typeface="Calibri"/>
              </a:rPr>
              <a:t>of cells, against a second wellbeing survey (ESS)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REPLICATION 1 · THE HDI</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A deliberately parsimonious index behaves exactly like the sprawling one</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The Human Development Index is the opposite of the SDG framework in every way that the dismissal relies on: three dimensions rather than seventeen goals, a single custodian, a stable definition, near-universal coverage. Substituting it for the SDG indicators and holding everything else fixed gives 64 of 151 countries FDR-significant in levels and 3 of 151 in first differences — 42% down to 2%.</a:t>
            </a:r>
          </a:p>
          <a:p>
            <a:pPr>
              <a:lnSpc>
                <a:spcPct val="132000"/>
              </a:lnSpc>
              <a:spcBef>
                <a:spcPts val="0"/>
              </a:spcBef>
              <a:spcAft>
                <a:spcPts val="1100"/>
              </a:spcAft>
            </a:pPr>
            <a:r>
              <a:rPr sz="1150" b="0" i="0">
                <a:solidFill>
                  <a:srgbClr val="5A6068"/>
                </a:solidFill>
                <a:latin typeface="Calibri"/>
              </a:rPr>
              <a:t>The SDG framework collapsed from 71% of countries to 5%. The two rates are not directly comparable, because the SDG test asks whether any of a country's several hundred series is significant while the HDI test asks about one composite; that difference is exactly why the SDG levels rate is higher. What compares is the collapse itself, and it is an order of magnitude in both. Whatever produces the asymmetry, it is not the design of the SDG indicator set.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pic>
        <p:nvPicPr>
          <p:cNvPr id="6" name="Picture 5" descr="collapse_hdi_shdi_whr.png"/>
          <p:cNvPicPr>
            <a:picLocks noChangeAspect="1"/>
          </p:cNvPicPr>
          <p:nvPr/>
        </p:nvPicPr>
        <p:blipFill>
          <a:blip r:embed="rId2"/>
          <a:stretch>
            <a:fillRect/>
          </a:stretch>
        </p:blipFill>
        <p:spPr>
          <a:xfrm>
            <a:off x="5120640" y="1353312"/>
            <a:ext cx="6537960" cy="3685032"/>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Countries with an FDR-significant development–happiness association, levels versus first differences, under the SDG framework and under the HDI composite.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STRUCTURE UNDERNEATH</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The composite is not the whole result — the five indicators behave differently</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00" b="0" i="0">
                <a:solidFill>
                  <a:srgbClr val="5A6068"/>
                </a:solidFill>
                <a:latin typeface="Calibri"/>
              </a:rPr>
              <a:t>HappinessHDI.R reports the composite alongside its four sub-components in both specifications, and the sub-components do not simply track the composite. Mean years of schooling has the highest median R² of the five in levels (0.326) and in differences (0.069) — above the composite HDI itself (0.322 and 0.063). Income is level with it in levels and below it in differences; life expectancy is clearly weakest in levels (0.160, 30 of 151 countries).</a:t>
            </a:r>
          </a:p>
          <a:p>
            <a:pPr>
              <a:lnSpc>
                <a:spcPct val="132000"/>
              </a:lnSpc>
              <a:spcBef>
                <a:spcPts val="0"/>
              </a:spcBef>
              <a:spcAft>
                <a:spcPts val="1100"/>
              </a:spcAft>
            </a:pPr>
            <a:r>
              <a:rPr sz="1100" b="0" i="0">
                <a:solidFill>
                  <a:srgbClr val="5A6068"/>
                </a:solidFill>
                <a:latin typeface="Calibri"/>
              </a:rPr>
              <a:t>The result worth carrying forward is in the differences column. Expected years of schooling is significant in 7 of 150 countries — more than the composite's 3, and more than any other indicator. Seven countries is a small number and the collapse is still severe, so this is not a survival story. But it does mean the education pair leads under both specifications rather than only in the cross-section — and that life expectancy, the HDI's proxy for health, is last in levels. Act II shows why that ordering is a property of the HDI's measurement choices rather than of the domains.</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pic>
        <p:nvPicPr>
          <p:cNvPr id="6" name="Picture 5" descr="hdi_full_structure.png"/>
          <p:cNvPicPr>
            <a:picLocks noChangeAspect="1"/>
          </p:cNvPicPr>
          <p:nvPr/>
        </p:nvPicPr>
        <p:blipFill>
          <a:blip r:embed="rId2"/>
          <a:stretch>
            <a:fillRect/>
          </a:stretch>
        </p:blipFill>
        <p:spPr>
          <a:xfrm>
            <a:off x="5120640" y="1791377"/>
            <a:ext cx="6537960" cy="2808901"/>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HDI composite and its four sub-components, levels and first differences. Benjamini–Hochberg corrected across the five indicators within each country.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WHAT THE SUBNATIONAL HDI IS FOR</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Not a second producer — a test of whether the national pattern holds inside countries</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The Global Data Lab's SHDI cannot serve as an independent replication, and the commentary should not present it as one. At national level it is numerically identical to the UNDP HDI: all 1,696 overlapping country-years agree exactly, because GDL derives the national figure from the UNDP series. Running the collapse design on it reproduces the HDI result by construction rather than by corroboration.</a:t>
            </a:r>
          </a:p>
          <a:p>
            <a:pPr>
              <a:lnSpc>
                <a:spcPct val="132000"/>
              </a:lnSpc>
              <a:spcBef>
                <a:spcPts val="0"/>
              </a:spcBef>
              <a:spcAft>
                <a:spcPts val="1100"/>
              </a:spcAft>
            </a:pPr>
            <a:r>
              <a:rPr sz="1400" b="0" i="0">
                <a:solidFill>
                  <a:srgbClr val="5A6068"/>
                </a:solidFill>
                <a:latin typeface="Calibri"/>
              </a:rPr>
              <a:t>Its actual value is disaggregation. GDL's region-level values are its own — only 655 of 58,224 region-years coincide with their country's national figure — so the SHDI is what lets us ask whether the national development–wellbeing relationship holds at subnational level, and where it does not. That question is the subject of Act III, and the answer turns out to be the most policy-relevant result in the commentary.</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REPLICATION 3 · A SECOND WELLBEING INSTRUMENT</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It is not an artifact of the Cantril ladder either</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The World Happiness Report's ladder is a single self-anchoring item asked by one survey house. Replacing it with the European Social Survey's own life-satisfaction and happiness items — 36 countries, 351,023 respondents, seven roughly biennial waves from 2010 to 2023 — preserves the asymmetry.</a:t>
            </a:r>
          </a:p>
          <a:p>
            <a:pPr>
              <a:lnSpc>
                <a:spcPct val="132000"/>
              </a:lnSpc>
              <a:spcBef>
                <a:spcPts val="0"/>
              </a:spcBef>
              <a:spcAft>
                <a:spcPts val="1100"/>
              </a:spcAft>
            </a:pPr>
            <a:r>
              <a:rPr sz="1150" b="0" i="0">
                <a:solidFill>
                  <a:srgbClr val="5A6068"/>
                </a:solidFill>
                <a:latin typeface="Calibri"/>
              </a:rPr>
              <a:t>Statistical power is much lower here: seven biennial waves against twelve or more annual World Happiness Report years, so individual country tests are fragile and the ESS replication should be read as corroboration rather than as independent confirmation at the same strength.</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pic>
        <p:nvPicPr>
          <p:cNvPr id="6" name="Picture 5" descr="collapse_hdi_ess.png"/>
          <p:cNvPicPr>
            <a:picLocks noChangeAspect="1"/>
          </p:cNvPicPr>
          <p:nvPr/>
        </p:nvPicPr>
        <p:blipFill>
          <a:blip r:embed="rId2"/>
          <a:stretch>
            <a:fillRect/>
          </a:stretch>
        </p:blipFill>
        <p:spPr>
          <a:xfrm>
            <a:off x="5120640" y="1615563"/>
            <a:ext cx="6537960" cy="316053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same design with ESS life satisfaction in place of the Cantril ladder. 15% of levels cells and 9% of differences cells are FDR-significant.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REPLICATION 4 · ONE SCALE DOWN</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And it holds across 239 European regions</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Region-level subnational HDI against region-mean life satisfaction reproduces the same levels-over-differences pattern, noisier as expected. The result is now documented at three scales — SDG-national, HDI-national, SHDI-regional — and against two wellbeing instruments.</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a:t>
            </a:r>
          </a:p>
        </p:txBody>
      </p:sp>
      <p:pic>
        <p:nvPicPr>
          <p:cNvPr id="6" name="Picture 5" descr="collapse_shdi_ess_regional.png"/>
          <p:cNvPicPr>
            <a:picLocks noChangeAspect="1"/>
          </p:cNvPicPr>
          <p:nvPr/>
        </p:nvPicPr>
        <p:blipFill>
          <a:blip r:embed="rId2"/>
          <a:stretch>
            <a:fillRect/>
          </a:stretch>
        </p:blipFill>
        <p:spPr>
          <a:xfrm>
            <a:off x="5546146" y="658368"/>
            <a:ext cx="5686948" cy="5074919"/>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Regional subnational HDI against region-mean ESS life satisfaction, 239 European regions.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BEF"/>
        </a:solidFill>
        <a:effectLst/>
      </p:bgPr>
    </p:bg>
    <p:spTree>
      <p:nvGrpSpPr>
        <p:cNvPr id="1" name=""/>
        <p:cNvGrpSpPr/>
        <p:nvPr/>
      </p:nvGrpSpPr>
      <p:grpSpPr/>
      <p:sp>
        <p:nvSpPr>
          <p:cNvPr id="2" name="Rectangle 1"/>
          <p:cNvSpPr/>
          <p:nvPr/>
        </p:nvSpPr>
        <p:spPr>
          <a:xfrm>
            <a:off x="566928" y="2103120"/>
            <a:ext cx="54864" cy="237744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00200"/>
            <a:ext cx="868680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WHERE ACT I LEAVES US</a:t>
            </a:r>
          </a:p>
        </p:txBody>
      </p:sp>
      <p:sp>
        <p:nvSpPr>
          <p:cNvPr id="4" name="TextBox 3"/>
          <p:cNvSpPr txBox="1"/>
          <p:nvPr/>
        </p:nvSpPr>
        <p:spPr>
          <a:xfrm>
            <a:off x="914400" y="2148840"/>
            <a:ext cx="9509760" cy="2926080"/>
          </a:xfrm>
          <a:prstGeom prst="rect">
            <a:avLst/>
          </a:prstGeom>
          <a:noFill/>
        </p:spPr>
        <p:txBody>
          <a:bodyPr wrap="square" lIns="0" rIns="0" tIns="0" bIns="0">
            <a:spAutoFit/>
          </a:bodyPr>
          <a:lstStyle/>
          <a:p>
            <a:pPr>
              <a:lnSpc>
                <a:spcPct val="135000"/>
              </a:lnSpc>
              <a:spcBef>
                <a:spcPts val="0"/>
              </a:spcBef>
              <a:spcAft>
                <a:spcPts val="0"/>
              </a:spcAft>
            </a:pPr>
            <a:r>
              <a:rPr sz="2100" b="0" i="0">
                <a:solidFill>
                  <a:srgbClr val="14171C"/>
                </a:solidFill>
                <a:latin typeface="Georgia"/>
              </a:rPr>
              <a:t>Two independent replications and one scale test. The commentary can therefore state the asymmetry as a property of the development–wellbeing relationship rather than of any particular index, and move on to the question that actually matters: given that almost nothing survives the move to within-country change, what carries the level signal?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0" y="822960"/>
            <a:ext cx="3291840" cy="4114800"/>
          </a:xfrm>
          <a:prstGeom prst="rect">
            <a:avLst/>
          </a:prstGeom>
          <a:noFill/>
        </p:spPr>
        <p:txBody>
          <a:bodyPr wrap="square" lIns="0" rIns="0" tIns="0" bIns="0">
            <a:spAutoFit/>
          </a:bodyPr>
          <a:lstStyle/>
          <a:p>
            <a:pPr algn="r">
              <a:spcBef>
                <a:spcPts val="0"/>
              </a:spcBef>
              <a:spcAft>
                <a:spcPts val="0"/>
              </a:spcAft>
            </a:pPr>
            <a:r>
              <a:rPr sz="20000" b="0" i="0">
                <a:solidFill>
                  <a:srgbClr val="2A3340"/>
                </a:solidFill>
                <a:latin typeface="Georgia"/>
              </a:rPr>
              <a:t>II</a:t>
            </a:r>
          </a:p>
        </p:txBody>
      </p:sp>
      <p:sp>
        <p:nvSpPr>
          <p:cNvPr id="3" name="Rectangle 2"/>
          <p:cNvSpPr/>
          <p:nvPr/>
        </p:nvSpPr>
        <p:spPr>
          <a:xfrm>
            <a:off x="566928" y="1371600"/>
            <a:ext cx="7315200" cy="25400"/>
          </a:xfrm>
          <a:prstGeom prst="rect">
            <a:avLst/>
          </a:prstGeom>
          <a:solidFill>
            <a:srgbClr val="C9D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60120"/>
            <a:ext cx="5486400" cy="274320"/>
          </a:xfrm>
          <a:prstGeom prst="rect">
            <a:avLst/>
          </a:prstGeom>
          <a:noFill/>
        </p:spPr>
        <p:txBody>
          <a:bodyPr wrap="square" lIns="0" rIns="0" tIns="0" bIns="0">
            <a:spAutoFit/>
          </a:bodyPr>
          <a:lstStyle/>
          <a:p>
            <a:pPr>
              <a:spcBef>
                <a:spcPts val="0"/>
              </a:spcBef>
              <a:spcAft>
                <a:spcPts val="0"/>
              </a:spcAft>
            </a:pPr>
            <a:r>
              <a:rPr sz="1100" b="0" i="0">
                <a:solidFill>
                  <a:srgbClr val="C9D8EC"/>
                </a:solidFill>
                <a:latin typeface="Consolas"/>
              </a:rPr>
              <a:t>ACT II</a:t>
            </a:r>
          </a:p>
        </p:txBody>
      </p:sp>
      <p:sp>
        <p:nvSpPr>
          <p:cNvPr id="5" name="TextBox 4"/>
          <p:cNvSpPr txBox="1"/>
          <p:nvPr/>
        </p:nvSpPr>
        <p:spPr>
          <a:xfrm>
            <a:off x="566928" y="1783080"/>
            <a:ext cx="7223760" cy="1828800"/>
          </a:xfrm>
          <a:prstGeom prst="rect">
            <a:avLst/>
          </a:prstGeom>
          <a:noFill/>
        </p:spPr>
        <p:txBody>
          <a:bodyPr wrap="square" lIns="0" rIns="0" tIns="0" bIns="0">
            <a:spAutoFit/>
          </a:bodyPr>
          <a:lstStyle/>
          <a:p>
            <a:pPr>
              <a:lnSpc>
                <a:spcPct val="102000"/>
              </a:lnSpc>
              <a:spcBef>
                <a:spcPts val="0"/>
              </a:spcBef>
              <a:spcAft>
                <a:spcPts val="0"/>
              </a:spcAft>
            </a:pPr>
            <a:r>
              <a:rPr sz="4000" b="0" i="0">
                <a:solidFill>
                  <a:srgbClr val="FCFCFB"/>
                </a:solidFill>
                <a:latin typeface="Georgia"/>
              </a:rPr>
              <a:t>Education, health, and what changes when you change the question</a:t>
            </a:r>
          </a:p>
        </p:txBody>
      </p:sp>
      <p:sp>
        <p:nvSpPr>
          <p:cNvPr id="6" name="TextBox 5"/>
          <p:cNvSpPr txBox="1"/>
          <p:nvPr/>
        </p:nvSpPr>
        <p:spPr>
          <a:xfrm>
            <a:off x="566928" y="3886200"/>
            <a:ext cx="6766560" cy="1463040"/>
          </a:xfrm>
          <a:prstGeom prst="rect">
            <a:avLst/>
          </a:prstGeom>
          <a:noFill/>
        </p:spPr>
        <p:txBody>
          <a:bodyPr wrap="square" lIns="0" rIns="0" tIns="0" bIns="0">
            <a:spAutoFit/>
          </a:bodyPr>
          <a:lstStyle/>
          <a:p>
            <a:pPr>
              <a:lnSpc>
                <a:spcPct val="135000"/>
              </a:lnSpc>
              <a:spcBef>
                <a:spcPts val="0"/>
              </a:spcBef>
              <a:spcAft>
                <a:spcPts val="0"/>
              </a:spcAft>
            </a:pPr>
            <a:r>
              <a:rPr sz="1200" b="0" i="1">
                <a:solidFill>
                  <a:srgbClr val="9AA4B0"/>
                </a:solidFill>
                <a:latin typeface="Georgia"/>
              </a:rPr>
              <a:t>Two results and a discussion. Education leads the HDI and the access construct of SDG4 and is the smallest effect anywhere. Health leads the SDG framework and the individual data and is weak in exactly one place, for a reason we can name. Social trust leads wherever it is measured, which is almost nowhere. Every disagreement between the frameworks turns out to be about operationalisation — and the ranking changes again, in a consistent direction, when the question moves from between countries to inside them.</a:t>
            </a:r>
          </a:p>
        </p:txBody>
      </p:sp>
      <p:sp>
        <p:nvSpPr>
          <p:cNvPr id="7" name="TextBox 6"/>
          <p:cNvSpPr txBox="1"/>
          <p:nvPr/>
        </p:nvSpPr>
        <p:spPr>
          <a:xfrm>
            <a:off x="566928" y="5623560"/>
            <a:ext cx="2558719" cy="914400"/>
          </a:xfrm>
          <a:prstGeom prst="rect">
            <a:avLst/>
          </a:prstGeom>
          <a:noFill/>
        </p:spPr>
        <p:txBody>
          <a:bodyPr wrap="square" lIns="0" rIns="0" tIns="0" bIns="0">
            <a:spAutoFit/>
          </a:bodyPr>
          <a:lstStyle/>
          <a:p>
            <a:pPr>
              <a:spcBef>
                <a:spcPts val="0"/>
              </a:spcBef>
              <a:spcAft>
                <a:spcPts val="400"/>
              </a:spcAft>
            </a:pPr>
            <a:r>
              <a:rPr sz="1800" b="0" i="0">
                <a:solidFill>
                  <a:srgbClr val="FCFCFB"/>
                </a:solidFill>
                <a:latin typeface="Consolas"/>
              </a:rPr>
              <a:t>40.7% → +0.13</a:t>
            </a:r>
          </a:p>
          <a:p>
            <a:pPr>
              <a:lnSpc>
                <a:spcPct val="120000"/>
              </a:lnSpc>
              <a:spcBef>
                <a:spcPts val="0"/>
              </a:spcBef>
              <a:spcAft>
                <a:spcPts val="0"/>
              </a:spcAft>
            </a:pPr>
            <a:r>
              <a:rPr sz="1000" b="0" i="0">
                <a:solidFill>
                  <a:srgbClr val="8A94A0"/>
                </a:solidFill>
                <a:latin typeface="Calibri"/>
              </a:rPr>
              <a:t>education: leads the HDI between countries, near zero inside them</a:t>
            </a:r>
          </a:p>
        </p:txBody>
      </p:sp>
      <p:sp>
        <p:nvSpPr>
          <p:cNvPr id="8" name="TextBox 7"/>
          <p:cNvSpPr txBox="1"/>
          <p:nvPr/>
        </p:nvSpPr>
        <p:spPr>
          <a:xfrm>
            <a:off x="3399967" y="5623560"/>
            <a:ext cx="2558719" cy="914400"/>
          </a:xfrm>
          <a:prstGeom prst="rect">
            <a:avLst/>
          </a:prstGeom>
          <a:noFill/>
        </p:spPr>
        <p:txBody>
          <a:bodyPr wrap="square" lIns="0" rIns="0" tIns="0" bIns="0">
            <a:spAutoFit/>
          </a:bodyPr>
          <a:lstStyle/>
          <a:p>
            <a:pPr>
              <a:spcBef>
                <a:spcPts val="0"/>
              </a:spcBef>
              <a:spcAft>
                <a:spcPts val="400"/>
              </a:spcAft>
            </a:pPr>
            <a:r>
              <a:rPr sz="1800" b="0" i="0">
                <a:solidFill>
                  <a:srgbClr val="FCFCFB"/>
                </a:solidFill>
                <a:latin typeface="Consolas"/>
              </a:rPr>
              <a:t>12.7%</a:t>
            </a:r>
          </a:p>
          <a:p>
            <a:pPr>
              <a:lnSpc>
                <a:spcPct val="120000"/>
              </a:lnSpc>
              <a:spcBef>
                <a:spcPts val="0"/>
              </a:spcBef>
              <a:spcAft>
                <a:spcPts val="0"/>
              </a:spcAft>
            </a:pPr>
            <a:r>
              <a:rPr sz="1000" b="0" i="0">
                <a:solidFill>
                  <a:srgbClr val="8A94A0"/>
                </a:solidFill>
                <a:latin typeface="Calibri"/>
              </a:rPr>
              <a:t>SDG4 access alone — third of 17 goals if it were one</a:t>
            </a:r>
          </a:p>
        </p:txBody>
      </p:sp>
      <p:sp>
        <p:nvSpPr>
          <p:cNvPr id="9" name="TextBox 8"/>
          <p:cNvSpPr txBox="1"/>
          <p:nvPr/>
        </p:nvSpPr>
        <p:spPr>
          <a:xfrm>
            <a:off x="6233007" y="5623560"/>
            <a:ext cx="2558719" cy="914400"/>
          </a:xfrm>
          <a:prstGeom prst="rect">
            <a:avLst/>
          </a:prstGeom>
          <a:noFill/>
        </p:spPr>
        <p:txBody>
          <a:bodyPr wrap="square" lIns="0" rIns="0" tIns="0" bIns="0">
            <a:spAutoFit/>
          </a:bodyPr>
          <a:lstStyle/>
          <a:p>
            <a:pPr>
              <a:spcBef>
                <a:spcPts val="0"/>
              </a:spcBef>
              <a:spcAft>
                <a:spcPts val="400"/>
              </a:spcAft>
            </a:pPr>
            <a:r>
              <a:rPr sz="1800" b="0" i="0">
                <a:solidFill>
                  <a:srgbClr val="FCFCFB"/>
                </a:solidFill>
                <a:latin typeface="Consolas"/>
              </a:rPr>
              <a:t>19.9% → +0.51</a:t>
            </a:r>
          </a:p>
          <a:p>
            <a:pPr>
              <a:lnSpc>
                <a:spcPct val="120000"/>
              </a:lnSpc>
              <a:spcBef>
                <a:spcPts val="0"/>
              </a:spcBef>
              <a:spcAft>
                <a:spcPts val="0"/>
              </a:spcAft>
            </a:pPr>
            <a:r>
              <a:rPr sz="1000" b="0" i="0">
                <a:solidFill>
                  <a:srgbClr val="8A94A0"/>
                </a:solidFill>
                <a:latin typeface="Calibri"/>
              </a:rPr>
              <a:t>health: last of the HDI's five, first inside countries</a:t>
            </a:r>
          </a:p>
        </p:txBody>
      </p:sp>
      <p:sp>
        <p:nvSpPr>
          <p:cNvPr id="10" name="TextBox 9"/>
          <p:cNvSpPr txBox="1"/>
          <p:nvPr/>
        </p:nvSpPr>
        <p:spPr>
          <a:xfrm>
            <a:off x="9066047" y="5623560"/>
            <a:ext cx="2558719" cy="914400"/>
          </a:xfrm>
          <a:prstGeom prst="rect">
            <a:avLst/>
          </a:prstGeom>
          <a:noFill/>
        </p:spPr>
        <p:txBody>
          <a:bodyPr wrap="square" lIns="0" rIns="0" tIns="0" bIns="0">
            <a:spAutoFit/>
          </a:bodyPr>
          <a:lstStyle/>
          <a:p>
            <a:pPr>
              <a:spcBef>
                <a:spcPts val="0"/>
              </a:spcBef>
              <a:spcAft>
                <a:spcPts val="400"/>
              </a:spcAft>
            </a:pPr>
            <a:r>
              <a:rPr sz="1800" b="0" i="0">
                <a:solidFill>
                  <a:srgbClr val="FCFCFB"/>
                </a:solidFill>
                <a:latin typeface="Consolas"/>
              </a:rPr>
              <a:t>1 of 16</a:t>
            </a:r>
          </a:p>
          <a:p>
            <a:pPr>
              <a:lnSpc>
                <a:spcPct val="120000"/>
              </a:lnSpc>
              <a:spcBef>
                <a:spcPts val="0"/>
              </a:spcBef>
              <a:spcAft>
                <a:spcPts val="0"/>
              </a:spcAft>
            </a:pPr>
            <a:r>
              <a:rPr sz="1000" b="0" i="0">
                <a:solidFill>
                  <a:srgbClr val="8A94A0"/>
                </a:solidFill>
                <a:latin typeface="Calibri"/>
              </a:rPr>
              <a:t>SDG trust country-series testable at all, not 1 of 163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FRAMEWORK AGAINST FRAMEWORK</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Three comparisons, and they do not all point the same way</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900" b="0" i="0">
                <a:solidFill>
                  <a:srgbClr val="5A6068"/>
                </a:solidFill>
                <a:latin typeface="Calibri"/>
              </a:rPr>
              <a:t>No single statistic settles which framework tracks wellbeing better, so the commentary should report three and nominate none. Detection: does any indicator show a significant levels association in a given country? The SDG framework reaches 30 of its 42 countries (71%), the HDI 77 of its 150 (51%). Benjamini–Hochberg under the complete null controls the error rate at the same α whatever the family size, so the SDG lead is genuine power bought with breadth and should be conceded as such.</a:t>
            </a:r>
          </a:p>
          <a:p>
            <a:pPr>
              <a:lnSpc>
                <a:spcPct val="132000"/>
              </a:lnSpc>
              <a:spcBef>
                <a:spcPts val="0"/>
              </a:spcBef>
              <a:spcAft>
                <a:spcPts val="1100"/>
              </a:spcAft>
            </a:pPr>
            <a:r>
              <a:rPr sz="900" b="0" i="0">
                <a:solidFill>
                  <a:srgbClr val="5A6068"/>
                </a:solidFill>
                <a:latin typeface="Calibri"/>
              </a:rPr>
              <a:t>Budget-matched: give the SDG framework the same five-indicator budget the HDI gets, drawn at random, 4,000 times. Five random SDG series reach 30% of countries (95% range 19–40%); the HDI’s chosen five reach 40% on the same countries — better than a random five, but at the top edge of the random range rather than outside it.</a:t>
            </a:r>
          </a:p>
          <a:p>
            <a:pPr>
              <a:lnSpc>
                <a:spcPct val="132000"/>
              </a:lnSpc>
              <a:spcBef>
                <a:spcPts val="0"/>
              </a:spcBef>
              <a:spcAft>
                <a:spcPts val="1100"/>
              </a:spcAft>
            </a:pPr>
            <a:r>
              <a:rPr sz="900" b="0" i="0">
                <a:solidFill>
                  <a:srgbClr val="5A6068"/>
                </a:solidFill>
                <a:latin typeface="Calibri"/>
              </a:rPr>
              <a:t>Per indicator: across the 609 SDG series with usable coverage the median series is significant in no country at all, and 54% never clear FDR anywhere. The HDI composite, mean schooling and GNI per capita each beat essentially the whole field; even life expectancy, the HDI’s weakest component, beats 90% of it.</a:t>
            </a:r>
          </a:p>
          <a:p>
            <a:pPr>
              <a:lnSpc>
                <a:spcPct val="132000"/>
              </a:lnSpc>
              <a:spcBef>
                <a:spcPts val="0"/>
              </a:spcBef>
              <a:spcAft>
                <a:spcPts val="1100"/>
              </a:spcAft>
            </a:pPr>
            <a:r>
              <a:rPr sz="900" b="0" i="0">
                <a:solidFill>
                  <a:srgbClr val="5A6068"/>
                </a:solidFill>
                <a:latin typeface="Calibri"/>
              </a:rPr>
              <a:t>That is the frame for what follows. The three results come in the order of how much the frameworks disagree about them: education, where the disagreement is total and entirely about construct; health, where it is large and entirely about saturation; and social trust, where one framework cannot see the domain at all.</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framework_three_comparisons.png"/>
          <p:cNvPicPr>
            <a:picLocks noChangeAspect="1"/>
          </p:cNvPicPr>
          <p:nvPr/>
        </p:nvPicPr>
        <p:blipFill>
          <a:blip r:embed="rId2"/>
          <a:stretch>
            <a:fillRect/>
          </a:stretch>
        </p:blipFill>
        <p:spPr>
          <a:xfrm>
            <a:off x="5120640" y="2093715"/>
            <a:ext cx="6537960" cy="2204226"/>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Each framework on its own full country set against WHR happiness, except panel b which restricts the HDI to the 42 SDG countries so the budgets are comparable.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AUTOPSY</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What survives in levels is survival</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Ranking the 609 SDG series measured in at least 8 countries by the share of countries in which they are FDR-significant puts safely managed sanitation first, then infant deaths, under-five deaths, child stunting, and safely managed drinking water. Sixteen of the top 25 series are health-domain, and none of them is self-reported.</a:t>
            </a:r>
          </a:p>
          <a:p>
            <a:pPr>
              <a:lnSpc>
                <a:spcPct val="132000"/>
              </a:lnSpc>
              <a:spcBef>
                <a:spcPts val="0"/>
              </a:spcBef>
              <a:spcAft>
                <a:spcPts val="1100"/>
              </a:spcAft>
            </a:pPr>
            <a:r>
              <a:rPr sz="1150" b="0" i="0">
                <a:solidFill>
                  <a:srgbClr val="5A6068"/>
                </a:solidFill>
                <a:latin typeface="Calibri"/>
              </a:rPr>
              <a:t>This is the steep part of the development curve — staying alive and not being sick — rather than the 2030 Agenda’s institutional superstructure. It also sets up the puzzle the next three beats resolve: the instrument that ranks health first ranks education twelfth, and the instrument that ranks education first ranks health last.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sdg_indicator_top20.png"/>
          <p:cNvPicPr>
            <a:picLocks noChangeAspect="1"/>
          </p:cNvPicPr>
          <p:nvPr/>
        </p:nvPicPr>
        <p:blipFill>
          <a:blip r:embed="rId2"/>
          <a:stretch>
            <a:fillRect/>
          </a:stretch>
        </p:blipFill>
        <p:spPr>
          <a:xfrm>
            <a:off x="5279547" y="658368"/>
            <a:ext cx="6220145" cy="507492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20 highest-ranking SDG series of 609, by share of countries FDR-significant in levels.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RESULT 1 · EDUCATION</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The strongest thing the HDI measures</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Mean years of schooling has the highest median R² of the HDI’s five indicators — 0.326, fractionally above the composite’s own 0.322 — and is FDR-significant in 61 of 150 countries, 40.7%, the highest of the four sub-components. Expected years of schooling follows at 34.0%. Income is level with schooling at 40.4%; life expectancy is far behind at 19.9%.</a:t>
            </a:r>
          </a:p>
          <a:p>
            <a:pPr>
              <a:lnSpc>
                <a:spcPct val="132000"/>
              </a:lnSpc>
              <a:spcBef>
                <a:spcPts val="0"/>
              </a:spcBef>
              <a:spcAft>
                <a:spcPts val="1100"/>
              </a:spcAft>
            </a:pPr>
            <a:r>
              <a:rPr sz="1400" b="0" i="0">
                <a:solidFill>
                  <a:srgbClr val="5A6068"/>
                </a:solidFill>
                <a:latin typeface="Calibri"/>
              </a:rPr>
              <a:t>A sub-component beating the composite it belongs to is worth pausing on. The HDI aggregates health, education and income into one number on the assumption that development is a bundle. On this test the bundle adds nothing over its education leg alone — which is the first hint that the index is carried by one of its three domains rather than by their combination.</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RESULT 1 · EDUCATION</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In the SDG framework its rank depends entirely on which construct you read</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000" b="0" i="0">
                <a:solidFill>
                  <a:srgbClr val="5A6068"/>
                </a:solidFill>
                <a:latin typeface="Calibri"/>
              </a:rPr>
              <a:t>Pooled, SDG4 is close to the bottom: 3.3% of country-indicator pairs significant, twelfth of the seventeen goals, with its best single series ranking 100th of 609. Read naively the two frameworks flatly contradict each other about education.</a:t>
            </a:r>
          </a:p>
          <a:p>
            <a:pPr>
              <a:lnSpc>
                <a:spcPct val="132000"/>
              </a:lnSpc>
              <a:spcBef>
                <a:spcPts val="0"/>
              </a:spcBef>
              <a:spcAft>
                <a:spcPts val="1100"/>
              </a:spcAft>
            </a:pPr>
            <a:r>
              <a:rPr sz="1000" b="0" i="0">
                <a:solidFill>
                  <a:srgbClr val="5A6068"/>
                </a:solidFill>
                <a:latin typeface="Calibri"/>
              </a:rPr>
              <a:t>They do not, because SDG4 is not one construct. Eighteen of its 35 official series are equity or parity ratios, seven measure school infrastructure, six measure learning outcomes, one measures financing, one attainment — and only two measure access and participation directly. Split apart, those two reach 12.7%. Placed among the seventeen goals that would rank third, above SDG3 health at 11.5%. Meanwhile learning outcomes sit at 0.9% and parity ratios at 2.5%, and it is the parity ratios — half the goal by series count — that drag the pooled figure down.</a:t>
            </a:r>
          </a:p>
          <a:p>
            <a:pPr>
              <a:lnSpc>
                <a:spcPct val="132000"/>
              </a:lnSpc>
              <a:spcBef>
                <a:spcPts val="0"/>
              </a:spcBef>
              <a:spcAft>
                <a:spcPts val="1100"/>
              </a:spcAft>
            </a:pPr>
            <a:r>
              <a:rPr sz="1000" b="0" i="0">
                <a:solidFill>
                  <a:srgbClr val="5A6068"/>
                </a:solidFill>
                <a:latin typeface="Calibri"/>
              </a:rPr>
              <a:t>So the SDG framework does not disagree with the HDI about education. It agrees with it, on the two series that measure the same thing the HDI measures, and the disagreement is manufactured by pooling six constructs that point in different directions. State the caveat plainly: access and participation is 2 series and 63 country-indicator pairs, a small family, and the 12.7% carries correspondingly wide uncertainty.</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sdg4_unpooled.png"/>
          <p:cNvPicPr>
            <a:picLocks noChangeAspect="1"/>
          </p:cNvPicPr>
          <p:nvPr/>
        </p:nvPicPr>
        <p:blipFill>
          <a:blip r:embed="rId2"/>
          <a:stretch>
            <a:fillRect/>
          </a:stretch>
        </p:blipFill>
        <p:spPr>
          <a:xfrm>
            <a:off x="5120640" y="1103208"/>
            <a:ext cx="6537960" cy="418524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SDG4 split by what each indicator actually measures, with the pooled figure marked.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RESULT 1 · EDUCATION</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And at the individual level it is significant almost everywhere, if barely</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Respondents’ own attainment predicts their own life satisfaction in 32 to 34 of 36 ESS countries — more consistent across countries than anything except health. Aggregated to the country level, ESS-measured years of schooling predicts WHR happiness at R² = 0.308 against 0.161 for the HDI’s own schooling series on the same cells, so an independently measured education variable roughly doubles the HDI’s.</a:t>
            </a:r>
          </a:p>
          <a:p>
            <a:pPr>
              <a:lnSpc>
                <a:spcPct val="132000"/>
              </a:lnSpc>
              <a:spcBef>
                <a:spcPts val="0"/>
              </a:spcBef>
              <a:spcAft>
                <a:spcPts val="1100"/>
              </a:spcAft>
            </a:pPr>
            <a:r>
              <a:rPr sz="1150" b="0" i="0">
                <a:solidFill>
                  <a:srgbClr val="5A6068"/>
                </a:solidFill>
                <a:latin typeface="Calibri"/>
              </a:rPr>
              <a:t>What it does not have is size. The median individual R² is 0.0098, the smallest of any domain tested. Education is the most universal signal and the smallest one — an odd combination, and one the third result explains.</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ess_individual_education.png"/>
          <p:cNvPicPr>
            <a:picLocks noChangeAspect="1"/>
          </p:cNvPicPr>
          <p:nvPr/>
        </p:nvPicPr>
        <p:blipFill>
          <a:blip r:embed="rId2"/>
          <a:stretch>
            <a:fillRect/>
          </a:stretch>
        </p:blipFill>
        <p:spPr>
          <a:xfrm>
            <a:off x="5120640" y="1214810"/>
            <a:ext cx="6537960" cy="3962035"/>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Per-country tests of respondents’ own attainment against their own life satisfaction, 36 ESS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RESULT 2 · HEALTH</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The strongest thing the SDG framework measures</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Goal 3 reaches 11.5% of country-indicator pairs, fourth of the seventeen goals and first among the goals with broad coverage — the three above it are energy (5 series), industry and infrastructure (23), and hunger and nutrition (53), against Goal 3’s 45. Sixteen of the top 25 series in the whole database are health.</a:t>
            </a:r>
          </a:p>
          <a:p>
            <a:pPr>
              <a:lnSpc>
                <a:spcPct val="132000"/>
              </a:lnSpc>
              <a:spcBef>
                <a:spcPts val="0"/>
              </a:spcBef>
              <a:spcAft>
                <a:spcPts val="1100"/>
              </a:spcAft>
            </a:pPr>
            <a:r>
              <a:rPr sz="1150" b="0" i="0">
                <a:solidFill>
                  <a:srgbClr val="5A6068"/>
                </a:solidFill>
                <a:latin typeface="Calibri"/>
              </a:rPr>
              <a:t>The health series that carry the signal are survival measures: child and neonatal mortality, stunting, safely managed water and sanitation. None is self-reported, which matters for the method check two beats on — this is the one domain where an administrative source and a self-report source can be set against each other.</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sdg_by_goal.png"/>
          <p:cNvPicPr>
            <a:picLocks noChangeAspect="1"/>
          </p:cNvPicPr>
          <p:nvPr/>
        </p:nvPicPr>
        <p:blipFill>
          <a:blip r:embed="rId2"/>
          <a:stretch>
            <a:fillRect/>
          </a:stretch>
        </p:blipFill>
        <p:spPr>
          <a:xfrm>
            <a:off x="5120640" y="1156722"/>
            <a:ext cx="6537960" cy="4078212"/>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All 17 goals by share of country-indicator pairs FDR-significant in levels.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RESULT 2 · HEALTH</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Why the HDI says the opposite, and why the HDI is wrong about it</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Inside the HDI, life expectancy is the weakest of the five indicators by a wide margin — 30 of 151 countries, 19.9%, against 40.7% for mean schooling. Read naively the HDI says health is the least important thing about development, and the SDG framework says it is the most important.</a:t>
            </a:r>
          </a:p>
          <a:p>
            <a:pPr>
              <a:lnSpc>
                <a:spcPct val="132000"/>
              </a:lnSpc>
              <a:spcBef>
                <a:spcPts val="0"/>
              </a:spcBef>
              <a:spcAft>
                <a:spcPts val="1100"/>
              </a:spcAft>
            </a:pPr>
            <a:r>
              <a:rPr sz="1400" b="0" i="0">
                <a:solidFill>
                  <a:srgbClr val="5A6068"/>
                </a:solidFill>
                <a:latin typeface="Calibri"/>
              </a:rPr>
              <a:t>The reconciliation is saturation, and it is checkable rather than rhetorical. Life expectancy has run out of variance across the countries where it is tested; the variance that would let it predict anything has largely gone. The SDG series that do carry health’s signal are the ones that still vary enormously — child mortality, stunting — and self-rated health captures morbidity that life expectancy cannot see at all.</a:t>
            </a:r>
          </a:p>
          <a:p>
            <a:pPr>
              <a:lnSpc>
                <a:spcPct val="132000"/>
              </a:lnSpc>
              <a:spcBef>
                <a:spcPts val="0"/>
              </a:spcBef>
              <a:spcAft>
                <a:spcPts val="1100"/>
              </a:spcAft>
            </a:pPr>
            <a:r>
              <a:rPr sz="1400" b="0" i="0">
                <a:solidFill>
                  <a:srgbClr val="5A6068"/>
                </a:solidFill>
                <a:latin typeface="Calibri"/>
              </a:rPr>
              <a:t>This is the same failure mode as education’s, running in the opposite direction. Education’s rank collapses when a framework measures it as parity rather than attainment; health’s collapses when a framework measures it with a variable that has no room left to move. Neither is a fact about the world.</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RESULT 2 · HEALTH</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It leads the individual data too, and it is the one domain that passes the method check</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00" b="0" i="0">
                <a:solidFill>
                  <a:srgbClr val="5A6068"/>
                </a:solidFill>
                <a:latin typeface="Calibri"/>
              </a:rPr>
              <a:t>In the ESS, self-rated health is significant in 36 of 36 countries with a median R² of 0.091 — roughly nine times education’s 0.0098, and the largest effect of any domain tested anywhere in this commentary.</a:t>
            </a:r>
          </a:p>
          <a:p>
            <a:pPr>
              <a:lnSpc>
                <a:spcPct val="132000"/>
              </a:lnSpc>
              <a:spcBef>
                <a:spcPts val="0"/>
              </a:spcBef>
              <a:spcAft>
                <a:spcPts val="1100"/>
              </a:spcAft>
            </a:pPr>
            <a:r>
              <a:rPr sz="1100" b="0" i="0">
                <a:solidFill>
                  <a:srgbClr val="5A6068"/>
                </a:solidFill>
                <a:latin typeface="Calibri"/>
              </a:rPr>
              <a:t>Self-rated health is reported by the same respondent, in the same survey, as life satisfaction, so shared method variance is the first objection a reader will raise. Health is the one domain that can answer it: the UN SDG database is administrative and shares no method with any wellbeing instrument. Restricted to high-income countries — the same development stratum the ESS covers — the SDG data puts health at 11.2% of pairs against education’s 1.2%, the same ordering the ESS gives from entirely different measurement.</a:t>
            </a:r>
          </a:p>
          <a:p>
            <a:pPr>
              <a:lnSpc>
                <a:spcPct val="132000"/>
              </a:lnSpc>
              <a:spcBef>
                <a:spcPts val="0"/>
              </a:spcBef>
              <a:spcAft>
                <a:spcPts val="1100"/>
              </a:spcAft>
            </a:pPr>
            <a:r>
              <a:rPr sz="1100" b="0" i="0">
                <a:solidFill>
                  <a:srgbClr val="5A6068"/>
                </a:solidFill>
                <a:latin typeface="Calibri"/>
              </a:rPr>
              <a:t>The regional test in the next beat adds a second external check: GDL’s externally measured health index leads its education and income indices within countries too. Health therefore holds under administrative measurement at both the national and the regional scale, which is more than can be said for either of the other two domains.</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health_trust_corroboration.png"/>
          <p:cNvPicPr>
            <a:picLocks noChangeAspect="1"/>
          </p:cNvPicPr>
          <p:nvPr/>
        </p:nvPicPr>
        <p:blipFill>
          <a:blip r:embed="rId2"/>
          <a:stretch>
            <a:fillRect/>
          </a:stretch>
        </p:blipFill>
        <p:spPr>
          <a:xfrm>
            <a:off x="5120640" y="1858518"/>
            <a:ext cx="6537960" cy="267462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same domains under an administrative source and a self-report 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HORSE RACE</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Run the domains against each other inside one instrument</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The ESS measures health, education, income and trust on the same respondents as life satisfaction, so the domains can compete on equal terms rather than through four separate literatures. Health leads at every level of aggregation; education is significant nearly everywhere and small everywhere; trust sits between them.</a:t>
            </a:r>
          </a:p>
          <a:p>
            <a:pPr>
              <a:lnSpc>
                <a:spcPct val="132000"/>
              </a:lnSpc>
              <a:spcBef>
                <a:spcPts val="0"/>
              </a:spcBef>
              <a:spcAft>
                <a:spcPts val="1100"/>
              </a:spcAft>
            </a:pPr>
            <a:r>
              <a:rPr sz="1150" b="0" i="0">
                <a:solidFill>
                  <a:srgbClr val="5A6068"/>
                </a:solidFill>
                <a:latin typeface="Calibri"/>
              </a:rPr>
              <a:t>The HDI leads between countries at R² = 0.760, but that is the one comparison a composite index is expected to win — it proxies every domain at once. It falls to fourth once you look inside countries, and that fall is the subject of the next beat.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domain_horse_race.png"/>
          <p:cNvPicPr>
            <a:picLocks noChangeAspect="1"/>
          </p:cNvPicPr>
          <p:nvPr/>
        </p:nvPicPr>
        <p:blipFill>
          <a:blip r:embed="rId2"/>
          <a:stretch>
            <a:fillRect/>
          </a:stretch>
        </p:blipFill>
        <p:spPr>
          <a:xfrm>
            <a:off x="5120640" y="1888236"/>
            <a:ext cx="6537960" cy="2615184"/>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Domains competing within one instrument, at three levels of aggregation.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LEVELS, DIFFERENCES, AND INSIDE COUNTRIES</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Three specifications, and the ranking changes twice</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000" b="0" i="0">
                <a:solidFill>
                  <a:srgbClr val="5A6068"/>
                </a:solidFill>
                <a:latin typeface="Calibri"/>
              </a:rPr>
              <a:t>Three tests run through this commentary and the reader has been left to join them up. They are not three attempts at one question. Levels asks whether a country with more of something is happier. Differences asks whether a country that gains it gets happier — the collapse of Act I. Inside one country, across its regions asks whether the places with more of it are the better places to live, holding national institutions, history and policy fixed.</a:t>
            </a:r>
          </a:p>
          <a:p>
            <a:pPr>
              <a:lnSpc>
                <a:spcPct val="132000"/>
              </a:lnSpc>
              <a:spcBef>
                <a:spcPts val="0"/>
              </a:spcBef>
              <a:spcAft>
                <a:spcPts val="1100"/>
              </a:spcAft>
            </a:pPr>
            <a:r>
              <a:rPr sz="1000" b="0" i="0">
                <a:solidFill>
                  <a:srgbClr val="5A6068"/>
                </a:solidFill>
                <a:latin typeface="Calibri"/>
              </a:rPr>
              <a:t>Education leads the first and all but vanishes in the third: 40.7% of countries, then +0.13 with 2 of 16 significant. Health and trust do the reverse — health last of the HDI’s five between countries, first inside them at +0.51; trust unmeasured between, second inside at +0.49. The middle panel flattens everything: nothing clears 3%.</a:t>
            </a:r>
          </a:p>
          <a:p>
            <a:pPr>
              <a:lnSpc>
                <a:spcPct val="132000"/>
              </a:lnSpc>
              <a:spcBef>
                <a:spcPts val="0"/>
              </a:spcBef>
              <a:spcAft>
                <a:spcPts val="1100"/>
              </a:spcAft>
            </a:pPr>
            <a:r>
              <a:rPr sz="1000" b="0" i="0">
                <a:solidFill>
                  <a:srgbClr val="5A6068"/>
                </a:solidFill>
                <a:latin typeface="Calibri"/>
              </a:rPr>
              <a:t>The direction of that shift is the finding. What predicts where wellbeing is high is structural — schooling and income, which between countries proxy the whole development bundle at once. What predicts it inside a country is experiential: health and trust. Education’s combination of near-universal significance and tiny effect is exactly what a structural variable looks like once the structure is held fixed.</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L1_three_specifications.png"/>
          <p:cNvPicPr>
            <a:picLocks noChangeAspect="1"/>
          </p:cNvPicPr>
          <p:nvPr/>
        </p:nvPicPr>
        <p:blipFill>
          <a:blip r:embed="rId2"/>
          <a:stretch>
            <a:fillRect/>
          </a:stretch>
        </p:blipFill>
        <p:spPr>
          <a:xfrm>
            <a:off x="5120640" y="1812798"/>
            <a:ext cx="6537960" cy="276606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Panels (a) and (b) are the same HDI indicators on the same 150–151 countries, so the collapse between them is exact. Panel (c) is a different instrument at a different scale — 16 ESS countries with ≥6 matched regions — so it is read alongside (a) and (b), not subtracted from them. Within it, external GDL sub-indices are drawn separately from same-survey self-reports, since the shared-method objection applies only to the latter; health leads on both.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DISCUSSION · SOCIAL TRUST</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The interesting case, and the one the measurement apparatus handles worst</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Trust is not a headline result here and should not be presented as one — it rests on a single instrument with a live shared-method caveat. It is in the paper because the reason it cannot be a headline is itself the commentary’s subject.</a:t>
            </a:r>
          </a:p>
          <a:p>
            <a:pPr>
              <a:lnSpc>
                <a:spcPct val="132000"/>
              </a:lnSpc>
              <a:spcBef>
                <a:spcPts val="0"/>
              </a:spcBef>
              <a:spcAft>
                <a:spcPts val="1100"/>
              </a:spcAft>
            </a:pPr>
            <a:r>
              <a:rPr sz="1400" b="0" i="0">
                <a:solidFill>
                  <a:srgbClr val="5A6068"/>
                </a:solidFill>
                <a:latin typeface="Calibri"/>
              </a:rPr>
              <a:t>Where it is measured it performs: significant in 34 of 36 ESS countries individually, +0.49 within countries across regions, second only to health on both and above education on both. Neither the HDI nor the subnational HDI measures it at all.</a:t>
            </a:r>
          </a:p>
          <a:p>
            <a:pPr>
              <a:lnSpc>
                <a:spcPct val="132000"/>
              </a:lnSpc>
              <a:spcBef>
                <a:spcPts val="0"/>
              </a:spcBef>
              <a:spcAft>
                <a:spcPts val="1100"/>
              </a:spcAft>
            </a:pPr>
            <a:r>
              <a:rPr sz="1400" b="0" i="0">
                <a:solidFill>
                  <a:srgbClr val="5A6068"/>
                </a:solidFill>
                <a:latin typeface="Calibri"/>
              </a:rPr>
              <a:t>The SDG framework appears to: 13 trust- and satisfaction-adjacent series, mostly Goal 16 — satisfaction with public services, belief that decision-making is inclusive, bribery prevalence. But their median coverage is one year per country-series against six database-wide. The design needs at least four years; 147 of the 163 country-series fall short and are never computed at all. Of the 16 that can be run, 1 is significant.</a:t>
            </a:r>
          </a:p>
          <a:p>
            <a:pPr>
              <a:lnSpc>
                <a:spcPct val="132000"/>
              </a:lnSpc>
              <a:spcBef>
                <a:spcPts val="0"/>
              </a:spcBef>
              <a:spcAft>
                <a:spcPts val="1100"/>
              </a:spcAft>
            </a:pPr>
            <a:r>
              <a:rPr sz="1400" b="0" i="0">
                <a:solidFill>
                  <a:srgbClr val="5A6068"/>
                </a:solidFill>
                <a:latin typeface="Calibri"/>
              </a:rPr>
              <a:t>Report that as “1 of 16 testable”, never “1 of 163”. The latter reads as a null when it is overwhelmingly a coverage gap — and reporting a coverage gap as a null would repeat the exact error this commentary accuses the frameworks of making.</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DISCUSSION · SOCIAL TRUST</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Tested the only way its coverage allows, and it still does not become a result</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075" b="0" i="0">
                <a:solidFill>
                  <a:srgbClr val="5A6068"/>
                </a:solidFill>
                <a:latin typeface="Calibri"/>
              </a:rPr>
              <a:t>One year per country is useless longitudinally and perfectly usable cross-sectionally, so we pulled the raw values from the UN SDG database and ran the series against the ladder across countries. Nine of the 13 clear a 12-country minimum and four are significant: bribery paid by individuals (−0.55) and firms (−0.51), inclusive decision-making (−0.42), satisfaction with healthcare (+0.33).</a:t>
            </a:r>
          </a:p>
          <a:p>
            <a:pPr>
              <a:lnSpc>
                <a:spcPct val="132000"/>
              </a:lnSpc>
              <a:spcBef>
                <a:spcPts val="0"/>
              </a:spcBef>
              <a:spcAft>
                <a:spcPts val="1100"/>
              </a:spcAft>
            </a:pPr>
            <a:r>
              <a:rPr sz="1075" b="0" i="0">
                <a:solidFill>
                  <a:srgbClr val="5A6068"/>
                </a:solidFill>
                <a:latin typeface="Calibri"/>
              </a:rPr>
              <a:t>Three things stop that being a rescue. Every one of the four is weaker than what the frameworks already carry — on the same 134 countries the HDI and its components sit at |r| 0.71–0.83. The broadest series, satisfaction with healthcare, is Gallup World Poll, the same survey that produces the ladder. And none of the 13 measures interpersonal trust: they measure institutional confidence, a different construct.</a:t>
            </a:r>
          </a:p>
          <a:p>
            <a:pPr>
              <a:lnSpc>
                <a:spcPct val="132000"/>
              </a:lnSpc>
              <a:spcBef>
                <a:spcPts val="0"/>
              </a:spcBef>
              <a:spcAft>
                <a:spcPts val="1100"/>
              </a:spcAft>
            </a:pPr>
            <a:r>
              <a:rPr sz="1075" b="0" i="0">
                <a:solidFill>
                  <a:srgbClr val="5A6068"/>
                </a:solidFill>
                <a:latin typeface="Calibri"/>
              </a:rPr>
              <a:t>Income control kills all nine — but it also kills the HDI (+0.82 raw, +0.09 net). No cross-section of countries separates anything from income, which is why the levels-and-differences design exists, and the panel says so to stop the null being read as trust-specific.</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K1_sdg_trust_cross_section.png"/>
          <p:cNvPicPr>
            <a:picLocks noChangeAspect="1"/>
          </p:cNvPicPr>
          <p:nvPr/>
        </p:nvPicPr>
        <p:blipFill>
          <a:blip r:embed="rId2"/>
          <a:stretch>
            <a:fillRect/>
          </a:stretch>
        </p:blipFill>
        <p:spPr>
          <a:xfrm>
            <a:off x="5120640" y="1690377"/>
            <a:ext cx="6537960" cy="3010902"/>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Nine of the 13 SDG trust- and satisfaction-adjacent series, one observation per country, against the WHR Cantril ladder. Raw values pulled from the UN SDG Global Database API.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SYNTHESIS</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The pattern of blind spots is the result</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Laid out side by side, the three domains have three signatures. Education leads the HDI and the access construct of SDG4, is near-universal at the individual level, and is the smallest effect anywhere — a structural variable behaving exactly as one should. Health leads the SDG framework, the individual data and the regional data, and is weak in precisely one place, the HDI, for a reason we can name. Trust leads nothing it is not the only candidate for, and is invisible to every development framework.</a:t>
            </a:r>
          </a:p>
          <a:p>
            <a:pPr>
              <a:lnSpc>
                <a:spcPct val="132000"/>
              </a:lnSpc>
              <a:spcBef>
                <a:spcPts val="0"/>
              </a:spcBef>
              <a:spcAft>
                <a:spcPts val="1100"/>
              </a:spcAft>
            </a:pPr>
            <a:r>
              <a:rPr sz="1150" b="0" i="0">
                <a:solidFill>
                  <a:srgbClr val="5A6068"/>
                </a:solidFill>
                <a:latin typeface="Calibri"/>
              </a:rPr>
              <a:t>None of these disagreements is about the world. Every one is about an operationalisation choice — which construct, which variable, which specification — which is why the contribution is not a ranking of domains but an account of why the rankings differ.</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domain_scorecard.png"/>
          <p:cNvPicPr>
            <a:picLocks noChangeAspect="1"/>
          </p:cNvPicPr>
          <p:nvPr/>
        </p:nvPicPr>
        <p:blipFill>
          <a:blip r:embed="rId2"/>
          <a:stretch>
            <a:fillRect/>
          </a:stretch>
        </p:blipFill>
        <p:spPr>
          <a:xfrm>
            <a:off x="5120640" y="1888236"/>
            <a:ext cx="6537960" cy="2615184"/>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three domains against the five instruments. Metrics differ by column and are given under each heading; the colours encode whether the domain tracks wellbeing there, shows little signal, or cannot be tested at all.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COMPOSITE</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The three panels the commentary needs</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Commentaries carry one or two display items, so the argument has to fit in a single figure: the replicated collapse, the inversion of the health–education ranking across instruments, and the method check that only health passes.</a:t>
            </a:r>
          </a:p>
          <a:p>
            <a:pPr>
              <a:lnSpc>
                <a:spcPct val="132000"/>
              </a:lnSpc>
              <a:spcBef>
                <a:spcPts val="0"/>
              </a:spcBef>
              <a:spcAft>
                <a:spcPts val="1100"/>
              </a:spcAft>
            </a:pPr>
            <a:r>
              <a:rPr sz="1150" b="0" i="0">
                <a:solidFill>
                  <a:srgbClr val="5A6068"/>
                </a:solidFill>
                <a:latin typeface="Calibri"/>
              </a:rPr>
              <a:t>One caution for the caption. Panels b and c both put measures with different units on a shared axis — panel b normalises to the health-plus-education pair, panel c to the leading domain within each source. Both are there to make an ordering readable, not a magnitude, and the raw values are printed on the bars so a reader can check that.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a:t>
            </a:r>
          </a:p>
        </p:txBody>
      </p:sp>
      <p:pic>
        <p:nvPicPr>
          <p:cNvPr id="6" name="Picture 5" descr="Figure1_commentary.png"/>
          <p:cNvPicPr>
            <a:picLocks noChangeAspect="1"/>
          </p:cNvPicPr>
          <p:nvPr/>
        </p:nvPicPr>
        <p:blipFill>
          <a:blip r:embed="rId2"/>
          <a:stretch>
            <a:fillRect/>
          </a:stretch>
        </p:blipFill>
        <p:spPr>
          <a:xfrm>
            <a:off x="5120640" y="808954"/>
            <a:ext cx="6537960" cy="4773748"/>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Proposed Figure 1 for submission. Draft — see the caution above on panels b and 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8EBEF"/>
        </a:solidFill>
        <a:effectLst/>
      </p:bgPr>
    </p:bg>
    <p:spTree>
      <p:nvGrpSpPr>
        <p:cNvPr id="1" name=""/>
        <p:cNvGrpSpPr/>
        <p:nvPr/>
      </p:nvGrpSpPr>
      <p:grpSpPr/>
      <p:sp>
        <p:nvSpPr>
          <p:cNvPr id="2" name="Rectangle 1"/>
          <p:cNvSpPr/>
          <p:nvPr/>
        </p:nvSpPr>
        <p:spPr>
          <a:xfrm>
            <a:off x="566928" y="2103120"/>
            <a:ext cx="54864" cy="237744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00200"/>
            <a:ext cx="868680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WHERE ACT II LEAVES US</a:t>
            </a:r>
          </a:p>
        </p:txBody>
      </p:sp>
      <p:sp>
        <p:nvSpPr>
          <p:cNvPr id="4" name="TextBox 3"/>
          <p:cNvSpPr txBox="1"/>
          <p:nvPr/>
        </p:nvSpPr>
        <p:spPr>
          <a:xfrm>
            <a:off x="914400" y="2148840"/>
            <a:ext cx="9509760" cy="2926080"/>
          </a:xfrm>
          <a:prstGeom prst="rect">
            <a:avLst/>
          </a:prstGeom>
          <a:noFill/>
        </p:spPr>
        <p:txBody>
          <a:bodyPr wrap="square" lIns="0" rIns="0" tIns="0" bIns="0">
            <a:spAutoFit/>
          </a:bodyPr>
          <a:lstStyle/>
          <a:p>
            <a:pPr>
              <a:lnSpc>
                <a:spcPct val="135000"/>
              </a:lnSpc>
              <a:spcBef>
                <a:spcPts val="0"/>
              </a:spcBef>
              <a:spcAft>
                <a:spcPts val="0"/>
              </a:spcAft>
            </a:pPr>
            <a:r>
              <a:rPr sz="2100" b="0" i="0">
                <a:solidFill>
                  <a:srgbClr val="14171C"/>
                </a:solidFill>
                <a:latin typeface="Georgia"/>
              </a:rPr>
              <a:t>Education leads once it is measured as attainment rather than parity; health leads once it is measured somewhere it still varies; trust leads wherever it is measured at all, which is almost nowhere. And the ranking turns over a second time when the question moves inside countries. The contribution is not a ranking of domains but the demonstration that the ranking depends on construct, on variable, and on specification — none of which the frameworks chose with wellbeing in mind, because that is not what they were built for. Which is what makes the third act a question about fit rather than a charge of failure.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8229600" y="822960"/>
            <a:ext cx="3291840" cy="4114800"/>
          </a:xfrm>
          <a:prstGeom prst="rect">
            <a:avLst/>
          </a:prstGeom>
          <a:noFill/>
        </p:spPr>
        <p:txBody>
          <a:bodyPr wrap="square" lIns="0" rIns="0" tIns="0" bIns="0">
            <a:spAutoFit/>
          </a:bodyPr>
          <a:lstStyle/>
          <a:p>
            <a:pPr algn="r">
              <a:spcBef>
                <a:spcPts val="0"/>
              </a:spcBef>
              <a:spcAft>
                <a:spcPts val="0"/>
              </a:spcAft>
            </a:pPr>
            <a:r>
              <a:rPr sz="20000" b="0" i="0">
                <a:solidFill>
                  <a:srgbClr val="2A3340"/>
                </a:solidFill>
                <a:latin typeface="Georgia"/>
              </a:rPr>
              <a:t>III</a:t>
            </a:r>
          </a:p>
        </p:txBody>
      </p:sp>
      <p:sp>
        <p:nvSpPr>
          <p:cNvPr id="3" name="Rectangle 2"/>
          <p:cNvSpPr/>
          <p:nvPr/>
        </p:nvSpPr>
        <p:spPr>
          <a:xfrm>
            <a:off x="566928" y="1371600"/>
            <a:ext cx="7315200" cy="25400"/>
          </a:xfrm>
          <a:prstGeom prst="rect">
            <a:avLst/>
          </a:prstGeom>
          <a:solidFill>
            <a:srgbClr val="C9D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60120"/>
            <a:ext cx="5486400" cy="274320"/>
          </a:xfrm>
          <a:prstGeom prst="rect">
            <a:avLst/>
          </a:prstGeom>
          <a:noFill/>
        </p:spPr>
        <p:txBody>
          <a:bodyPr wrap="square" lIns="0" rIns="0" tIns="0" bIns="0">
            <a:spAutoFit/>
          </a:bodyPr>
          <a:lstStyle/>
          <a:p>
            <a:pPr>
              <a:spcBef>
                <a:spcPts val="0"/>
              </a:spcBef>
              <a:spcAft>
                <a:spcPts val="0"/>
              </a:spcAft>
            </a:pPr>
            <a:r>
              <a:rPr sz="1100" b="0" i="0">
                <a:solidFill>
                  <a:srgbClr val="C9D8EC"/>
                </a:solidFill>
                <a:latin typeface="Consolas"/>
              </a:rPr>
              <a:t>ACT III</a:t>
            </a:r>
          </a:p>
        </p:txBody>
      </p:sp>
      <p:sp>
        <p:nvSpPr>
          <p:cNvPr id="5" name="TextBox 4"/>
          <p:cNvSpPr txBox="1"/>
          <p:nvPr/>
        </p:nvSpPr>
        <p:spPr>
          <a:xfrm>
            <a:off x="566928" y="1783080"/>
            <a:ext cx="7223760" cy="1828800"/>
          </a:xfrm>
          <a:prstGeom prst="rect">
            <a:avLst/>
          </a:prstGeom>
          <a:noFill/>
        </p:spPr>
        <p:txBody>
          <a:bodyPr wrap="square" lIns="0" rIns="0" tIns="0" bIns="0">
            <a:spAutoFit/>
          </a:bodyPr>
          <a:lstStyle/>
          <a:p>
            <a:pPr>
              <a:lnSpc>
                <a:spcPct val="102000"/>
              </a:lnSpc>
              <a:spcBef>
                <a:spcPts val="0"/>
              </a:spcBef>
              <a:spcAft>
                <a:spcPts val="0"/>
              </a:spcAft>
            </a:pPr>
            <a:r>
              <a:rPr sz="4000" b="0" i="0">
                <a:solidFill>
                  <a:srgbClr val="FCFCFB"/>
                </a:solidFill>
                <a:latin typeface="Georgia"/>
              </a:rPr>
              <a:t>What this may imply for how development is measured</a:t>
            </a:r>
          </a:p>
        </p:txBody>
      </p:sp>
      <p:sp>
        <p:nvSpPr>
          <p:cNvPr id="6" name="TextBox 5"/>
          <p:cNvSpPr txBox="1"/>
          <p:nvPr/>
        </p:nvSpPr>
        <p:spPr>
          <a:xfrm>
            <a:off x="566928" y="3886200"/>
            <a:ext cx="6766560" cy="1463040"/>
          </a:xfrm>
          <a:prstGeom prst="rect">
            <a:avLst/>
          </a:prstGeom>
          <a:noFill/>
        </p:spPr>
        <p:txBody>
          <a:bodyPr wrap="square" lIns="0" rIns="0" tIns="0" bIns="0">
            <a:spAutoFit/>
          </a:bodyPr>
          <a:lstStyle/>
          <a:p>
            <a:pPr>
              <a:lnSpc>
                <a:spcPct val="135000"/>
              </a:lnSpc>
              <a:spcBef>
                <a:spcPts val="0"/>
              </a:spcBef>
              <a:spcAft>
                <a:spcPts val="0"/>
              </a:spcAft>
            </a:pPr>
            <a:r>
              <a:rPr sz="1200" b="0" i="1">
                <a:solidFill>
                  <a:srgbClr val="9AA4B0"/>
                </a:solidFill>
                <a:latin typeface="Georgia"/>
              </a:rPr>
              <a:t>These are implications, not recommendations. The frameworks were not built to track wellbeing and it is no criticism of them that they do not; measured against their own purposes they work. What the three results describe is a disconnect — between what development measurement currently captures and what turns out to track individual lived experience. If wellbeing is to be part of what these frameworks are for, education, health and social trust each say something specific about what capturing it would take.</a:t>
            </a:r>
          </a:p>
        </p:txBody>
      </p:sp>
      <p:sp>
        <p:nvSpPr>
          <p:cNvPr id="7" name="TextBox 6"/>
          <p:cNvSpPr txBox="1"/>
          <p:nvPr/>
        </p:nvSpPr>
        <p:spPr>
          <a:xfrm>
            <a:off x="566928"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+0.87 → +0.12</a:t>
            </a:r>
          </a:p>
          <a:p>
            <a:pPr>
              <a:lnSpc>
                <a:spcPct val="120000"/>
              </a:lnSpc>
              <a:spcBef>
                <a:spcPts val="0"/>
              </a:spcBef>
              <a:spcAft>
                <a:spcPts val="0"/>
              </a:spcAft>
            </a:pPr>
            <a:r>
              <a:rPr sz="1000" b="0" i="0">
                <a:solidFill>
                  <a:srgbClr val="8A94A0"/>
                </a:solidFill>
                <a:latin typeface="Calibri"/>
              </a:rPr>
              <a:t>development, between countries → within them</a:t>
            </a:r>
          </a:p>
        </p:txBody>
      </p:sp>
      <p:sp>
        <p:nvSpPr>
          <p:cNvPr id="8" name="TextBox 7"/>
          <p:cNvSpPr txBox="1"/>
          <p:nvPr/>
        </p:nvSpPr>
        <p:spPr>
          <a:xfrm>
            <a:off x="4344314"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+0.13 vs +0.51</a:t>
            </a:r>
          </a:p>
          <a:p>
            <a:pPr>
              <a:lnSpc>
                <a:spcPct val="120000"/>
              </a:lnSpc>
              <a:spcBef>
                <a:spcPts val="0"/>
              </a:spcBef>
              <a:spcAft>
                <a:spcPts val="0"/>
              </a:spcAft>
            </a:pPr>
            <a:r>
              <a:rPr sz="1000" b="0" i="0">
                <a:solidFill>
                  <a:srgbClr val="8A94A0"/>
                </a:solidFill>
                <a:latin typeface="Calibri"/>
              </a:rPr>
              <a:t>education vs health inside countries, across regions</a:t>
            </a:r>
          </a:p>
        </p:txBody>
      </p:sp>
      <p:sp>
        <p:nvSpPr>
          <p:cNvPr id="9" name="TextBox 8"/>
          <p:cNvSpPr txBox="1"/>
          <p:nvPr/>
        </p:nvSpPr>
        <p:spPr>
          <a:xfrm>
            <a:off x="8121700" y="5623560"/>
            <a:ext cx="3503066" cy="914400"/>
          </a:xfrm>
          <a:prstGeom prst="rect">
            <a:avLst/>
          </a:prstGeom>
          <a:noFill/>
        </p:spPr>
        <p:txBody>
          <a:bodyPr wrap="square" lIns="0" rIns="0" tIns="0" bIns="0">
            <a:spAutoFit/>
          </a:bodyPr>
          <a:lstStyle/>
          <a:p>
            <a:pPr>
              <a:spcBef>
                <a:spcPts val="0"/>
              </a:spcBef>
              <a:spcAft>
                <a:spcPts val="400"/>
              </a:spcAft>
            </a:pPr>
            <a:r>
              <a:rPr sz="2200" b="0" i="0">
                <a:solidFill>
                  <a:srgbClr val="FCFCFB"/>
                </a:solidFill>
                <a:latin typeface="Consolas"/>
              </a:rPr>
              <a:t>11.2% vs 1.2%</a:t>
            </a:r>
          </a:p>
          <a:p>
            <a:pPr>
              <a:lnSpc>
                <a:spcPct val="120000"/>
              </a:lnSpc>
              <a:spcBef>
                <a:spcPts val="0"/>
              </a:spcBef>
              <a:spcAft>
                <a:spcPts val="0"/>
              </a:spcAft>
            </a:pPr>
            <a:r>
              <a:rPr sz="1000" b="0" i="0">
                <a:solidFill>
                  <a:srgbClr val="8A94A0"/>
                </a:solidFill>
                <a:latin typeface="Calibri"/>
              </a:rPr>
              <a:t>health vs education, SDG data, high-income countries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WHERE THE LEVER IS</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Development inequality inside countries mostly does not become wellbeing inequality</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Below the Very High tier, countries contain multitudes. Germany's regions span 0.05 of subnational HDI; China's span 0.30 and India's 0.19 — several development tiers' worth of variation inside single countries. If regional development drove regional wellbeing, this is where it would show.</a:t>
            </a:r>
          </a:p>
          <a:p>
            <a:pPr>
              <a:lnSpc>
                <a:spcPct val="132000"/>
              </a:lnSpc>
              <a:spcBef>
                <a:spcPts val="0"/>
              </a:spcBef>
              <a:spcAft>
                <a:spcPts val="1100"/>
              </a:spcAft>
            </a:pPr>
            <a:r>
              <a:rPr sz="1150" b="0" i="0">
                <a:solidFill>
                  <a:srgbClr val="5A6068"/>
                </a:solidFill>
                <a:latin typeface="Calibri"/>
              </a:rPr>
              <a:t>It mostly doesn't. Holding country fixed and regressing region-mean life satisfaction on regional subnational HDI gives a significantly positive gradient in only 3 of 16 ESS countries — France, Belgium, and Germany — and the gradient is not steeper where internal inequality is larger. Which country's ladder you are on matters more than which rung you occupy within it.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pic>
        <p:nvPicPr>
          <p:cNvPr id="6" name="Picture 5" descr="within_country_gradient.png"/>
          <p:cNvPicPr>
            <a:picLocks noChangeAspect="1"/>
          </p:cNvPicPr>
          <p:nvPr/>
        </p:nvPicPr>
        <p:blipFill>
          <a:blip r:embed="rId2"/>
          <a:stretch>
            <a:fillRect/>
          </a:stretch>
        </p:blipFill>
        <p:spPr>
          <a:xfrm>
            <a:off x="5120640" y="1553033"/>
            <a:ext cx="6537960" cy="3285590"/>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Within-country gradients of region-mean life satisfaction on regional SHDI, 16 ESS countries ordered by national HDI.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FLIP</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Health and social trust do inside countries what development does between them</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900" b="0" i="0">
                <a:solidFill>
                  <a:srgbClr val="5A6068"/>
                </a:solidFill>
                <a:latin typeface="Calibri"/>
              </a:rPr>
              <a:t>Between countries, development leads and the two wellbeing instruments agree almost exactly: the HDI correlates at r = +0.89 with World Happiness Report happiness and +0.87 with ESS life satisfaction, with trust and health close behind and all three positive.</a:t>
            </a:r>
          </a:p>
          <a:p>
            <a:pPr>
              <a:lnSpc>
                <a:spcPct val="132000"/>
              </a:lnSpc>
              <a:spcBef>
                <a:spcPts val="0"/>
              </a:spcBef>
              <a:spcAft>
                <a:spcPts val="1100"/>
              </a:spcAft>
            </a:pPr>
            <a:r>
              <a:rPr sz="900" b="0" i="0">
                <a:solidFill>
                  <a:srgbClr val="5A6068"/>
                </a:solidFill>
                <a:latin typeface="Calibri"/>
              </a:rPr>
              <a:t>Within countries the ranking inverts. Development falls to a median regional correlation of +0.12, significant in 3 of 16 countries, while self-rated health holds at +0.51 (8 of 16) and social trust at +0.49 (6 of 16). Education falls with development, not with health and trust: +0.13, 2 of 16. The World Happiness Report cannot see any of this — it has no subnational values. It is the specific thing the ESS adds.</a:t>
            </a:r>
          </a:p>
          <a:p>
            <a:pPr>
              <a:lnSpc>
                <a:spcPct val="132000"/>
              </a:lnSpc>
              <a:spcBef>
                <a:spcPts val="0"/>
              </a:spcBef>
              <a:spcAft>
                <a:spcPts val="1100"/>
              </a:spcAft>
            </a:pPr>
            <a:r>
              <a:rPr sz="900" b="0" i="0">
                <a:solidFill>
                  <a:srgbClr val="5A6068"/>
                </a:solidFill>
                <a:latin typeface="Calibri"/>
              </a:rPr>
              <a:t>This is the third panel of Act II's specification figure, at full detail. The point that figure makes and this beat supplies the evidence for: the domains that lead between countries are the structural ones, and they are not the domains that lead inside them.</a:t>
            </a:r>
          </a:p>
          <a:p>
            <a:pPr>
              <a:lnSpc>
                <a:spcPct val="132000"/>
              </a:lnSpc>
              <a:spcBef>
                <a:spcPts val="0"/>
              </a:spcBef>
              <a:spcAft>
                <a:spcPts val="1100"/>
              </a:spcAft>
            </a:pPr>
            <a:r>
              <a:rPr sz="900" b="0" i="0">
                <a:solidFill>
                  <a:srgbClr val="5A6068"/>
                </a:solidFill>
                <a:latin typeface="Calibri"/>
              </a:rPr>
              <a:t>Two cautions on the detail. The health-versus-trust ordering is not stable: aggregating region means across waves rather than within them reverses it, putting trust at +0.57 and health at +0.50. What is stable, under every specification we tried, is that both sit near +0.5 while development sits near zero. And per-country coverage varies sharply — Italy matches only 30% of respondents to a region, Sweden 57%, Croatia 69%, against 91–100% elsewhere. Dropping those three, or dropping regions built on fewer than 200 respondents, leaves the flip intact.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pic>
        <p:nvPicPr>
          <p:cNvPr id="6" name="Picture 5" descr="ranking_flip.png"/>
          <p:cNvPicPr>
            <a:picLocks noChangeAspect="1"/>
          </p:cNvPicPr>
          <p:nvPr/>
        </p:nvPicPr>
        <p:blipFill>
          <a:blip r:embed="rId2"/>
          <a:stretch>
            <a:fillRect/>
          </a:stretch>
        </p:blipFill>
        <p:spPr>
          <a:xfrm>
            <a:off x="5120640" y="1711429"/>
            <a:ext cx="6537960" cy="2968798"/>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Candidate Figure 2. National correlations beside within-country regional correlations, for development, health, and trust.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416052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FLIP, EXTERNALLY MEASURED</a:t>
            </a:r>
          </a:p>
        </p:txBody>
      </p:sp>
      <p:sp>
        <p:nvSpPr>
          <p:cNvPr id="3" name="TextBox 2"/>
          <p:cNvSpPr txBox="1"/>
          <p:nvPr/>
        </p:nvSpPr>
        <p:spPr>
          <a:xfrm>
            <a:off x="566928" y="914400"/>
            <a:ext cx="4160520" cy="1371600"/>
          </a:xfrm>
          <a:prstGeom prst="rect">
            <a:avLst/>
          </a:prstGeom>
          <a:noFill/>
        </p:spPr>
        <p:txBody>
          <a:bodyPr wrap="square" lIns="0" rIns="0" tIns="0" bIns="0">
            <a:spAutoFit/>
          </a:bodyPr>
          <a:lstStyle/>
          <a:p>
            <a:pPr>
              <a:lnSpc>
                <a:spcPct val="108000"/>
              </a:lnSpc>
              <a:spcBef>
                <a:spcPts val="0"/>
              </a:spcBef>
              <a:spcAft>
                <a:spcPts val="0"/>
              </a:spcAft>
            </a:pPr>
            <a:r>
              <a:rPr sz="2300" b="0" i="0">
                <a:solidFill>
                  <a:srgbClr val="14171C"/>
                </a:solidFill>
                <a:latin typeface="Georgia"/>
              </a:rPr>
              <a:t>It survives with no self-report at all — and it is a health flip</a:t>
            </a:r>
          </a:p>
        </p:txBody>
      </p:sp>
      <p:sp>
        <p:nvSpPr>
          <p:cNvPr id="4" name="TextBox 3"/>
          <p:cNvSpPr txBox="1"/>
          <p:nvPr/>
        </p:nvSpPr>
        <p:spPr>
          <a:xfrm>
            <a:off x="566928" y="2331720"/>
            <a:ext cx="4160520" cy="3840480"/>
          </a:xfrm>
          <a:prstGeom prst="rect">
            <a:avLst/>
          </a:prstGeom>
          <a:noFill/>
        </p:spPr>
        <p:txBody>
          <a:bodyPr wrap="square" lIns="0" rIns="0" tIns="0" bIns="0">
            <a:spAutoFit/>
          </a:bodyPr>
          <a:lstStyle/>
          <a:p>
            <a:pPr>
              <a:lnSpc>
                <a:spcPct val="132000"/>
              </a:lnSpc>
              <a:spcBef>
                <a:spcPts val="0"/>
              </a:spcBef>
              <a:spcAft>
                <a:spcPts val="1100"/>
              </a:spcAft>
            </a:pPr>
            <a:r>
              <a:rPr sz="1150" b="0" i="0">
                <a:solidFill>
                  <a:srgbClr val="5A6068"/>
                </a:solidFill>
                <a:latin typeface="Calibri"/>
              </a:rPr>
              <a:t>The strongest objection to the ranking flip is that health and trust are reported by the same respondents as the outcome. GDL's regional sub-indices remove that objection: health, education and income indices measured per region from external sources, sharing no method with the ESS.</a:t>
            </a:r>
          </a:p>
          <a:p>
            <a:pPr>
              <a:lnSpc>
                <a:spcPct val="132000"/>
              </a:lnSpc>
              <a:spcBef>
                <a:spcPts val="0"/>
              </a:spcBef>
              <a:spcAft>
                <a:spcPts val="1100"/>
              </a:spcAft>
            </a:pPr>
            <a:r>
              <a:rPr sz="1150" b="0" i="0">
                <a:solidFill>
                  <a:srgbClr val="5A6068"/>
                </a:solidFill>
                <a:latin typeface="Calibri"/>
              </a:rPr>
              <a:t>Within countries, the external health index correlates with regional life satisfaction at a median of +0.34, significant in 6 of 15 usable countries, against +0.12 for the income index and +0.06 for the education index. The domain ordering is the same one the self-reports give, from measurement the respondents never touched. Self-rated health still runs higher (+0.50), which is exactly what you expect if part — but only part — of its lead is shared method variance. One country drops out: Albania's regional health index is constant, another instance of a measure with no variance left to predict with.</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pic>
        <p:nvPicPr>
          <p:cNvPr id="6" name="Picture 5" descr="within_country_external.png"/>
          <p:cNvPicPr>
            <a:picLocks noChangeAspect="1"/>
          </p:cNvPicPr>
          <p:nvPr/>
        </p:nvPicPr>
        <p:blipFill>
          <a:blip r:embed="rId2"/>
          <a:stretch>
            <a:fillRect/>
          </a:stretch>
        </p:blipFill>
        <p:spPr>
          <a:xfrm>
            <a:off x="5120640" y="1531620"/>
            <a:ext cx="6537960" cy="3328416"/>
          </a:xfrm>
          <a:prstGeom prst="rect">
            <a:avLst/>
          </a:prstGeom>
        </p:spPr>
      </p:pic>
      <p:sp>
        <p:nvSpPr>
          <p:cNvPr id="7" name="TextBox 6"/>
          <p:cNvSpPr txBox="1"/>
          <p:nvPr/>
        </p:nvSpPr>
        <p:spPr>
          <a:xfrm>
            <a:off x="5120640" y="5897880"/>
            <a:ext cx="6537960" cy="731520"/>
          </a:xfrm>
          <a:prstGeom prst="rect">
            <a:avLst/>
          </a:prstGeom>
          <a:noFill/>
        </p:spPr>
        <p:txBody>
          <a:bodyPr wrap="square" lIns="0" rIns="0" tIns="0" bIns="0">
            <a:spAutoFit/>
          </a:bodyPr>
          <a:lstStyle/>
          <a:p>
            <a:pPr>
              <a:lnSpc>
                <a:spcPct val="125000"/>
              </a:lnSpc>
              <a:spcBef>
                <a:spcPts val="0"/>
              </a:spcBef>
              <a:spcAft>
                <a:spcPts val="0"/>
              </a:spcAft>
            </a:pPr>
            <a:r>
              <a:rPr sz="900" b="0" i="0">
                <a:solidFill>
                  <a:srgbClr val="868D96"/>
                </a:solidFill>
                <a:latin typeface="Calibri"/>
              </a:rPr>
              <a:t>The within-country domain race with externally measured predictors (solid) beside the same-survey self-reports (faded). Sub-indices pooled 2010–2023.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THE DISCONNECT</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Stating it precisely, and stating what it is not</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350" b="0" i="0">
                <a:solidFill>
                  <a:srgbClr val="5A6068"/>
                </a:solidFill>
                <a:latin typeface="Calibri"/>
              </a:rPr>
              <a:t>Development indicators tell you reliably where wellbeing is high. They tell you almost nothing about when it will rise. Across every framework tested here, year-on-year indicator movement carries essentially no wellbeing information within the measurement window — a decade or so — and inside countries the domains that lead between them stop leading.</a:t>
            </a:r>
          </a:p>
          <a:p>
            <a:pPr>
              <a:lnSpc>
                <a:spcPct val="132000"/>
              </a:lnSpc>
              <a:spcBef>
                <a:spcPts val="0"/>
              </a:spcBef>
              <a:spcAft>
                <a:spcPts val="1100"/>
              </a:spcAft>
            </a:pPr>
            <a:r>
              <a:rPr sz="1350" b="0" i="0">
                <a:solidFill>
                  <a:srgbClr val="5A6068"/>
                </a:solidFill>
                <a:latin typeface="Calibri"/>
              </a:rPr>
              <a:t>It is worth being explicit about what that is not. It is not an argument that development frameworks should be kept away from wellbeing, or that they have failed. The HDI and the SDGs were built to track development — capability, deprivation, the 2030 Agenda's negotiated priorities — and on those terms they work. Nothing here says otherwise.</a:t>
            </a:r>
          </a:p>
          <a:p>
            <a:pPr>
              <a:lnSpc>
                <a:spcPct val="132000"/>
              </a:lnSpc>
              <a:spcBef>
                <a:spcPts val="0"/>
              </a:spcBef>
              <a:spcAft>
                <a:spcPts val="1100"/>
              </a:spcAft>
            </a:pPr>
            <a:r>
              <a:rPr sz="1350" b="0" i="0">
                <a:solidFill>
                  <a:srgbClr val="5A6068"/>
                </a:solidFill>
                <a:latin typeface="Calibri"/>
              </a:rPr>
              <a:t>What the results describe is a disconnect between two things that are often assumed to move together: what these frameworks currently capture, and what tracks how individuals experience their lives. That assumption is reasonable and mostly untested. Tested, it holds between countries and weakens sharply everywhere else.</a:t>
            </a:r>
          </a:p>
          <a:p>
            <a:pPr>
              <a:lnSpc>
                <a:spcPct val="132000"/>
              </a:lnSpc>
              <a:spcBef>
                <a:spcPts val="0"/>
              </a:spcBef>
              <a:spcAft>
                <a:spcPts val="1100"/>
              </a:spcAft>
            </a:pPr>
            <a:r>
              <a:rPr sz="1350" b="0" i="0">
                <a:solidFill>
                  <a:srgbClr val="5A6068"/>
                </a:solidFill>
                <a:latin typeface="Calibri"/>
              </a:rPr>
              <a:t>So the useful question is not whether development matters. It is which components of it track lived experience, and whether the frameworks are currently in a position to see them. The next three beats take the three results in turn.</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IMPLICATION 1 · EDUCATION</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Which education construct a framework counts turns out to matter</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Global education policy has shifted decisively over the past decade from schooling to learning — the learning-crisis framing, learning-poverty targets, an indicator architecture built around measured proficiency. That shift has good reasons behind it that have nothing to do with wellbeing, and this commentary does not dispute them.</a:t>
            </a:r>
          </a:p>
          <a:p>
            <a:pPr>
              <a:lnSpc>
                <a:spcPct val="132000"/>
              </a:lnSpc>
              <a:spcBef>
                <a:spcPts val="0"/>
              </a:spcBef>
              <a:spcAft>
                <a:spcPts val="1100"/>
              </a:spcAft>
            </a:pPr>
            <a:r>
              <a:rPr sz="1400" b="0" i="0">
                <a:solidFill>
                  <a:srgbClr val="5A6068"/>
                </a:solidFill>
                <a:latin typeface="Calibri"/>
              </a:rPr>
              <a:t>It does observe that the wellbeing signal sits elsewhere. Attainment and access carry it — 12.7% for SDG4 access, 40.7% and 34.0% for the HDI's schooling components, 32 of 36 countries at the individual level — while measured learning outcomes sit at 0.9% and parity ratios at 2.5%. A framework that reads SDG4 pooled will conclude education barely matters for wellbeing; one that reads the access series will rank it third of seventeen goals. Same data, same countries.</a:t>
            </a:r>
          </a:p>
          <a:p>
            <a:pPr>
              <a:lnSpc>
                <a:spcPct val="132000"/>
              </a:lnSpc>
              <a:spcBef>
                <a:spcPts val="0"/>
              </a:spcBef>
              <a:spcAft>
                <a:spcPts val="1100"/>
              </a:spcAft>
            </a:pPr>
            <a:r>
              <a:rPr sz="1400" b="0" i="0">
                <a:solidFill>
                  <a:srgbClr val="5A6068"/>
                </a:solidFill>
                <a:latin typeface="Calibri"/>
              </a:rPr>
              <a:t>Two cautions travel with this and it is weaker without them. Education is the most consistent signal and the smallest one. And it is a between-country signal: inside countries it falls to +0.13 with 2 of 16 significant. So the implication is about what a global monitoring framework counts, not a claim that moving one region's schooling moves its wellbeing.</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IMPLICATION 2 · HEALTH</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A domain can disappear from a framework by being measured where it has stopped moving</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Life expectancy is the standard summary of population health and the HDI's only health input, and it is the weakest of the five against wellbeing. Health is simultaneously the strongest domain in the SDG database and in the individual data. The gap between those two facts is not substantive; it is that life expectancy has largely stopped varying across the countries where it is tested.</a:t>
            </a:r>
          </a:p>
          <a:p>
            <a:pPr>
              <a:lnSpc>
                <a:spcPct val="132000"/>
              </a:lnSpc>
              <a:spcBef>
                <a:spcPts val="0"/>
              </a:spcBef>
              <a:spcAft>
                <a:spcPts val="1100"/>
              </a:spcAft>
            </a:pPr>
            <a:r>
              <a:rPr sz="1400" b="0" i="0">
                <a:solidFill>
                  <a:srgbClr val="5A6068"/>
                </a:solidFill>
                <a:latin typeface="Calibri"/>
              </a:rPr>
              <a:t>What still carries health's signal is survival at the margin — child, infant and neonatal mortality, stunting, sanitation, safe water — and, in richer countries, self-rated health, which picks up morbidity and functional limitation that life expectancy cannot see. Both are already collected. The implication is about which of them a framework reads as its health signal in a high-income setting, not about adding a new instrument.</a:t>
            </a:r>
          </a:p>
          <a:p>
            <a:pPr>
              <a:lnSpc>
                <a:spcPct val="132000"/>
              </a:lnSpc>
              <a:spcBef>
                <a:spcPts val="0"/>
              </a:spcBef>
              <a:spcAft>
                <a:spcPts val="1100"/>
              </a:spcAft>
            </a:pPr>
            <a:r>
              <a:rPr sz="1400" b="0" i="0">
                <a:solidFill>
                  <a:srgbClr val="5A6068"/>
                </a:solidFill>
                <a:latin typeface="Calibri"/>
              </a:rPr>
              <a:t>Health is also where the scale point runs the other way from education's: weak between countries and strong inside them. A subnational health measure is doing work a national one cannot, which suggests disaggregation matters here as much as indicator choice.</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IMPLICATION 3 · SOCIAL TRUST</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A component that looks important, and that no framework is currently positioned to check</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Social trust is at or near the top of every test the ESS can run — 34 of 36 countries, +0.49 within countries — and no development framework can currently check it. The HDI and subnational HDI do not measure the construct. The SDG framework's 13 satisfaction and integrity series average one observation per country, which supports no longitudinal design.</a:t>
            </a:r>
          </a:p>
          <a:p>
            <a:pPr>
              <a:lnSpc>
                <a:spcPct val="132000"/>
              </a:lnSpc>
              <a:spcBef>
                <a:spcPts val="0"/>
              </a:spcBef>
              <a:spcAft>
                <a:spcPts val="1100"/>
              </a:spcAft>
            </a:pPr>
            <a:r>
              <a:rPr sz="1400" b="0" i="0">
                <a:solidFill>
                  <a:srgbClr val="5A6068"/>
                </a:solidFill>
                <a:latin typeface="Calibri"/>
              </a:rPr>
              <a:t>We did not stop at asserting that. Act II runs those series the only way their coverage permits, across countries rather than years: 9 are testable, 4 significant, and all four land below the HDI's own components on the same countries. So the gap is a real gap, established rather than assumed.</a:t>
            </a:r>
          </a:p>
          <a:p>
            <a:pPr>
              <a:lnSpc>
                <a:spcPct val="132000"/>
              </a:lnSpc>
              <a:spcBef>
                <a:spcPts val="0"/>
              </a:spcBef>
              <a:spcAft>
                <a:spcPts val="1100"/>
              </a:spcAft>
            </a:pPr>
            <a:r>
              <a:rPr sz="1400" b="0" i="0">
                <a:solidFill>
                  <a:srgbClr val="5A6068"/>
                </a:solidFill>
                <a:latin typeface="Calibri"/>
              </a:rPr>
              <a:t>The implication is the most tentative of the three, and should be presented that way. Trust rests on one instrument, in Europe, with a live shared-method caveat. What can be said is narrow and still useful: a component that performs this well wherever it is measured is currently invisible to development measurement, and it is invisible for reasons of coverage rather than because it was weighed and found wanting. A repeated generalised-trust item — already standard in the ESS, the World Values Survey and several national statistical series — would be enough to find out.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WHAT WE CANNOT SAY</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Three limits that keep this a question rather than a recommendation</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None of this is causal. The design is correlational throughout, and the levels results in particular are cross-sectional comparisons between countries.</a:t>
            </a:r>
          </a:p>
          <a:p>
            <a:pPr>
              <a:lnSpc>
                <a:spcPct val="132000"/>
              </a:lnSpc>
              <a:spcBef>
                <a:spcPts val="0"/>
              </a:spcBef>
              <a:spcAft>
                <a:spcPts val="1100"/>
              </a:spcAft>
            </a:pPr>
            <a:r>
              <a:rPr sz="1400" b="0" i="0">
                <a:solidFill>
                  <a:srgbClr val="5A6068"/>
                </a:solidFill>
                <a:latin typeface="Calibri"/>
              </a:rPr>
              <a:t>Schooling cannot be separated from what schooling stands in for. Years attained proxy labour-market position, economic security, autonomy, and social standing, and this design cannot pull them apart. Individual effects are small: a median R² near 0.01.</a:t>
            </a:r>
          </a:p>
          <a:p>
            <a:pPr>
              <a:lnSpc>
                <a:spcPct val="132000"/>
              </a:lnSpc>
              <a:spcBef>
                <a:spcPts val="0"/>
              </a:spcBef>
              <a:spcAft>
                <a:spcPts val="1100"/>
              </a:spcAft>
            </a:pPr>
            <a:r>
              <a:rPr sz="1400" b="0" i="0">
                <a:solidFill>
                  <a:srgbClr val="5A6068"/>
                </a:solidFill>
                <a:latin typeface="Calibri"/>
              </a:rPr>
              <a:t>The within-country results are Europe-only. The ESS is the only regional wellbeing source with the coverage this design needs — Gallup's subnational files are paywalled — so the priorities argument generalises across 16 European countries and not beyond them. That belongs in the text as a scope condition, not buried in a limitations paragraph, because the ranking flip is the most policy-relevant result here and will be the most contested.</a:t>
            </a:r>
          </a:p>
          <a:p>
            <a:pPr>
              <a:lnSpc>
                <a:spcPct val="132000"/>
              </a:lnSpc>
              <a:spcBef>
                <a:spcPts val="0"/>
              </a:spcBef>
              <a:spcAft>
                <a:spcPts val="1100"/>
              </a:spcAft>
            </a:pPr>
            <a:r>
              <a:rPr sz="1400" b="0" i="0">
                <a:solidFill>
                  <a:srgbClr val="5A6068"/>
                </a:solidFill>
                <a:latin typeface="Calibri"/>
              </a:rPr>
              <a:t>Some of the parity and learning indicators' weakness is coverage rather than construct — they are the youngest and thinnest series in the SDG database, and thin series fail significance tests for uninteresting reasons. The commentary should concede this explicitly and say what would settle it.</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595360" cy="274320"/>
          </a:xfrm>
          <a:prstGeom prst="rect">
            <a:avLst/>
          </a:prstGeom>
          <a:noFill/>
        </p:spPr>
        <p:txBody>
          <a:bodyPr wrap="square" lIns="0" rIns="0" tIns="0" bIns="0">
            <a:spAutoFit/>
          </a:bodyPr>
          <a:lstStyle/>
          <a:p>
            <a:pPr>
              <a:spcBef>
                <a:spcPts val="0"/>
              </a:spcBef>
              <a:spcAft>
                <a:spcPts val="0"/>
              </a:spcAft>
            </a:pPr>
            <a:r>
              <a:rPr sz="1000" b="0" i="0">
                <a:solidFill>
                  <a:srgbClr val="A63A30"/>
                </a:solidFill>
                <a:latin typeface="Consolas"/>
              </a:rPr>
              <a:t>WHERE THIS LEAVES IT</a:t>
            </a:r>
          </a:p>
        </p:txBody>
      </p:sp>
      <p:sp>
        <p:nvSpPr>
          <p:cNvPr id="3" name="TextBox 2"/>
          <p:cNvSpPr txBox="1"/>
          <p:nvPr/>
        </p:nvSpPr>
        <p:spPr>
          <a:xfrm>
            <a:off x="566928" y="914400"/>
            <a:ext cx="8595360" cy="1371600"/>
          </a:xfrm>
          <a:prstGeom prst="rect">
            <a:avLst/>
          </a:prstGeom>
          <a:noFill/>
        </p:spPr>
        <p:txBody>
          <a:bodyPr wrap="square" lIns="0" rIns="0" tIns="0" bIns="0">
            <a:spAutoFit/>
          </a:bodyPr>
          <a:lstStyle/>
          <a:p>
            <a:pPr>
              <a:lnSpc>
                <a:spcPct val="108000"/>
              </a:lnSpc>
              <a:spcBef>
                <a:spcPts val="0"/>
              </a:spcBef>
              <a:spcAft>
                <a:spcPts val="0"/>
              </a:spcAft>
            </a:pPr>
            <a:r>
              <a:rPr sz="2700" b="0" i="0">
                <a:solidFill>
                  <a:srgbClr val="14171C"/>
                </a:solidFill>
                <a:latin typeface="Georgia"/>
              </a:rPr>
              <a:t>Development frameworks may need to work harder at capturing what shapes lived experience</a:t>
            </a:r>
          </a:p>
        </p:txBody>
      </p:sp>
      <p:sp>
        <p:nvSpPr>
          <p:cNvPr id="4" name="TextBox 3"/>
          <p:cNvSpPr txBox="1"/>
          <p:nvPr/>
        </p:nvSpPr>
        <p:spPr>
          <a:xfrm>
            <a:off x="566928" y="2286000"/>
            <a:ext cx="8595360" cy="3840480"/>
          </a:xfrm>
          <a:prstGeom prst="rect">
            <a:avLst/>
          </a:prstGeom>
          <a:noFill/>
        </p:spPr>
        <p:txBody>
          <a:bodyPr wrap="square" lIns="0" rIns="0" tIns="0" bIns="0">
            <a:spAutoFit/>
          </a:bodyPr>
          <a:lstStyle/>
          <a:p>
            <a:pPr>
              <a:lnSpc>
                <a:spcPct val="132000"/>
              </a:lnSpc>
              <a:spcBef>
                <a:spcPts val="0"/>
              </a:spcBef>
              <a:spcAft>
                <a:spcPts val="1100"/>
              </a:spcAft>
            </a:pPr>
            <a:r>
              <a:rPr sz="1400" b="0" i="0">
                <a:solidFill>
                  <a:srgbClr val="5A6068"/>
                </a:solidFill>
                <a:latin typeface="Calibri"/>
              </a:rPr>
              <a:t>That is the conclusion, and it is deliberately exploratory. Three components look consequential for how individuals experience their lives — education, health, social trust — and each is currently captured in a way that makes it hard for a development framework to see. Education is pooled with constructs that point the other way. Health is read through a variable that has largely stopped moving. Social trust is not measured with the coverage any longitudinal design requires.</a:t>
            </a:r>
          </a:p>
          <a:p>
            <a:pPr>
              <a:lnSpc>
                <a:spcPct val="132000"/>
              </a:lnSpc>
              <a:spcBef>
                <a:spcPts val="0"/>
              </a:spcBef>
              <a:spcAft>
                <a:spcPts val="1100"/>
              </a:spcAft>
            </a:pPr>
            <a:r>
              <a:rPr sz="1400" b="0" i="0">
                <a:solidFill>
                  <a:srgbClr val="5A6068"/>
                </a:solidFill>
                <a:latin typeface="Calibri"/>
              </a:rPr>
              <a:t>None of that is a demand that these frameworks become wellbeing instruments. It is the narrower observation that if wellbeing is to inform what development measurement counts — and the post-2030 conversation suggests it may — then the first question is not which domain to prioritise but whether each is being measured somewhere it can still move. On the evidence here, for at least two of the three, it is not.</a:t>
            </a:r>
          </a:p>
          <a:p>
            <a:pPr>
              <a:lnSpc>
                <a:spcPct val="132000"/>
              </a:lnSpc>
              <a:spcBef>
                <a:spcPts val="0"/>
              </a:spcBef>
              <a:spcAft>
                <a:spcPts val="1100"/>
              </a:spcAft>
            </a:pPr>
            <a:r>
              <a:rPr sz="1400" b="0" i="0">
                <a:solidFill>
                  <a:srgbClr val="5A6068"/>
                </a:solidFill>
                <a:latin typeface="Calibri"/>
              </a:rPr>
              <a:t>The honest form of the ask is a question rather than a prescription: what would a development framework look like if the components that track individual lived experience were among the things it was built to capture? A commentary cannot answer that. It can show that the question is not rhetorical, and put the evidence on the record so the field can take it up.</a:t>
            </a:r>
          </a:p>
        </p:txBody>
      </p:sp>
      <p:sp>
        <p:nvSpPr>
          <p:cNvPr id="5" name="TextBox 4"/>
          <p:cNvSpPr txBox="1"/>
          <p:nvPr/>
        </p:nvSpPr>
        <p:spPr>
          <a:xfrm>
            <a:off x="11338560" y="6263640"/>
            <a:ext cx="548640" cy="274320"/>
          </a:xfrm>
          <a:prstGeom prst="rect">
            <a:avLst/>
          </a:prstGeom>
          <a:noFill/>
        </p:spPr>
        <p:txBody>
          <a:bodyPr wrap="square" lIns="0" rIns="0" tIns="0" bIns="0">
            <a:spAutoFit/>
          </a:bodyPr>
          <a:lstStyle/>
          <a:p>
            <a:pPr algn="r">
              <a:spcBef>
                <a:spcPts val="0"/>
              </a:spcBef>
              <a:spcAft>
                <a:spcPts val="0"/>
              </a:spcAft>
            </a:pPr>
            <a:r>
              <a:rPr sz="1100" b="0" i="0">
                <a:solidFill>
                  <a:srgbClr val="868D96"/>
                </a:solidFill>
                <a:latin typeface="Consolas"/>
              </a:rPr>
              <a:t>III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8EBEF"/>
        </a:solidFill>
        <a:effectLst/>
      </p:bgPr>
    </p:bg>
    <p:spTree>
      <p:nvGrpSpPr>
        <p:cNvPr id="1" name=""/>
        <p:cNvGrpSpPr/>
        <p:nvPr/>
      </p:nvGrpSpPr>
      <p:grpSpPr/>
      <p:sp>
        <p:nvSpPr>
          <p:cNvPr id="2" name="Rectangle 1"/>
          <p:cNvSpPr/>
          <p:nvPr/>
        </p:nvSpPr>
        <p:spPr>
          <a:xfrm>
            <a:off x="566928" y="2103120"/>
            <a:ext cx="54864" cy="237744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00200"/>
            <a:ext cx="8686800" cy="274320"/>
          </a:xfrm>
          <a:prstGeom prst="rect">
            <a:avLst/>
          </a:prstGeom>
          <a:noFill/>
        </p:spPr>
        <p:txBody>
          <a:bodyPr wrap="square" lIns="0" rIns="0" tIns="0" bIns="0">
            <a:spAutoFit/>
          </a:bodyPr>
          <a:lstStyle/>
          <a:p>
            <a:pPr>
              <a:spcBef>
                <a:spcPts val="0"/>
              </a:spcBef>
              <a:spcAft>
                <a:spcPts val="0"/>
              </a:spcAft>
            </a:pPr>
            <a:r>
              <a:rPr sz="1100" b="0" i="0">
                <a:solidFill>
                  <a:srgbClr val="17549E"/>
                </a:solidFill>
                <a:latin typeface="Consolas"/>
              </a:rPr>
              <a:t>WHERE ACT III LEAVES US</a:t>
            </a:r>
          </a:p>
        </p:txBody>
      </p:sp>
      <p:sp>
        <p:nvSpPr>
          <p:cNvPr id="4" name="TextBox 3"/>
          <p:cNvSpPr txBox="1"/>
          <p:nvPr/>
        </p:nvSpPr>
        <p:spPr>
          <a:xfrm>
            <a:off x="914400" y="2148840"/>
            <a:ext cx="9509760" cy="2926080"/>
          </a:xfrm>
          <a:prstGeom prst="rect">
            <a:avLst/>
          </a:prstGeom>
          <a:noFill/>
        </p:spPr>
        <p:txBody>
          <a:bodyPr wrap="square" lIns="0" rIns="0" tIns="0" bIns="0">
            <a:spAutoFit/>
          </a:bodyPr>
          <a:lstStyle/>
          <a:p>
            <a:pPr>
              <a:lnSpc>
                <a:spcPct val="135000"/>
              </a:lnSpc>
              <a:spcBef>
                <a:spcPts val="0"/>
              </a:spcBef>
              <a:spcAft>
                <a:spcPts val="0"/>
              </a:spcAft>
            </a:pPr>
            <a:r>
              <a:rPr sz="2100" b="0" i="0">
                <a:solidFill>
                  <a:srgbClr val="14171C"/>
                </a:solidFill>
                <a:latin typeface="Georgia"/>
              </a:rPr>
              <a:t>The recommended framing for submission: lead with education as the positive finding, use the generalised collapse as the backdrop that makes it surprising, and close on the disconnect rather than on a list of fixes. That ordering makes Act I load-bearing without making it the story, and it keeps the paper on the ground it can actually defend — that these components look like they matter for lived experience, and that development measurement is not currently arranged to see them.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502920"/>
            <a:ext cx="8229600" cy="822960"/>
          </a:xfrm>
          <a:prstGeom prst="rect">
            <a:avLst/>
          </a:prstGeom>
          <a:noFill/>
        </p:spPr>
        <p:txBody>
          <a:bodyPr wrap="square" lIns="0" rIns="0" tIns="0" bIns="0">
            <a:spAutoFit/>
          </a:bodyPr>
          <a:lstStyle/>
          <a:p>
            <a:pPr>
              <a:spcBef>
                <a:spcPts val="0"/>
              </a:spcBef>
              <a:spcAft>
                <a:spcPts val="600"/>
              </a:spcAft>
            </a:pPr>
            <a:r>
              <a:rPr sz="3200" b="0" i="0">
                <a:solidFill>
                  <a:srgbClr val="14171C"/>
                </a:solidFill>
                <a:latin typeface="Georgia"/>
              </a:rPr>
              <a:t>Decisions for the team</a:t>
            </a:r>
          </a:p>
          <a:p>
            <a:pPr>
              <a:spcBef>
                <a:spcPts val="0"/>
              </a:spcBef>
              <a:spcAft>
                <a:spcPts val="0"/>
              </a:spcAft>
            </a:pPr>
            <a:r>
              <a:rPr sz="1300" b="0" i="0">
                <a:solidFill>
                  <a:srgbClr val="5A6068"/>
                </a:solidFill>
                <a:latin typeface="Calibri"/>
              </a:rPr>
              <a:t>6 things the acts do not settle, in the order they block drafting.</a:t>
            </a:r>
          </a:p>
        </p:txBody>
      </p:sp>
      <p:sp>
        <p:nvSpPr>
          <p:cNvPr id="3" name="Rectangle 2"/>
          <p:cNvSpPr/>
          <p:nvPr/>
        </p:nvSpPr>
        <p:spPr>
          <a:xfrm>
            <a:off x="566928" y="182880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1168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FRAMING</a:t>
            </a:r>
          </a:p>
          <a:p>
            <a:pPr>
              <a:lnSpc>
                <a:spcPct val="130000"/>
              </a:lnSpc>
              <a:spcBef>
                <a:spcPts val="0"/>
              </a:spcBef>
              <a:spcAft>
                <a:spcPts val="0"/>
              </a:spcAft>
            </a:pPr>
            <a:r>
              <a:rPr sz="1100" b="0" i="0">
                <a:solidFill>
                  <a:srgbClr val="5A6068"/>
                </a:solidFill>
                <a:latin typeface="Calibri"/>
              </a:rPr>
              <a:t>Lead with education and use the generalised collapse as Act I backdrop — recommended — or lead with the robustness result and treat education as the coda. This decides title, abstract, and venue.</a:t>
            </a:r>
          </a:p>
        </p:txBody>
      </p:sp>
      <p:sp>
        <p:nvSpPr>
          <p:cNvPr id="5" name="Rectangle 4"/>
          <p:cNvSpPr/>
          <p:nvPr/>
        </p:nvSpPr>
        <p:spPr>
          <a:xfrm>
            <a:off x="4359554" y="182880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59554" y="201168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HOW HARD TO PUSH THE CONCLUSION</a:t>
            </a:r>
          </a:p>
          <a:p>
            <a:pPr>
              <a:lnSpc>
                <a:spcPct val="130000"/>
              </a:lnSpc>
              <a:spcBef>
                <a:spcPts val="0"/>
              </a:spcBef>
              <a:spcAft>
                <a:spcPts val="0"/>
              </a:spcAft>
            </a:pPr>
            <a:r>
              <a:rPr sz="1100" b="0" i="0">
                <a:solidFill>
                  <a:srgbClr val="5A6068"/>
                </a:solidFill>
                <a:latin typeface="Calibri"/>
              </a:rPr>
              <a:t>Act III now lands on a disconnect and an exploratory ask rather than a list of fixes: these components look like they matter for lived experience, and development measurement is not currently arranged to see them. Is that the right altitude for the venue, or should the health and education implications be sharpened into named recommendations? The evidence supports either; the framing does not change the analysis.</a:t>
            </a:r>
          </a:p>
        </p:txBody>
      </p:sp>
      <p:sp>
        <p:nvSpPr>
          <p:cNvPr id="7" name="Rectangle 6"/>
          <p:cNvSpPr/>
          <p:nvPr/>
        </p:nvSpPr>
        <p:spPr>
          <a:xfrm>
            <a:off x="8152180" y="182880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52180" y="201168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DISPLAY ITEMS</a:t>
            </a:r>
          </a:p>
          <a:p>
            <a:pPr>
              <a:lnSpc>
                <a:spcPct val="130000"/>
              </a:lnSpc>
              <a:spcBef>
                <a:spcPts val="0"/>
              </a:spcBef>
              <a:spcAft>
                <a:spcPts val="0"/>
              </a:spcAft>
            </a:pPr>
            <a:r>
              <a:rPr sz="1100" b="0" i="0">
                <a:solidFill>
                  <a:srgbClr val="5A6068"/>
                </a:solidFill>
                <a:latin typeface="Calibri"/>
              </a:rPr>
              <a:t>Commentaries allow one or two. Proposed: the three-panel composite as Figure 1, the ranking flip as Figure 2. Everything else moves to supplementary.</a:t>
            </a:r>
          </a:p>
        </p:txBody>
      </p:sp>
      <p:sp>
        <p:nvSpPr>
          <p:cNvPr id="9" name="Rectangle 8"/>
          <p:cNvSpPr/>
          <p:nvPr/>
        </p:nvSpPr>
        <p:spPr>
          <a:xfrm>
            <a:off x="566928" y="406908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25196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SCOPE OF THE WITHIN-COUNTRY WORK</a:t>
            </a:r>
          </a:p>
          <a:p>
            <a:pPr>
              <a:lnSpc>
                <a:spcPct val="130000"/>
              </a:lnSpc>
              <a:spcBef>
                <a:spcPts val="0"/>
              </a:spcBef>
              <a:spcAft>
                <a:spcPts val="0"/>
              </a:spcAft>
            </a:pPr>
            <a:r>
              <a:rPr sz="1100" b="0" i="0">
                <a:solidFill>
                  <a:srgbClr val="5A6068"/>
                </a:solidFill>
                <a:latin typeface="Calibri"/>
              </a:rPr>
              <a:t>It now sits inside Act III as the evidence on priorities. Does it belong there, or in a third paper? It is the most policy-relevant and the most contested result we have, and it is Europe-only.</a:t>
            </a:r>
          </a:p>
        </p:txBody>
      </p:sp>
      <p:sp>
        <p:nvSpPr>
          <p:cNvPr id="11" name="Rectangle 10"/>
          <p:cNvSpPr/>
          <p:nvPr/>
        </p:nvSpPr>
        <p:spPr>
          <a:xfrm>
            <a:off x="4359554" y="406908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9554" y="425196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RESOLVED: SUBNATIONAL SUB-INDICES</a:t>
            </a:r>
          </a:p>
          <a:p>
            <a:pPr>
              <a:lnSpc>
                <a:spcPct val="130000"/>
              </a:lnSpc>
              <a:spcBef>
                <a:spcPts val="0"/>
              </a:spcBef>
              <a:spcAft>
                <a:spcPts val="0"/>
              </a:spcAft>
            </a:pPr>
            <a:r>
              <a:rPr sz="1100" b="0" i="0">
                <a:solidFill>
                  <a:srgbClr val="5A6068"/>
                </a:solidFill>
                <a:latin typeface="Calibri"/>
              </a:rPr>
              <a:t>The per-domain GDL exports are in. Within countries the external health index leads education and income (+0.34 vs +0.06 and +0.12), so the flip no longer rests on self-report. GDL's DHS-based Education &amp; Work and Health datasets were also examined: they cover only 6 ESS countries and cannot serve the European design.</a:t>
            </a:r>
          </a:p>
        </p:txBody>
      </p:sp>
      <p:sp>
        <p:nvSpPr>
          <p:cNvPr id="13" name="Rectangle 12"/>
          <p:cNvSpPr/>
          <p:nvPr/>
        </p:nvSpPr>
        <p:spPr>
          <a:xfrm>
            <a:off x="8152180" y="4069080"/>
            <a:ext cx="3472586" cy="25400"/>
          </a:xfrm>
          <a:prstGeom prst="rect">
            <a:avLst/>
          </a:prstGeom>
          <a:solidFill>
            <a:srgbClr val="1754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2180" y="4251960"/>
            <a:ext cx="3472586" cy="1828800"/>
          </a:xfrm>
          <a:prstGeom prst="rect">
            <a:avLst/>
          </a:prstGeom>
          <a:noFill/>
        </p:spPr>
        <p:txBody>
          <a:bodyPr wrap="square" lIns="0" rIns="0" tIns="0" bIns="0">
            <a:spAutoFit/>
          </a:bodyPr>
          <a:lstStyle/>
          <a:p>
            <a:pPr>
              <a:spcBef>
                <a:spcPts val="0"/>
              </a:spcBef>
              <a:spcAft>
                <a:spcPts val="700"/>
              </a:spcAft>
            </a:pPr>
            <a:r>
              <a:rPr sz="1050" b="0" i="0">
                <a:solidFill>
                  <a:srgbClr val="17549E"/>
                </a:solidFill>
                <a:latin typeface="Consolas"/>
              </a:rPr>
              <a:t>METHODS NOTE</a:t>
            </a:r>
          </a:p>
          <a:p>
            <a:pPr>
              <a:lnSpc>
                <a:spcPct val="130000"/>
              </a:lnSpc>
              <a:spcBef>
                <a:spcPts val="0"/>
              </a:spcBef>
              <a:spcAft>
                <a:spcPts val="0"/>
              </a:spcAft>
            </a:pPr>
            <a:r>
              <a:rPr sz="1100" b="0" i="0">
                <a:solidFill>
                  <a:srgbClr val="5A6068"/>
                </a:solidFill>
                <a:latin typeface="Calibri"/>
              </a:rPr>
              <a:t>Pooled R² and significant-country share tell different stories at several points. Proposal: report both throughout and discuss the divergence explicitly as a secondary contribution.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66928" y="2743200"/>
            <a:ext cx="8229600" cy="1371600"/>
          </a:xfrm>
          <a:prstGeom prst="rect">
            <a:avLst/>
          </a:prstGeom>
          <a:noFill/>
        </p:spPr>
        <p:txBody>
          <a:bodyPr wrap="square" lIns="0" rIns="0" tIns="0" bIns="0">
            <a:spAutoFit/>
          </a:bodyPr>
          <a:lstStyle/>
          <a:p>
            <a:pPr>
              <a:spcBef>
                <a:spcPts val="0"/>
              </a:spcBef>
              <a:spcAft>
                <a:spcPts val="1000"/>
              </a:spcAft>
            </a:pPr>
            <a:r>
              <a:rPr sz="4000" b="0" i="0">
                <a:solidFill>
                  <a:srgbClr val="FCFCFB"/>
                </a:solidFill>
                <a:latin typeface="Georgia"/>
              </a:rPr>
              <a:t>Evidence appendix</a:t>
            </a:r>
          </a:p>
          <a:p>
            <a:pPr>
              <a:lnSpc>
                <a:spcPct val="135000"/>
              </a:lnSpc>
              <a:spcBef>
                <a:spcPts val="0"/>
              </a:spcBef>
              <a:spcAft>
                <a:spcPts val="0"/>
              </a:spcAft>
            </a:pPr>
            <a:r>
              <a:rPr sz="1400" b="0" i="0">
                <a:solidFill>
                  <a:srgbClr val="9AA4B0"/>
                </a:solidFill>
                <a:latin typeface="Calibri"/>
              </a:rPr>
              <a:t>Everything the three acts rest on but do not carry. In submission these become supplementary material.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HDI against SDG, domain by domain</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Education is the HDI's strongest domain and the SDG framework's weakest, unless SDG4 is split into access versus the rest. Absolute levels are not comparable across frameworks; the within-framework rankings are.</a:t>
            </a:r>
          </a:p>
        </p:txBody>
      </p:sp>
      <p:pic>
        <p:nvPicPr>
          <p:cNvPr id="5" name="Picture 4" descr="hdi_vs_sdg_frameworks.png"/>
          <p:cNvPicPr>
            <a:picLocks noChangeAspect="1"/>
          </p:cNvPicPr>
          <p:nvPr/>
        </p:nvPicPr>
        <p:blipFill>
          <a:blip r:embed="rId2"/>
          <a:stretch>
            <a:fillRect/>
          </a:stretch>
        </p:blipFill>
        <p:spPr>
          <a:xfrm>
            <a:off x="1492967" y="1965960"/>
            <a:ext cx="9205761" cy="448056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ESS-measured schooling against WHR happiness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Country-aggregated ESS years of schooling predicts WHR happiness at R² = 0.308, against 0.161 for the HDI's own schooling series on the same cells — an independently measured education variable roughly doubles it.</a:t>
            </a:r>
          </a:p>
        </p:txBody>
      </p:sp>
      <p:pic>
        <p:nvPicPr>
          <p:cNvPr id="5" name="Picture 4" descr="ess_triangulation.png"/>
          <p:cNvPicPr>
            <a:picLocks noChangeAspect="1"/>
          </p:cNvPicPr>
          <p:nvPr/>
        </p:nvPicPr>
        <p:blipFill>
          <a:blip r:embed="rId2"/>
          <a:stretch>
            <a:fillRect/>
          </a:stretch>
        </p:blipFill>
        <p:spPr>
          <a:xfrm>
            <a:off x="566928" y="1965960"/>
            <a:ext cx="11057839" cy="3026903"/>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Regional development spread within countries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Every region a dot, two countries per UNDP development tier, 2022. Germany's regions span 0.05 of SHDI; China's span 0.30, India's 0.19.</a:t>
            </a:r>
          </a:p>
        </p:txBody>
      </p:sp>
      <p:pic>
        <p:nvPicPr>
          <p:cNvPr id="5" name="Picture 4" descr="shdi_within_country_spread.png"/>
          <p:cNvPicPr>
            <a:picLocks noChangeAspect="1"/>
          </p:cNvPicPr>
          <p:nvPr/>
        </p:nvPicPr>
        <p:blipFill>
          <a:blip r:embed="rId2"/>
          <a:stretch>
            <a:fillRect/>
          </a:stretch>
        </p:blipFill>
        <p:spPr>
          <a:xfrm>
            <a:off x="2653157" y="1965960"/>
            <a:ext cx="6885380" cy="448056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SDG significance by goal, pooled</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The leading goal (Energy, 16.0%) clears FDR significance in barely one country-test in six; pooled Education ranks 12th of 17.</a:t>
            </a:r>
          </a:p>
        </p:txBody>
      </p:sp>
      <p:pic>
        <p:nvPicPr>
          <p:cNvPr id="5" name="Picture 4" descr="sdg_by_goal.png"/>
          <p:cNvPicPr>
            <a:picLocks noChangeAspect="1"/>
          </p:cNvPicPr>
          <p:nvPr/>
        </p:nvPicPr>
        <p:blipFill>
          <a:blip r:embed="rId2"/>
          <a:stretch>
            <a:fillRect/>
          </a:stretch>
        </p:blipFill>
        <p:spPr>
          <a:xfrm>
            <a:off x="2504357" y="1965960"/>
            <a:ext cx="7182980" cy="448056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GDL national SHDI against the UNDP HDI</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The two are the same series — R² = 1.000, every country-year identical, because GDL derives the national figure from the UNDP index. Retained to document the check, not as validation: agreement here says nothing about the subnational disaggregation, which is where GDL's own data begins.</a:t>
            </a:r>
          </a:p>
        </p:txBody>
      </p:sp>
      <p:pic>
        <p:nvPicPr>
          <p:cNvPr id="5" name="Picture 4" descr="shdi_vs_hdi_validation.png"/>
          <p:cNvPicPr>
            <a:picLocks noChangeAspect="1"/>
          </p:cNvPicPr>
          <p:nvPr/>
        </p:nvPicPr>
        <p:blipFill>
          <a:blip r:embed="rId2"/>
          <a:stretch>
            <a:fillRect/>
          </a:stretch>
        </p:blipFill>
        <p:spPr>
          <a:xfrm>
            <a:off x="4036999" y="1965960"/>
            <a:ext cx="4117697" cy="448056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Subnational HDI against WHR happiness, levels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The familiar development-tier gradient with SHDI in place of HDI.</a:t>
            </a:r>
          </a:p>
        </p:txBody>
      </p:sp>
      <p:pic>
        <p:nvPicPr>
          <p:cNvPr id="5" name="Picture 4" descr="shdi_whr_levels_scatter.png"/>
          <p:cNvPicPr>
            <a:picLocks noChangeAspect="1"/>
          </p:cNvPicPr>
          <p:nvPr/>
        </p:nvPicPr>
        <p:blipFill>
          <a:blip r:embed="rId2"/>
          <a:stretch>
            <a:fillRect/>
          </a:stretch>
        </p:blipFill>
        <p:spPr>
          <a:xfrm>
            <a:off x="3508482" y="1965960"/>
            <a:ext cx="5174731" cy="448056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ESS coverage by country and year</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A rotating panel: 36 countries, roughly biennial from 2010 to 2023, with 17 countries present in all seven waves. This is the power constraint behind every ESS significance test.</a:t>
            </a:r>
          </a:p>
        </p:txBody>
      </p:sp>
      <p:pic>
        <p:nvPicPr>
          <p:cNvPr id="5" name="Picture 4" descr="ess_year_coverage.png"/>
          <p:cNvPicPr>
            <a:picLocks noChangeAspect="1"/>
          </p:cNvPicPr>
          <p:nvPr/>
        </p:nvPicPr>
        <p:blipFill>
          <a:blip r:embed="rId2"/>
          <a:stretch>
            <a:fillRect/>
          </a:stretch>
        </p:blipFill>
        <p:spPr>
          <a:xfrm>
            <a:off x="4247956" y="1965960"/>
            <a:ext cx="3695783" cy="448056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ESS-to-SHDI region crosswalk</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62% of respondents, across 24 of 36 countries, matched to a subnational SHDI value through the NUTS-to-GDL crosswalk.</a:t>
            </a:r>
          </a:p>
        </p:txBody>
      </p:sp>
      <p:pic>
        <p:nvPicPr>
          <p:cNvPr id="5" name="Picture 4" descr="region_crosswalk_match.png"/>
          <p:cNvPicPr>
            <a:picLocks noChangeAspect="1"/>
          </p:cNvPicPr>
          <p:nvPr/>
        </p:nvPicPr>
        <p:blipFill>
          <a:blip r:embed="rId2"/>
          <a:stretch>
            <a:fillRect/>
          </a:stretch>
        </p:blipFill>
        <p:spPr>
          <a:xfrm>
            <a:off x="2428154" y="1965960"/>
            <a:ext cx="7335386" cy="448056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Country × indicator significance, ESS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15% of levels cells and 9% of differences cells FDR-significant; direction consistent with the WHR results, power much lower.</a:t>
            </a:r>
          </a:p>
        </p:txBody>
      </p:sp>
      <p:pic>
        <p:nvPicPr>
          <p:cNvPr id="5" name="Picture 4" descr="hdi_ess_heatmap.png"/>
          <p:cNvPicPr>
            <a:picLocks noChangeAspect="1"/>
          </p:cNvPicPr>
          <p:nvPr/>
        </p:nvPicPr>
        <p:blipFill>
          <a:blip r:embed="rId2"/>
          <a:stretch>
            <a:fillRect/>
          </a:stretch>
        </p:blipFill>
        <p:spPr>
          <a:xfrm>
            <a:off x="3601923" y="1965960"/>
            <a:ext cx="4987848" cy="448056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Per-country collapse, ESS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More above-the-line exceptions than the WHR analysis shows — sparse waves cut both ways.</a:t>
            </a:r>
          </a:p>
        </p:txBody>
      </p:sp>
      <p:pic>
        <p:nvPicPr>
          <p:cNvPr id="5" name="Picture 4" descr="hdi_ess_collapse_scatter.png"/>
          <p:cNvPicPr>
            <a:picLocks noChangeAspect="1"/>
          </p:cNvPicPr>
          <p:nvPr/>
        </p:nvPicPr>
        <p:blipFill>
          <a:blip r:embed="rId2"/>
          <a:stretch>
            <a:fillRect/>
          </a:stretch>
        </p:blipFill>
        <p:spPr>
          <a:xfrm>
            <a:off x="2057001" y="1965960"/>
            <a:ext cx="8077693" cy="448056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HDI progress against life-satisfaction trends, 2010–2023</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HDI rose nearly everywhere. ESS life satisfaction rose in 19 countries and fell in 8.</a:t>
            </a:r>
          </a:p>
        </p:txBody>
      </p:sp>
      <p:pic>
        <p:nvPicPr>
          <p:cNvPr id="5" name="Picture 4" descr="hdi_vs_lifesat_trends.png"/>
          <p:cNvPicPr>
            <a:picLocks noChangeAspect="1"/>
          </p:cNvPicPr>
          <p:nvPr/>
        </p:nvPicPr>
        <p:blipFill>
          <a:blip r:embed="rId2"/>
          <a:stretch>
            <a:fillRect/>
          </a:stretch>
        </p:blipFill>
        <p:spPr>
          <a:xfrm>
            <a:off x="4009215" y="1965960"/>
            <a:ext cx="4173264" cy="448056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Region-level SHDI against life satisfaction, pooled</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1,313 region-years, pooled R² = 0.32 — this mixes between- and within-country variation, which the within-country panels separate.</a:t>
            </a:r>
          </a:p>
        </p:txBody>
      </p:sp>
      <p:pic>
        <p:nvPicPr>
          <p:cNvPr id="5" name="Picture 4" descr="region_shdi_lifesat_pooled.png"/>
          <p:cNvPicPr>
            <a:picLocks noChangeAspect="1"/>
          </p:cNvPicPr>
          <p:nvPr/>
        </p:nvPicPr>
        <p:blipFill>
          <a:blip r:embed="rId2"/>
          <a:stretch>
            <a:fillRect/>
          </a:stretch>
        </p:blipFill>
        <p:spPr>
          <a:xfrm>
            <a:off x="3123927" y="1965960"/>
            <a:ext cx="5943841" cy="448056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Within-country regional gradients, small multiples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Holding country fixed, the regional development–wellbeing gradient is weak in most countries. France is the clearest exception.</a:t>
            </a:r>
          </a:p>
        </p:txBody>
      </p:sp>
      <p:pic>
        <p:nvPicPr>
          <p:cNvPr id="5" name="Picture 4" descr="within_country_small_multiples.png"/>
          <p:cNvPicPr>
            <a:picLocks noChangeAspect="1"/>
          </p:cNvPicPr>
          <p:nvPr/>
        </p:nvPicPr>
        <p:blipFill>
          <a:blip r:embed="rId2"/>
          <a:stretch>
            <a:fillRect/>
          </a:stretch>
        </p:blipFill>
        <p:spPr>
          <a:xfrm>
            <a:off x="2779954" y="1965960"/>
            <a:ext cx="6631787" cy="448056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Regional SHDI spread within ESS countries</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Italy and Poland carry several times the internal development inequality of Germany or the Nordics.</a:t>
            </a:r>
          </a:p>
        </p:txBody>
      </p:sp>
      <p:pic>
        <p:nvPicPr>
          <p:cNvPr id="5" name="Picture 4" descr="european_regional_inequality.png"/>
          <p:cNvPicPr>
            <a:picLocks noChangeAspect="1"/>
          </p:cNvPicPr>
          <p:nvPr/>
        </p:nvPicPr>
        <p:blipFill>
          <a:blip r:embed="rId2"/>
          <a:stretch>
            <a:fillRect/>
          </a:stretch>
        </p:blipFill>
        <p:spPr>
          <a:xfrm>
            <a:off x="2097774" y="1965960"/>
            <a:ext cx="7996146" cy="448056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Trust and health as rival predictors, nationally</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Self-rated health out-predicts the HDI nationally on significant-country share, 37% against 19%.</a:t>
            </a:r>
          </a:p>
        </p:txBody>
      </p:sp>
      <p:pic>
        <p:nvPicPr>
          <p:cNvPr id="5" name="Picture 4" descr="mechanisms_trust_health.png"/>
          <p:cNvPicPr>
            <a:picLocks noChangeAspect="1"/>
          </p:cNvPicPr>
          <p:nvPr/>
        </p:nvPicPr>
        <p:blipFill>
          <a:blip r:embed="rId2"/>
          <a:stretch>
            <a:fillRect/>
          </a:stretch>
        </p:blipFill>
        <p:spPr>
          <a:xfrm>
            <a:off x="3617081" y="1965960"/>
            <a:ext cx="4957532" cy="448056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411480"/>
            <a:ext cx="10515600" cy="320040"/>
          </a:xfrm>
          <a:prstGeom prst="rect">
            <a:avLst/>
          </a:prstGeom>
          <a:noFill/>
        </p:spPr>
        <p:txBody>
          <a:bodyPr wrap="square" lIns="0" rIns="0" tIns="0" bIns="0">
            <a:spAutoFit/>
          </a:bodyPr>
          <a:lstStyle/>
          <a:p>
            <a:pPr>
              <a:spcBef>
                <a:spcPts val="0"/>
              </a:spcBef>
              <a:spcAft>
                <a:spcPts val="0"/>
              </a:spcAft>
            </a:pPr>
            <a:r>
              <a:rPr sz="1000" b="0" i="0">
                <a:solidFill>
                  <a:srgbClr val="868D96"/>
                </a:solidFill>
                <a:latin typeface="Consolas"/>
              </a:rPr>
              <a:t>APPENDIX</a:t>
            </a:r>
          </a:p>
        </p:txBody>
      </p:sp>
      <p:sp>
        <p:nvSpPr>
          <p:cNvPr id="3" name="TextBox 2"/>
          <p:cNvSpPr txBox="1"/>
          <p:nvPr/>
        </p:nvSpPr>
        <p:spPr>
          <a:xfrm>
            <a:off x="566928" y="749808"/>
            <a:ext cx="10515600" cy="457200"/>
          </a:xfrm>
          <a:prstGeom prst="rect">
            <a:avLst/>
          </a:prstGeom>
          <a:noFill/>
        </p:spPr>
        <p:txBody>
          <a:bodyPr wrap="square" lIns="0" rIns="0" tIns="0" bIns="0">
            <a:spAutoFit/>
          </a:bodyPr>
          <a:lstStyle/>
          <a:p>
            <a:pPr>
              <a:spcBef>
                <a:spcPts val="0"/>
              </a:spcBef>
              <a:spcAft>
                <a:spcPts val="0"/>
              </a:spcAft>
            </a:pPr>
            <a:r>
              <a:rPr sz="2000" b="0" i="0">
                <a:solidFill>
                  <a:srgbClr val="14171C"/>
                </a:solidFill>
                <a:latin typeface="Georgia"/>
              </a:rPr>
              <a:t>Per-country detail behind the ranking flip</a:t>
            </a:r>
          </a:p>
        </p:txBody>
      </p:sp>
      <p:sp>
        <p:nvSpPr>
          <p:cNvPr id="4" name="TextBox 3"/>
          <p:cNvSpPr txBox="1"/>
          <p:nvPr/>
        </p:nvSpPr>
        <p:spPr>
          <a:xfrm>
            <a:off x="566928" y="1207008"/>
            <a:ext cx="10515600" cy="457200"/>
          </a:xfrm>
          <a:prstGeom prst="rect">
            <a:avLst/>
          </a:prstGeom>
          <a:noFill/>
        </p:spPr>
        <p:txBody>
          <a:bodyPr wrap="square" lIns="0" rIns="0" tIns="0" bIns="0">
            <a:spAutoFit/>
          </a:bodyPr>
          <a:lstStyle/>
          <a:p>
            <a:pPr>
              <a:lnSpc>
                <a:spcPct val="128000"/>
              </a:lnSpc>
              <a:spcBef>
                <a:spcPts val="0"/>
              </a:spcBef>
              <a:spcAft>
                <a:spcPts val="0"/>
              </a:spcAft>
            </a:pPr>
            <a:r>
              <a:rPr sz="1100" b="0" i="0">
                <a:solidFill>
                  <a:srgbClr val="5A6068"/>
                </a:solidFill>
                <a:latin typeface="Calibri"/>
              </a:rPr>
              <a:t>Signed within-country regional correlations for all 16 countries; filled markers are p &lt; .05. Sweden reads negative on all three, but only 57% of Swedish respondents carry a usable region code, so that result should not be interpreted.</a:t>
            </a:r>
          </a:p>
        </p:txBody>
      </p:sp>
      <p:pic>
        <p:nvPicPr>
          <p:cNvPr id="5" name="Picture 4" descr="mechanisms_percountry_detail.png"/>
          <p:cNvPicPr>
            <a:picLocks noChangeAspect="1"/>
          </p:cNvPicPr>
          <p:nvPr/>
        </p:nvPicPr>
        <p:blipFill>
          <a:blip r:embed="rId2"/>
          <a:stretch>
            <a:fillRect/>
          </a:stretch>
        </p:blipFill>
        <p:spPr>
          <a:xfrm>
            <a:off x="3273725" y="1965960"/>
            <a:ext cx="5644245" cy="44805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