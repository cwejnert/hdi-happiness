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three acts, on why development predicts where wellbeing is high but not when it rises — on education and health, which each track lived experience once measured somewhere they still move, and on what changes when the question moves inside countries</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August 2026</a:t>
            </a:r>
          </a:p>
          <a:p>
            <a:pPr>
              <a:lnSpc>
                <a:spcPct val="130000"/>
              </a:lnSpc>
              <a:spcBef>
                <a:spcPts val="0"/>
              </a:spcBef>
              <a:spcAft>
                <a:spcPts val="0"/>
              </a:spcAft>
            </a:pPr>
            <a:r>
              <a:rPr sz="950" b="0" i="0">
                <a:solidFill>
                  <a:srgbClr val="868D96"/>
                </a:solidFill>
                <a:latin typeface="Consolas"/>
              </a:rPr>
              <a:t>SDG: 42 countries, 661 series · HDI × World Happiness Report: 151 countries, 2011–2023 · Subnational HDI &amp; sub-indices: 239 regions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THE SETUP</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Development rose almost everywhere. Wellbeing did not follow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300" b="0" i="0">
                <a:solidFill>
                  <a:srgbClr val="5A6068"/>
                </a:solidFill>
                <a:latin typeface="Calibri"/>
              </a:rPr>
              <a:t>The SDG paper now under review makes a narrow, awkward claim: the association between development indicators and happiness is strong when countries are compared with one another, and close to absent when each country is compared with its own past. Thirty of the 42 countries with usable SDG coverage show a significant SDG–happiness association in levels. Two do in year-to-year changes.</a:t>
            </a:r>
          </a:p>
          <a:p>
            <a:pPr>
              <a:lnSpc>
                <a:spcPct val="134000"/>
              </a:lnSpc>
              <a:spcBef>
                <a:spcPts val="0"/>
              </a:spcBef>
              <a:spcAft>
                <a:spcPts val="1200"/>
              </a:spcAft>
            </a:pPr>
            <a:r>
              <a:rPr sz="1300" b="0" i="0">
                <a:solidFill>
                  <a:srgbClr val="5A6068"/>
                </a:solidFill>
                <a:latin typeface="Calibri"/>
              </a:rPr>
              <a:t>There is an obvious way to dismiss that result. The SDG framework is a sprawling, politically negotiated instrument of more than two hundred indicators with uneven coverage; a null finding inside it says as much about the framework as about the world. This commentary closes that escape route, and then asks the question the result actually raises: if development in the aggregate does not track wellbeing over time, which of its parts tracks wellbeing at all? Health, education, income, social connection — the frameworks disagree sharply about the answer, and the disagreement turns out to be about measurement rather than about the world.</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We replicate the SDG result outside the SDGs.</a:t>
            </a:r>
          </a:p>
          <a:p>
            <a:pPr>
              <a:lnSpc>
                <a:spcPct val="125000"/>
              </a:lnSpc>
              <a:spcBef>
                <a:spcPts val="0"/>
              </a:spcBef>
              <a:spcAft>
                <a:spcPts val="0"/>
              </a:spcAft>
            </a:pPr>
            <a:r>
              <a:rPr sz="1100" b="0" i="0">
                <a:solidFill>
                  <a:srgbClr val="5A6068"/>
                </a:solidFill>
                <a:latin typeface="Calibri"/>
              </a:rPr>
              <a:t>The same design on the HDI, against a second wellbeing survey, and one spatial scale down. It collapses every time.</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Education, health, and the blind spots.</a:t>
            </a:r>
          </a:p>
          <a:p>
            <a:pPr>
              <a:lnSpc>
                <a:spcPct val="125000"/>
              </a:lnSpc>
              <a:spcBef>
                <a:spcPts val="0"/>
              </a:spcBef>
              <a:spcAft>
                <a:spcPts val="0"/>
              </a:spcAft>
            </a:pPr>
            <a:r>
              <a:rPr sz="1100" b="0" i="0">
                <a:solidFill>
                  <a:srgbClr val="5A6068"/>
                </a:solidFill>
                <a:latin typeface="Calibri"/>
              </a:rPr>
              <a:t>Education's rank swings on construct, health's on saturation, and the whole ranking turns over again once the question moves from between countries to inside them.</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Which makes the policy question unavoidable.</a:t>
            </a:r>
          </a:p>
          <a:p>
            <a:pPr>
              <a:lnSpc>
                <a:spcPct val="125000"/>
              </a:lnSpc>
              <a:spcBef>
                <a:spcPts val="0"/>
              </a:spcBef>
              <a:spcAft>
                <a:spcPts val="0"/>
              </a:spcAft>
            </a:pPr>
            <a:r>
              <a:rPr sz="1100" b="0" i="0">
                <a:solidFill>
                  <a:srgbClr val="5A6068"/>
                </a:solidFill>
                <a:latin typeface="Calibri"/>
              </a:rPr>
              <a:t>What this means for priorities, what kind of health and education it points at, what to do about the trust gap, and the question we are putting to the field.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Replicating the collapse beyond the SDGs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design on a second development framework, against a second wellbeing instrument, and one spatial scale down. The levels-to-differences collapse appears every time. The subnational HDI plays a different role: it asks whether the national pattern survives disaggregation.</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of countries significant, SDG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the same collapse under the HDI composite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15% → 9%</a:t>
            </a:r>
          </a:p>
          <a:p>
            <a:pPr>
              <a:lnSpc>
                <a:spcPct val="120000"/>
              </a:lnSpc>
              <a:spcBef>
                <a:spcPts val="0"/>
              </a:spcBef>
              <a:spcAft>
                <a:spcPts val="0"/>
              </a:spcAft>
            </a:pPr>
            <a:r>
              <a:rPr sz="1000" b="0" i="0">
                <a:solidFill>
                  <a:srgbClr val="8A94A0"/>
                </a:solidFill>
                <a:latin typeface="Calibri"/>
              </a:rPr>
              <a:t>of cells, against a second wellbeing survey (ESS)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behaves exactly like the sprawling one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that the dismissal relies on: three dimensions rather than seventeen goals, a single custodian, a stable definition, near-universal coverage. Substituting it for the SDG indicators and holding everything else fixed gives 64 of 151 countries FDR-significant in levels and 3 of 151 in first differences — 42% down to 2%.</a:t>
            </a:r>
          </a:p>
          <a:p>
            <a:pPr>
              <a:lnSpc>
                <a:spcPct val="132000"/>
              </a:lnSpc>
              <a:spcBef>
                <a:spcPts val="0"/>
              </a:spcBef>
              <a:spcAft>
                <a:spcPts val="1100"/>
              </a:spcAft>
            </a:pPr>
            <a:r>
              <a:rPr sz="1150" b="0" i="0">
                <a:solidFill>
                  <a:srgbClr val="5A6068"/>
                </a:solidFill>
                <a:latin typeface="Calibri"/>
              </a:rPr>
              <a:t>The SDG framework collapsed from 71% of countries to 5%. The two rates are not directly comparable, because the SDG test asks whether any of a country's several hundred series is significant while the HDI test asks about one composite; that difference is exactly why the SDG levels rate is higher. What compares is the collapse itself, and it is an order of magnitude in both. Whatever produces the asymmetry, it is not the design of the SDG indicator set.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an FDR-significant development–happiness association, levels versus first differences, under the SDG framework and under the HDI composite.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STRUCTURE UNDERNEATH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composite is not the whole result — the five indicators behave differently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00" b="0" i="0">
                <a:solidFill>
                  <a:srgbClr val="5A6068"/>
                </a:solidFill>
                <a:latin typeface="Calibri"/>
              </a:rPr>
              <a:t>HappinessHDI.R reports the composite alongside its four sub-components in both specifications, and the sub-components do not simply track the composite. Mean years of schooling has the highest median R² of the five in levels (0.326) and in differences (0.069) — above the composite HDI itself (0.322 and 0.063). Income is level with it in levels and below it in differences; life expectancy is clearly weakest in levels (0.160, 30 of 151 countries).</a:t>
            </a:r>
          </a:p>
          <a:p>
            <a:pPr>
              <a:lnSpc>
                <a:spcPct val="132000"/>
              </a:lnSpc>
              <a:spcBef>
                <a:spcPts val="0"/>
              </a:spcBef>
              <a:spcAft>
                <a:spcPts val="1100"/>
              </a:spcAft>
            </a:pPr>
            <a:r>
              <a:rPr sz="1100" b="0" i="0">
                <a:solidFill>
                  <a:srgbClr val="5A6068"/>
                </a:solidFill>
                <a:latin typeface="Calibri"/>
              </a:rPr>
              <a:t>The result worth carrying forward is in the differences column. Expected years of schooling is significant in 7 of 150 countries — more than the composite's 3, and more than any other indicator. Seven countries is a small number and the collapse is still severe, so this is not a survival story. But it does mean the education pair leads under both specifications rather than only in the cross-section — and that life expectancy, the HDI's proxy for health, is last in levels. Act II shows why that ordering is a property of the HDI's measurement choices rather than of the domains.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HDI composite and its four sub-components, levels and first differences. Benjamini–Hochberg corrected across the five indicators within each country.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THE SUBNATIONAL HDI IS FOR</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Not a second producer — a test of whether the national pattern holds inside countries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Global Data Lab's SHDI cannot serve as an independent replication, and the commentary should not present it as one. At national level it is numerically identical to the UNDP HDI: all 1,696 overlapping country-years agree exactly, because GDL derives the national figure from the UNDP series. Running the collapse design on it reproduces the HDI result by construction rather than by corroboration.</a:t>
            </a:r>
          </a:p>
          <a:p>
            <a:pPr>
              <a:lnSpc>
                <a:spcPct val="132000"/>
              </a:lnSpc>
              <a:spcBef>
                <a:spcPts val="0"/>
              </a:spcBef>
              <a:spcAft>
                <a:spcPts val="1100"/>
              </a:spcAft>
            </a:pPr>
            <a:r>
              <a:rPr sz="1400" b="0" i="0">
                <a:solidFill>
                  <a:srgbClr val="5A6068"/>
                </a:solidFill>
                <a:latin typeface="Calibri"/>
              </a:rPr>
              <a:t>Its actual value is disaggregation. GDL's region-level values are its own — only 655 of 58,224 region-years coincide with their country's national figure — so the SHDI is what lets us ask whether the national development–wellbeing relationship holds at subnational level, and where it does not. That question is the subject of Act III, and the answer turns out to be the most policy-relevant result in the commentary.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3 · A SECOND WELLBEING INSTRUMENT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is not an artifact of the Cantril ladder either</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World Happiness Report's ladder is a single self-anchoring item asked by one survey house. Replacing it with the European Social Survey's own life-satisfaction and happiness items — 36 countries, 351,023 respondents, seven roughly biennial waves from 2010 to 2023 — preserves the asymmetry.</a:t>
            </a:r>
          </a:p>
          <a:p>
            <a:pPr>
              <a:lnSpc>
                <a:spcPct val="132000"/>
              </a:lnSpc>
              <a:spcBef>
                <a:spcPts val="0"/>
              </a:spcBef>
              <a:spcAft>
                <a:spcPts val="1100"/>
              </a:spcAft>
            </a:pPr>
            <a:r>
              <a:rPr sz="1150" b="0" i="0">
                <a:solidFill>
                  <a:srgbClr val="5A6068"/>
                </a:solidFill>
                <a:latin typeface="Calibri"/>
              </a:rPr>
              <a:t>Statistical power is much lower here: seven biennial waves against twelve or more annual World Happiness Report years, so individual country tests are fragile and the ESS replication should be read as corroboration rather than as independent confirmation at the same strength.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ess.png"/>
          <p:cNvPicPr>
            <a:picLocks noChangeAspect="1"/>
          </p:cNvPicPr>
          <p:nvPr/>
        </p:nvPicPr>
        <p:blipFill>
          <a:blip r:embed="rId2"/>
          <a:stretch>
            <a:fillRect/>
          </a:stretch>
        </p:blipFill>
        <p:spPr>
          <a:xfrm>
            <a:off x="5120640" y="1615563"/>
            <a:ext cx="6537960" cy="316053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design with ESS life satisfaction in place of the Cantril ladder. 15% of levels cells and 9% of differences cells are FDR-significant.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4 · ONE SCALE DOWN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it holds across 239 European regions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Region-level subnational HDI against region-mean life satisfaction reproduces the same levels-over-differences pattern, noisier as expected. The result is now documented at three scales — SDG-national, HDI-national, SHDI-regional — and against two wellbeing instruments.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shdi_ess_regional.png"/>
          <p:cNvPicPr>
            <a:picLocks noChangeAspect="1"/>
          </p:cNvPicPr>
          <p:nvPr/>
        </p:nvPicPr>
        <p:blipFill>
          <a:blip r:embed="rId2"/>
          <a:stretch>
            <a:fillRect/>
          </a:stretch>
        </p:blipFill>
        <p:spPr>
          <a:xfrm>
            <a:off x="5546146" y="658368"/>
            <a:ext cx="5686948" cy="5074919"/>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Regional subnational HDI against region-mean ESS life satisfaction, 239 European regions.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Two independent replications and one scale test. The commentary can therefore state the asymmetry as a property of the development–wellbeing relationship rather than of any particular index, and move on to the question that actually matters: given that almost nothing survives the move to within-country change, what carries the level signal?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Education, health, and what changes when you change the question</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Two results and a discussion. Education leads the HDI and the access construct of SDG4 and is the smallest effect anywhere. Health leads the SDG framework and the individual data and is weak in exactly one place, for a reason we can name. Social trust leads wherever it is measured, which is almost nowhere. Every disagreement between the frameworks turns out to be about operationalisation — and the ranking changes again, in a consistent direction, when the question moves from between countries to inside them.</a:t>
            </a:r>
          </a:p>
        </p:txBody>
      </p:sp>
      <p:sp>
        <p:nvSpPr>
          <p:cNvPr id="7" name="TextBox 6"/>
          <p:cNvSpPr txBox="1"/>
          <p:nvPr/>
        </p:nvSpPr>
        <p:spPr>
          <a:xfrm>
            <a:off x="566928" y="5623560"/>
            <a:ext cx="2558719" cy="914400"/>
          </a:xfrm>
          <a:prstGeom prst="rect">
            <a:avLst/>
          </a:prstGeom>
          <a:noFill/>
        </p:spPr>
        <p:txBody>
          <a:bodyPr wrap="square" lIns="0" rIns="0" tIns="0" bIns="0">
            <a:spAutoFit/>
          </a:bodyPr>
          <a:lstStyle/>
          <a:p>
            <a:pPr>
              <a:spcBef>
                <a:spcPts val="0"/>
              </a:spcBef>
              <a:spcAft>
                <a:spcPts val="400"/>
              </a:spcAft>
            </a:pPr>
            <a:r>
              <a:rPr sz="1800" b="0" i="0">
                <a:solidFill>
                  <a:srgbClr val="FCFCFB"/>
                </a:solidFill>
                <a:latin typeface="Consolas"/>
              </a:rPr>
              <a:t>40.7% → +0.13</a:t>
            </a:r>
          </a:p>
          <a:p>
            <a:pPr>
              <a:lnSpc>
                <a:spcPct val="120000"/>
              </a:lnSpc>
              <a:spcBef>
                <a:spcPts val="0"/>
              </a:spcBef>
              <a:spcAft>
                <a:spcPts val="0"/>
              </a:spcAft>
            </a:pPr>
            <a:r>
              <a:rPr sz="1000" b="0" i="0">
                <a:solidFill>
                  <a:srgbClr val="8A94A0"/>
                </a:solidFill>
                <a:latin typeface="Calibri"/>
              </a:rPr>
              <a:t>education: leads the HDI between countries, near zero inside them</a:t>
            </a:r>
          </a:p>
        </p:txBody>
      </p:sp>
      <p:sp>
        <p:nvSpPr>
          <p:cNvPr id="8" name="TextBox 7"/>
          <p:cNvSpPr txBox="1"/>
          <p:nvPr/>
        </p:nvSpPr>
        <p:spPr>
          <a:xfrm>
            <a:off x="3399967" y="5623560"/>
            <a:ext cx="2558719" cy="914400"/>
          </a:xfrm>
          <a:prstGeom prst="rect">
            <a:avLst/>
          </a:prstGeom>
          <a:noFill/>
        </p:spPr>
        <p:txBody>
          <a:bodyPr wrap="square" lIns="0" rIns="0" tIns="0" bIns="0">
            <a:spAutoFit/>
          </a:bodyPr>
          <a:lstStyle/>
          <a:p>
            <a:pPr>
              <a:spcBef>
                <a:spcPts val="0"/>
              </a:spcBef>
              <a:spcAft>
                <a:spcPts val="400"/>
              </a:spcAft>
            </a:pPr>
            <a:r>
              <a:rPr sz="1800" b="0" i="0">
                <a:solidFill>
                  <a:srgbClr val="FCFCFB"/>
                </a:solidFill>
                <a:latin typeface="Consolas"/>
              </a:rPr>
              <a:t>12.7%</a:t>
            </a:r>
          </a:p>
          <a:p>
            <a:pPr>
              <a:lnSpc>
                <a:spcPct val="120000"/>
              </a:lnSpc>
              <a:spcBef>
                <a:spcPts val="0"/>
              </a:spcBef>
              <a:spcAft>
                <a:spcPts val="0"/>
              </a:spcAft>
            </a:pPr>
            <a:r>
              <a:rPr sz="1000" b="0" i="0">
                <a:solidFill>
                  <a:srgbClr val="8A94A0"/>
                </a:solidFill>
                <a:latin typeface="Calibri"/>
              </a:rPr>
              <a:t>SDG4 access alone — third of 17 goals if it were one</a:t>
            </a:r>
          </a:p>
        </p:txBody>
      </p:sp>
      <p:sp>
        <p:nvSpPr>
          <p:cNvPr id="9" name="TextBox 8"/>
          <p:cNvSpPr txBox="1"/>
          <p:nvPr/>
        </p:nvSpPr>
        <p:spPr>
          <a:xfrm>
            <a:off x="6233007" y="5623560"/>
            <a:ext cx="2558719" cy="914400"/>
          </a:xfrm>
          <a:prstGeom prst="rect">
            <a:avLst/>
          </a:prstGeom>
          <a:noFill/>
        </p:spPr>
        <p:txBody>
          <a:bodyPr wrap="square" lIns="0" rIns="0" tIns="0" bIns="0">
            <a:spAutoFit/>
          </a:bodyPr>
          <a:lstStyle/>
          <a:p>
            <a:pPr>
              <a:spcBef>
                <a:spcPts val="0"/>
              </a:spcBef>
              <a:spcAft>
                <a:spcPts val="400"/>
              </a:spcAft>
            </a:pPr>
            <a:r>
              <a:rPr sz="1800" b="0" i="0">
                <a:solidFill>
                  <a:srgbClr val="FCFCFB"/>
                </a:solidFill>
                <a:latin typeface="Consolas"/>
              </a:rPr>
              <a:t>19.9% → +0.51</a:t>
            </a:r>
          </a:p>
          <a:p>
            <a:pPr>
              <a:lnSpc>
                <a:spcPct val="120000"/>
              </a:lnSpc>
              <a:spcBef>
                <a:spcPts val="0"/>
              </a:spcBef>
              <a:spcAft>
                <a:spcPts val="0"/>
              </a:spcAft>
            </a:pPr>
            <a:r>
              <a:rPr sz="1000" b="0" i="0">
                <a:solidFill>
                  <a:srgbClr val="8A94A0"/>
                </a:solidFill>
                <a:latin typeface="Calibri"/>
              </a:rPr>
              <a:t>health: last of the HDI's five, first inside countries</a:t>
            </a:r>
          </a:p>
        </p:txBody>
      </p:sp>
      <p:sp>
        <p:nvSpPr>
          <p:cNvPr id="10" name="TextBox 9"/>
          <p:cNvSpPr txBox="1"/>
          <p:nvPr/>
        </p:nvSpPr>
        <p:spPr>
          <a:xfrm>
            <a:off x="9066047" y="5623560"/>
            <a:ext cx="2558719" cy="914400"/>
          </a:xfrm>
          <a:prstGeom prst="rect">
            <a:avLst/>
          </a:prstGeom>
          <a:noFill/>
        </p:spPr>
        <p:txBody>
          <a:bodyPr wrap="square" lIns="0" rIns="0" tIns="0" bIns="0">
            <a:spAutoFit/>
          </a:bodyPr>
          <a:lstStyle/>
          <a:p>
            <a:pPr>
              <a:spcBef>
                <a:spcPts val="0"/>
              </a:spcBef>
              <a:spcAft>
                <a:spcPts val="400"/>
              </a:spcAft>
            </a:pPr>
            <a:r>
              <a:rPr sz="1800" b="0" i="0">
                <a:solidFill>
                  <a:srgbClr val="FCFCFB"/>
                </a:solidFill>
                <a:latin typeface="Consolas"/>
              </a:rPr>
              <a:t>1 of 16</a:t>
            </a:r>
          </a:p>
          <a:p>
            <a:pPr>
              <a:lnSpc>
                <a:spcPct val="120000"/>
              </a:lnSpc>
              <a:spcBef>
                <a:spcPts val="0"/>
              </a:spcBef>
              <a:spcAft>
                <a:spcPts val="0"/>
              </a:spcAft>
            </a:pPr>
            <a:r>
              <a:rPr sz="1000" b="0" i="0">
                <a:solidFill>
                  <a:srgbClr val="8A94A0"/>
                </a:solidFill>
                <a:latin typeface="Calibri"/>
              </a:rPr>
              <a:t>SDG trust country-series testable at all, not 1 of 163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FRAMEWORK AGAINST FRAMEWORK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Three comparisons, and they do not all point the same way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900" b="0" i="0">
                <a:solidFill>
                  <a:srgbClr val="5A6068"/>
                </a:solidFill>
                <a:latin typeface="Calibri"/>
              </a:rPr>
              <a:t>No single statistic settles which framework tracks wellbeing better, so the commentary should report three and nominate none. Detection: does any indicator show a significant levels association in a given country? The SDG framework reaches 30 of its 42 countries (71%), the HDI 77 of its 150 (51%). Benjamini–Hochberg under the complete null controls the error rate at the same α whatever the family size, so the SDG lead is genuine power bought with breadth and should be conceded as such.</a:t>
            </a:r>
          </a:p>
          <a:p>
            <a:pPr>
              <a:lnSpc>
                <a:spcPct val="132000"/>
              </a:lnSpc>
              <a:spcBef>
                <a:spcPts val="0"/>
              </a:spcBef>
              <a:spcAft>
                <a:spcPts val="1100"/>
              </a:spcAft>
            </a:pPr>
            <a:r>
              <a:rPr sz="900" b="0" i="0">
                <a:solidFill>
                  <a:srgbClr val="5A6068"/>
                </a:solidFill>
                <a:latin typeface="Calibri"/>
              </a:rPr>
              <a:t>Budget-matched: give the SDG framework the same five-indicator budget the HDI gets, drawn at random, 4,000 times. Five random SDG series reach 30% of countries (95% range 19–40%); the HDI’s chosen five reach 40% on the same countries — better than a random five, but at the top edge of the random range rather than outside it.</a:t>
            </a:r>
          </a:p>
          <a:p>
            <a:pPr>
              <a:lnSpc>
                <a:spcPct val="132000"/>
              </a:lnSpc>
              <a:spcBef>
                <a:spcPts val="0"/>
              </a:spcBef>
              <a:spcAft>
                <a:spcPts val="1100"/>
              </a:spcAft>
            </a:pPr>
            <a:r>
              <a:rPr sz="900" b="0" i="0">
                <a:solidFill>
                  <a:srgbClr val="5A6068"/>
                </a:solidFill>
                <a:latin typeface="Calibri"/>
              </a:rPr>
              <a:t>Per indicator: across the 609 SDG series with usable coverage the median series is significant in no country at all, and 54% never clear FDR anywhere. The HDI composite, mean schooling and GNI per capita each beat essentially the whole field; even life expectancy, the HDI’s weakest component, beats 90% of it.</a:t>
            </a:r>
          </a:p>
          <a:p>
            <a:pPr>
              <a:lnSpc>
                <a:spcPct val="132000"/>
              </a:lnSpc>
              <a:spcBef>
                <a:spcPts val="0"/>
              </a:spcBef>
              <a:spcAft>
                <a:spcPts val="1100"/>
              </a:spcAft>
            </a:pPr>
            <a:r>
              <a:rPr sz="900" b="0" i="0">
                <a:solidFill>
                  <a:srgbClr val="5A6068"/>
                </a:solidFill>
                <a:latin typeface="Calibri"/>
              </a:rPr>
              <a:t>That is the frame for what follows. The three results come in the order of how much the frameworks disagree about them: education, where the disagreement is total and entirely about construct; health, where it is large and entirely about saturation; and social trust, where one framework cannot see the domain at all.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ramework_three_comparisons.png"/>
          <p:cNvPicPr>
            <a:picLocks noChangeAspect="1"/>
          </p:cNvPicPr>
          <p:nvPr/>
        </p:nvPicPr>
        <p:blipFill>
          <a:blip r:embed="rId2"/>
          <a:stretch>
            <a:fillRect/>
          </a:stretch>
        </p:blipFill>
        <p:spPr>
          <a:xfrm>
            <a:off x="5120640" y="2093715"/>
            <a:ext cx="6537960" cy="220422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Each framework on its own full country set against WHR happiness, except panel b which restricts the HDI to the 42 SDG countries so the budgets are comparable.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AUTOPSY</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What survives in levels is survival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Ranking the 609 SDG series measured in at least 8 countries by the share of countries in which they are FDR-significant puts safely managed sanitation first, then infant deaths, under-five deaths, child stunting, and safely managed drinking water. Sixteen of the top 25 series are health-domain, and none of them is self-reported.</a:t>
            </a:r>
          </a:p>
          <a:p>
            <a:pPr>
              <a:lnSpc>
                <a:spcPct val="132000"/>
              </a:lnSpc>
              <a:spcBef>
                <a:spcPts val="0"/>
              </a:spcBef>
              <a:spcAft>
                <a:spcPts val="1100"/>
              </a:spcAft>
            </a:pPr>
            <a:r>
              <a:rPr sz="1150" b="0" i="0">
                <a:solidFill>
                  <a:srgbClr val="5A6068"/>
                </a:solidFill>
                <a:latin typeface="Calibri"/>
              </a:rPr>
              <a:t>This is the steep part of the development curve — staying alive and not being sick — rather than the 2030 Agenda’s institutional superstructure. It also sets up the puzzle the next three beats resolve: the instrument that ranks health first ranks education twelfth, and the instrument that ranks education first ranks health last.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20 highest-ranking SDG series of 609, by share of countries FDR-significant in levels.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1 ·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strongest thing the HDI measures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Mean years of schooling has the highest median R² of the HDI’s five indicators — 0.326, fractionally above the composite’s own 0.322 — and is FDR-significant in 61 of 150 countries, 40.7%, the highest of the four sub-components. Expected years of schooling follows at 34.0%. Income is level with schooling at 40.4%; life expectancy is far behind at 19.9%.</a:t>
            </a:r>
          </a:p>
          <a:p>
            <a:pPr>
              <a:lnSpc>
                <a:spcPct val="132000"/>
              </a:lnSpc>
              <a:spcBef>
                <a:spcPts val="0"/>
              </a:spcBef>
              <a:spcAft>
                <a:spcPts val="1100"/>
              </a:spcAft>
            </a:pPr>
            <a:r>
              <a:rPr sz="1400" b="0" i="0">
                <a:solidFill>
                  <a:srgbClr val="5A6068"/>
                </a:solidFill>
                <a:latin typeface="Calibri"/>
              </a:rPr>
              <a:t>A sub-component beating the composite it belongs to is worth pausing on. The HDI aggregates health, education and income into one number on the assumption that development is a bundle. On this test the bundle adds nothing over its education leg alone — which is the first hint that the index is carried by one of its three domains rather than by their combination.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1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In the SDG framework its rank depends entirely on which construct you read</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000" b="0" i="0">
                <a:solidFill>
                  <a:srgbClr val="5A6068"/>
                </a:solidFill>
                <a:latin typeface="Calibri"/>
              </a:rPr>
              <a:t>Pooled, SDG4 is close to the bottom: 3.3% of country-indicator pairs significant, twelfth of the seventeen goals, with its best single series ranking 100th of 609. Read naively the two frameworks flatly contradict each other about education.</a:t>
            </a:r>
          </a:p>
          <a:p>
            <a:pPr>
              <a:lnSpc>
                <a:spcPct val="132000"/>
              </a:lnSpc>
              <a:spcBef>
                <a:spcPts val="0"/>
              </a:spcBef>
              <a:spcAft>
                <a:spcPts val="1100"/>
              </a:spcAft>
            </a:pPr>
            <a:r>
              <a:rPr sz="1000" b="0" i="0">
                <a:solidFill>
                  <a:srgbClr val="5A6068"/>
                </a:solidFill>
                <a:latin typeface="Calibri"/>
              </a:rPr>
              <a:t>They do not, because SDG4 is not one construct. Eighteen of its 35 official series are equity or parity ratios, seven measure school infrastructure, six measure learning outcomes, one measures financing, one attainment — and only two measure access and participation directly. Split apart, those two reach 12.7%. Placed among the seventeen goals that would rank third, above SDG3 health at 11.5%. Meanwhile learning outcomes sit at 0.9% and parity ratios at 2.5%, and it is the parity ratios — half the goal by series count — that drag the pooled figure down.</a:t>
            </a:r>
          </a:p>
          <a:p>
            <a:pPr>
              <a:lnSpc>
                <a:spcPct val="132000"/>
              </a:lnSpc>
              <a:spcBef>
                <a:spcPts val="0"/>
              </a:spcBef>
              <a:spcAft>
                <a:spcPts val="1100"/>
              </a:spcAft>
            </a:pPr>
            <a:r>
              <a:rPr sz="1000" b="0" i="0">
                <a:solidFill>
                  <a:srgbClr val="5A6068"/>
                </a:solidFill>
                <a:latin typeface="Calibri"/>
              </a:rPr>
              <a:t>So the SDG framework does not disagree with the HDI about education. It agrees with it, on the two series that measure the same thing the HDI measures, and the disagreement is manufactured by pooling six constructs that point in different directions. State the caveat plainly: access and participation is 2 series and 63 country-indicator pairs, a small family, and the 12.7% carries correspondingly wide uncertainty.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split by what each indicator actually measures, with the pooled figure marked.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1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at the individual level it is significant almost everywhere, if barely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Respondents’ own attainment predicts their own life satisfaction in 32 to 34 of 36 ESS countries — more consistent across countries than anything except health. Aggregated to the country level, ESS-measured years of schooling predicts WHR happiness at R² = 0.308 against 0.161 for the HDI’s own schooling series on the same cells, so an independently measured education variable roughly doubles the HDI’s.</a:t>
            </a:r>
          </a:p>
          <a:p>
            <a:pPr>
              <a:lnSpc>
                <a:spcPct val="132000"/>
              </a:lnSpc>
              <a:spcBef>
                <a:spcPts val="0"/>
              </a:spcBef>
              <a:spcAft>
                <a:spcPts val="1100"/>
              </a:spcAft>
            </a:pPr>
            <a:r>
              <a:rPr sz="1150" b="0" i="0">
                <a:solidFill>
                  <a:srgbClr val="5A6068"/>
                </a:solidFill>
                <a:latin typeface="Calibri"/>
              </a:rPr>
              <a:t>What it does not have is size. The median individual R² is 0.0098, the smallest of any domain tested. Education is the most universal signal and the smallest one — an odd combination, and one the third result explains.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ss_individual_education.png"/>
          <p:cNvPicPr>
            <a:picLocks noChangeAspect="1"/>
          </p:cNvPicPr>
          <p:nvPr/>
        </p:nvPicPr>
        <p:blipFill>
          <a:blip r:embed="rId2"/>
          <a:stretch>
            <a:fillRect/>
          </a:stretch>
        </p:blipFill>
        <p:spPr>
          <a:xfrm>
            <a:off x="5120640" y="1214810"/>
            <a:ext cx="6537960" cy="396203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Per-country tests of respondents’ own attainment against their own life satisfaction, 36 ESS countries.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2 · HEALTH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strongest thing the SDG framework measures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Goal 3 reaches 11.5% of country-indicator pairs, fourth of the seventeen goals and first among the goals with broad coverage — the three above it are energy (5 series), industry and infrastructure (23), and hunger and nutrition (53), against Goal 3’s 45. Sixteen of the top 25 series in the whole database are health.</a:t>
            </a:r>
          </a:p>
          <a:p>
            <a:pPr>
              <a:lnSpc>
                <a:spcPct val="132000"/>
              </a:lnSpc>
              <a:spcBef>
                <a:spcPts val="0"/>
              </a:spcBef>
              <a:spcAft>
                <a:spcPts val="1100"/>
              </a:spcAft>
            </a:pPr>
            <a:r>
              <a:rPr sz="1150" b="0" i="0">
                <a:solidFill>
                  <a:srgbClr val="5A6068"/>
                </a:solidFill>
                <a:latin typeface="Calibri"/>
              </a:rPr>
              <a:t>The health series that carry the signal are survival measures: child and neonatal mortality, stunting, safely managed water and sanitation. None is self-reported, which matters for the method check two beats on — this is the one domain where an administrative source and a self-report source can be set against each other.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by_goal.png"/>
          <p:cNvPicPr>
            <a:picLocks noChangeAspect="1"/>
          </p:cNvPicPr>
          <p:nvPr/>
        </p:nvPicPr>
        <p:blipFill>
          <a:blip r:embed="rId2"/>
          <a:stretch>
            <a:fillRect/>
          </a:stretch>
        </p:blipFill>
        <p:spPr>
          <a:xfrm>
            <a:off x="5120640" y="1156722"/>
            <a:ext cx="6537960" cy="407821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All 17 goals by share of country-indicator pairs FDR-significant in levels.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2 · HEALTH</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Why the HDI says the opposite, and why the HDI is wrong about it</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Inside the HDI, life expectancy is the weakest of the five indicators by a wide margin — 30 of 151 countries, 19.9%, against 40.7% for mean schooling. Read naively the HDI says health is the least important thing about development, and the SDG framework says it is the most important.</a:t>
            </a:r>
          </a:p>
          <a:p>
            <a:pPr>
              <a:lnSpc>
                <a:spcPct val="132000"/>
              </a:lnSpc>
              <a:spcBef>
                <a:spcPts val="0"/>
              </a:spcBef>
              <a:spcAft>
                <a:spcPts val="1100"/>
              </a:spcAft>
            </a:pPr>
            <a:r>
              <a:rPr sz="1400" b="0" i="0">
                <a:solidFill>
                  <a:srgbClr val="5A6068"/>
                </a:solidFill>
                <a:latin typeface="Calibri"/>
              </a:rPr>
              <a:t>The reconciliation is saturation, and it is checkable rather than rhetorical. Life expectancy has run out of variance across the countries where it is tested; the variance that would let it predict anything has largely gone. The SDG series that do carry health’s signal are the ones that still vary enormously — child mortality, stunting — and self-rated health captures morbidity that life expectancy cannot see at all.</a:t>
            </a:r>
          </a:p>
          <a:p>
            <a:pPr>
              <a:lnSpc>
                <a:spcPct val="132000"/>
              </a:lnSpc>
              <a:spcBef>
                <a:spcPts val="0"/>
              </a:spcBef>
              <a:spcAft>
                <a:spcPts val="1100"/>
              </a:spcAft>
            </a:pPr>
            <a:r>
              <a:rPr sz="1400" b="0" i="0">
                <a:solidFill>
                  <a:srgbClr val="5A6068"/>
                </a:solidFill>
                <a:latin typeface="Calibri"/>
              </a:rPr>
              <a:t>This is the same failure mode as education’s, running in the opposite direction. Education’s rank collapses when a framework measures it as parity rather than attainment; health’s collapses when a framework measures it with a variable that has no room left to move. Neither is a fact about the world.</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2 · HEALTH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leads the individual data too, and it is the one domain that passes the method check</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00" b="0" i="0">
                <a:solidFill>
                  <a:srgbClr val="5A6068"/>
                </a:solidFill>
                <a:latin typeface="Calibri"/>
              </a:rPr>
              <a:t>In the ESS, self-rated health is significant in 36 of 36 countries with a median R² of 0.091 — roughly nine times education’s 0.0098, and the largest effect of any domain tested anywhere in this commentary.</a:t>
            </a:r>
          </a:p>
          <a:p>
            <a:pPr>
              <a:lnSpc>
                <a:spcPct val="132000"/>
              </a:lnSpc>
              <a:spcBef>
                <a:spcPts val="0"/>
              </a:spcBef>
              <a:spcAft>
                <a:spcPts val="1100"/>
              </a:spcAft>
            </a:pPr>
            <a:r>
              <a:rPr sz="1100" b="0" i="0">
                <a:solidFill>
                  <a:srgbClr val="5A6068"/>
                </a:solidFill>
                <a:latin typeface="Calibri"/>
              </a:rPr>
              <a:t>Self-rated health is reported by the same respondent, in the same survey, as life satisfaction, so shared method variance is the first objection a reader will raise. Health is the one domain that can answer it: the UN SDG database is administrative and shares no method with any wellbeing instrument. Restricted to high-income countries — the same development stratum the ESS covers — the SDG data puts health at 11.2% of pairs against education’s 1.2%, the same ordering the ESS gives from entirely different measurement.</a:t>
            </a:r>
          </a:p>
          <a:p>
            <a:pPr>
              <a:lnSpc>
                <a:spcPct val="132000"/>
              </a:lnSpc>
              <a:spcBef>
                <a:spcPts val="0"/>
              </a:spcBef>
              <a:spcAft>
                <a:spcPts val="1100"/>
              </a:spcAft>
            </a:pPr>
            <a:r>
              <a:rPr sz="1100" b="0" i="0">
                <a:solidFill>
                  <a:srgbClr val="5A6068"/>
                </a:solidFill>
                <a:latin typeface="Calibri"/>
              </a:rPr>
              <a:t>The regional test in the next beat adds a second external check: GDL’s externally measured health index leads its education and income indices within countries too. Health therefore holds under administrative measurement at both the national and the regional scale, which is more than can be said for either of the other two domains.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ealth_trust_corroboration.png"/>
          <p:cNvPicPr>
            <a:picLocks noChangeAspect="1"/>
          </p:cNvPicPr>
          <p:nvPr/>
        </p:nvPicPr>
        <p:blipFill>
          <a:blip r:embed="rId2"/>
          <a:stretch>
            <a:fillRect/>
          </a:stretch>
        </p:blipFill>
        <p:spPr>
          <a:xfrm>
            <a:off x="5120640" y="1858518"/>
            <a:ext cx="6537960" cy="26746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domains under an administrative source and a self-report source.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HORSE RACE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Run the domains against each other inside one instrument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ESS measures health, education, income and trust on the same respondents as life satisfaction, so the domains can compete on equal terms rather than through four separate literatures. Health leads at every level of aggregation; education is significant nearly everywhere and small everywhere; trust sits between them.</a:t>
            </a:r>
          </a:p>
          <a:p>
            <a:pPr>
              <a:lnSpc>
                <a:spcPct val="132000"/>
              </a:lnSpc>
              <a:spcBef>
                <a:spcPts val="0"/>
              </a:spcBef>
              <a:spcAft>
                <a:spcPts val="1100"/>
              </a:spcAft>
            </a:pPr>
            <a:r>
              <a:rPr sz="1150" b="0" i="0">
                <a:solidFill>
                  <a:srgbClr val="5A6068"/>
                </a:solidFill>
                <a:latin typeface="Calibri"/>
              </a:rPr>
              <a:t>The HDI leads between countries at R² = 0.760, but that is the one comparison a composite index is expected to win — it proxies every domain at once. It falls to fourth once you look inside countries, and that fall is the subject of the next beat.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horse_race.png"/>
          <p:cNvPicPr>
            <a:picLocks noChangeAspect="1"/>
          </p:cNvPicPr>
          <p:nvPr/>
        </p:nvPicPr>
        <p:blipFill>
          <a:blip r:embed="rId2"/>
          <a:stretch>
            <a:fillRect/>
          </a:stretch>
        </p:blipFill>
        <p:spPr>
          <a:xfrm>
            <a:off x="5120640" y="1888236"/>
            <a:ext cx="6537960" cy="2615184"/>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Domains competing within one instrument, at three levels of aggregation.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LEVELS, DIFFERENCES, AND INSIDE COUNTRIES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Three specifications, and the ranking changes twice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000" b="0" i="0">
                <a:solidFill>
                  <a:srgbClr val="5A6068"/>
                </a:solidFill>
                <a:latin typeface="Calibri"/>
              </a:rPr>
              <a:t>Three tests run through this commentary and the reader has been left to join them up. They are not three attempts at one question. Levels asks whether a country with more of something is happier. Differences asks whether a country that gains it gets happier — the collapse of Act I. Inside one country, across its regions asks whether the places with more of it are the better places to live, holding national institutions, history and policy fixed.</a:t>
            </a:r>
          </a:p>
          <a:p>
            <a:pPr>
              <a:lnSpc>
                <a:spcPct val="132000"/>
              </a:lnSpc>
              <a:spcBef>
                <a:spcPts val="0"/>
              </a:spcBef>
              <a:spcAft>
                <a:spcPts val="1100"/>
              </a:spcAft>
            </a:pPr>
            <a:r>
              <a:rPr sz="1000" b="0" i="0">
                <a:solidFill>
                  <a:srgbClr val="5A6068"/>
                </a:solidFill>
                <a:latin typeface="Calibri"/>
              </a:rPr>
              <a:t>Education leads the first and all but vanishes in the third: 40.7% of countries, then +0.13 with 2 of 16 significant. Health and trust do the reverse — health last of the HDI’s five between countries, first inside them at +0.51; trust unmeasured between, second inside at +0.49. The middle panel flattens everything: nothing clears 3%.</a:t>
            </a:r>
          </a:p>
          <a:p>
            <a:pPr>
              <a:lnSpc>
                <a:spcPct val="132000"/>
              </a:lnSpc>
              <a:spcBef>
                <a:spcPts val="0"/>
              </a:spcBef>
              <a:spcAft>
                <a:spcPts val="1100"/>
              </a:spcAft>
            </a:pPr>
            <a:r>
              <a:rPr sz="1000" b="0" i="0">
                <a:solidFill>
                  <a:srgbClr val="5A6068"/>
                </a:solidFill>
                <a:latin typeface="Calibri"/>
              </a:rPr>
              <a:t>The direction of that shift is the finding. What predicts where wellbeing is high is structural — schooling and income, which between countries proxy the whole development bundle at once. What predicts it inside a country is experiential: health and trust. Education’s combination of near-universal significance and tiny effect is exactly what a structural variable looks like once the structure is held fixed.</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L1_three_specifications.png"/>
          <p:cNvPicPr>
            <a:picLocks noChangeAspect="1"/>
          </p:cNvPicPr>
          <p:nvPr/>
        </p:nvPicPr>
        <p:blipFill>
          <a:blip r:embed="rId2"/>
          <a:stretch>
            <a:fillRect/>
          </a:stretch>
        </p:blipFill>
        <p:spPr>
          <a:xfrm>
            <a:off x="5120640" y="1812798"/>
            <a:ext cx="6537960" cy="276606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Panels (a) and (b) are the same HDI indicators on the same 150–151 countries, so the collapse between them is exact. Panel (c) is a different instrument at a different scale — 16 ESS countries with ≥6 matched regions — so it is read alongside (a) and (b), not subtracted from them. Within it, external GDL sub-indices are drawn separately from same-survey self-reports, since the shared-method objection applies only to the latter; health leads on both.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DISCUSSION · SOCIAL TRUST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interesting case, and the one the measurement apparatus handles worst</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Trust is not a headline result here and should not be presented as one — it rests on a single instrument with a live shared-method caveat. It is in the paper because the reason it cannot be a headline is itself the commentary’s subject.</a:t>
            </a:r>
          </a:p>
          <a:p>
            <a:pPr>
              <a:lnSpc>
                <a:spcPct val="132000"/>
              </a:lnSpc>
              <a:spcBef>
                <a:spcPts val="0"/>
              </a:spcBef>
              <a:spcAft>
                <a:spcPts val="1100"/>
              </a:spcAft>
            </a:pPr>
            <a:r>
              <a:rPr sz="1400" b="0" i="0">
                <a:solidFill>
                  <a:srgbClr val="5A6068"/>
                </a:solidFill>
                <a:latin typeface="Calibri"/>
              </a:rPr>
              <a:t>Where it is measured it performs: significant in 34 of 36 ESS countries individually, +0.49 within countries across regions, second only to health on both and above education on both. Neither the HDI nor the subnational HDI measures it at all.</a:t>
            </a:r>
          </a:p>
          <a:p>
            <a:pPr>
              <a:lnSpc>
                <a:spcPct val="132000"/>
              </a:lnSpc>
              <a:spcBef>
                <a:spcPts val="0"/>
              </a:spcBef>
              <a:spcAft>
                <a:spcPts val="1100"/>
              </a:spcAft>
            </a:pPr>
            <a:r>
              <a:rPr sz="1400" b="0" i="0">
                <a:solidFill>
                  <a:srgbClr val="5A6068"/>
                </a:solidFill>
                <a:latin typeface="Calibri"/>
              </a:rPr>
              <a:t>The SDG framework appears to: 13 trust- and satisfaction-adjacent series, mostly Goal 16 — satisfaction with public services, belief that decision-making is inclusive, bribery prevalence. But their median coverage is one year per country-series against six database-wide. The design needs at least four years; 147 of the 163 country-series fall short and are never computed at all. Of the 16 that can be run, 1 is significant.</a:t>
            </a:r>
          </a:p>
          <a:p>
            <a:pPr>
              <a:lnSpc>
                <a:spcPct val="132000"/>
              </a:lnSpc>
              <a:spcBef>
                <a:spcPts val="0"/>
              </a:spcBef>
              <a:spcAft>
                <a:spcPts val="1100"/>
              </a:spcAft>
            </a:pPr>
            <a:r>
              <a:rPr sz="1400" b="0" i="0">
                <a:solidFill>
                  <a:srgbClr val="5A6068"/>
                </a:solidFill>
                <a:latin typeface="Calibri"/>
              </a:rPr>
              <a:t>Report that as “1 of 16 testable”, never “1 of 163”. The latter reads as a null when it is overwhelmingly a coverage gap — and reporting a coverage gap as a null would repeat the exact error this commentary accuses the frameworks of making.</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DISCUSSION · SOCIAL TRUST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Tested the only way its coverage allows, and it still does not become a result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075" b="0" i="0">
                <a:solidFill>
                  <a:srgbClr val="5A6068"/>
                </a:solidFill>
                <a:latin typeface="Calibri"/>
              </a:rPr>
              <a:t>One year per country is useless longitudinally and perfectly usable cross-sectionally, so we pulled the raw values from the UN SDG database and ran the series against the ladder across countries. Nine of the 13 clear a 12-country minimum and four are significant: bribery paid by individuals (−0.55) and firms (−0.51), inclusive decision-making (−0.42), satisfaction with healthcare (+0.33).</a:t>
            </a:r>
          </a:p>
          <a:p>
            <a:pPr>
              <a:lnSpc>
                <a:spcPct val="132000"/>
              </a:lnSpc>
              <a:spcBef>
                <a:spcPts val="0"/>
              </a:spcBef>
              <a:spcAft>
                <a:spcPts val="1100"/>
              </a:spcAft>
            </a:pPr>
            <a:r>
              <a:rPr sz="1075" b="0" i="0">
                <a:solidFill>
                  <a:srgbClr val="5A6068"/>
                </a:solidFill>
                <a:latin typeface="Calibri"/>
              </a:rPr>
              <a:t>Three things stop that being a rescue. Every one of the four is weaker than what the frameworks already carry — on the same 134 countries the HDI and its components sit at |r| 0.71–0.83. The broadest series, satisfaction with healthcare, is Gallup World Poll, the same survey that produces the ladder. And none of the 13 measures interpersonal trust: they measure institutional confidence, a different construct.</a:t>
            </a:r>
          </a:p>
          <a:p>
            <a:pPr>
              <a:lnSpc>
                <a:spcPct val="132000"/>
              </a:lnSpc>
              <a:spcBef>
                <a:spcPts val="0"/>
              </a:spcBef>
              <a:spcAft>
                <a:spcPts val="1100"/>
              </a:spcAft>
            </a:pPr>
            <a:r>
              <a:rPr sz="1075" b="0" i="0">
                <a:solidFill>
                  <a:srgbClr val="5A6068"/>
                </a:solidFill>
                <a:latin typeface="Calibri"/>
              </a:rPr>
              <a:t>Income control kills all nine — but it also kills the HDI (+0.82 raw, +0.09 net). No cross-section of countries separates anything from income, which is why the levels-and-differences design exists, and the panel says so to stop the null being read as trust-specific.</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K1_sdg_trust_cross_section.png"/>
          <p:cNvPicPr>
            <a:picLocks noChangeAspect="1"/>
          </p:cNvPicPr>
          <p:nvPr/>
        </p:nvPicPr>
        <p:blipFill>
          <a:blip r:embed="rId2"/>
          <a:stretch>
            <a:fillRect/>
          </a:stretch>
        </p:blipFill>
        <p:spPr>
          <a:xfrm>
            <a:off x="5120640" y="1690377"/>
            <a:ext cx="6537960" cy="301090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Nine of the 13 SDG trust- and satisfaction-adjacent series, one observation per country, against the WHR Cantril ladder. Raw values pulled from the UN SDG Global Database API.</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SYNTHESIS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pattern of blind spots is the result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Laid out side by side, the three domains have three signatures. Education leads the HDI and the access construct of SDG4, is near-universal at the individual level, and is the smallest effect anywhere — a structural variable behaving exactly as one should. Health leads the SDG framework, the individual data and the regional data, and is weak in precisely one place, the HDI, for a reason we can name. Trust leads nothing it is not the only candidate for, and is invisible to every development framework.</a:t>
            </a:r>
          </a:p>
          <a:p>
            <a:pPr>
              <a:lnSpc>
                <a:spcPct val="132000"/>
              </a:lnSpc>
              <a:spcBef>
                <a:spcPts val="0"/>
              </a:spcBef>
              <a:spcAft>
                <a:spcPts val="1100"/>
              </a:spcAft>
            </a:pPr>
            <a:r>
              <a:rPr sz="1150" b="0" i="0">
                <a:solidFill>
                  <a:srgbClr val="5A6068"/>
                </a:solidFill>
                <a:latin typeface="Calibri"/>
              </a:rPr>
              <a:t>None of these disagreements is about the world. Every one is about an operationalisation choice — which construct, which variable, which specification — which is why the contribution is not a ranking of domains but an account of why the rankings differ.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scorecard.png"/>
          <p:cNvPicPr>
            <a:picLocks noChangeAspect="1"/>
          </p:cNvPicPr>
          <p:nvPr/>
        </p:nvPicPr>
        <p:blipFill>
          <a:blip r:embed="rId2"/>
          <a:stretch>
            <a:fillRect/>
          </a:stretch>
        </p:blipFill>
        <p:spPr>
          <a:xfrm>
            <a:off x="5120640" y="1888236"/>
            <a:ext cx="6537960" cy="2615184"/>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three domains against the five instruments. Metrics differ by column and are given under each heading; the colours encode whether the domain tracks wellbeing there, shows little signal, or cannot be tested at all.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three panels the commentary needs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Commentaries carry one or two display items, so the argument has to fit in a single figure: the replicated collapse, the inversion of the health–education ranking across instruments, and the method check that only health passes.</a:t>
            </a:r>
          </a:p>
          <a:p>
            <a:pPr>
              <a:lnSpc>
                <a:spcPct val="132000"/>
              </a:lnSpc>
              <a:spcBef>
                <a:spcPts val="0"/>
              </a:spcBef>
              <a:spcAft>
                <a:spcPts val="1100"/>
              </a:spcAft>
            </a:pPr>
            <a:r>
              <a:rPr sz="1150" b="0" i="0">
                <a:solidFill>
                  <a:srgbClr val="5A6068"/>
                </a:solidFill>
                <a:latin typeface="Calibri"/>
              </a:rPr>
              <a:t>One caution for the caption. Panels b and c both put measures with different units on a shared axis — panel b normalises to the health-plus-education pair, panel c to the leading domain within each source. Both are there to make an ordering readable, not a magnitude, and the raw values are printed on the bars so a reader can check that.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igure1_commentary.png"/>
          <p:cNvPicPr>
            <a:picLocks noChangeAspect="1"/>
          </p:cNvPicPr>
          <p:nvPr/>
        </p:nvPicPr>
        <p:blipFill>
          <a:blip r:embed="rId2"/>
          <a:stretch>
            <a:fillRect/>
          </a:stretch>
        </p:blipFill>
        <p:spPr>
          <a:xfrm>
            <a:off x="5120640" y="808954"/>
            <a:ext cx="6537960" cy="477374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Proposed Figure 1 for submission. Draft — see the caution above on panels b and c.</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Education leads once it is measured as attainment rather than parity; health leads once it is measured somewhere it still varies; trust leads wherever it is measured at all, which is almost nowhere. And the ranking turns over a second time when the question moves inside countries: the structural domains that predict where wellbeing is high stop predicting it once the structure is held fixed, and the experiential ones take over. The contribution is not a ranking of domains but the demonstration that the ranking is an artefact of construct, of variable, and of specification — three ways of getting the same answer wrong.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Priorities, and what kind of education and health</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Two questions follow. Where should the lever be pulled — which turns on scale, because the ordering of predictors inverts inside countries. And what kind of education and health, because in both domains the wellbeing signal sits with one operationalisation and vanishes under another. Education comes first here for the same reason it comes first in Act II: it is where the frameworks disagree most and where the policy consensus is furthest from the evidence.</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+0.87 → +0.12</a:t>
            </a:r>
          </a:p>
          <a:p>
            <a:pPr>
              <a:lnSpc>
                <a:spcPct val="120000"/>
              </a:lnSpc>
              <a:spcBef>
                <a:spcPts val="0"/>
              </a:spcBef>
              <a:spcAft>
                <a:spcPts val="0"/>
              </a:spcAft>
            </a:pPr>
            <a:r>
              <a:rPr sz="1000" b="0" i="0">
                <a:solidFill>
                  <a:srgbClr val="8A94A0"/>
                </a:solidFill>
                <a:latin typeface="Calibri"/>
              </a:rPr>
              <a:t>development, between countries → within them</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+0.13 vs +0.51</a:t>
            </a:r>
          </a:p>
          <a:p>
            <a:pPr>
              <a:lnSpc>
                <a:spcPct val="120000"/>
              </a:lnSpc>
              <a:spcBef>
                <a:spcPts val="0"/>
              </a:spcBef>
              <a:spcAft>
                <a:spcPts val="0"/>
              </a:spcAft>
            </a:pPr>
            <a:r>
              <a:rPr sz="1000" b="0" i="0">
                <a:solidFill>
                  <a:srgbClr val="8A94A0"/>
                </a:solidFill>
                <a:latin typeface="Calibri"/>
              </a:rPr>
              <a:t>education vs health inside countries, across regions</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11.2% vs 1.2%</a:t>
            </a:r>
          </a:p>
          <a:p>
            <a:pPr>
              <a:lnSpc>
                <a:spcPct val="120000"/>
              </a:lnSpc>
              <a:spcBef>
                <a:spcPts val="0"/>
              </a:spcBef>
              <a:spcAft>
                <a:spcPts val="0"/>
              </a:spcAft>
            </a:pPr>
            <a:r>
              <a:rPr sz="1000" b="0" i="0">
                <a:solidFill>
                  <a:srgbClr val="8A94A0"/>
                </a:solidFill>
                <a:latin typeface="Calibri"/>
              </a:rPr>
              <a:t>health vs education, SDG data, high-income countries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THE LEVER 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Development inequality inside countries mostly does not become wellbeing inequality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Below the Very High tier, countries contain multitudes. Germany's regions span 0.05 of subnational HDI; China's span 0.30 and India's 0.19 — several development tiers' worth of variation inside single countries. If regional development drove regional wellbeing, this is where it would show.</a:t>
            </a:r>
          </a:p>
          <a:p>
            <a:pPr>
              <a:lnSpc>
                <a:spcPct val="132000"/>
              </a:lnSpc>
              <a:spcBef>
                <a:spcPts val="0"/>
              </a:spcBef>
              <a:spcAft>
                <a:spcPts val="1100"/>
              </a:spcAft>
            </a:pPr>
            <a:r>
              <a:rPr sz="1150" b="0" i="0">
                <a:solidFill>
                  <a:srgbClr val="5A6068"/>
                </a:solidFill>
                <a:latin typeface="Calibri"/>
              </a:rPr>
              <a:t>It mostly doesn't. Holding country fixed and regressing region-mean life satisfaction on regional subnational HDI gives a significantly positive gradient in only 3 of 16 ESS countries — France, Belgium, and Germany — and the gradient is not steeper where internal inequality is larger. Which country's ladder you are on matters more than which rung you occupy within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within_country_gradient.png"/>
          <p:cNvPicPr>
            <a:picLocks noChangeAspect="1"/>
          </p:cNvPicPr>
          <p:nvPr/>
        </p:nvPicPr>
        <p:blipFill>
          <a:blip r:embed="rId2"/>
          <a:stretch>
            <a:fillRect/>
          </a:stretch>
        </p:blipFill>
        <p:spPr>
          <a:xfrm>
            <a:off x="5120640" y="1553033"/>
            <a:ext cx="6537960" cy="328559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Within-country gradients of region-mean life satisfaction on regional SHDI, 16 ESS countries ordered by national HDI.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FLIP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and social trust do inside countries what development does between them</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900" b="0" i="0">
                <a:solidFill>
                  <a:srgbClr val="5A6068"/>
                </a:solidFill>
                <a:latin typeface="Calibri"/>
              </a:rPr>
              <a:t>Between countries, development leads and the two wellbeing instruments agree almost exactly: the HDI correlates at r = +0.89 with World Happiness Report happiness and +0.87 with ESS life satisfaction, with trust and health close behind and all three positive.</a:t>
            </a:r>
          </a:p>
          <a:p>
            <a:pPr>
              <a:lnSpc>
                <a:spcPct val="132000"/>
              </a:lnSpc>
              <a:spcBef>
                <a:spcPts val="0"/>
              </a:spcBef>
              <a:spcAft>
                <a:spcPts val="1100"/>
              </a:spcAft>
            </a:pPr>
            <a:r>
              <a:rPr sz="900" b="0" i="0">
                <a:solidFill>
                  <a:srgbClr val="5A6068"/>
                </a:solidFill>
                <a:latin typeface="Calibri"/>
              </a:rPr>
              <a:t>Within countries the ranking inverts. Development falls to a median regional correlation of +0.12, significant in 3 of 16 countries, while self-rated health holds at +0.51 (8 of 16) and social trust at +0.49 (6 of 16). Education falls with development, not with health and trust: +0.13, 2 of 16. The World Happiness Report cannot see any of this — it has no subnational values. It is the specific thing the ESS adds.</a:t>
            </a:r>
          </a:p>
          <a:p>
            <a:pPr>
              <a:lnSpc>
                <a:spcPct val="132000"/>
              </a:lnSpc>
              <a:spcBef>
                <a:spcPts val="0"/>
              </a:spcBef>
              <a:spcAft>
                <a:spcPts val="1100"/>
              </a:spcAft>
            </a:pPr>
            <a:r>
              <a:rPr sz="900" b="0" i="0">
                <a:solidFill>
                  <a:srgbClr val="5A6068"/>
                </a:solidFill>
                <a:latin typeface="Calibri"/>
              </a:rPr>
              <a:t>This is the third panel of Act II's specification figure, at full detail. The point that figure makes and this beat supplies the evidence for: the domains that lead between countries are the structural ones, and they are not the domains that lead inside them.</a:t>
            </a:r>
          </a:p>
          <a:p>
            <a:pPr>
              <a:lnSpc>
                <a:spcPct val="132000"/>
              </a:lnSpc>
              <a:spcBef>
                <a:spcPts val="0"/>
              </a:spcBef>
              <a:spcAft>
                <a:spcPts val="1100"/>
              </a:spcAft>
            </a:pPr>
            <a:r>
              <a:rPr sz="900" b="0" i="0">
                <a:solidFill>
                  <a:srgbClr val="5A6068"/>
                </a:solidFill>
                <a:latin typeface="Calibri"/>
              </a:rPr>
              <a:t>Two cautions on the detail. The health-versus-trust ordering is not stable: aggregating region means across waves rather than within them reverses it, putting trust at +0.57 and health at +0.50. What is stable, under every specification we tried, is that both sit near +0.5 while development sits near zero. And per-country coverage varies sharply — Italy matches only 30% of respondents to a region, Sweden 57%, Croatia 69%, against 91–100% elsewhere. Dropping those three, or dropping regions built on fewer than 200 respondents, leaves the flip intact.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ranking_flip.png"/>
          <p:cNvPicPr>
            <a:picLocks noChangeAspect="1"/>
          </p:cNvPicPr>
          <p:nvPr/>
        </p:nvPicPr>
        <p:blipFill>
          <a:blip r:embed="rId2"/>
          <a:stretch>
            <a:fillRect/>
          </a:stretch>
        </p:blipFill>
        <p:spPr>
          <a:xfrm>
            <a:off x="5120640" y="1711429"/>
            <a:ext cx="6537960" cy="296879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Candidate Figure 2. National correlations beside within-country regional correlations, for development, health, and trust.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FLIP, EXTERNALLY MEASURED</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survives with no self-report at all — and it is a health flip</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strongest objection to the ranking flip is that health and trust are reported by the same respondents as the outcome. GDL's regional sub-indices remove that objection: health, education and income indices measured per region from external sources, sharing no method with the ESS.</a:t>
            </a:r>
          </a:p>
          <a:p>
            <a:pPr>
              <a:lnSpc>
                <a:spcPct val="132000"/>
              </a:lnSpc>
              <a:spcBef>
                <a:spcPts val="0"/>
              </a:spcBef>
              <a:spcAft>
                <a:spcPts val="1100"/>
              </a:spcAft>
            </a:pPr>
            <a:r>
              <a:rPr sz="1150" b="0" i="0">
                <a:solidFill>
                  <a:srgbClr val="5A6068"/>
                </a:solidFill>
                <a:latin typeface="Calibri"/>
              </a:rPr>
              <a:t>Within countries, the external health index correlates with regional life satisfaction at a median of +0.34, significant in 6 of 15 usable countries, against +0.12 for the income index and +0.06 for the education index. The domain ordering is the same one the self-reports give, from measurement the respondents never touched. Self-rated health still runs higher (+0.50), which is exactly what you expect if part — but only part — of its lead is shared method variance. One country drops out: Albania's regional health index is constant, another instance of a measure with no variance left to predict with.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within_country_external.png"/>
          <p:cNvPicPr>
            <a:picLocks noChangeAspect="1"/>
          </p:cNvPicPr>
          <p:nvPr/>
        </p:nvPicPr>
        <p:blipFill>
          <a:blip r:embed="rId2"/>
          <a:stretch>
            <a:fillRect/>
          </a:stretch>
        </p:blipFill>
        <p:spPr>
          <a:xfrm>
            <a:off x="5120640" y="1531620"/>
            <a:ext cx="6537960" cy="332841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within-country domain race with externally measured predictors (solid) beside the same-survey self-reports (faded). Sub-indices pooled 2010–2023.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PRIORITIES</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Indicator dashboards are not wellbeing instruments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Development indicators tell you reliably where wellbeing is high. They tell you almost nothing about when it will rise. Across every framework tested here, year-on-year indicator movement carries essentially no wellbeing information within the measurement window — a decade or so.</a:t>
            </a:r>
          </a:p>
          <a:p>
            <a:pPr>
              <a:lnSpc>
                <a:spcPct val="132000"/>
              </a:lnSpc>
              <a:spcBef>
                <a:spcPts val="0"/>
              </a:spcBef>
              <a:spcAft>
                <a:spcPts val="1100"/>
              </a:spcAft>
            </a:pPr>
            <a:r>
              <a:rPr sz="1400" b="0" i="0">
                <a:solidFill>
                  <a:srgbClr val="5A6068"/>
                </a:solidFill>
                <a:latin typeface="Calibri"/>
              </a:rPr>
              <a:t>The implication is about horizon and instrument, not about whether development matters. A monitoring architecture designed to reward annual indicator movement should not be read as tracking wellbeing, and a government that improves its dashboard position in a given year should not expect a wellbeing dividend inside the same electoral cycle.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WHAT KIND OF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consensus moved to learning; the wellbeing evidence points at attainment</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Global education policy has shifted decisively over the past decade from schooling to learning — the learning-crisis framing, learning-poverty targets, and an indicator architecture built around measured proficiency. The premise is that years in school without demonstrated learning are an empty metric.</a:t>
            </a:r>
          </a:p>
          <a:p>
            <a:pPr>
              <a:lnSpc>
                <a:spcPct val="132000"/>
              </a:lnSpc>
              <a:spcBef>
                <a:spcPts val="0"/>
              </a:spcBef>
              <a:spcAft>
                <a:spcPts val="1100"/>
              </a:spcAft>
            </a:pPr>
            <a:r>
              <a:rPr sz="1400" b="0" i="0">
                <a:solidFill>
                  <a:srgbClr val="5A6068"/>
                </a:solidFill>
                <a:latin typeface="Calibri"/>
              </a:rPr>
              <a:t>Every level of aggregation we can test points the other way. Attainment and access carry the signal — 12.7% for SDG4 access, 40.7% and 34.0% for the HDI's schooling components, 32 of 36 countries at the individual level — while measured learning outcomes sit at 0.9% and parity ratios at 2.5%.</a:t>
            </a:r>
          </a:p>
          <a:p>
            <a:pPr>
              <a:lnSpc>
                <a:spcPct val="132000"/>
              </a:lnSpc>
              <a:spcBef>
                <a:spcPts val="0"/>
              </a:spcBef>
              <a:spcAft>
                <a:spcPts val="1100"/>
              </a:spcAft>
            </a:pPr>
            <a:r>
              <a:rPr sz="1400" b="0" i="0">
                <a:solidFill>
                  <a:srgbClr val="5A6068"/>
                </a:solidFill>
                <a:latin typeface="Calibri"/>
              </a:rPr>
              <a:t>Two cautions from Act II travel with this, and the recommendation is weaker without them. Education is the most consistent signal and the smallest one. And it is a between-country signal: inside countries, across regions, it falls to +0.13 with 2 of 16 countries significant. So this is an argument about what a global monitoring framework should count, not a claim that moving one region's schooling will move its wellbeing.</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WHAT KIND OF HEALTH</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Monitor health where it still varies, not where it has already converged</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Life expectancy is the standard summary of population health and the HDI's only health input, and it is the weakest of the HDI's five indicators against wellbeing. That is a measurement failure rather than a substantive one. What carries health's signal is survival at the margin — child, infant and neonatal mortality, stunting, sanitation and safe water — and, in rich countries, self-rated health, which picks up morbidity and functional limitation that life expectancy cannot see.</a:t>
            </a:r>
          </a:p>
          <a:p>
            <a:pPr>
              <a:lnSpc>
                <a:spcPct val="132000"/>
              </a:lnSpc>
              <a:spcBef>
                <a:spcPts val="0"/>
              </a:spcBef>
              <a:spcAft>
                <a:spcPts val="1100"/>
              </a:spcAft>
            </a:pPr>
            <a:r>
              <a:rPr sz="1400" b="0" i="0">
                <a:solidFill>
                  <a:srgbClr val="5A6068"/>
                </a:solidFill>
                <a:latin typeface="Calibri"/>
              </a:rPr>
              <a:t>For monitoring, that argues for retiring life expectancy as the headline wellbeing-relevant health measure in high-income settings and pairing survival indicators with a subjective health item. The ESS already fields one; most national statistical systems do too. It is close to free.</a:t>
            </a:r>
          </a:p>
          <a:p>
            <a:pPr>
              <a:lnSpc>
                <a:spcPct val="132000"/>
              </a:lnSpc>
              <a:spcBef>
                <a:spcPts val="0"/>
              </a:spcBef>
              <a:spcAft>
                <a:spcPts val="1100"/>
              </a:spcAft>
            </a:pPr>
            <a:r>
              <a:rPr sz="1400" b="0" i="0">
                <a:solidFill>
                  <a:srgbClr val="5A6068"/>
                </a:solidFill>
                <a:latin typeface="Calibri"/>
              </a:rPr>
              <a:t>Health is also the domain where the scale caution runs the other way. It is weak between countries and strong inside them, so a subnational health measure is doing work a national one cannot — which is an argument for regional disaggregation, not just for a different indicator.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THE TRUST GAP</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cheapest fix in the paper: field a repeated trust item</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Social trust is at or near the top of every test the ESS can run, and no development framework can currently check it. The SDG framework's 13 satisfaction and integrity series average one observation per country, which is not enough for any longitudinal design; the HDI and subnational HDI do not measure the construct at all.</a:t>
            </a:r>
          </a:p>
          <a:p>
            <a:pPr>
              <a:lnSpc>
                <a:spcPct val="132000"/>
              </a:lnSpc>
              <a:spcBef>
                <a:spcPts val="0"/>
              </a:spcBef>
              <a:spcAft>
                <a:spcPts val="1100"/>
              </a:spcAft>
            </a:pPr>
            <a:r>
              <a:rPr sz="1400" b="0" i="0">
                <a:solidFill>
                  <a:srgbClr val="5A6068"/>
                </a:solidFill>
                <a:latin typeface="Calibri"/>
              </a:rPr>
              <a:t>We did not stop at asserting that. Act II runs those 13 series the only way their coverage permits — across countries rather than across years — and the answer is that 9 are testable, 4 are significant, and all four land below the HDI and its own components on the same countries. The existing series are not a substitute, and now we can say so with a number rather than an argument.</a:t>
            </a:r>
          </a:p>
          <a:p>
            <a:pPr>
              <a:lnSpc>
                <a:spcPct val="132000"/>
              </a:lnSpc>
              <a:spcBef>
                <a:spcPts val="0"/>
              </a:spcBef>
              <a:spcAft>
                <a:spcPts val="1100"/>
              </a:spcAft>
            </a:pPr>
            <a:r>
              <a:rPr sz="1400" b="0" i="0">
                <a:solidFill>
                  <a:srgbClr val="5A6068"/>
                </a:solidFill>
                <a:latin typeface="Calibri"/>
              </a:rPr>
              <a:t>This is the one recommendation in the commentary that costs almost nothing. A single generalised-trust item, asked repeatedly, is already standard in the ESS, the World Values Survey and several national statistical series. Adding one to a development monitoring instrument would move trust from untestable to testable — and on the evidence available it would then rank alongside health.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WE CANNOT SAY</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Three limits that keep this a question rather than a recommendation</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None of this is causal. The design is correlational throughout, and the levels results in particular are cross-sectional comparisons between countries.</a:t>
            </a:r>
          </a:p>
          <a:p>
            <a:pPr>
              <a:lnSpc>
                <a:spcPct val="132000"/>
              </a:lnSpc>
              <a:spcBef>
                <a:spcPts val="0"/>
              </a:spcBef>
              <a:spcAft>
                <a:spcPts val="1100"/>
              </a:spcAft>
            </a:pPr>
            <a:r>
              <a:rPr sz="1400" b="0" i="0">
                <a:solidFill>
                  <a:srgbClr val="5A6068"/>
                </a:solidFill>
                <a:latin typeface="Calibri"/>
              </a:rPr>
              <a:t>Schooling cannot be separated from what schooling stands in for. Years attained proxy labour-market position, economic security, autonomy, and social standing, and this design cannot pull them apart. Individual effects are small: a median R² near 0.01.</a:t>
            </a:r>
          </a:p>
          <a:p>
            <a:pPr>
              <a:lnSpc>
                <a:spcPct val="132000"/>
              </a:lnSpc>
              <a:spcBef>
                <a:spcPts val="0"/>
              </a:spcBef>
              <a:spcAft>
                <a:spcPts val="1100"/>
              </a:spcAft>
            </a:pPr>
            <a:r>
              <a:rPr sz="1400" b="0" i="0">
                <a:solidFill>
                  <a:srgbClr val="5A6068"/>
                </a:solidFill>
                <a:latin typeface="Calibri"/>
              </a:rPr>
              <a:t>The within-country results are Europe-only. The ESS is the only regional wellbeing source with the coverage this design needs — Gallup's subnational files are paywalled — so the priorities argument generalises across 16 European countries and not beyond them. That belongs in the text as a scope condition, not buried in a limitations paragraph, because the ranking flip is the most policy-relevant result here and will be the most contested.</a:t>
            </a:r>
          </a:p>
          <a:p>
            <a:pPr>
              <a:lnSpc>
                <a:spcPct val="132000"/>
              </a:lnSpc>
              <a:spcBef>
                <a:spcPts val="0"/>
              </a:spcBef>
              <a:spcAft>
                <a:spcPts val="1100"/>
              </a:spcAft>
            </a:pPr>
            <a:r>
              <a:rPr sz="1400" b="0" i="0">
                <a:solidFill>
                  <a:srgbClr val="5A6068"/>
                </a:solidFill>
                <a:latin typeface="Calibri"/>
              </a:rPr>
              <a:t>Some of the parity and learning indicators' weakness is coverage rather than construct — they are the youngest and thinnest series in the SDG database, and thin series fail significance tests for uninteresting reasons. The commentary should concede this explicitly and say what would settle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ASK</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Should wellbeing be a criterion for how we measure development after 2030?</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That is the question the commentary exists to pose, and it has a sharp form. Two of the most consequential domains in development are monitored through variables that have either run out of variance or measure a different construct from the one the policy debate is about: health through life expectancy, education through parity and proficiency. If wellbeing is to be a criterion for the post-2030 architecture at all, the first question is not which domain to prioritise but whether each domain is being measured somewhere it can still move.</a:t>
            </a:r>
          </a:p>
          <a:p>
            <a:pPr>
              <a:lnSpc>
                <a:spcPct val="132000"/>
              </a:lnSpc>
              <a:spcBef>
                <a:spcPts val="0"/>
              </a:spcBef>
              <a:spcAft>
                <a:spcPts val="1100"/>
              </a:spcAft>
            </a:pPr>
            <a:r>
              <a:rPr sz="1400" b="0" i="0">
                <a:solidFill>
                  <a:srgbClr val="5A6068"/>
                </a:solidFill>
                <a:latin typeface="Calibri"/>
              </a:rPr>
              <a:t>A commentary cannot settle that. It can put the disagreement on the record with the evidence attached, which is what the three acts are for.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recommended framing for submission: lead with the education exception as the positive finding, use the generalised collapse as the backdrop that makes it surprising, and close on the target-setting question. That ordering makes Act I load-bearing without making it the story.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Five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FRAMING</a:t>
            </a:r>
          </a:p>
          <a:p>
            <a:pPr>
              <a:lnSpc>
                <a:spcPct val="130000"/>
              </a:lnSpc>
              <a:spcBef>
                <a:spcPts val="0"/>
              </a:spcBef>
              <a:spcAft>
                <a:spcPts val="0"/>
              </a:spcAft>
            </a:pPr>
            <a:r>
              <a:rPr sz="1100" b="0" i="0">
                <a:solidFill>
                  <a:srgbClr val="5A6068"/>
                </a:solidFill>
                <a:latin typeface="Calibri"/>
              </a:rPr>
              <a:t>Lead with the education exception and use the generalised collapse as Act I backdrop — recommended — or lead with the robustness result and treat education as the coda. This decides title, abstract, and venue.</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DISPLAY ITEMS</a:t>
            </a:r>
          </a:p>
          <a:p>
            <a:pPr>
              <a:lnSpc>
                <a:spcPct val="130000"/>
              </a:lnSpc>
              <a:spcBef>
                <a:spcPts val="0"/>
              </a:spcBef>
              <a:spcAft>
                <a:spcPts val="0"/>
              </a:spcAft>
            </a:pPr>
            <a:r>
              <a:rPr sz="1100" b="0" i="0">
                <a:solidFill>
                  <a:srgbClr val="5A6068"/>
                </a:solidFill>
                <a:latin typeface="Calibri"/>
              </a:rPr>
              <a:t>Commentaries allow one or two. Proposed: the three-panel composite as Figure 1, the ranking flip as Figure 2. Everything else moves to supplementary.</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THE WITHIN-COUNTRY WORK</a:t>
            </a:r>
          </a:p>
          <a:p>
            <a:pPr>
              <a:lnSpc>
                <a:spcPct val="130000"/>
              </a:lnSpc>
              <a:spcBef>
                <a:spcPts val="0"/>
              </a:spcBef>
              <a:spcAft>
                <a:spcPts val="0"/>
              </a:spcAft>
            </a:pPr>
            <a:r>
              <a:rPr sz="1100" b="0" i="0">
                <a:solidFill>
                  <a:srgbClr val="5A6068"/>
                </a:solidFill>
                <a:latin typeface="Calibri"/>
              </a:rPr>
              <a:t>It now sits inside Act III as the evidence on priorities. Does it belong there, or in a third paper? It is the most policy-relevant and the most contested result we have, and it is Europe-only.</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RESOLVED: SUBNATIONAL SUB-INDICES</a:t>
            </a:r>
          </a:p>
          <a:p>
            <a:pPr>
              <a:lnSpc>
                <a:spcPct val="130000"/>
              </a:lnSpc>
              <a:spcBef>
                <a:spcPts val="0"/>
              </a:spcBef>
              <a:spcAft>
                <a:spcPts val="0"/>
              </a:spcAft>
            </a:pPr>
            <a:r>
              <a:rPr sz="1100" b="0" i="0">
                <a:solidFill>
                  <a:srgbClr val="5A6068"/>
                </a:solidFill>
                <a:latin typeface="Calibri"/>
              </a:rPr>
              <a:t>The per-domain GDL exports are in. Within countries the external health index leads education and income (+0.34 vs +0.06 and +0.12), so the flip no longer rests on self-report. GDL's DHS-based Education &amp; Work and Health datasets were also examined: they cover only 6 ESS countries and cannot serve the European design.</a:t>
            </a:r>
          </a:p>
        </p:txBody>
      </p:sp>
      <p:sp>
        <p:nvSpPr>
          <p:cNvPr id="11" name="Rectangle 10"/>
          <p:cNvSpPr/>
          <p:nvPr/>
        </p:nvSpPr>
        <p:spPr>
          <a:xfrm>
            <a:off x="4359554"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59554"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METHODS NOTE</a:t>
            </a:r>
          </a:p>
          <a:p>
            <a:pPr>
              <a:lnSpc>
                <a:spcPct val="130000"/>
              </a:lnSpc>
              <a:spcBef>
                <a:spcPts val="0"/>
              </a:spcBef>
              <a:spcAft>
                <a:spcPts val="0"/>
              </a:spcAft>
            </a:pPr>
            <a:r>
              <a:rPr sz="1100" b="0" i="0">
                <a:solidFill>
                  <a:srgbClr val="5A6068"/>
                </a:solidFill>
                <a:latin typeface="Calibri"/>
              </a:rPr>
              <a:t>Pooled R² and significant-country share tell different stories at several points. Proposal: report both throughout and discuss the divergence explicitly as a secondary contribution.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against SDG, domain by domain</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Education is the HDI's strongest domain and the SDG framework's weakest, unless SDG4 is split into access versus the rest. Absolute levels are not comparable across frameworks; the within-framework rankings are.</a:t>
            </a:r>
          </a:p>
        </p:txBody>
      </p:sp>
      <p:pic>
        <p:nvPicPr>
          <p:cNvPr id="5" name="Picture 4" descr="hdi_vs_sdg_frameworks.png"/>
          <p:cNvPicPr>
            <a:picLocks noChangeAspect="1"/>
          </p:cNvPicPr>
          <p:nvPr/>
        </p:nvPicPr>
        <p:blipFill>
          <a:blip r:embed="rId2"/>
          <a:stretch>
            <a:fillRect/>
          </a:stretch>
        </p:blipFill>
        <p:spPr>
          <a:xfrm>
            <a:off x="1492967" y="1965960"/>
            <a:ext cx="9205761" cy="448056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ESS-measured schooling against WHR happiness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Country-aggregated ESS years of schooling predicts WHR happiness at R² = 0.308, against 0.161 for the HDI's own schooling series on the same cells — an independently measured education variable roughly doubles it.</a:t>
            </a:r>
          </a:p>
        </p:txBody>
      </p:sp>
      <p:pic>
        <p:nvPicPr>
          <p:cNvPr id="5" name="Picture 4" descr="ess_triangulation.png"/>
          <p:cNvPicPr>
            <a:picLocks noChangeAspect="1"/>
          </p:cNvPicPr>
          <p:nvPr/>
        </p:nvPicPr>
        <p:blipFill>
          <a:blip r:embed="rId2"/>
          <a:stretch>
            <a:fillRect/>
          </a:stretch>
        </p:blipFill>
        <p:spPr>
          <a:xfrm>
            <a:off x="566928" y="1965960"/>
            <a:ext cx="11057839" cy="3026903"/>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development spread within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Every region a dot, two countries per UNDP development tier, 2022. Germany's regions span 0.05 of SHDI; China's span 0.30, India's 0.19.</a:t>
            </a:r>
          </a:p>
        </p:txBody>
      </p:sp>
      <p:pic>
        <p:nvPicPr>
          <p:cNvPr id="5" name="Picture 4" descr="shdi_within_country_spread.png"/>
          <p:cNvPicPr>
            <a:picLocks noChangeAspect="1"/>
          </p:cNvPicPr>
          <p:nvPr/>
        </p:nvPicPr>
        <p:blipFill>
          <a:blip r:embed="rId2"/>
          <a:stretch>
            <a:fillRect/>
          </a:stretch>
        </p:blipFill>
        <p:spPr>
          <a:xfrm>
            <a:off x="2653157" y="1965960"/>
            <a:ext cx="6885380" cy="448056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SDG significance by goal,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leading goal (Energy, 16.0%) clears FDR significance in barely one country-test in six; pooled Education ranks 12th of 17.</a:t>
            </a:r>
          </a:p>
        </p:txBody>
      </p:sp>
      <p:pic>
        <p:nvPicPr>
          <p:cNvPr id="5" name="Picture 4" descr="sdg_by_goal.png"/>
          <p:cNvPicPr>
            <a:picLocks noChangeAspect="1"/>
          </p:cNvPicPr>
          <p:nvPr/>
        </p:nvPicPr>
        <p:blipFill>
          <a:blip r:embed="rId2"/>
          <a:stretch>
            <a:fillRect/>
          </a:stretch>
        </p:blipFill>
        <p:spPr>
          <a:xfrm>
            <a:off x="2504357" y="1965960"/>
            <a:ext cx="7182980" cy="448056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GDL national SHDI against the UNDP HDI</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two are the same series — R² = 1.000, every country-year identical, because GDL derives the national figure from the UNDP index. Retained to document the check, not as validation: agreement here says nothing about the subnational disaggregation, which is where GDL's own data begins.</a:t>
            </a:r>
          </a:p>
        </p:txBody>
      </p:sp>
      <p:pic>
        <p:nvPicPr>
          <p:cNvPr id="5" name="Picture 4" descr="shdi_vs_hdi_validation.png"/>
          <p:cNvPicPr>
            <a:picLocks noChangeAspect="1"/>
          </p:cNvPicPr>
          <p:nvPr/>
        </p:nvPicPr>
        <p:blipFill>
          <a:blip r:embed="rId2"/>
          <a:stretch>
            <a:fillRect/>
          </a:stretch>
        </p:blipFill>
        <p:spPr>
          <a:xfrm>
            <a:off x="4036999" y="1965960"/>
            <a:ext cx="4117697" cy="448056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Subnational HDI against WHR happiness, levels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familiar development-tier gradient with SHDI in place of HDI.</a:t>
            </a:r>
          </a:p>
        </p:txBody>
      </p:sp>
      <p:pic>
        <p:nvPicPr>
          <p:cNvPr id="5" name="Picture 4" descr="shdi_whr_levels_scatter.png"/>
          <p:cNvPicPr>
            <a:picLocks noChangeAspect="1"/>
          </p:cNvPicPr>
          <p:nvPr/>
        </p:nvPicPr>
        <p:blipFill>
          <a:blip r:embed="rId2"/>
          <a:stretch>
            <a:fillRect/>
          </a:stretch>
        </p:blipFill>
        <p:spPr>
          <a:xfrm>
            <a:off x="3508482" y="1965960"/>
            <a:ext cx="5174731" cy="448056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 coverage by country and year</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A rotating panel: 36 countries, roughly biennial from 2010 to 2023, with 17 countries present in all seven waves. This is the power constraint behind every ESS significance test.</a:t>
            </a:r>
          </a:p>
        </p:txBody>
      </p:sp>
      <p:pic>
        <p:nvPicPr>
          <p:cNvPr id="5" name="Picture 4" descr="ess_year_coverage.png"/>
          <p:cNvPicPr>
            <a:picLocks noChangeAspect="1"/>
          </p:cNvPicPr>
          <p:nvPr/>
        </p:nvPicPr>
        <p:blipFill>
          <a:blip r:embed="rId2"/>
          <a:stretch>
            <a:fillRect/>
          </a:stretch>
        </p:blipFill>
        <p:spPr>
          <a:xfrm>
            <a:off x="4247956" y="1965960"/>
            <a:ext cx="3695783" cy="448056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ESS-to-SHDI region crosswalk</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62% of respondents, across 24 of 36 countries, matched to a subnational SHDI value through the NUTS-to-GDL crosswalk.</a:t>
            </a:r>
          </a:p>
        </p:txBody>
      </p:sp>
      <p:pic>
        <p:nvPicPr>
          <p:cNvPr id="5" name="Picture 4" descr="region_crosswalk_match.png"/>
          <p:cNvPicPr>
            <a:picLocks noChangeAspect="1"/>
          </p:cNvPicPr>
          <p:nvPr/>
        </p:nvPicPr>
        <p:blipFill>
          <a:blip r:embed="rId2"/>
          <a:stretch>
            <a:fillRect/>
          </a:stretch>
        </p:blipFill>
        <p:spPr>
          <a:xfrm>
            <a:off x="2428154" y="1965960"/>
            <a:ext cx="7335386" cy="448056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Country × indicator significance,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15% of levels cells and 9% of differences cells FDR-significant; direction consistent with the WHR results, power much lower.</a:t>
            </a:r>
          </a:p>
        </p:txBody>
      </p:sp>
      <p:pic>
        <p:nvPicPr>
          <p:cNvPr id="5" name="Picture 4" descr="hdi_ess_heatmap.png"/>
          <p:cNvPicPr>
            <a:picLocks noChangeAspect="1"/>
          </p:cNvPicPr>
          <p:nvPr/>
        </p:nvPicPr>
        <p:blipFill>
          <a:blip r:embed="rId2"/>
          <a:stretch>
            <a:fillRect/>
          </a:stretch>
        </p:blipFill>
        <p:spPr>
          <a:xfrm>
            <a:off x="3601923" y="1965960"/>
            <a:ext cx="4987848" cy="448056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collapse,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More above-the-line exceptions than the WHR analysis shows — sparse waves cut both ways.</a:t>
            </a:r>
          </a:p>
        </p:txBody>
      </p:sp>
      <p:pic>
        <p:nvPicPr>
          <p:cNvPr id="5" name="Picture 4" descr="hdi_ess_collapse_scatter.png"/>
          <p:cNvPicPr>
            <a:picLocks noChangeAspect="1"/>
          </p:cNvPicPr>
          <p:nvPr/>
        </p:nvPicPr>
        <p:blipFill>
          <a:blip r:embed="rId2"/>
          <a:stretch>
            <a:fillRect/>
          </a:stretch>
        </p:blipFill>
        <p:spPr>
          <a:xfrm>
            <a:off x="2057001" y="1965960"/>
            <a:ext cx="8077693" cy="448056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progress against life-satisfaction trends, 2010–2023</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HDI rose nearly everywhere. ESS life satisfaction rose in 19 countries and fell in 8.</a:t>
            </a:r>
          </a:p>
        </p:txBody>
      </p:sp>
      <p:pic>
        <p:nvPicPr>
          <p:cNvPr id="5" name="Picture 4" descr="hdi_vs_lifesat_trends.png"/>
          <p:cNvPicPr>
            <a:picLocks noChangeAspect="1"/>
          </p:cNvPicPr>
          <p:nvPr/>
        </p:nvPicPr>
        <p:blipFill>
          <a:blip r:embed="rId2"/>
          <a:stretch>
            <a:fillRect/>
          </a:stretch>
        </p:blipFill>
        <p:spPr>
          <a:xfrm>
            <a:off x="4009215" y="1965960"/>
            <a:ext cx="4173264" cy="448056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Region-level SHDI against life satisfaction,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1,313 region-years, pooled R² = 0.32 — this mixes between- and within-country variation, which the within-country panels separate.</a:t>
            </a:r>
          </a:p>
        </p:txBody>
      </p:sp>
      <p:pic>
        <p:nvPicPr>
          <p:cNvPr id="5" name="Picture 4" descr="region_shdi_lifesat_pooled.png"/>
          <p:cNvPicPr>
            <a:picLocks noChangeAspect="1"/>
          </p:cNvPicPr>
          <p:nvPr/>
        </p:nvPicPr>
        <p:blipFill>
          <a:blip r:embed="rId2"/>
          <a:stretch>
            <a:fillRect/>
          </a:stretch>
        </p:blipFill>
        <p:spPr>
          <a:xfrm>
            <a:off x="3123927" y="1965960"/>
            <a:ext cx="5943841" cy="448056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Within-country regional gradients, small multiples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Holding country fixed, the regional development–wellbeing gradient is weak in most countries. France is the clearest exception.</a:t>
            </a:r>
          </a:p>
        </p:txBody>
      </p:sp>
      <p:pic>
        <p:nvPicPr>
          <p:cNvPr id="5" name="Picture 4" descr="within_country_small_multiples.png"/>
          <p:cNvPicPr>
            <a:picLocks noChangeAspect="1"/>
          </p:cNvPicPr>
          <p:nvPr/>
        </p:nvPicPr>
        <p:blipFill>
          <a:blip r:embed="rId2"/>
          <a:stretch>
            <a:fillRect/>
          </a:stretch>
        </p:blipFill>
        <p:spPr>
          <a:xfrm>
            <a:off x="2779954" y="1965960"/>
            <a:ext cx="6631787" cy="448056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SHDI spread within ESS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Italy and Poland carry several times the internal development inequality of Germany or the Nordics.</a:t>
            </a:r>
          </a:p>
        </p:txBody>
      </p:sp>
      <p:pic>
        <p:nvPicPr>
          <p:cNvPr id="5" name="Picture 4" descr="european_regional_inequality.png"/>
          <p:cNvPicPr>
            <a:picLocks noChangeAspect="1"/>
          </p:cNvPicPr>
          <p:nvPr/>
        </p:nvPicPr>
        <p:blipFill>
          <a:blip r:embed="rId2"/>
          <a:stretch>
            <a:fillRect/>
          </a:stretch>
        </p:blipFill>
        <p:spPr>
          <a:xfrm>
            <a:off x="2097774" y="1965960"/>
            <a:ext cx="7996146" cy="448056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Trust and health as rival predictors, nationally</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Self-rated health out-predicts the HDI nationally on significant-country share, 37% against 19%.</a:t>
            </a:r>
          </a:p>
        </p:txBody>
      </p:sp>
      <p:pic>
        <p:nvPicPr>
          <p:cNvPr id="5" name="Picture 4" descr="mechanisms_trust_health.png"/>
          <p:cNvPicPr>
            <a:picLocks noChangeAspect="1"/>
          </p:cNvPicPr>
          <p:nvPr/>
        </p:nvPicPr>
        <p:blipFill>
          <a:blip r:embed="rId2"/>
          <a:stretch>
            <a:fillRect/>
          </a:stretch>
        </p:blipFill>
        <p:spPr>
          <a:xfrm>
            <a:off x="3617081" y="1965960"/>
            <a:ext cx="4957532" cy="448056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detail behind the ranking flip</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Signed within-country regional correlations for all 16 countries; filled markers are p &lt; .05. Sweden reads negative on all three, but only 57% of Swedish respondents carry a usable region code, so that result should not be interpreted.</a:t>
            </a:r>
          </a:p>
        </p:txBody>
      </p:sp>
      <p:pic>
        <p:nvPicPr>
          <p:cNvPr id="5" name="Picture 4" descr="mechanisms_percountry_detail.png"/>
          <p:cNvPicPr>
            <a:picLocks noChangeAspect="1"/>
          </p:cNvPicPr>
          <p:nvPr/>
        </p:nvPicPr>
        <p:blipFill>
          <a:blip r:embed="rId2"/>
          <a:stretch>
            <a:fillRect/>
          </a:stretch>
        </p:blipFill>
        <p:spPr>
          <a:xfrm>
            <a:off x="3273725" y="1965960"/>
            <a:ext cx="5644245"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