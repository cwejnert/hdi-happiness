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Development indicators predict wellbeing between countries and not within them. Working through why: which domains actually track lived experience, and which of them the frameworks built to monitor development are able to see.</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150 countries, 2011–2023 · Subnational HDI: 167 regions · European Social Survey: 36 countries, 351,023 respondents, rounds 5–11 (2010–2023) · All tests Benjamini–Hochberg FDR at q &lt;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WHERE THIS STARTS</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The SDG paper found something odd. This is the walk through what it turned out to mean.</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50" b="0" i="0">
                <a:solidFill>
                  <a:srgbClr val="5A6068"/>
                </a:solidFill>
                <a:latin typeface="Calibri"/>
              </a:rPr>
              <a:t>In the SDG paper, development indicators predict happiness strongly between countries and almost not at all within them year to year. Thirty of 42 countries are significant in levels; two are in differences. The obvious dismissal is that this says more about the SDG framework than about the world — 661 series, uneven coverage, seventeen goals of wildly different maturity.</a:t>
            </a:r>
          </a:p>
          <a:p>
            <a:pPr>
              <a:lnSpc>
                <a:spcPct val="134000"/>
              </a:lnSpc>
              <a:spcBef>
                <a:spcPts val="0"/>
              </a:spcBef>
              <a:spcAft>
                <a:spcPts val="1200"/>
              </a:spcAft>
            </a:pPr>
            <a:r>
              <a:rPr sz="1050" b="0" i="0">
                <a:solidFill>
                  <a:srgbClr val="5A6068"/>
                </a:solidFill>
                <a:latin typeface="Calibri"/>
              </a:rPr>
              <a:t>So we tested that dismissal. Swap the framework for the HDI — built the opposite way on every dimension the dismissal leans on — and the collapse is just as sharp. Swap the Cantril ladder for the European Social Survey and go one spatial scale down, and the levels association holds on an independent instrument. The asymmetry is a property of the design, not of the SDGs, and the levels are where the signal actually lives.</a:t>
            </a:r>
          </a:p>
          <a:p>
            <a:pPr>
              <a:lnSpc>
                <a:spcPct val="134000"/>
              </a:lnSpc>
              <a:spcBef>
                <a:spcPts val="0"/>
              </a:spcBef>
              <a:spcAft>
                <a:spcPts val="1200"/>
              </a:spcAft>
            </a:pPr>
            <a:r>
              <a:rPr sz="1050" b="0" i="0">
                <a:solidFill>
                  <a:srgbClr val="5A6068"/>
                </a:solidFill>
                <a:latin typeface="Calibri"/>
              </a:rPr>
              <a:t>That licenses the next question. If levels are where development and wellbeing meet, which parts of development are doing the work? In the frameworks, health and education both register — but only once you stop pooling education's 35 series together. Then we ask the same question of the ESS, where the domains are measured on people rather than on national aggregates, and a third domain appears that neither framework collects: social trust.</a:t>
            </a:r>
          </a:p>
          <a:p>
            <a:pPr>
              <a:lnSpc>
                <a:spcPct val="134000"/>
              </a:lnSpc>
              <a:spcBef>
                <a:spcPts val="0"/>
              </a:spcBef>
              <a:spcAft>
                <a:spcPts val="1200"/>
              </a:spcAft>
            </a:pPr>
            <a:r>
              <a:rPr sz="1050" b="0" i="0">
                <a:solidFill>
                  <a:srgbClr val="5A6068"/>
                </a:solidFill>
                <a:latin typeface="Calibri"/>
              </a:rPr>
              <a:t>The last act is what that implies. Not that the SDGs and HDI are bad instruments — they do the job they were built for. The narrower claim is that they may not be capturing what shapes lived experience at the individual level, and the evidence points to fairly specific things one could change about that.</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5214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498080" y="115214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The collapse is real, and it is not about the SDGs.</a:t>
            </a:r>
          </a:p>
          <a:p>
            <a:pPr>
              <a:lnSpc>
                <a:spcPct val="122000"/>
              </a:lnSpc>
              <a:spcBef>
                <a:spcPts val="0"/>
              </a:spcBef>
              <a:spcAft>
                <a:spcPts val="0"/>
              </a:spcAft>
            </a:pPr>
            <a:r>
              <a:rPr sz="950" b="0" i="0">
                <a:solidFill>
                  <a:srgbClr val="5A6068"/>
                </a:solidFill>
                <a:latin typeface="Calibri"/>
              </a:rPr>
              <a:t>The HDI shows it as sharply as the SDGs do, and an independent wellbeing instrument corroborates the levels half. Differences carry nothing — so analyse the levels.</a:t>
            </a:r>
          </a:p>
        </p:txBody>
      </p:sp>
      <p:sp>
        <p:nvSpPr>
          <p:cNvPr id="9" name="Rectangle 8"/>
          <p:cNvSpPr/>
          <p:nvPr/>
        </p:nvSpPr>
        <p:spPr>
          <a:xfrm>
            <a:off x="6720840" y="21214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24942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498080" y="224942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At the levels, education and health carry the frameworks.</a:t>
            </a:r>
          </a:p>
          <a:p>
            <a:pPr>
              <a:lnSpc>
                <a:spcPct val="122000"/>
              </a:lnSpc>
              <a:spcBef>
                <a:spcPts val="0"/>
              </a:spcBef>
              <a:spcAft>
                <a:spcPts val="0"/>
              </a:spcAft>
            </a:pPr>
            <a:r>
              <a:rPr sz="950" b="0" i="0">
                <a:solidFill>
                  <a:srgbClr val="5A6068"/>
                </a:solidFill>
                <a:latin typeface="Calibri"/>
              </a:rPr>
              <a:t>Both domains, across all three frameworks at once. Health is 4th of 17 SDG goals and the weakest HDI component; education looks 12th of 17 — until you unpool it.</a:t>
            </a:r>
          </a:p>
        </p:txBody>
      </p:sp>
      <p:sp>
        <p:nvSpPr>
          <p:cNvPr id="12" name="Rectangle 11"/>
          <p:cNvSpPr/>
          <p:nvPr/>
        </p:nvSpPr>
        <p:spPr>
          <a:xfrm>
            <a:off x="6720840" y="32186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346704"/>
            <a:ext cx="658368" cy="457200"/>
          </a:xfrm>
          <a:prstGeom prst="rect">
            <a:avLst/>
          </a:prstGeom>
          <a:noFill/>
        </p:spPr>
        <p:txBody>
          <a:bodyPr wrap="square" lIns="0" rIns="0" tIns="0" bIns="0">
            <a:spAutoFit/>
          </a:bodyPr>
          <a:lstStyle/>
          <a:p>
            <a:pPr>
              <a:spcBef>
                <a:spcPts val="0"/>
              </a:spcBef>
              <a:spcAft>
                <a:spcPts val="0"/>
              </a:spcAft>
            </a:pPr>
            <a:r>
              <a:rPr sz="1700" b="0" i="0">
                <a:solidFill>
                  <a:srgbClr val="17549E"/>
                </a:solidFill>
                <a:latin typeface="Georgia"/>
              </a:rPr>
              <a:t>II-a</a:t>
            </a:r>
          </a:p>
        </p:txBody>
      </p:sp>
      <p:sp>
        <p:nvSpPr>
          <p:cNvPr id="14" name="TextBox 13"/>
          <p:cNvSpPr txBox="1"/>
          <p:nvPr/>
        </p:nvSpPr>
        <p:spPr>
          <a:xfrm>
            <a:off x="7498080" y="334670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Trust: the domain only people can report, and what it is worth.</a:t>
            </a:r>
          </a:p>
          <a:p>
            <a:pPr>
              <a:lnSpc>
                <a:spcPct val="122000"/>
              </a:lnSpc>
              <a:spcBef>
                <a:spcPts val="0"/>
              </a:spcBef>
              <a:spcAft>
                <a:spcPts val="0"/>
              </a:spcAft>
            </a:pPr>
            <a:r>
              <a:rPr sz="950" b="0" i="0">
                <a:solidFill>
                  <a:srgbClr val="5A6068"/>
                </a:solidFill>
                <a:latin typeface="Calibri"/>
              </a:rPr>
              <a:t>Second strongest on people, ahead of education, and invisible to both development frameworks. It also survives differencing — worth +0.20 life-satisfaction points, with no person answering both questions.</a:t>
            </a:r>
          </a:p>
        </p:txBody>
      </p:sp>
      <p:sp>
        <p:nvSpPr>
          <p:cNvPr id="15" name="Rectangle 14"/>
          <p:cNvSpPr/>
          <p:nvPr/>
        </p:nvSpPr>
        <p:spPr>
          <a:xfrm>
            <a:off x="6720840" y="431596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44398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7" name="TextBox 16"/>
          <p:cNvSpPr txBox="1"/>
          <p:nvPr/>
        </p:nvSpPr>
        <p:spPr>
          <a:xfrm>
            <a:off x="7498080" y="444398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Three domains, three different reasons frameworks lose them.</a:t>
            </a:r>
          </a:p>
          <a:p>
            <a:pPr>
              <a:lnSpc>
                <a:spcPct val="122000"/>
              </a:lnSpc>
              <a:spcBef>
                <a:spcPts val="0"/>
              </a:spcBef>
              <a:spcAft>
                <a:spcPts val="0"/>
              </a:spcAft>
            </a:pPr>
            <a:r>
              <a:rPr sz="950" b="0" i="0">
                <a:solidFill>
                  <a:srgbClr val="5A6068"/>
                </a:solidFill>
                <a:latin typeface="Calibri"/>
              </a:rPr>
              <a:t>Wrong construct pooled together, a variable that has stopped varying, and a domain that was never collected at all.</a:t>
            </a:r>
          </a:p>
        </p:txBody>
      </p:sp>
      <p:sp>
        <p:nvSpPr>
          <p:cNvPr id="18" name="Rectangle 17"/>
          <p:cNvSpPr/>
          <p:nvPr/>
        </p:nvSpPr>
        <p:spPr>
          <a:xfrm>
            <a:off x="6720840" y="541324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5541264"/>
            <a:ext cx="658368"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IV</a:t>
            </a:r>
          </a:p>
        </p:txBody>
      </p:sp>
      <p:sp>
        <p:nvSpPr>
          <p:cNvPr id="20" name="TextBox 19"/>
          <p:cNvSpPr txBox="1"/>
          <p:nvPr/>
        </p:nvSpPr>
        <p:spPr>
          <a:xfrm>
            <a:off x="7498080" y="5541264"/>
            <a:ext cx="4069080" cy="1097280"/>
          </a:xfrm>
          <a:prstGeom prst="rect">
            <a:avLst/>
          </a:prstGeom>
          <a:noFill/>
        </p:spPr>
        <p:txBody>
          <a:bodyPr wrap="square" lIns="0" rIns="0" tIns="0" bIns="0">
            <a:spAutoFit/>
          </a:bodyPr>
          <a:lstStyle/>
          <a:p>
            <a:pPr>
              <a:spcBef>
                <a:spcPts val="0"/>
              </a:spcBef>
              <a:spcAft>
                <a:spcPts val="300"/>
              </a:spcAft>
            </a:pPr>
            <a:r>
              <a:rPr sz="1200" b="1" i="0">
                <a:solidFill>
                  <a:srgbClr val="14171C"/>
                </a:solidFill>
                <a:latin typeface="Calibri"/>
              </a:rPr>
              <a:t>What this could mean for development frameworks.</a:t>
            </a:r>
          </a:p>
          <a:p>
            <a:pPr>
              <a:lnSpc>
                <a:spcPct val="122000"/>
              </a:lnSpc>
              <a:spcBef>
                <a:spcPts val="0"/>
              </a:spcBef>
              <a:spcAft>
                <a:spcPts val="0"/>
              </a:spcAft>
            </a:pPr>
            <a:r>
              <a:rPr sz="950" b="0" i="0">
                <a:solidFill>
                  <a:srgbClr val="5A6068"/>
                </a:solidFill>
                <a:latin typeface="Calibri"/>
              </a:rPr>
              <a:t>Not a verdict on the SDGs or HDI. A set of specific, evidence-backed things to change if lived experience is meant to be part of what they track.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Does the collapse survive when you change the design?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 null invites an easy dismissal: sprawling framework, uneven coverage, so the absence of a within-country signal says more about the instrument than about development. Test that by changing one leg of the design at a time. If the collapse is an artefact of the SDGs, it should not survive.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SDG × WHR, 42 countries, ~13 years — the original finding</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HDI × WHR, 150 countries, ~13 years — swap the framework</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+0.44 → +0.20</a:t>
            </a:r>
          </a:p>
          <a:p>
            <a:pPr>
              <a:lnSpc>
                <a:spcPct val="120000"/>
              </a:lnSpc>
              <a:spcBef>
                <a:spcPts val="0"/>
              </a:spcBef>
              <a:spcAft>
                <a:spcPts val="0"/>
              </a:spcAft>
            </a:pPr>
            <a:r>
              <a:rPr sz="1000" b="0" i="0">
                <a:solidFill>
                  <a:srgbClr val="8A94A0"/>
                </a:solidFill>
                <a:latin typeface="Calibri"/>
              </a:rPr>
              <a:t>HDI × ESS pooled, levels → differences — swap the instrument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WE START · THE SDG PAPER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indicators predict happiness between countries, not within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original design is a per-country time-series test: within each country, does the SDG indicator move with the Cantril ladder? Run at levels, 30 of 42 countries come back FDR-significant on at least one of 661 series — 71%. Run the identical test on first differences, and 5% survive.</a:t>
            </a:r>
          </a:p>
          <a:p>
            <a:pPr>
              <a:lnSpc>
                <a:spcPct val="132000"/>
              </a:lnSpc>
              <a:spcBef>
                <a:spcPts val="0"/>
              </a:spcBef>
              <a:spcAft>
                <a:spcPts val="1100"/>
              </a:spcAft>
            </a:pPr>
            <a:r>
              <a:rPr sz="1150" b="0" i="0">
                <a:solidFill>
                  <a:srgbClr val="5A6068"/>
                </a:solidFill>
                <a:latin typeface="Calibri"/>
              </a:rPr>
              <a:t>That gap is the whole starting point. A between-country association this strong and a within-country association this weak are hard to hold at once: either development stops mattering once you look inside a country, or the design cannot see it there. Before interpreting it, it is worth checking that it is not simply the SDG framework misbehaving.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SDG framework at levels, by goal. Even here the pooled rates are low and uneven — health reaches 11.5%, education 3.3% — which is what makes the framework-artefact dismissal plausible enough to need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1 · THE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HDI is built the opposite way and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HDI is the SDG framework's opposite on every dimension the dismissal leans on: three dimensions rather than seventeen goals, one custodian, a stable definition, near-universal coverage. Substituting it and holding everything else fixed gives 42% of 150 countries significant at levels and 2% in differences.</a:t>
            </a:r>
          </a:p>
          <a:p>
            <a:pPr>
              <a:lnSpc>
                <a:spcPct val="132000"/>
              </a:lnSpc>
              <a:spcBef>
                <a:spcPts val="0"/>
              </a:spcBef>
              <a:spcAft>
                <a:spcPts val="1100"/>
              </a:spcAft>
            </a:pPr>
            <a:r>
              <a:rPr sz="1150" b="0" i="0">
                <a:solidFill>
                  <a:srgbClr val="5A6068"/>
                </a:solidFill>
                <a:latin typeface="Calibri"/>
              </a:rPr>
              <a:t>The three panels are the fair-comparison check. The SDG framework detects in more countries (71% vs 51%) simply because it has more shots on goal; give it the HDI's five-indicator budget and its advantage disappears; normalise per indicator and the HDI dominates outright, with 54% of SDG series significant in no country at all. Neither framework is the problem — the ratio between levels and differences is the same order of magnitude in both.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versus the SDG framework on detection, on a matched five-indicator budget, and per indicator. The SDG lead is breadth, not sharper instruments.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SWAP 2 · THE WELLBEING MEASURE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Swapping the Cantril ladder for the ESS: what it can and cannot settle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The World Happiness Report is a single Cantril-ladder question aggregated to countries. The European Social Survey asks its own life-satisfaction item of individuals, on a different sampling frame, run by a different institution. Holding the HDI and the country unit fixed and changing only the wellbeing data isolates that one leg.</a:t>
            </a:r>
          </a:p>
          <a:p>
            <a:pPr>
              <a:lnSpc>
                <a:spcPct val="132000"/>
              </a:lnSpc>
              <a:spcBef>
                <a:spcPts val="0"/>
              </a:spcBef>
              <a:spcAft>
                <a:spcPts val="1100"/>
              </a:spcAft>
            </a:pPr>
            <a:r>
              <a:rPr sz="850" b="0" i="0">
                <a:solidFill>
                  <a:srgbClr val="5A6068"/>
                </a:solidFill>
                <a:latin typeface="Calibri"/>
              </a:rPr>
              <a:t>Run country by country it returns 8% at levels and 16% in differences across 25 countries. Read that as a null test rather than a finding: the ESS has seven survey rounds where the WHR panels have thirteen years, and differences landing above levels is the signature of an underpowered test, not a real result — a genuine effect does not get easier to detect once you difference it.</a:t>
            </a:r>
          </a:p>
          <a:p>
            <a:pPr>
              <a:lnSpc>
                <a:spcPct val="132000"/>
              </a:lnSpc>
              <a:spcBef>
                <a:spcPts val="0"/>
              </a:spcBef>
              <a:spcAft>
                <a:spcPts val="1100"/>
              </a:spcAft>
            </a:pPr>
            <a:r>
              <a:rPr sz="850" b="0" i="0">
                <a:solidFill>
                  <a:srgbClr val="5A6068"/>
                </a:solidFill>
                <a:latin typeface="Calibri"/>
              </a:rPr>
              <a:t>The comparison is like-for-like on the outcome: the Cantril ladder is a life evaluation, so the ESS analogue is its life-satisfaction item rather than its separate happiness question. Pooled across countries, where the power is, the HDI's within-country association falls from r = +0.44 at levels to +0.20 in differences — and stays there (+0.19) once survey-round effects are removed, so it is not a shared shock across European countries.</a:t>
            </a:r>
          </a:p>
          <a:p>
            <a:pPr>
              <a:lnSpc>
                <a:spcPct val="132000"/>
              </a:lnSpc>
              <a:spcBef>
                <a:spcPts val="0"/>
              </a:spcBef>
              <a:spcAft>
                <a:spcPts val="1100"/>
              </a:spcAft>
            </a:pPr>
            <a:r>
              <a:rPr sz="850" b="0" i="0">
                <a:solidFill>
                  <a:srgbClr val="5A6068"/>
                </a:solidFill>
                <a:latin typeface="Calibri"/>
              </a:rPr>
              <a:t>So the HDI attenuates by about 55% against ESS life satisfaction — substantial, but short of the clean null the Cantril ladder gives on the full panel, where across 1,548 country-year changes the HDI goes from +0.15 to −0.02 and is not significant at all. The collapse survives the instrument swap in direction and roughly in magnitude, on a much smaller and Europe-only panel.</a:t>
            </a:r>
          </a:p>
          <a:p>
            <a:pPr>
              <a:lnSpc>
                <a:spcPct val="132000"/>
              </a:lnSpc>
              <a:spcBef>
                <a:spcPts val="0"/>
              </a:spcBef>
              <a:spcAft>
                <a:spcPts val="1100"/>
              </a:spcAft>
            </a:pPr>
            <a:r>
              <a:rPr sz="850" b="0" i="0">
                <a:solidFill>
                  <a:srgbClr val="5A6068"/>
                </a:solidFill>
                <a:latin typeface="Calibri"/>
              </a:rPr>
              <a:t>The ESS also corroborates the levels half in cross-section, where it has plenty of power: subnational HDI predicts ESS life satisfaction across regions inside each country in 47% of 15 countries, sitting on top of the 42% the HDI reaches nationally. So the collapse survives the instrument swap. What it does not survive — and this is Act II-a — is changing the predictor from a development composite to the domain measures themselves.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FDR test, levels and differences on the same units, in all three pairings. The hatched bars carry no verdict — seven survey rounds is too short a panel for this design to see anything, in either direction.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Three pairings, the same asymmetry in all of them: development composites predict wellbeing between units and barely track it within one over time. That holds whichever framework and whichever wellbeing instrument you use. So the levels are where to look next — and the differences question comes back in Act II-a, once the predictor is no longer a composite.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At the levels: education and health, across three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25" b="0" i="1">
                <a:solidFill>
                  <a:srgbClr val="9AA4B0"/>
                </a:solidFill>
                <a:latin typeface="Georgia"/>
              </a:rPr>
              <a:t>If the levels are where development and wellbeing meet, the useful question is which components are carrying that association — asked of all three frameworks at once, domain by domain, rather than one framework's internals at a time. Two domains come out: education and health. Both need a second look before they agree with each 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41% vs 19%</a:t>
            </a:r>
          </a:p>
          <a:p>
            <a:pPr>
              <a:lnSpc>
                <a:spcPct val="120000"/>
              </a:lnSpc>
              <a:spcBef>
                <a:spcPts val="0"/>
              </a:spcBef>
              <a:spcAft>
                <a:spcPts val="0"/>
              </a:spcAft>
            </a:pPr>
            <a:r>
              <a:rPr sz="1000" b="0" i="0">
                <a:solidFill>
                  <a:srgbClr val="8A94A0"/>
                </a:solidFill>
                <a:latin typeface="Calibri"/>
              </a:rPr>
              <a:t>HDI: mean years of schooling leads, life expectancy is weakest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 vs 3.3%</a:t>
            </a:r>
          </a:p>
          <a:p>
            <a:pPr>
              <a:lnSpc>
                <a:spcPct val="120000"/>
              </a:lnSpc>
              <a:spcBef>
                <a:spcPts val="0"/>
              </a:spcBef>
              <a:spcAft>
                <a:spcPts val="0"/>
              </a:spcAft>
            </a:pPr>
            <a:r>
              <a:rPr sz="1000" b="0" i="0">
                <a:solidFill>
                  <a:srgbClr val="8A94A0"/>
                </a:solidFill>
                <a:latin typeface="Calibri"/>
              </a:rPr>
              <a:t>SDG4 access indicators alone vs all 35 pooled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89% / 100%</a:t>
            </a:r>
          </a:p>
          <a:p>
            <a:pPr>
              <a:lnSpc>
                <a:spcPct val="120000"/>
              </a:lnSpc>
              <a:spcBef>
                <a:spcPts val="0"/>
              </a:spcBef>
              <a:spcAft>
                <a:spcPts val="0"/>
              </a:spcAft>
            </a:pPr>
            <a:r>
              <a:rPr sz="1000" b="0" i="0">
                <a:solidFill>
                  <a:srgbClr val="8A94A0"/>
                </a:solidFill>
                <a:latin typeface="Calibri"/>
              </a:rPr>
              <a:t>ESS countries significant on people: education / health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DOMAINS, AT THE LEVELS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predict life satisfaction — where they can be measured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Before drilling into any one domain, the shape of the whole result. Test each of education, health and social trust against wellbeing at the levels, in every framework that measures it, on one comparable unit: % of countries FDR-significant. Where a framework can test a domain, the domain matters — the question that varies is which frameworks can test which domains.</a:t>
            </a:r>
          </a:p>
          <a:p>
            <a:pPr>
              <a:lnSpc>
                <a:spcPct val="132000"/>
              </a:lnSpc>
              <a:spcBef>
                <a:spcPts val="0"/>
              </a:spcBef>
              <a:spcAft>
                <a:spcPts val="1100"/>
              </a:spcAft>
            </a:pPr>
            <a:r>
              <a:rPr sz="1150" b="0" i="0">
                <a:solidFill>
                  <a:srgbClr val="5A6068"/>
                </a:solidFill>
                <a:latin typeface="Calibri"/>
              </a:rPr>
              <a:t>The HDI and the SDGs can both test education and health, and both find something, though not always in agreement with each other at face value. Neither can test social trust at all — there is no HDI bar for it, and the SDGs' nearest series measure a different construct. That gap is the subject of the next section. This one is about the two domains every framework here can at least attempt.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1934936"/>
            <a:ext cx="6537960" cy="25217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All three domains across all three frameworks, all on % of countries FDR-significant. Trust has no HDI bar because the HDI does not measure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EDUCATION, ACROSS FRAMEWORKS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Strong wherever you measure attainment; the SDGs' 3.3% is the outlier that needs explaining</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Inside the HDI, education is not one component but two, and both lead the index at levels: mean years of schooling 41%, expected years of schooling 33% — both ahead of the composite itself (42% is close, but that's the whole index against two of its five parts). On people, in the ESS, years of schooling is significant in 89% of countries.</a:t>
            </a:r>
          </a:p>
          <a:p>
            <a:pPr>
              <a:lnSpc>
                <a:spcPct val="132000"/>
              </a:lnSpc>
              <a:spcBef>
                <a:spcPts val="0"/>
              </a:spcBef>
              <a:spcAft>
                <a:spcPts val="1100"/>
              </a:spcAft>
            </a:pPr>
            <a:r>
              <a:rPr sz="1150" b="0" i="0">
                <a:solidFill>
                  <a:srgbClr val="5A6068"/>
                </a:solidFill>
                <a:latin typeface="Calibri"/>
              </a:rPr>
              <a:t>Against that, SDG4 pooled across all 35 of its series returns 3.3% — twelfth of seventeen goals, which taken at face value says education barely matters. Three measurements agree and the fourth contradicts them, which is a sign to look inside the fourth rather than to average it in as if it settled anything.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 across four measurements: ESS individual, HDI expected years of schooling, SDG4 access only, SDG4 pooled across all 35 series.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Education's 3.3% is a pooling artefact: access alone reaches 12.7%</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 is 35 series measuring six different things. Split them and they do not agree: access and participation 12.7%, financing 11.5%, attainment and completion 3.8%, equity and parity ratios 2.5%, infrastructure 2.0%, learning outcomes 0.9%.</a:t>
            </a:r>
          </a:p>
          <a:p>
            <a:pPr>
              <a:lnSpc>
                <a:spcPct val="132000"/>
              </a:lnSpc>
              <a:spcBef>
                <a:spcPts val="0"/>
              </a:spcBef>
              <a:spcAft>
                <a:spcPts val="1100"/>
              </a:spcAft>
            </a:pPr>
            <a:r>
              <a:rPr sz="1150" b="0" i="0">
                <a:solidFill>
                  <a:srgbClr val="5A6068"/>
                </a:solidFill>
                <a:latin typeface="Calibri"/>
              </a:rPr>
              <a:t>Parity ratios are 18 of the 35 series. Pooling weights every series equally, so the half of the goal that carries no wellbeing signal drags the whole goal below the part that does. Unpooled, education's access series would rank third among the seventeen goals rather than twelfth — and would agree with the HDI instead of contradicting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construct. Access and participation (12.7%) against equity and parity ratios (2.5%), infrastructure (2.0%) and learning outcomes (0.9%).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HEALTH, ACROSS FRAMEWORKS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domain on people; the weakest component of the HDI; still ranks 4th of 17 SDG goals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every country significant, median individual R² 0.092 — roughly fifteen times education's. In the SDGs, health (Goal 3) reaches 11.5% of country-indicator pairs, fourth of seventeen goals and first among the goals with substantive coverage; it also dominates the database's individual-series ranking, with 16 of the top 25 most predictive series falling under Goal 3 — survival measures, infant and under-five mortality, stunting, sanitation, drinking water.</a:t>
            </a:r>
          </a:p>
          <a:p>
            <a:pPr>
              <a:lnSpc>
                <a:spcPct val="132000"/>
              </a:lnSpc>
              <a:spcBef>
                <a:spcPts val="0"/>
              </a:spcBef>
              <a:spcAft>
                <a:spcPts val="1100"/>
              </a:spcAft>
            </a:pPr>
            <a:r>
              <a:rPr sz="1150" b="0" i="0">
                <a:solidFill>
                  <a:srgbClr val="5A6068"/>
                </a:solidFill>
                <a:latin typeface="Calibri"/>
              </a:rPr>
              <a:t>In the HDI, health's proxy is life expectancy, and it is last of five components at 19%, against 41% for mean years of schooling. The domain is not weak; the HDI's chosen proxy for it is. The top 100 countries span 81 to 85 years of life expectancy, and a variable with that little range left cannot carry much association, whatever the underlying domain does. Same domain, three variables, three very different-looking results — and it is the variable doing the work, not the domain.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measured three ways. The HDI result is about life expectancy's saturation, not about health.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Health and education are what the frameworks can see at the levels. Health registers wherever it is measured somewhere that still varies; education registers only when the construct being counted is access. That is two domains — and, so far, it is everything these frameworks are able to test. The next section is the domain that only appears once you measure people rather than countries.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12000" b="0" i="0">
                <a:solidFill>
                  <a:srgbClr val="2A3340"/>
                </a:solidFill>
                <a:latin typeface="Georgia"/>
              </a:rPr>
              <a:t>II-a</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Trust: the domain only people can report, and what it is worth</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Neither the HDI nor the SDGs measure interpersonal trust. The ESS does, at the individual level, which is also the level at which the differences half of Act I can finally be answered — not just whether a domain survives differencing, but what a change in it is worth in life-satisfaction points.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97%</a:t>
            </a:r>
          </a:p>
          <a:p>
            <a:pPr>
              <a:lnSpc>
                <a:spcPct val="120000"/>
              </a:lnSpc>
              <a:spcBef>
                <a:spcPts val="0"/>
              </a:spcBef>
              <a:spcAft>
                <a:spcPts val="0"/>
              </a:spcAft>
            </a:pPr>
            <a:r>
              <a:rPr sz="1000" b="0" i="0">
                <a:solidFill>
                  <a:srgbClr val="8A94A0"/>
                </a:solidFill>
                <a:latin typeface="Calibri"/>
              </a:rPr>
              <a:t>ESS countries where social trust is significant at levels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+0.20 pts / 59%</a:t>
            </a:r>
          </a:p>
          <a:p>
            <a:pPr>
              <a:lnSpc>
                <a:spcPct val="120000"/>
              </a:lnSpc>
              <a:spcBef>
                <a:spcPts val="0"/>
              </a:spcBef>
              <a:spcAft>
                <a:spcPts val="0"/>
              </a:spcAft>
            </a:pPr>
            <a:r>
              <a:rPr sz="1000" b="0" i="0">
                <a:solidFill>
                  <a:srgbClr val="8A94A0"/>
                </a:solidFill>
                <a:latin typeface="Calibri"/>
              </a:rPr>
              <a:t>trust's differences effect, share of a typical round-to-round move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93%</a:t>
            </a:r>
          </a:p>
          <a:p>
            <a:pPr>
              <a:lnSpc>
                <a:spcPct val="120000"/>
              </a:lnSpc>
              <a:spcBef>
                <a:spcPts val="0"/>
              </a:spcBef>
              <a:spcAft>
                <a:spcPts val="0"/>
              </a:spcAft>
            </a:pPr>
            <a:r>
              <a:rPr sz="1000" b="0" i="0">
                <a:solidFill>
                  <a:srgbClr val="8A94A0"/>
                </a:solidFill>
                <a:latin typeface="Calibri"/>
              </a:rPr>
              <a:t>of that effect retained with predictor and outcome from disjoint respondents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SOCIAL TRUST, AT LEVELS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Second strongest domain on people; absent from both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Interpersonal trust — 'generally speaking, would you say that most people can be trusted?' — is significant in 35 of 36 ESS countries, with a median individual R² of 0.039: below self-rated health, well above years of schooling.</a:t>
            </a:r>
          </a:p>
          <a:p>
            <a:pPr>
              <a:lnSpc>
                <a:spcPct val="132000"/>
              </a:lnSpc>
              <a:spcBef>
                <a:spcPts val="0"/>
              </a:spcBef>
              <a:spcAft>
                <a:spcPts val="1100"/>
              </a:spcAft>
            </a:pPr>
            <a:r>
              <a:rPr sz="1100" b="0" i="0">
                <a:solidFill>
                  <a:srgbClr val="5A6068"/>
                </a:solidFill>
                <a:latin typeface="Calibri"/>
              </a:rPr>
              <a:t>The HDI does not measure trust in any form. The SDG framework's nearest thing is Goal 16's thirteen series, and they measure something else — satisfaction with public services, perceived bribery, perceived inclusiveness in decision-making. Institutional confidence and interpersonal trust are distinct constructs, and coverage compounds the mismatch: median one observation per country-series against six for the database overall, and 147 of 163 country-series cannot support a time-series design at all.</a:t>
            </a:r>
          </a:p>
          <a:p>
            <a:pPr>
              <a:lnSpc>
                <a:spcPct val="132000"/>
              </a:lnSpc>
              <a:spcBef>
                <a:spcPts val="0"/>
              </a:spcBef>
              <a:spcAft>
                <a:spcPts val="1100"/>
              </a:spcAft>
            </a:pPr>
            <a:r>
              <a:rPr sz="1100" b="0" i="0">
                <a:solidFill>
                  <a:srgbClr val="5A6068"/>
                </a:solidFill>
                <a:latin typeface="Calibri"/>
              </a:rPr>
              <a:t>Education's and health's problems, in the previous section, were about which variable to count inside a domain the frameworks already have. Trust's is categorically different: there is no variable to choose between, because the domain was never collected in the first place.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trust_coverage_comparison.png"/>
          <p:cNvPicPr>
            <a:picLocks noChangeAspect="1"/>
          </p:cNvPicPr>
          <p:nvPr/>
        </p:nvPicPr>
        <p:blipFill>
          <a:blip r:embed="rId2"/>
          <a:stretch>
            <a:fillRect/>
          </a:stretch>
        </p:blipFill>
        <p:spPr>
          <a:xfrm>
            <a:off x="5120640" y="1327839"/>
            <a:ext cx="6537960" cy="373597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Interpersonal trust in the ESS against the closest SDG counterpart and an absent HDI one. The asterisked bar is a different construct.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TRUST IS WORTH IN DIFFERENCES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country's rising trust predicts rising life satisfaction — and the effect is not small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850" b="0" i="0">
                <a:solidFill>
                  <a:srgbClr val="5A6068"/>
                </a:solidFill>
                <a:latin typeface="Calibri"/>
              </a:rPr>
              <a:t>Act I left the differences half of the argument unresolved, because the per-country design spends its power on 25 separate tests of seven points each. Pool the same within-country question across all countries and it has the power to answer: the collapse is not a property of differencing in general, it is specific to what you differenced. Development composites collapse. The domain measures do not, all of them.</a:t>
            </a:r>
          </a:p>
          <a:p>
            <a:pPr>
              <a:lnSpc>
                <a:spcPct val="132000"/>
              </a:lnSpc>
              <a:spcBef>
                <a:spcPts val="0"/>
              </a:spcBef>
              <a:spcAft>
                <a:spcPts val="1100"/>
              </a:spcAft>
            </a:pPr>
            <a:r>
              <a:rPr sz="850" b="0" i="0">
                <a:solidFill>
                  <a:srgbClr val="5A6068"/>
                </a:solidFill>
                <a:latin typeface="Calibri"/>
              </a:rPr>
              <a:t>In points: a one-SD change in a country's trust reading between ESS rounds predicts a +0.20 point change in mean life satisfaction, on the 0–10 scale — 59% of a typical round-to-round swing in life satisfaction itself. Health's equivalent effect is +0.14 points, 41% of a typical swing. Education and the HDI composite are not distinguishable from zero. These are not curiosities; they are the size of the thing.</a:t>
            </a:r>
          </a:p>
          <a:p>
            <a:pPr>
              <a:lnSpc>
                <a:spcPct val="132000"/>
              </a:lnSpc>
              <a:spcBef>
                <a:spcPts val="0"/>
              </a:spcBef>
              <a:spcAft>
                <a:spcPts val="1100"/>
              </a:spcAft>
            </a:pPr>
            <a:r>
              <a:rPr sz="850" b="0" i="0">
                <a:solidFill>
                  <a:srgbClr val="5A6068"/>
                </a:solidFill>
                <a:latin typeface="Calibri"/>
              </a:rPr>
              <a:t>The obvious objection is common-method variance — the same person answers the trust question and the life-satisfaction question in the same sitting, so of course they move together. That is testable: split each country-round's respondents at random, take the trust mean from one half and life satisfaction from the other, so no person answers both. Trust retains 93% of its estimate this way, health 88%. The association is between people in a country, not inside a questionnaire.</a:t>
            </a:r>
          </a:p>
          <a:p>
            <a:pPr>
              <a:lnSpc>
                <a:spcPct val="132000"/>
              </a:lnSpc>
              <a:spcBef>
                <a:spcPts val="0"/>
              </a:spcBef>
              <a:spcAft>
                <a:spcPts val="1100"/>
              </a:spcAft>
            </a:pPr>
            <a:r>
              <a:rPr sz="850" b="0" i="0">
                <a:solidFill>
                  <a:srgbClr val="5A6068"/>
                </a:solidFill>
                <a:latin typeface="Calibri"/>
              </a:rPr>
              <a:t>What still bounds the claim is cross-source replication. Against the World Happiness Report ladder, health's differences result survives (+0.20) and trust's does not (+0.06, not significant) — plausibly because that pairing sets ESS rounds against a different sample with its own fieldwork timing, and trust is the weaker signal to begin with, so it has less room before vanishing. Read as a bound, not a refutation: trust has not yet been corroborated on an independent wellbeing instrument, and health has. That is the honest state of the evidence, and it is why the recommendation in Act IV treats trust as the most tentative of the three.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domains_survive_differences.png"/>
          <p:cNvPicPr>
            <a:picLocks noChangeAspect="1"/>
          </p:cNvPicPr>
          <p:nvPr/>
        </p:nvPicPr>
        <p:blipFill>
          <a:blip r:embed="rId2"/>
          <a:stretch>
            <a:fillRect/>
          </a:stretch>
        </p:blipFill>
        <p:spPr>
          <a:xfrm>
            <a:off x="5120640" y="1767163"/>
            <a:ext cx="6537960" cy="28573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 a: the differences effect converted to life-satisfaction points. Panel b: the correlation evidence behind it, with split-half validation.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WHY THE SDG TRUST SERIES CANNOT STAND IN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Institutional confidence does not survive an income control; interpersonal trust does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Worth testing directly rather than asserting. Of the thirteen Goal 16 trust-adjacent series, nine can be tested cross-sectionally and four are significant. Then control for log GNI per capita: perceived bribery survives, but satisfaction with government services, healthcare and secondary education all vanish.</a:t>
            </a:r>
          </a:p>
          <a:p>
            <a:pPr>
              <a:lnSpc>
                <a:spcPct val="132000"/>
              </a:lnSpc>
              <a:spcBef>
                <a:spcPts val="0"/>
              </a:spcBef>
              <a:spcAft>
                <a:spcPts val="1100"/>
              </a:spcAft>
            </a:pPr>
            <a:r>
              <a:rPr sz="1150" b="0" i="0">
                <a:solidFill>
                  <a:srgbClr val="5A6068"/>
                </a:solidFill>
                <a:latin typeface="Calibri"/>
              </a:rPr>
              <a:t>That pattern is a known artefact of subjective institutional scales across income levels — the same question administered in richer and poorer countries produces response shifts unrelated to the construct. Interpersonal trust in the ESS does not behave this way.</a:t>
            </a:r>
          </a:p>
          <a:p>
            <a:pPr>
              <a:lnSpc>
                <a:spcPct val="132000"/>
              </a:lnSpc>
              <a:spcBef>
                <a:spcPts val="0"/>
              </a:spcBef>
              <a:spcAft>
                <a:spcPts val="1100"/>
              </a:spcAft>
            </a:pPr>
            <a:r>
              <a:rPr sz="1150" b="0" i="0">
                <a:solidFill>
                  <a:srgbClr val="5A6068"/>
                </a:solidFill>
                <a:latin typeface="Calibri"/>
              </a:rPr>
              <a:t>So this is not an execution failure in the SDG framework. It reflects what development frameworks are for: they measure institutions and systems. Trust between people is not an institution, and it does not show up when you measure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SDG16 trust series cross-sectionally. Panel (b): net of income, bribery persists and the satisfaction measures do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II-A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Social trust is the second-strongest domain on people, ahead of education, and it is the one domain neither development framework collects. It also survives differencing where development composites do not: a country whose trust rises between ESS rounds sees life satisfaction rise with it, by an amount worth more than half of what life satisfaction typically moves round to round — and that holds with no person answering both questions.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Three domains, three ways a framework loses one</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Put the three results together and they are not three findings about three domains. They are three distinct failure modes — and they need different fixes, which is the only reason the distinction matters.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Pooled</a:t>
            </a:r>
          </a:p>
          <a:p>
            <a:pPr>
              <a:lnSpc>
                <a:spcPct val="120000"/>
              </a:lnSpc>
              <a:spcBef>
                <a:spcPts val="0"/>
              </a:spcBef>
              <a:spcAft>
                <a:spcPts val="0"/>
              </a:spcAft>
            </a:pPr>
            <a:r>
              <a:rPr sz="1000" b="0" i="0">
                <a:solidFill>
                  <a:srgbClr val="8A94A0"/>
                </a:solidFill>
                <a:latin typeface="Calibri"/>
              </a:rPr>
              <a:t>education: the right construct averaged away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Saturated</a:t>
            </a:r>
          </a:p>
          <a:p>
            <a:pPr>
              <a:lnSpc>
                <a:spcPct val="120000"/>
              </a:lnSpc>
              <a:spcBef>
                <a:spcPts val="0"/>
              </a:spcBef>
              <a:spcAft>
                <a:spcPts val="0"/>
              </a:spcAft>
            </a:pPr>
            <a:r>
              <a:rPr sz="1000" b="0" i="0">
                <a:solidFill>
                  <a:srgbClr val="8A94A0"/>
                </a:solidFill>
                <a:latin typeface="Calibri"/>
              </a:rPr>
              <a:t>health: the chosen variable stopped varying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Never collected</a:t>
            </a:r>
          </a:p>
          <a:p>
            <a:pPr>
              <a:lnSpc>
                <a:spcPct val="120000"/>
              </a:lnSpc>
              <a:spcBef>
                <a:spcPts val="0"/>
              </a:spcBef>
              <a:spcAft>
                <a:spcPts val="0"/>
              </a:spcAft>
            </a:pPr>
            <a:r>
              <a:rPr sz="1000" b="0" i="0">
                <a:solidFill>
                  <a:srgbClr val="8A94A0"/>
                </a:solidFill>
                <a:latin typeface="Calibri"/>
              </a:rPr>
              <a:t>trust: no variable to choose between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pooling problem, a saturation problem, and a coverage gap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is a pooling problem. The framework measures the right thing — access and participation, 12.7% — and then averages it together with 18 parity-ratio series that carry no wellbeing signal, landing at 3.3%. The signal is present in the data and absent from the published number.</a:t>
            </a:r>
          </a:p>
          <a:p>
            <a:pPr>
              <a:lnSpc>
                <a:spcPct val="132000"/>
              </a:lnSpc>
              <a:spcBef>
                <a:spcPts val="0"/>
              </a:spcBef>
              <a:spcAft>
                <a:spcPts val="1100"/>
              </a:spcAft>
            </a:pPr>
            <a:r>
              <a:rPr sz="1150" b="0" i="0">
                <a:solidFill>
                  <a:srgbClr val="5A6068"/>
                </a:solidFill>
                <a:latin typeface="Calibri"/>
              </a:rPr>
              <a:t>Health is a saturation problem. The domain is the strongest of the three on people, but the HDI's proxy for it has run out of range across the countries it covers, so it comes last of five components. A different variable in the same domain reverses the result.</a:t>
            </a:r>
          </a:p>
          <a:p>
            <a:pPr>
              <a:lnSpc>
                <a:spcPct val="132000"/>
              </a:lnSpc>
              <a:spcBef>
                <a:spcPts val="0"/>
              </a:spcBef>
              <a:spcAft>
                <a:spcPts val="1100"/>
              </a:spcAft>
            </a:pPr>
            <a:r>
              <a:rPr sz="1150" b="0" i="0">
                <a:solidFill>
                  <a:srgbClr val="5A6068"/>
                </a:solidFill>
                <a:latin typeface="Calibri"/>
              </a:rPr>
              <a:t>Trust is a coverage gap, and it is the one that no amount of better construction reaches. You cannot unpool a series that does not exist or re-specify a variable that was never collected. The only fix available is deciding to collect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domain_scorecard.png"/>
          <p:cNvPicPr>
            <a:picLocks noChangeAspect="1"/>
          </p:cNvPicPr>
          <p:nvPr/>
        </p:nvPicPr>
        <p:blipFill>
          <a:blip r:embed="rId2"/>
          <a:stretch>
            <a:fillRect/>
          </a:stretch>
        </p:blipFill>
        <p:spPr>
          <a:xfrm>
            <a:off x="5120640" y="1469807"/>
            <a:ext cx="6537960" cy="345204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Which framework can test which domain, and whether the test returns a signal. Grey is not a weak result — it is no result available.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SURVIVES WHICH METHOD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is robust to how you measure it. Trust only appears when you ask people.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One more cut, because it separates the failure modes cleanly. Health registers in administrative sources (SDG3, 11.5%) and in self-reported ones (ESS, median R² 0.092) alike — it is robust to measurement method, and the HDI's weak result is specific to life expectancy rather than to the domain.</a:t>
            </a:r>
          </a:p>
          <a:p>
            <a:pPr>
              <a:lnSpc>
                <a:spcPct val="132000"/>
              </a:lnSpc>
              <a:spcBef>
                <a:spcPts val="0"/>
              </a:spcBef>
              <a:spcAft>
                <a:spcPts val="1100"/>
              </a:spcAft>
            </a:pPr>
            <a:r>
              <a:rPr sz="1150" b="0" i="0">
                <a:solidFill>
                  <a:srgbClr val="5A6068"/>
                </a:solidFill>
                <a:latin typeface="Calibri"/>
              </a:rPr>
              <a:t>Education registers in both too, once unpooled, so its problem is construction rather than method. Trust registers in one and only one: 97% of ESS countries against 1.5% of SDG16 country-indicator pairs measuring a different construct.</a:t>
            </a:r>
          </a:p>
          <a:p>
            <a:pPr>
              <a:lnSpc>
                <a:spcPct val="132000"/>
              </a:lnSpc>
              <a:spcBef>
                <a:spcPts val="0"/>
              </a:spcBef>
              <a:spcAft>
                <a:spcPts val="1100"/>
              </a:spcAft>
            </a:pPr>
            <a:r>
              <a:rPr sz="1150" b="0" i="0">
                <a:solidFill>
                  <a:srgbClr val="5A6068"/>
                </a:solidFill>
                <a:latin typeface="Calibri"/>
              </a:rPr>
              <a:t>That asymmetry is the argument for why level of measurement matters, and not just which indicator you pick. Some things about a life are legible in national aggregates. Whether you think your neighbours can be trusted is not one of them.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 corroborates across administrative and self-reported sources. Trust appears only in individual-level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None of this is a criticism of frameworks built to track development. It is the observation that which domain looks consequential for lived experience depends on construction choices made for other reasons — that one domain is missing outright, and that the domain measures track wellbeing dynamically in a way the composites do not.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7680960" y="822960"/>
            <a:ext cx="384048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IV</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IV</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could mean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The SDGs and the HDI do the job they were built for, and none of this evidence says otherwise. The narrower claim is that they may not be capturing what shapes lived experience at the individual level — and that the evidence points to reasonably specific things one could do about it.</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Unpool</a:t>
            </a:r>
          </a:p>
          <a:p>
            <a:pPr>
              <a:lnSpc>
                <a:spcPct val="120000"/>
              </a:lnSpc>
              <a:spcBef>
                <a:spcPts val="0"/>
              </a:spcBef>
              <a:spcAft>
                <a:spcPts val="0"/>
              </a:spcAft>
            </a:pPr>
            <a:r>
              <a:rPr sz="1000" b="0" i="0">
                <a:solidFill>
                  <a:srgbClr val="8A94A0"/>
                </a:solidFill>
                <a:latin typeface="Calibri"/>
              </a:rPr>
              <a:t>report SDG4 access separately from parity ratios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Re-specify</a:t>
            </a:r>
          </a:p>
          <a:p>
            <a:pPr>
              <a:lnSpc>
                <a:spcPct val="120000"/>
              </a:lnSpc>
              <a:spcBef>
                <a:spcPts val="0"/>
              </a:spcBef>
              <a:spcAft>
                <a:spcPts val="0"/>
              </a:spcAft>
            </a:pPr>
            <a:r>
              <a:rPr sz="1000" b="0" i="0">
                <a:solidFill>
                  <a:srgbClr val="8A94A0"/>
                </a:solidFill>
                <a:latin typeface="Calibri"/>
              </a:rPr>
              <a:t>a health variable that still varies where it is used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Collect</a:t>
            </a:r>
          </a:p>
          <a:p>
            <a:pPr>
              <a:lnSpc>
                <a:spcPct val="120000"/>
              </a:lnSpc>
              <a:spcBef>
                <a:spcPts val="0"/>
              </a:spcBef>
              <a:spcAft>
                <a:spcPts val="0"/>
              </a:spcAft>
            </a:pPr>
            <a:r>
              <a:rPr sz="1000" b="0" i="0">
                <a:solidFill>
                  <a:srgbClr val="8A94A0"/>
                </a:solidFill>
                <a:latin typeface="Calibri"/>
              </a:rPr>
              <a:t>interpersonal trust, or link to a survey that has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Two different questions, and only one of them is being measured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shape of what follows, before the detail. Two of the three domains are already inside these frameworks — health, and the access half of education — and on this evidence they are the two that track lived experience. The suggestion is not to add a wellbeing pillar but to let those two carry that weight explicitly: elevate them as wellbeing-relevant highlights, measured with variables that still vary, with social trust flagged as a likely third that neither framework can currently see.</a:t>
            </a:r>
          </a:p>
          <a:p>
            <a:pPr>
              <a:lnSpc>
                <a:spcPct val="132000"/>
              </a:lnSpc>
              <a:spcBef>
                <a:spcPts val="0"/>
              </a:spcBef>
              <a:spcAft>
                <a:spcPts val="1100"/>
              </a:spcAft>
            </a:pPr>
            <a:r>
              <a:rPr sz="1400" b="0" i="0">
                <a:solidFill>
                  <a:srgbClr val="5A6068"/>
                </a:solidFill>
                <a:latin typeface="Calibri"/>
              </a:rPr>
              <a:t>'How is development progressing?' and 'what shapes how people experience their lives?' are not the same question, and the frameworks were built to answer the first. Indicators were chosen before the second was systematically testable, at an aggregate level, on annual or slower cycles. That is scope, not failure.</a:t>
            </a:r>
          </a:p>
          <a:p>
            <a:pPr>
              <a:lnSpc>
                <a:spcPct val="132000"/>
              </a:lnSpc>
              <a:spcBef>
                <a:spcPts val="0"/>
              </a:spcBef>
              <a:spcAft>
                <a:spcPts val="1100"/>
              </a:spcAft>
            </a:pPr>
            <a:r>
              <a:rPr sz="1400" b="0" i="0">
                <a:solidFill>
                  <a:srgbClr val="5A6068"/>
                </a:solidFill>
                <a:latin typeface="Calibri"/>
              </a:rPr>
              <a:t>But the consequence is that a framework can be working exactly as designed and still be a poor guide to lived experience. Two of the three domains that predict life satisfaction in the ESS are present in the frameworks and obscured by construction choices; the third is not present at all. None of that shows up in a framework's own diagnostics, because nothing in those diagnostics is asking about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Report access separately, rather than pooling it into a goal-level average</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cheapest change on this list, because it needs no new data collection. SDG4's access and participation series already reach 12.7%; the published goal-level figure of 3.3% is produced by averaging them with parity ratios, infrastructure and learning outcomes, which reach 2.5%, 2.0% and 0.9%.</a:t>
            </a:r>
          </a:p>
          <a:p>
            <a:pPr>
              <a:lnSpc>
                <a:spcPct val="132000"/>
              </a:lnSpc>
              <a:spcBef>
                <a:spcPts val="0"/>
              </a:spcBef>
              <a:spcAft>
                <a:spcPts val="1100"/>
              </a:spcAft>
            </a:pPr>
            <a:r>
              <a:rPr sz="1400" b="0" i="0">
                <a:solidFill>
                  <a:srgbClr val="5A6068"/>
                </a:solidFill>
                <a:latin typeface="Calibri"/>
              </a:rPr>
              <a:t>So the suggestion is a reporting convention rather than a measurement programme: where a goal pools constructs that behave differently, publish the constituents alongside the pooled rate. Every number needed for this already exists in the database. What it would buy is that education stops looking like a domain that does not matter for wellbeing, which on this evidence it plainly does.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Use a health variable that still varies where the framework is being applied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a good development indicator and a poor wellbeing one in exactly the places where development has already happened. Between 81 and 85 years across the top 100 countries, there is very little variance left for it to explain — which is why it comes last of the HDI's five components at 19%, while self-rated health leads the ESS at 100% of countries.</a:t>
            </a:r>
          </a:p>
          <a:p>
            <a:pPr>
              <a:lnSpc>
                <a:spcPct val="132000"/>
              </a:lnSpc>
              <a:spcBef>
                <a:spcPts val="0"/>
              </a:spcBef>
              <a:spcAft>
                <a:spcPts val="1100"/>
              </a:spcAft>
            </a:pPr>
            <a:r>
              <a:rPr sz="1400" b="0" i="0">
                <a:solidFill>
                  <a:srgbClr val="5A6068"/>
                </a:solidFill>
                <a:latin typeface="Calibri"/>
              </a:rPr>
              <a:t>The evidence suggests health measurement could be made conditional on context rather than uniform: life expectancy where mortality still varies, and something with range left — self-rated health, or condition-specific measures — where it does not. This is not two frameworks. It is one domain, measured with an instrument chosen to still be sensitive in the setting it is used in.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CHANGE 3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Collect interpersonal trust, or link systematically to surveys that already do</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350" b="0" i="0">
                <a:solidFill>
                  <a:srgbClr val="5A6068"/>
                </a:solidFill>
                <a:latin typeface="Calibri"/>
              </a:rPr>
              <a:t>This is the expensive one, and the only one that cannot be solved by re-analysing what exists. On the ESS evidence, interpersonal trust is the second strongest of the three domains — ahead of education — and neither framework collects it. SDG16's institutional confidence series are not a substitute: different construct, and they do not survive an income control.</a:t>
            </a:r>
          </a:p>
          <a:p>
            <a:pPr>
              <a:lnSpc>
                <a:spcPct val="132000"/>
              </a:lnSpc>
              <a:spcBef>
                <a:spcPts val="0"/>
              </a:spcBef>
              <a:spcAft>
                <a:spcPts val="1100"/>
              </a:spcAft>
            </a:pPr>
            <a:r>
              <a:rPr sz="1350" b="0" i="0">
                <a:solidFill>
                  <a:srgbClr val="5A6068"/>
                </a:solidFill>
                <a:latin typeface="Calibri"/>
              </a:rPr>
              <a:t>Two routes. Add a trust item to core collection, which is a single well-validated question and cheap per respondent but slow institutionally. Or build systematic linkage to instruments that already carry it — the ESS in Europe, Gallup World Poll and the World Values Survey more broadly — so that country assessments can draw on it without the frameworks having to own the collection.</a:t>
            </a:r>
          </a:p>
          <a:p>
            <a:pPr>
              <a:lnSpc>
                <a:spcPct val="132000"/>
              </a:lnSpc>
              <a:spcBef>
                <a:spcPts val="0"/>
              </a:spcBef>
              <a:spcAft>
                <a:spcPts val="1100"/>
              </a:spcAft>
            </a:pPr>
            <a:r>
              <a:rPr sz="1350" b="0" i="0">
                <a:solidFill>
                  <a:srgbClr val="5A6068"/>
                </a:solidFill>
                <a:latin typeface="Calibri"/>
              </a:rPr>
              <a:t>The caveats stay attached, and they are about coverage rather than about whether the association is real. It rests on 36 European countries and one survey item, and it has not yet been corroborated against an independent wellbeing instrument the way health has. What it is not is a questionnaire artefact: with predictor and outcome taken from different respondents, the within-country result holds at +0.55. So this is the most tentative of the three recommendations on scope, and the one where the cost of being right and not measuring is highest — because a domain no framework collects cannot show up as a gap in any framework's own diagnostics.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THIS LEAVES THE ARGUMENT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verdict on the frameworks — a question about what they are for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Two of the three changes above are re-analysis of data that already exists. The third is a collection decision. None of them requires accepting that the SDGs or the HDI are failing at what they set out to do.</a:t>
            </a:r>
          </a:p>
          <a:p>
            <a:pPr>
              <a:lnSpc>
                <a:spcPct val="132000"/>
              </a:lnSpc>
              <a:spcBef>
                <a:spcPts val="0"/>
              </a:spcBef>
              <a:spcAft>
                <a:spcPts val="1100"/>
              </a:spcAft>
            </a:pPr>
            <a:r>
              <a:rPr sz="1400" b="0" i="0">
                <a:solidFill>
                  <a:srgbClr val="5A6068"/>
                </a:solidFill>
                <a:latin typeface="Calibri"/>
              </a:rPr>
              <a:t>What the evidence does support is narrower and, we think, harder to dismiss: which domain looks consequential for lived experience depends heavily on construction choices that were made for other, defensible reasons — and on one domain that was never on the list at all. If wellbeing is meant to be part of what these frameworks track, those choices are now testable rather than conventional, and this is what testing them shows.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IV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wellbeing belongs in the purpose of a development framework is a choice, not a finding. But if it does, the measurement that follows from that intent looks different from the measurement in place today — and the three changes above are where it would start.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10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7510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FIGURE COUNT</a:t>
            </a:r>
          </a:p>
          <a:p>
            <a:pPr>
              <a:lnSpc>
                <a:spcPct val="128000"/>
              </a:lnSpc>
              <a:spcBef>
                <a:spcPts val="0"/>
              </a:spcBef>
              <a:spcAft>
                <a:spcPts val="0"/>
              </a:spcAft>
            </a:pPr>
            <a:r>
              <a:rPr sz="950" b="0" i="0">
                <a:solidFill>
                  <a:srgbClr val="5A6068"/>
                </a:solidFill>
                <a:latin typeface="Calibri"/>
              </a:rPr>
              <a:t>Commentaries allow one or two. Proposed: the three-way collapse as Figure 1 and the three-domain comparison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197510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ONE UNIT, EVERYWHERE</a:t>
            </a:r>
          </a:p>
          <a:p>
            <a:pPr>
              <a:lnSpc>
                <a:spcPct val="128000"/>
              </a:lnSpc>
              <a:spcBef>
                <a:spcPts val="0"/>
              </a:spcBef>
              <a:spcAft>
                <a:spcPts val="0"/>
              </a:spcAft>
            </a:pPr>
            <a:r>
              <a:rPr sz="850" b="0" i="0">
                <a:solidFill>
                  <a:srgbClr val="5A6068"/>
                </a:solidFill>
                <a:latin typeface="Calibri"/>
              </a:rPr>
              <a:t>Every headline number is now % of units FDR-significant at q  0.04 on ~7 country-round means; at that n roughly two-thirds of pure noise clears the bar, which inflated the ESS figures and made the framework comparison meaningless. ESS is now estimated on individual respondents, demeaned within country-round.</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197510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WHICH ESS WELLBEING ITEM, AND WHY</a:t>
            </a:r>
          </a:p>
          <a:p>
            <a:pPr>
              <a:lnSpc>
                <a:spcPct val="128000"/>
              </a:lnSpc>
              <a:spcBef>
                <a:spcPts val="0"/>
              </a:spcBef>
              <a:spcAft>
                <a:spcPts val="0"/>
              </a:spcAft>
            </a:pPr>
            <a:r>
              <a:rPr sz="750" b="0" i="0">
                <a:solidFill>
                  <a:srgbClr val="5A6068"/>
                </a:solidFill>
                <a:latin typeface="Calibri"/>
              </a:rPr>
              <a:t>The deck runs on ESS life satisfaction throughout, because the WHR Cantril ladder is a life evaluation and that is the like-for-like analogue. The ESS happiness item was run as a check and agrees (trust +0.59 identical; health +0.26 against +0.40; education null in both), so nothing turns on the choice — with one exception worth knowing: the HDI's differences result against happiness reads +0.31 raw but +0.17 net of survey-round effects, where the life satisfaction result is +0.20 either way. Numbers in processed/differences_robustness.csv.</a:t>
            </a:r>
          </a:p>
        </p:txBody>
      </p:sp>
      <p:sp>
        <p:nvSpPr>
          <p:cNvPr id="9" name="Rectangle 8"/>
          <p:cNvSpPr/>
          <p:nvPr/>
        </p:nvSpPr>
        <p:spPr>
          <a:xfrm>
            <a:off x="566928" y="30175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316382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ROBUSTNESS OF THE DIFFERENCES RESULT</a:t>
            </a:r>
          </a:p>
          <a:p>
            <a:pPr>
              <a:lnSpc>
                <a:spcPct val="128000"/>
              </a:lnSpc>
              <a:spcBef>
                <a:spcPts val="0"/>
              </a:spcBef>
              <a:spcAft>
                <a:spcPts val="0"/>
              </a:spcAft>
            </a:pPr>
            <a:r>
              <a:rPr sz="750" b="0" i="0">
                <a:solidFill>
                  <a:srgbClr val="5A6068"/>
                </a:solidFill>
                <a:latin typeface="Calibri"/>
              </a:rPr>
              <a:t>Two checks beyond the item choice. Removing survey-round effects leaves health and trust intact (+0.42, +0.58) rather than reducing them, so they are idiosyncratic country movement and not shocks common to a round. And the split-half design — predictor and outcome from disjoint respondents — rules out common-method variance, with trust retaining 93%. What remains untested is replication of the trust result on an independent wellbeing instrument.</a:t>
            </a:r>
          </a:p>
        </p:txBody>
      </p:sp>
      <p:sp>
        <p:nvSpPr>
          <p:cNvPr id="11" name="Rectangle 10"/>
          <p:cNvSpPr/>
          <p:nvPr/>
        </p:nvSpPr>
        <p:spPr>
          <a:xfrm>
            <a:off x="4359554" y="30175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316382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WHERE THE EFFECT-SIZE NUMBERS COME FROM</a:t>
            </a:r>
          </a:p>
          <a:p>
            <a:pPr>
              <a:lnSpc>
                <a:spcPct val="128000"/>
              </a:lnSpc>
              <a:spcBef>
                <a:spcPts val="0"/>
              </a:spcBef>
              <a:spcAft>
                <a:spcPts val="0"/>
              </a:spcAft>
            </a:pPr>
            <a:r>
              <a:rPr sz="750" b="0" i="0">
                <a:solidFill>
                  <a:srgbClr val="5A6068"/>
                </a:solidFill>
                <a:latin typeface="Calibri"/>
              </a:rPr>
              <a:t>Act II-a's '+0.20 pts / 59%' is OLS of the change in ESS life satisfaction on the change in the predictor, round fixed effects, SEs clustered by country (processed/differences_effect_sizes.csv). Trust: b=0.56 per point of trust (t=6.2), health: b=1.59 per point of good-health (t=2.7). Effect per 1 SD of the predictor's typical round-to-round move, benchmarked against 0.35 pts, the SD of life satisfaction's own round-to-round move. Education and the HDI composite are not distinguishable from zero at conventional significance.</a:t>
            </a:r>
          </a:p>
        </p:txBody>
      </p:sp>
      <p:sp>
        <p:nvSpPr>
          <p:cNvPr id="13" name="Rectangle 12"/>
          <p:cNvSpPr/>
          <p:nvPr/>
        </p:nvSpPr>
        <p:spPr>
          <a:xfrm>
            <a:off x="8152180" y="301752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2180" y="316382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WHAT THE ESS PANEL CAN AND CANNOT TEST</a:t>
            </a:r>
          </a:p>
          <a:p>
            <a:pPr>
              <a:lnSpc>
                <a:spcPct val="128000"/>
              </a:lnSpc>
              <a:spcBef>
                <a:spcPts val="0"/>
              </a:spcBef>
              <a:spcAft>
                <a:spcPts val="0"/>
              </a:spcAft>
            </a:pPr>
            <a:r>
              <a:rPr sz="750" b="0" i="0">
                <a:solidFill>
                  <a:srgbClr val="5A6068"/>
                </a:solidFill>
                <a:latin typeface="Calibri"/>
              </a:rPr>
              <a:t>Seven survey rounds is too short for the per-country time-series design. Simulating a REAL correlation and asking how often the test finds it: at seven observations rho = 0.5 is recovered in ~3% of units and rho = 0.7 in ~23%, against ~50% and ~79% at thirteen years. So HDI x ESS returning 8% levels / 16% differences is a null test, not a finding — and the inversion (differences above levels) is itself the tell. We report the bars and flag them rather than dropping them. The ESS levels contribution comes from cross-section instead: 47% of 15 countries across regions, which is well-powered.</a:t>
            </a:r>
          </a:p>
        </p:txBody>
      </p:sp>
      <p:sp>
        <p:nvSpPr>
          <p:cNvPr id="15" name="Rectangle 14"/>
          <p:cNvSpPr/>
          <p:nvPr/>
        </p:nvSpPr>
        <p:spPr>
          <a:xfrm>
            <a:off x="566928" y="420624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35254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SCOPE OF THE TRUST FINDING</a:t>
            </a:r>
          </a:p>
          <a:p>
            <a:pPr>
              <a:lnSpc>
                <a:spcPct val="128000"/>
              </a:lnSpc>
              <a:spcBef>
                <a:spcPts val="0"/>
              </a:spcBef>
              <a:spcAft>
                <a:spcPts val="0"/>
              </a:spcAft>
            </a:pPr>
            <a:r>
              <a:rPr sz="750" b="0" i="0">
                <a:solidFill>
                  <a:srgbClr val="5A6068"/>
                </a:solidFill>
                <a:latin typeface="Calibri"/>
              </a:rPr>
              <a:t>Trust rests on the ESS: 36 European countries, one item, self-reported. 97% of countries significant at levels; +0.59 within-country in first differences, and +0.55 with predictor and outcome drawn from disjoint respondents, so it is not a common-method artefact. What is still missing is corroboration against an independent wellbeing instrument: against the WHR ladder it is +0.06 n.s. in differences, plausibly attenuation from pairing two samples with different fieldwork timing, but unproven either way. Health has that corroboration and trust does not — worth stating plainly rather than leaning on trust as hard as on health.</a:t>
            </a:r>
          </a:p>
        </p:txBody>
      </p:sp>
      <p:sp>
        <p:nvSpPr>
          <p:cNvPr id="17" name="Rectangle 16"/>
          <p:cNvSpPr/>
          <p:nvPr/>
        </p:nvSpPr>
        <p:spPr>
          <a:xfrm>
            <a:off x="4359554" y="420624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59554" y="4352544"/>
            <a:ext cx="3472586" cy="932688"/>
          </a:xfrm>
          <a:prstGeom prst="rect">
            <a:avLst/>
          </a:prstGeom>
          <a:noFill/>
        </p:spPr>
        <p:txBody>
          <a:bodyPr wrap="square" lIns="0" rIns="0" tIns="0" bIns="0">
            <a:spAutoFit/>
          </a:bodyPr>
          <a:lstStyle/>
          <a:p>
            <a:pPr>
              <a:spcBef>
                <a:spcPts val="0"/>
              </a:spcBef>
              <a:spcAft>
                <a:spcPts val="600"/>
              </a:spcAft>
            </a:pPr>
            <a:r>
              <a:rPr sz="850" b="0" i="0">
                <a:solidFill>
                  <a:srgbClr val="17549E"/>
                </a:solidFill>
                <a:latin typeface="Consolas"/>
              </a:rPr>
              <a:t>INSTITUTIONAL CONFIDENCE IS NOT INTERPERSONAL TRUST</a:t>
            </a:r>
          </a:p>
          <a:p>
            <a:pPr>
              <a:lnSpc>
                <a:spcPct val="128000"/>
              </a:lnSpc>
              <a:spcBef>
                <a:spcPts val="0"/>
              </a:spcBef>
              <a:spcAft>
                <a:spcPts val="0"/>
              </a:spcAft>
            </a:pPr>
            <a:r>
              <a:rPr sz="750" b="0" i="0">
                <a:solidFill>
                  <a:srgbClr val="5A6068"/>
                </a:solidFill>
                <a:latin typeface="Calibri"/>
              </a:rPr>
              <a:t>SDG16's trust-adjacent series measure satisfaction with public services, perceived bribery and perceived inclusiveness in decision-making. These are conceptually distinct from 'most people can be trusted', and they do not survive an income control while interpersonal trust does. The commentary must be explicit that SDG16 is not a direct analogue, wherever the 1.5% figure appears.</a:t>
            </a:r>
          </a:p>
        </p:txBody>
      </p:sp>
      <p:sp>
        <p:nvSpPr>
          <p:cNvPr id="19" name="Rectangle 18"/>
          <p:cNvSpPr/>
          <p:nvPr/>
        </p:nvSpPr>
        <p:spPr>
          <a:xfrm>
            <a:off x="8152180" y="420624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2180" y="435254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THREE FAILURE MODES AS THE META-FINDING</a:t>
            </a:r>
          </a:p>
          <a:p>
            <a:pPr>
              <a:lnSpc>
                <a:spcPct val="128000"/>
              </a:lnSpc>
              <a:spcBef>
                <a:spcPts val="0"/>
              </a:spcBef>
              <a:spcAft>
                <a:spcPts val="0"/>
              </a:spcAft>
            </a:pPr>
            <a:r>
              <a:rPr sz="875" b="0" i="0">
                <a:solidFill>
                  <a:srgbClr val="5A6068"/>
                </a:solidFill>
                <a:latin typeface="Calibri"/>
              </a:rPr>
              <a:t>The paper's contribution is arguably not the three domains but the three distinct ways a framework loses one: pooled construct, saturated variable, absent coverage. They need different remedies, which is what makes Act IV specific rather than rhetorical.</a:t>
            </a:r>
          </a:p>
        </p:txBody>
      </p:sp>
      <p:sp>
        <p:nvSpPr>
          <p:cNvPr id="21" name="Rectangle 20"/>
          <p:cNvSpPr/>
          <p:nvPr/>
        </p:nvSpPr>
        <p:spPr>
          <a:xfrm>
            <a:off x="566928" y="539496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5541264"/>
            <a:ext cx="3472586" cy="932688"/>
          </a:xfrm>
          <a:prstGeom prst="rect">
            <a:avLst/>
          </a:prstGeom>
          <a:noFill/>
        </p:spPr>
        <p:txBody>
          <a:bodyPr wrap="square" lIns="0" rIns="0" tIns="0" bIns="0">
            <a:spAutoFit/>
          </a:bodyPr>
          <a:lstStyle/>
          <a:p>
            <a:pPr>
              <a:spcBef>
                <a:spcPts val="0"/>
              </a:spcBef>
              <a:spcAft>
                <a:spcPts val="600"/>
              </a:spcAft>
            </a:pPr>
            <a:r>
              <a:rPr sz="950" b="0" i="0">
                <a:solidFill>
                  <a:srgbClr val="17549E"/>
                </a:solidFill>
                <a:latin typeface="Consolas"/>
              </a:rPr>
              <a:t>WHAT WE ARE NOT CLAIMING</a:t>
            </a:r>
          </a:p>
          <a:p>
            <a:pPr>
              <a:lnSpc>
                <a:spcPct val="128000"/>
              </a:lnSpc>
              <a:spcBef>
                <a:spcPts val="0"/>
              </a:spcBef>
              <a:spcAft>
                <a:spcPts val="0"/>
              </a:spcAft>
            </a:pPr>
            <a:r>
              <a:rPr sz="875" b="0" i="0">
                <a:solidFill>
                  <a:srgbClr val="5A6068"/>
                </a:solidFill>
                <a:latin typeface="Calibri"/>
              </a:rPr>
              <a:t>No causal claim, and no verdict on the SDGs or HDI as development instruments. The claim is about what these frameworks can and cannot see when the question is individual lived experience — and it is bounded by ESS coverage on the trust half.</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composite and its five components, in full</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Levels and first differences for all five, Benjamini–Hochberg corrected within each country. The source for the 41%/33%/19% component figures cited in Act II.</a:t>
            </a:r>
          </a:p>
        </p:txBody>
      </p:sp>
      <p:pic>
        <p:nvPicPr>
          <p:cNvPr id="5" name="Picture 4" descr="hdi_full_structure.png"/>
          <p:cNvPicPr>
            <a:picLocks noChangeAspect="1"/>
          </p:cNvPicPr>
          <p:nvPr/>
        </p:nvPicPr>
        <p:blipFill>
          <a:blip r:embed="rId2"/>
          <a:stretch>
            <a:fillRect/>
          </a:stretch>
        </p:blipFill>
        <p:spPr>
          <a:xfrm>
            <a:off x="881403" y="1965960"/>
            <a:ext cx="10428889"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Top 25 SDG series by levels significance</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Sixteen of the 25 most predictive individual series in the whole SDG database are Goal 3 health indicators — the source for Act II's health ranking.</a:t>
            </a:r>
          </a:p>
        </p:txBody>
      </p:sp>
      <p:pic>
        <p:nvPicPr>
          <p:cNvPr id="5" name="Picture 4" descr="sdg_indicator_top20.png"/>
          <p:cNvPicPr>
            <a:picLocks noChangeAspect="1"/>
          </p:cNvPicPr>
          <p:nvPr/>
        </p:nvPicPr>
        <p:blipFill>
          <a:blip r:embed="rId2"/>
          <a:stretch>
            <a:fillRect/>
          </a:stretch>
        </p:blipFill>
        <p:spPr>
          <a:xfrm>
            <a:off x="3350018" y="1965960"/>
            <a:ext cx="5491659"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collapse across all three national pairings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Countries FDR-significant at levels versus first differences under the SDG framework, the HDI, and subnational HDI aggregated nationally.</a:t>
            </a:r>
          </a:p>
        </p:txBody>
      </p:sp>
      <p:pic>
        <p:nvPicPr>
          <p:cNvPr id="5" name="Picture 4" descr="collapse_hdi_shdi_whr.png"/>
          <p:cNvPicPr>
            <a:picLocks noChangeAspect="1"/>
          </p:cNvPicPr>
          <p:nvPr/>
        </p:nvPicPr>
        <p:blipFill>
          <a:blip r:embed="rId2"/>
          <a:stretch>
            <a:fillRect/>
          </a:stretch>
        </p:blipFill>
        <p:spPr>
          <a:xfrm>
            <a:off x="2121157" y="1965960"/>
            <a:ext cx="7949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Per-region collapse, subnational HDI against ESS life satisfaction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167 regions with at least five survey rounds. Levels R² on the horizontal axis, across-year differences on the vertical.</a:t>
            </a:r>
          </a:p>
        </p:txBody>
      </p:sp>
      <p:pic>
        <p:nvPicPr>
          <p:cNvPr id="5" name="Picture 4" descr="collapse_shdi_ess_regional.png"/>
          <p:cNvPicPr>
            <a:picLocks noChangeAspect="1"/>
          </p:cNvPicPr>
          <p:nvPr/>
        </p:nvPicPr>
        <p:blipFill>
          <a:blip r:embed="rId2"/>
          <a:stretch>
            <a:fillRect/>
          </a:stretch>
        </p:blipFill>
        <p:spPr>
          <a:xfrm>
            <a:off x="3585393" y="1965960"/>
            <a:ext cx="5020909"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The three domains competing inside one instrument</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ESS only, at two levels of aggregation: individual respondents on the left, country means on the right.</a:t>
            </a:r>
          </a:p>
        </p:txBody>
      </p:sp>
      <p:pic>
        <p:nvPicPr>
          <p:cNvPr id="5" name="Picture 4" descr="domain_horse_race.png"/>
          <p:cNvPicPr>
            <a:picLocks noChangeAspect="1"/>
          </p:cNvPicPr>
          <p:nvPr/>
        </p:nvPicPr>
        <p:blipFill>
          <a:blip r:embed="rId2"/>
          <a:stretch>
            <a:fillRect/>
          </a:stretch>
        </p:blipFill>
        <p:spPr>
          <a:xfrm>
            <a:off x="1940489" y="1965960"/>
            <a:ext cx="8310716"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Individual-level education by country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distribution behind the 89% figure — per-country associations between years of schooling and life satisfaction across 351,023 respondents.</a:t>
            </a:r>
          </a:p>
        </p:txBody>
      </p:sp>
      <p:pic>
        <p:nvPicPr>
          <p:cNvPr id="5" name="Picture 4" descr="ess_individual_education.png"/>
          <p:cNvPicPr>
            <a:picLocks noChangeAspect="1"/>
          </p:cNvPicPr>
          <p:nvPr/>
        </p:nvPicPr>
        <p:blipFill>
          <a:blip r:embed="rId2"/>
          <a:stretch>
            <a:fillRect/>
          </a:stretch>
        </p:blipFill>
        <p:spPr>
          <a:xfrm>
            <a:off x="2399046" y="1965960"/>
            <a:ext cx="7393603"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