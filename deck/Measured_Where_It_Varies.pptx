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and on three ways a measurement framework loses sight of a domain that matters: the wrong construct, a variable that has stopped varying, and no coverage at all</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15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is compared with its own past. Thirty of 42 countries are significant in levels. Two are in year-to-year changes.</a:t>
            </a:r>
          </a:p>
          <a:p>
            <a:pPr>
              <a:lnSpc>
                <a:spcPct val="134000"/>
              </a:lnSpc>
              <a:spcBef>
                <a:spcPts val="0"/>
              </a:spcBef>
              <a:spcAft>
                <a:spcPts val="1200"/>
              </a:spcAft>
            </a:pPr>
            <a:r>
              <a:rPr sz="1150" b="0" i="0">
                <a:solidFill>
                  <a:srgbClr val="5A6068"/>
                </a:solidFill>
                <a:latin typeface="Calibri"/>
              </a:rPr>
              <a:t>There is an obvious way to dismiss that. The SDG framework is a sprawling, negotiated instrument with uneven coverage; a null inside it says as much about the framework as about the world. This commentary closes that escape route, then asks what the result actually raises: which parts of development track lived experience at all?</a:t>
            </a:r>
          </a:p>
          <a:p>
            <a:pPr>
              <a:lnSpc>
                <a:spcPct val="134000"/>
              </a:lnSpc>
              <a:spcBef>
                <a:spcPts val="0"/>
              </a:spcBef>
              <a:spcAft>
                <a:spcPts val="1200"/>
              </a:spcAft>
            </a:pPr>
            <a:r>
              <a:rPr sz="1150" b="0" i="0">
                <a:solidFill>
                  <a:srgbClr val="5A6068"/>
                </a:solidFill>
                <a:latin typeface="Calibri"/>
              </a:rPr>
              <a:t>Where it lands is a disconnect rather than an indictment. These frameworks were built to track development and they do. But the components that look most consequential for how individuals experience their lives are the ones development measurement is currently least arranged to see.</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Education, health, and three ways to lose a domain.</a:t>
            </a:r>
          </a:p>
          <a:p>
            <a:pPr>
              <a:lnSpc>
                <a:spcPct val="125000"/>
              </a:lnSpc>
              <a:spcBef>
                <a:spcPts val="0"/>
              </a:spcBef>
              <a:spcAft>
                <a:spcPts val="0"/>
              </a:spcAft>
            </a:pPr>
            <a:r>
              <a:rPr sz="1100" b="0" i="0">
                <a:solidFill>
                  <a:srgbClr val="5A6068"/>
                </a:solidFill>
                <a:latin typeface="Calibri"/>
              </a:rPr>
              <a:t>The wrong construct, a variable that has stopped varying, and a domain never collected often enough to test.</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points to a disconnect worth naming.</a:t>
            </a:r>
          </a:p>
          <a:p>
            <a:pPr>
              <a:lnSpc>
                <a:spcPct val="125000"/>
              </a:lnSpc>
              <a:spcBef>
                <a:spcPts val="0"/>
              </a:spcBef>
              <a:spcAft>
                <a:spcPts val="0"/>
              </a:spcAft>
            </a:pPr>
            <a:r>
              <a:rPr sz="1100" b="0" i="0">
                <a:solidFill>
                  <a:srgbClr val="5A6068"/>
                </a:solidFill>
                <a:latin typeface="Calibri"/>
              </a:rPr>
              <a:t>Not that these frameworks should stay away from wellbeing, but that the components that track lived experience are ones they are not currently arranged to see.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0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 and that life expectancy, the HDI's proxy for health, is last in levels. Act II shows why that ordering is a property of the HDI's measurement choices rather than of the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Education, health, and three ways to lose a domain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350" b="0" i="1">
                <a:solidFill>
                  <a:srgbClr val="9AA4B0"/>
                </a:solidFill>
                <a:latin typeface="Georgia"/>
              </a:rPr>
              <a:t>Two results and a coverage gap, and between them three ways a framework can lose a domain. Education leads the HDI and the access construct of SDG4, and disappears when SDG4 is read pooled — the wrong construct. Health leads the SDG framework and the individual data, and is weak in exactly one place, the HDI, whose health input has run out of variance — the wrong variable. Social trust is barely collected at all — no measurement to read either way.</a:t>
            </a:r>
          </a:p>
        </p:txBody>
      </p:sp>
      <p:sp>
        <p:nvSpPr>
          <p:cNvPr id="7" name="TextBox 6"/>
          <p:cNvSpPr txBox="1"/>
          <p:nvPr/>
        </p:nvSpPr>
        <p:spPr>
          <a:xfrm>
            <a:off x="566928"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40.7% vs 3.3%</a:t>
            </a:r>
          </a:p>
          <a:p>
            <a:pPr>
              <a:lnSpc>
                <a:spcPct val="120000"/>
              </a:lnSpc>
              <a:spcBef>
                <a:spcPts val="0"/>
              </a:spcBef>
              <a:spcAft>
                <a:spcPts val="0"/>
              </a:spcAft>
            </a:pPr>
            <a:r>
              <a:rPr sz="1000" b="0" i="0">
                <a:solidFill>
                  <a:srgbClr val="8A94A0"/>
                </a:solidFill>
                <a:latin typeface="Calibri"/>
              </a:rPr>
              <a:t>education under the HDI against pooled SDG4</a:t>
            </a:r>
          </a:p>
        </p:txBody>
      </p:sp>
      <p:sp>
        <p:nvSpPr>
          <p:cNvPr id="8" name="TextBox 7"/>
          <p:cNvSpPr txBox="1"/>
          <p:nvPr/>
        </p:nvSpPr>
        <p:spPr>
          <a:xfrm>
            <a:off x="339996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SDG4 access alone — third of 17 goals if it were one</a:t>
            </a:r>
          </a:p>
        </p:txBody>
      </p:sp>
      <p:sp>
        <p:nvSpPr>
          <p:cNvPr id="9" name="TextBox 8"/>
          <p:cNvSpPr txBox="1"/>
          <p:nvPr/>
        </p:nvSpPr>
        <p:spPr>
          <a:xfrm>
            <a:off x="623300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11.5% vs 19.9%</a:t>
            </a:r>
          </a:p>
          <a:p>
            <a:pPr>
              <a:lnSpc>
                <a:spcPct val="120000"/>
              </a:lnSpc>
              <a:spcBef>
                <a:spcPts val="0"/>
              </a:spcBef>
              <a:spcAft>
                <a:spcPts val="0"/>
              </a:spcAft>
            </a:pPr>
            <a:r>
              <a:rPr sz="1000" b="0" i="0">
                <a:solidFill>
                  <a:srgbClr val="8A94A0"/>
                </a:solidFill>
                <a:latin typeface="Calibri"/>
              </a:rPr>
              <a:t>health: 4th of 17 SDG goals, last of the HDI's five</a:t>
            </a:r>
          </a:p>
        </p:txBody>
      </p:sp>
      <p:sp>
        <p:nvSpPr>
          <p:cNvPr id="10" name="TextBox 9"/>
          <p:cNvSpPr txBox="1"/>
          <p:nvPr/>
        </p:nvSpPr>
        <p:spPr>
          <a:xfrm>
            <a:off x="906604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147 of 163</a:t>
            </a:r>
          </a:p>
          <a:p>
            <a:pPr>
              <a:lnSpc>
                <a:spcPct val="120000"/>
              </a:lnSpc>
              <a:spcBef>
                <a:spcPts val="0"/>
              </a:spcBef>
              <a:spcAft>
                <a:spcPts val="0"/>
              </a:spcAft>
            </a:pPr>
            <a:r>
              <a:rPr sz="1000" b="0" i="0">
                <a:solidFill>
                  <a:srgbClr val="8A94A0"/>
                </a:solidFill>
                <a:latin typeface="Calibri"/>
              </a:rPr>
              <a:t>SDG trust country-series with too few years to compute at all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AGAINST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comparisons, and they do not all point the same way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00" b="0" i="0">
                <a:solidFill>
                  <a:srgbClr val="5A6068"/>
                </a:solidFill>
                <a:latin typeface="Calibri"/>
              </a:rPr>
              <a:t>No single statistic settles which framework tracks wellbeing better, so the commentary should report three and nominate none. Detection: does any indicator show a significant levels association in a given country? The SDG framework reaches 30 of its 42 countries (71%), the HDI 77 of its 150 (51%). Benjamini–Hochberg under the complete null controls the error rate at the same α whatever the family size, so the SDG lead is genuine power bought with breadth and should be conceded as such.</a:t>
            </a:r>
          </a:p>
          <a:p>
            <a:pPr>
              <a:lnSpc>
                <a:spcPct val="132000"/>
              </a:lnSpc>
              <a:spcBef>
                <a:spcPts val="0"/>
              </a:spcBef>
              <a:spcAft>
                <a:spcPts val="1100"/>
              </a:spcAft>
            </a:pPr>
            <a:r>
              <a:rPr sz="900" b="0" i="0">
                <a:solidFill>
                  <a:srgbClr val="5A6068"/>
                </a:solidFill>
                <a:latin typeface="Calibri"/>
              </a:rPr>
              <a:t>Budget-matched: give the SDG framework the same five-indicator budget the HDI gets, drawn at random, 4,000 times. Five random SDG series reach 30% of countries (95% range 19–40%); the HDI’s chosen five reach 40% on the same countries — better than a random five, but at the top edge of the random range rather than outside it.</a:t>
            </a:r>
          </a:p>
          <a:p>
            <a:pPr>
              <a:lnSpc>
                <a:spcPct val="132000"/>
              </a:lnSpc>
              <a:spcBef>
                <a:spcPts val="0"/>
              </a:spcBef>
              <a:spcAft>
                <a:spcPts val="1100"/>
              </a:spcAft>
            </a:pPr>
            <a:r>
              <a:rPr sz="900" b="0" i="0">
                <a:solidFill>
                  <a:srgbClr val="5A6068"/>
                </a:solidFill>
                <a:latin typeface="Calibri"/>
              </a:rPr>
              <a:t>Per indicator: across the 609 SDG series with usable coverage the median series is significant in no country at all, and 54% never clear FDR anywhere. The HDI composite, mean schooling and GNI per capita each beat essentially the whole field; even life expectancy, the HDI’s weakest component, beats 90% of it.</a:t>
            </a:r>
          </a:p>
          <a:p>
            <a:pPr>
              <a:lnSpc>
                <a:spcPct val="132000"/>
              </a:lnSpc>
              <a:spcBef>
                <a:spcPts val="0"/>
              </a:spcBef>
              <a:spcAft>
                <a:spcPts val="1100"/>
              </a:spcAft>
            </a:pPr>
            <a:r>
              <a:rPr sz="900" b="0" i="0">
                <a:solidFill>
                  <a:srgbClr val="5A6068"/>
                </a:solidFill>
                <a:latin typeface="Calibri"/>
              </a:rPr>
              <a:t>That is the frame for what follows. The three results come in the order of how much the frameworks disagree about them: education, where the disagreement is total and entirely about construct; health, where it is large and entirely about saturation; and social trust, where one framework cannot see the domain at all.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Each framework on its own full country set against WHR happiness, except panel b which restricts the HDI to the 42 SDG countries so the budgets are comparable.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survival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safely managed sanitation first, then infant deaths, under-five deaths, child stunting, and safely managed drinking water. Sixteen of the top 25 series are health-domain, and none of them is self-reported.</a:t>
            </a:r>
          </a:p>
          <a:p>
            <a:pPr>
              <a:lnSpc>
                <a:spcPct val="132000"/>
              </a:lnSpc>
              <a:spcBef>
                <a:spcPts val="0"/>
              </a:spcBef>
              <a:spcAft>
                <a:spcPts val="1100"/>
              </a:spcAft>
            </a:pPr>
            <a:r>
              <a:rPr sz="1150" b="0" i="0">
                <a:solidFill>
                  <a:srgbClr val="5A6068"/>
                </a:solidFill>
                <a:latin typeface="Calibri"/>
              </a:rPr>
              <a:t>This is the steep part of the development curve — staying alive and not being sick — rather than the 2030 Agenda’s institutional superstructure. It also sets up the puzzle the next three beats resolve: the instrument that ranks health first ranks education twelfth, and the instrument that ranks education first ranks health last.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strongest thing the HDI measures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Mean years of schooling has the highest median R² of the HDI’s five indicators — 0.326, fractionally above the composite’s own 0.322 — and is FDR-significant in 61 of 150 countries, 40.7%, the highest of the four sub-components. Expected years of schooling follows at 34.0%. Income is level with schooling at 40.4%; life expectancy is far behind at 19.9%.</a:t>
            </a:r>
          </a:p>
          <a:p>
            <a:pPr>
              <a:lnSpc>
                <a:spcPct val="132000"/>
              </a:lnSpc>
              <a:spcBef>
                <a:spcPts val="0"/>
              </a:spcBef>
              <a:spcAft>
                <a:spcPts val="1100"/>
              </a:spcAft>
            </a:pPr>
            <a:r>
              <a:rPr sz="1400" b="0" i="0">
                <a:solidFill>
                  <a:srgbClr val="5A6068"/>
                </a:solidFill>
                <a:latin typeface="Calibri"/>
              </a:rPr>
              <a:t>A sub-component beating the composite it belongs to is worth pausing on. The HDI aggregates health, education and income into one number on the assumption that development is a bundle. On this test the bundle adds nothing over its education leg alone — which is the first hint that the index is carried by one of its three domains rather than by their combination.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 the SDG framework its rank depends entirely on which construct you read</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00" b="0" i="0">
                <a:solidFill>
                  <a:srgbClr val="5A6068"/>
                </a:solidFill>
                <a:latin typeface="Calibri"/>
              </a:rPr>
              <a:t>Pooled, SDG4 is close to the bottom: 3.3% of country-indicator pairs significant, twelfth of the seventeen goals, with its best single series ranking 100th of 609. Read naively the two frameworks flatly contradict each other about education.</a:t>
            </a:r>
          </a:p>
          <a:p>
            <a:pPr>
              <a:lnSpc>
                <a:spcPct val="132000"/>
              </a:lnSpc>
              <a:spcBef>
                <a:spcPts val="0"/>
              </a:spcBef>
              <a:spcAft>
                <a:spcPts val="1100"/>
              </a:spcAft>
            </a:pPr>
            <a:r>
              <a:rPr sz="1000" b="0" i="0">
                <a:solidFill>
                  <a:srgbClr val="5A6068"/>
                </a:solidFill>
                <a:latin typeface="Calibri"/>
              </a:rPr>
              <a:t>They do not, because SDG4 is not one construct. Eighteen of its 35 official series are equity or parity ratios, seven measure school infrastructure, six measure learning outcomes, one measures financing, one attainment — and only two measure access and participation directly. Split apart, those two reach 12.7%. Placed among the seventeen goals that would rank third, above SDG3 health at 11.5%. Meanwhile learning outcomes sit at 0.9% and parity ratios at 2.5%, and it is the parity ratios — half the goal by series count — that drag the pooled figure down.</a:t>
            </a:r>
          </a:p>
          <a:p>
            <a:pPr>
              <a:lnSpc>
                <a:spcPct val="132000"/>
              </a:lnSpc>
              <a:spcBef>
                <a:spcPts val="0"/>
              </a:spcBef>
              <a:spcAft>
                <a:spcPts val="1100"/>
              </a:spcAft>
            </a:pPr>
            <a:r>
              <a:rPr sz="1000" b="0" i="0">
                <a:solidFill>
                  <a:srgbClr val="5A6068"/>
                </a:solidFill>
                <a:latin typeface="Calibri"/>
              </a:rPr>
              <a:t>So the SDG framework does not disagree with the HDI about education. It agrees with it, on the two series that measure the same thing the HDI measures, and the disagreement is manufactured by pooling six constructs that point in different directions. State the caveat plainly: access and participation is 2 series and 63 country-indicator pairs, a small family, and the 12.7% carries correspondingly wide uncertainty.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at the individual level it is significant almost everywhere, if barely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Respondents’ own attainment predicts their own life satisfaction in 32 to 34 of 36 ESS countries — more consistent across countries than anything except health. Aggregated to the country level, ESS-measured years of schooling predicts WHR happiness at R² = 0.308 against 0.161 for the HDI’s own schooling series on the same cells, so an independently measured education variable roughly doubles the HDI’s.</a:t>
            </a:r>
          </a:p>
          <a:p>
            <a:pPr>
              <a:lnSpc>
                <a:spcPct val="132000"/>
              </a:lnSpc>
              <a:spcBef>
                <a:spcPts val="0"/>
              </a:spcBef>
              <a:spcAft>
                <a:spcPts val="1100"/>
              </a:spcAft>
            </a:pPr>
            <a:r>
              <a:rPr sz="1150" b="0" i="0">
                <a:solidFill>
                  <a:srgbClr val="5A6068"/>
                </a:solidFill>
                <a:latin typeface="Calibri"/>
              </a:rPr>
              <a:t>What it does not have is size. The median individual R² is 0.0098, the smallest of any domain tested. Education is the most universal signal and the smallest one — an odd combination, and one the third result explains.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strongest thing the SDG framework measures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Goal 3 reaches 11.5% of country-indicator pairs, fourth of the seventeen goals and first among the goals with broad coverage — the three above it are energy (5 series), industry and infrastructure (23), and hunger and nutrition (53), against Goal 3’s 45. Sixteen of the top 25 series in the whole database are health.</a:t>
            </a:r>
          </a:p>
          <a:p>
            <a:pPr>
              <a:lnSpc>
                <a:spcPct val="132000"/>
              </a:lnSpc>
              <a:spcBef>
                <a:spcPts val="0"/>
              </a:spcBef>
              <a:spcAft>
                <a:spcPts val="1100"/>
              </a:spcAft>
            </a:pPr>
            <a:r>
              <a:rPr sz="1150" b="0" i="0">
                <a:solidFill>
                  <a:srgbClr val="5A6068"/>
                </a:solidFill>
                <a:latin typeface="Calibri"/>
              </a:rPr>
              <a:t>The health series that carry the signal are survival measures: child and neonatal mortality, stunting, safely managed water and sanitation. None is self-reported, which matters for the method check two beats on — this is the one domain where an administrative source and a self-report source can be set against each other.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by_goal.png"/>
          <p:cNvPicPr>
            <a:picLocks noChangeAspect="1"/>
          </p:cNvPicPr>
          <p:nvPr/>
        </p:nvPicPr>
        <p:blipFill>
          <a:blip r:embed="rId2"/>
          <a:stretch>
            <a:fillRect/>
          </a:stretch>
        </p:blipFill>
        <p:spPr>
          <a:xfrm>
            <a:off x="5120640" y="1156722"/>
            <a:ext cx="6537960" cy="407821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All 17 goals by share of country-indicator pairs FDR-significant in levels.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Why the HDI says the opposite, and why the HDI is wrong about it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Inside the HDI, life expectancy is the weakest of the five indicators by a wide margin — 30 of 151 countries, 19.9%, against 40.7% for mean schooling. Read naively the HDI says health is the least important thing about development, and the SDG framework says it is the most important.</a:t>
            </a:r>
          </a:p>
          <a:p>
            <a:pPr>
              <a:lnSpc>
                <a:spcPct val="132000"/>
              </a:lnSpc>
              <a:spcBef>
                <a:spcPts val="0"/>
              </a:spcBef>
              <a:spcAft>
                <a:spcPts val="1100"/>
              </a:spcAft>
            </a:pPr>
            <a:r>
              <a:rPr sz="1400" b="0" i="0">
                <a:solidFill>
                  <a:srgbClr val="5A6068"/>
                </a:solidFill>
                <a:latin typeface="Calibri"/>
              </a:rPr>
              <a:t>The reconciliation is saturation, and it is checkable rather than rhetorical. Life expectancy has run out of variance across the countries where it is tested; the variance that would let it predict anything has largely gone. The SDG series that do carry health’s signal are the ones that still vary enormously — child mortality, stunting — and self-rated health captures morbidity that life expectancy cannot see at all.</a:t>
            </a:r>
          </a:p>
          <a:p>
            <a:pPr>
              <a:lnSpc>
                <a:spcPct val="132000"/>
              </a:lnSpc>
              <a:spcBef>
                <a:spcPts val="0"/>
              </a:spcBef>
              <a:spcAft>
                <a:spcPts val="1100"/>
              </a:spcAft>
            </a:pPr>
            <a:r>
              <a:rPr sz="1400" b="0" i="0">
                <a:solidFill>
                  <a:srgbClr val="5A6068"/>
                </a:solidFill>
                <a:latin typeface="Calibri"/>
              </a:rPr>
              <a:t>This is the same failure mode as education’s, running in the opposite direction. Education’s rank collapses when a framework measures it as parity rather than attainment; health’s collapses when a framework measures it with a variable that has no room left to move. Neither is a fact about the world.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leads the individual data too, and it is the one domain that passes the method check</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In the ESS, self-rated health is significant in 36 of 36 countries with a median R² of 0.091 — roughly nine times education’s 0.0098, and the largest effect of any domain tested anywhere in this commentary.</a:t>
            </a:r>
          </a:p>
          <a:p>
            <a:pPr>
              <a:lnSpc>
                <a:spcPct val="132000"/>
              </a:lnSpc>
              <a:spcBef>
                <a:spcPts val="0"/>
              </a:spcBef>
              <a:spcAft>
                <a:spcPts val="1100"/>
              </a:spcAft>
            </a:pPr>
            <a:r>
              <a:rPr sz="1100" b="0" i="0">
                <a:solidFill>
                  <a:srgbClr val="5A6068"/>
                </a:solidFill>
                <a:latin typeface="Calibri"/>
              </a:rPr>
              <a:t>Self-rated health is reported by the same respondent, in the same survey, as life satisfaction, so shared method variance is the first objection a reader will raise. Health is the one domain that can answer it: the UN SDG database is administrative and shares no method with any wellbeing instrument. Restricted to high-income countries — the same development stratum the ESS covers — the SDG data puts health at 11.2% of pairs against education’s 1.2%, the same ordering the ESS gives from entirely different measurement.</a:t>
            </a:r>
          </a:p>
          <a:p>
            <a:pPr>
              <a:lnSpc>
                <a:spcPct val="132000"/>
              </a:lnSpc>
              <a:spcBef>
                <a:spcPts val="0"/>
              </a:spcBef>
              <a:spcAft>
                <a:spcPts val="1100"/>
              </a:spcAft>
            </a:pPr>
            <a:r>
              <a:rPr sz="1100" b="0" i="0">
                <a:solidFill>
                  <a:srgbClr val="5A6068"/>
                </a:solidFill>
                <a:latin typeface="Calibri"/>
              </a:rPr>
              <a:t>Health is the only domain where that check can be run at all. Education can be checked and comes out weak in both sources; social trust cannot be checked, because the SDG framework has no interpersonal-trust indicator to check it against.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domains under an administrative source and a self-report source.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HORSE RACE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Run the domains against each other inside one instrument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ESS measures health, education, income and trust on the same respondents as life satisfaction, so the domains can compete on equal terms rather than through four separate literatures. Health leads at both levels of aggregation; education is significant nearly everywhere and small everywhere; trust sits between them.</a:t>
            </a:r>
          </a:p>
          <a:p>
            <a:pPr>
              <a:lnSpc>
                <a:spcPct val="132000"/>
              </a:lnSpc>
              <a:spcBef>
                <a:spcPts val="0"/>
              </a:spcBef>
              <a:spcAft>
                <a:spcPts val="1100"/>
              </a:spcAft>
            </a:pPr>
            <a:r>
              <a:rPr sz="1150" b="0" i="0">
                <a:solidFill>
                  <a:srgbClr val="5A6068"/>
                </a:solidFill>
                <a:latin typeface="Calibri"/>
              </a:rPr>
              <a:t>The HDI leads between countries at R² = 0.760, but that is the one comparison a composite index is expected to win — it proxies every domain at once, which is what makes its individual components more informative than the composite about which domain does the work.</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433421"/>
            <a:ext cx="6537960" cy="3524813"/>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at two levels of aggregation.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DISCUSSION · THE COVERAGE GAP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third way to lose a domain: never measure it enough to find out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00" b="0" i="0">
                <a:solidFill>
                  <a:srgbClr val="5A6068"/>
                </a:solidFill>
                <a:latin typeface="Calibri"/>
              </a:rPr>
              <a:t>Education and health are the same failure in two costumes — a framework measuring the wrong thing. Social trust is a different one. The SDG database carries 13 trust- and satisfaction-adjacent series, mostly Goal 16, but their median coverage is one year per country-series against six database-wide. The design needs four: 147 of the 163 country-series are never computed at all, and 1 of the 16 that can be is significant. Report that as “1 of 16 testable”, never “1 of 163” — the latter reads as a null when it is overwhelmingly a coverage gap.</a:t>
            </a:r>
          </a:p>
          <a:p>
            <a:pPr>
              <a:lnSpc>
                <a:spcPct val="132000"/>
              </a:lnSpc>
              <a:spcBef>
                <a:spcPts val="0"/>
              </a:spcBef>
              <a:spcAft>
                <a:spcPts val="1100"/>
              </a:spcAft>
            </a:pPr>
            <a:r>
              <a:rPr sz="900" b="0" i="0">
                <a:solidFill>
                  <a:srgbClr val="5A6068"/>
                </a:solidFill>
                <a:latin typeface="Calibri"/>
              </a:rPr>
              <a:t>Untestable in this design is not untestable in principle, so we pulled the raw values and ran the series across countries instead of across years. Nine of 13 clear a 12-country minimum and four are significant: bribery paid by individuals (−0.55) and firms (−0.51), inclusive decision-making (−0.42), satisfaction with healthcare (+0.33). All four land below the HDI and its components on the same 134 countries (|r| 0.71–0.83); the broadest is Gallup World Poll, the survey that also produces the ladder; and none of the 13 measures interpersonal trust.</a:t>
            </a:r>
          </a:p>
          <a:p>
            <a:pPr>
              <a:lnSpc>
                <a:spcPct val="132000"/>
              </a:lnSpc>
              <a:spcBef>
                <a:spcPts val="0"/>
              </a:spcBef>
              <a:spcAft>
                <a:spcPts val="1100"/>
              </a:spcAft>
            </a:pPr>
            <a:r>
              <a:rPr sz="900" b="0" i="0">
                <a:solidFill>
                  <a:srgbClr val="5A6068"/>
                </a:solidFill>
                <a:latin typeface="Calibri"/>
              </a:rPr>
              <a:t>So this is not a result about trust. Trust’s own evidence is a single instrument — 34 of 36 ESS countries at a median R² of 0.041 — with a shared-method caveat no external source can answer. It is a result about the frameworks. Education and health both sit inside the HDI; trust sits outside all of them, which makes it the clearest case that what is missing is scope rather than indicator choice.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Nine of the 13 SDG trust- and satisfaction-adjacent series, one observation per country, against the WHR Cantril ladder. Raw values pulled from the UN SDG Global Database API.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pattern of blind spots is the result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Laid out side by side, the three domains fail in three different ways. Education leads the HDI and the access construct of SDG4, is near-universal at the individual level, and looks weak only where a framework pools access with parity and proficiency. Health leads the SDG framework and the individual data, and looks weak only where a framework reads it through a variable that has stopped varying. Trust looks weak nowhere and strong nowhere, because outside one survey it is barely collected.</a:t>
            </a:r>
          </a:p>
          <a:p>
            <a:pPr>
              <a:lnSpc>
                <a:spcPct val="132000"/>
              </a:lnSpc>
              <a:spcBef>
                <a:spcPts val="0"/>
              </a:spcBef>
              <a:spcAft>
                <a:spcPts val="1100"/>
              </a:spcAft>
            </a:pPr>
            <a:r>
              <a:rPr sz="1150" b="0" i="0">
                <a:solidFill>
                  <a:srgbClr val="5A6068"/>
                </a:solidFill>
                <a:latin typeface="Calibri"/>
              </a:rPr>
              <a:t>None of these is a disagreement about the world. Each is an operationalisation choice — which construct, which variable, whether to collect it at all — which is why the contribution is not a ranking of domains but an account of why the rankings differ.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three domains against the five instruments. Metrics differ by column and are given under each heading; the colours encode whether the domain tracks wellbeing there, shows little signal, or cannot be tested at all.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argument has to fit in a single figure: the replicated collapse, the inversion of the health–education ranking across instruments, and the method check that only health passes.</a:t>
            </a:r>
          </a:p>
          <a:p>
            <a:pPr>
              <a:lnSpc>
                <a:spcPct val="132000"/>
              </a:lnSpc>
              <a:spcBef>
                <a:spcPts val="0"/>
              </a:spcBef>
              <a:spcAft>
                <a:spcPts val="1100"/>
              </a:spcAft>
            </a:pPr>
            <a:r>
              <a:rPr sz="1150" b="0" i="0">
                <a:solidFill>
                  <a:srgbClr val="5A6068"/>
                </a:solidFill>
                <a:latin typeface="Calibri"/>
              </a:rPr>
              <a:t>One caution for the caption. Panels b and c both put measures with different units on a shared axis — panel b normalises to the health-plus-education pair, panel c to the leading domain within each source. Both are there to make an ordering readable, not a magnitude, and the raw values are printed on the bars so a reader can check that.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see the caution above on panels b and 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Education leads once it is measured as attainment rather than parity; health leads once it is measured somewhere it still varies; trust cannot be read either way because it was never collected often enough. Three domains, three ways of losing one — the wrong construct, a saturated variable, and no coverage — and none of the three choices was made with wellbeing in mind, because that is not what these frameworks were built for. Which is what makes the third act a question about fit rather than a charge of failure.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may imply for how development is measured</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200" b="0" i="1">
                <a:solidFill>
                  <a:srgbClr val="9AA4B0"/>
                </a:solidFill>
                <a:latin typeface="Georgia"/>
              </a:rPr>
              <a:t>These are implications, not recommendations. The frameworks were not built to track wellbeing and it is no criticism of them that they do not; measured against their own purposes they work. What the three results describe is a disconnect — between what development measurement currently captures and what turns out to track individual lived experience. If wellbeing is to be part of what these frameworks are for, education, health and social trust each say something specific about what capturing it would take.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 vs 0.9%</a:t>
            </a:r>
          </a:p>
          <a:p>
            <a:pPr>
              <a:lnSpc>
                <a:spcPct val="120000"/>
              </a:lnSpc>
              <a:spcBef>
                <a:spcPts val="0"/>
              </a:spcBef>
              <a:spcAft>
                <a:spcPts val="0"/>
              </a:spcAft>
            </a:pPr>
            <a:r>
              <a:rPr sz="1000" b="0" i="0">
                <a:solidFill>
                  <a:srgbClr val="8A94A0"/>
                </a:solidFill>
                <a:latin typeface="Calibri"/>
              </a:rPr>
              <a:t>SDG4 access against measured learning outcomes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 of 16</a:t>
            </a:r>
          </a:p>
          <a:p>
            <a:pPr>
              <a:lnSpc>
                <a:spcPct val="120000"/>
              </a:lnSpc>
              <a:spcBef>
                <a:spcPts val="0"/>
              </a:spcBef>
              <a:spcAft>
                <a:spcPts val="0"/>
              </a:spcAft>
            </a:pPr>
            <a:r>
              <a:rPr sz="1000" b="0" i="0">
                <a:solidFill>
                  <a:srgbClr val="8A94A0"/>
                </a:solidFill>
                <a:latin typeface="Calibri"/>
              </a:rPr>
              <a:t>SDG trust country-series a longitudinal design can use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Stating it precisely, and stating what it is not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35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 — and inside countries the domains that lead between them stop leading.</a:t>
            </a:r>
          </a:p>
          <a:p>
            <a:pPr>
              <a:lnSpc>
                <a:spcPct val="132000"/>
              </a:lnSpc>
              <a:spcBef>
                <a:spcPts val="0"/>
              </a:spcBef>
              <a:spcAft>
                <a:spcPts val="1100"/>
              </a:spcAft>
            </a:pPr>
            <a:r>
              <a:rPr sz="1350" b="0" i="0">
                <a:solidFill>
                  <a:srgbClr val="5A6068"/>
                </a:solidFill>
                <a:latin typeface="Calibri"/>
              </a:rPr>
              <a:t>It is worth being explicit about what that is not. It is not an argument that development frameworks should be kept away from wellbeing, or that they have failed. The HDI and the SDGs were built to track development — capability, deprivation, the 2030 Agenda's negotiated priorities — and on those terms they work. Nothing here says otherwise.</a:t>
            </a:r>
          </a:p>
          <a:p>
            <a:pPr>
              <a:lnSpc>
                <a:spcPct val="132000"/>
              </a:lnSpc>
              <a:spcBef>
                <a:spcPts val="0"/>
              </a:spcBef>
              <a:spcAft>
                <a:spcPts val="1100"/>
              </a:spcAft>
            </a:pPr>
            <a:r>
              <a:rPr sz="1350" b="0" i="0">
                <a:solidFill>
                  <a:srgbClr val="5A6068"/>
                </a:solidFill>
                <a:latin typeface="Calibri"/>
              </a:rPr>
              <a:t>What the results describe is a disconnect between two things that are often assumed to move together: what these frameworks currently capture, and what tracks how individuals experience their lives. That assumption is reasonable and mostly untested. Tested, it holds between countries and weakens sharply everywhere else.</a:t>
            </a:r>
          </a:p>
          <a:p>
            <a:pPr>
              <a:lnSpc>
                <a:spcPct val="132000"/>
              </a:lnSpc>
              <a:spcBef>
                <a:spcPts val="0"/>
              </a:spcBef>
              <a:spcAft>
                <a:spcPts val="1100"/>
              </a:spcAft>
            </a:pPr>
            <a:r>
              <a:rPr sz="1350" b="0" i="0">
                <a:solidFill>
                  <a:srgbClr val="5A6068"/>
                </a:solidFill>
                <a:latin typeface="Calibri"/>
              </a:rPr>
              <a:t>So the useful question is not whether development matters. It is which components of it track lived experience, and whether the frameworks are currently in a position to see them. The next three beats take the three results in turn.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Which education construct a framework counts turns out to matter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 indicator architecture built around measured proficiency. That shift has good reasons behind it that have nothing to do with wellbeing, and this commentary does not dispute them.</a:t>
            </a:r>
          </a:p>
          <a:p>
            <a:pPr>
              <a:lnSpc>
                <a:spcPct val="132000"/>
              </a:lnSpc>
              <a:spcBef>
                <a:spcPts val="0"/>
              </a:spcBef>
              <a:spcAft>
                <a:spcPts val="1100"/>
              </a:spcAft>
            </a:pPr>
            <a:r>
              <a:rPr sz="1400" b="0" i="0">
                <a:solidFill>
                  <a:srgbClr val="5A6068"/>
                </a:solidFill>
                <a:latin typeface="Calibri"/>
              </a:rPr>
              <a:t>It does observe that the wellbeing signal sits elsewhere. Attainment and access carry it — 12.7% for SDG4 access, 40.7% and 34.0% for the HDI's schooling components, 32 of 36 countries at the individual level — while measured learning outcomes sit at 0.9% and parity ratios at 2.5%. A framework that reads SDG4 pooled will conclude education barely matters for wellbeing; one that reads the access series will rank it third of seventeen goals. Same data, same countries.</a:t>
            </a:r>
          </a:p>
          <a:p>
            <a:pPr>
              <a:lnSpc>
                <a:spcPct val="132000"/>
              </a:lnSpc>
              <a:spcBef>
                <a:spcPts val="0"/>
              </a:spcBef>
              <a:spcAft>
                <a:spcPts val="1100"/>
              </a:spcAft>
            </a:pPr>
            <a:r>
              <a:rPr sz="1400" b="0" i="0">
                <a:solidFill>
                  <a:srgbClr val="5A6068"/>
                </a:solidFill>
                <a:latin typeface="Calibri"/>
              </a:rPr>
              <a:t>One caution travels with this and it is weaker without it. Education is the most consistent signal across countries and the smallest one within them — significant in 32 to 34 of 36 ESS countries at a median R² of 0.0098. So the implication is about what a global monitoring framework counts, not a claim that any given schooling gain will move a given person’s life satisfaction.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domain can disappear from a framework by being measured where it has stopped moving</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the standard summary of population health and the HDI's only health input, and it is the weakest of the five against wellbeing. Health is simultaneously the strongest domain in the SDG database and in the individual data. The gap between those two facts is not substantive; it is that life expectancy has largely stopped varying across the countries where it is tested.</a:t>
            </a:r>
          </a:p>
          <a:p>
            <a:pPr>
              <a:lnSpc>
                <a:spcPct val="132000"/>
              </a:lnSpc>
              <a:spcBef>
                <a:spcPts val="0"/>
              </a:spcBef>
              <a:spcAft>
                <a:spcPts val="1100"/>
              </a:spcAft>
            </a:pPr>
            <a:r>
              <a:rPr sz="1400" b="0" i="0">
                <a:solidFill>
                  <a:srgbClr val="5A6068"/>
                </a:solidFill>
                <a:latin typeface="Calibri"/>
              </a:rPr>
              <a:t>What still carries health's signal is survival at the margin — child, infant and neonatal mortality, stunting, sanitation, safe water — and, in richer countries, self-rated health, which picks up morbidity and functional limitation that life expectancy cannot see. Both are already collected. The implication is about which of them a framework reads as its health signal in a high-income setting, not about adding a new instrument.</a:t>
            </a:r>
          </a:p>
          <a:p>
            <a:pPr>
              <a:lnSpc>
                <a:spcPct val="132000"/>
              </a:lnSpc>
              <a:spcBef>
                <a:spcPts val="0"/>
              </a:spcBef>
              <a:spcAft>
                <a:spcPts val="1100"/>
              </a:spcAft>
            </a:pPr>
            <a:r>
              <a:rPr sz="1400" b="0" i="0">
                <a:solidFill>
                  <a:srgbClr val="5A6068"/>
                </a:solidFill>
                <a:latin typeface="Calibri"/>
              </a:rPr>
              <a:t>Health is also the domain where the frameworks disagree with each other most sharply — first in the SDG database, last in the HDI — which makes it the clearest case that the disagreement is about the variable rather than about the world.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3 · COVERAGE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third failure mode is the one no indicator choice can fix</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Education's and health's implications are both about which variable a framework reads. Coverage is a different kind of problem: no choice among existing indicators fixes it, because the observations were never collected. The HDI and subnational HDI do not measure social trust at all; the SDG framework's 13 satisfaction and integrity series average one observation per country, which supports no longitudinal design.</a:t>
            </a:r>
          </a:p>
          <a:p>
            <a:pPr>
              <a:lnSpc>
                <a:spcPct val="132000"/>
              </a:lnSpc>
              <a:spcBef>
                <a:spcPts val="0"/>
              </a:spcBef>
              <a:spcAft>
                <a:spcPts val="1100"/>
              </a:spcAft>
            </a:pPr>
            <a:r>
              <a:rPr sz="1400" b="0" i="0">
                <a:solidFill>
                  <a:srgbClr val="5A6068"/>
                </a:solidFill>
                <a:latin typeface="Calibri"/>
              </a:rPr>
              <a:t>We did not stop at asserting that. Act II runs those series the only way their coverage permits — across countries rather than years — and 9 are testable, 4 significant, and all four land below the HDI's own components on the same countries. The gap is established rather than assumed.</a:t>
            </a:r>
          </a:p>
          <a:p>
            <a:pPr>
              <a:lnSpc>
                <a:spcPct val="132000"/>
              </a:lnSpc>
              <a:spcBef>
                <a:spcPts val="0"/>
              </a:spcBef>
              <a:spcAft>
                <a:spcPts val="1100"/>
              </a:spcAft>
            </a:pPr>
            <a:r>
              <a:rPr sz="1400" b="0" i="0">
                <a:solidFill>
                  <a:srgbClr val="5A6068"/>
                </a:solidFill>
                <a:latin typeface="Calibri"/>
              </a:rPr>
              <a:t>This is the most tentative of the three implications and should be presented that way: trust's own evidence is one instrument, in Europe, with a live shared-method caveat. What can be said is narrow and still useful. A component that performs this well wherever it is measured is invisible to development measurement for reasons of coverage, not because it was weighed and found wanting — and a repeated generalised-trust item, already standard in the ESS, the World Values Survey and several national statistical series, would be enough to find out.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individual-level results are Europe-only. The ESS is the second wellbeing instrument the whole replication rests on, and it covers 36 European countries — so where the commentary says two instruments agree, that agreement is demonstrated in Europe and assumed elsewhere. That belongs in the text as a scope condition rather than buried in a limitations paragraph.</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THIS LEAVES IT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Development frameworks may need to work harder at capturing what shapes lived experience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conclusion, and it is deliberately exploratory. Three components look consequential for how individuals experience their lives — education, health, social trust — and each is currently captured in a way that makes it hard for a development framework to see. Education is pooled with constructs that point the other way. Health is read through a variable that has largely stopped moving. Social trust is not measured with the coverage any longitudinal design requires.</a:t>
            </a:r>
          </a:p>
          <a:p>
            <a:pPr>
              <a:lnSpc>
                <a:spcPct val="132000"/>
              </a:lnSpc>
              <a:spcBef>
                <a:spcPts val="0"/>
              </a:spcBef>
              <a:spcAft>
                <a:spcPts val="1100"/>
              </a:spcAft>
            </a:pPr>
            <a:r>
              <a:rPr sz="1400" b="0" i="0">
                <a:solidFill>
                  <a:srgbClr val="5A6068"/>
                </a:solidFill>
                <a:latin typeface="Calibri"/>
              </a:rPr>
              <a:t>None of that is a demand that these frameworks become wellbeing instruments. It is the narrower observation that if wellbeing is to inform what development measurement counts — and the post-2030 conversation suggests it may — then the first question is not which domain to prioritise but whether each is being measured somewhere it can still move. On the evidence here, for at least two of the three, it is not.</a:t>
            </a:r>
          </a:p>
          <a:p>
            <a:pPr>
              <a:lnSpc>
                <a:spcPct val="132000"/>
              </a:lnSpc>
              <a:spcBef>
                <a:spcPts val="0"/>
              </a:spcBef>
              <a:spcAft>
                <a:spcPts val="1100"/>
              </a:spcAft>
            </a:pPr>
            <a:r>
              <a:rPr sz="1400" b="0" i="0">
                <a:solidFill>
                  <a:srgbClr val="5A6068"/>
                </a:solidFill>
                <a:latin typeface="Calibri"/>
              </a:rPr>
              <a:t>The honest form of the ask is a question rather than a prescription: what would a development framework look like if the components that track individual lived experience were among the things it was built to capture? A commentary cannot answer that. It can show that the question is not rhetorical, and put the evidence on the record so the field can take it up.</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education as the positive finding, use the generalised collapse as the backdrop that makes it surprising, and close on the disconnect rather than on a list of fixes. That ordering makes Act I load-bearing without making it the story, and it keeps the paper on the ground it can actually defend — that these components look like they matter for lived experience, and that development measurement is not currently arranged to see them.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6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education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HOW HARD TO PUSH THE CONCLUSION</a:t>
            </a:r>
          </a:p>
          <a:p>
            <a:pPr>
              <a:lnSpc>
                <a:spcPct val="130000"/>
              </a:lnSpc>
              <a:spcBef>
                <a:spcPts val="0"/>
              </a:spcBef>
              <a:spcAft>
                <a:spcPts val="0"/>
              </a:spcAft>
            </a:pPr>
            <a:r>
              <a:rPr sz="1100" b="0" i="0">
                <a:solidFill>
                  <a:srgbClr val="5A6068"/>
                </a:solidFill>
                <a:latin typeface="Calibri"/>
              </a:rPr>
              <a:t>Act III now lands on a disconnect and an exploratory ask rather than a list of fixes: these components look like they matter for lived experience, and development measurement is not currently arranged to see them. Is that the right altitude for the venue, or should the health and education implications be sharpened into named recommendations? The evidence supports either; the framing does not change the analysis.</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and the domain scorecard as Figure 2. Everything else moves to supplementary.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THE WITHIN-COUNTRY WORK IS A SEPARATE PAPER</a:t>
            </a:r>
          </a:p>
          <a:p>
            <a:pPr>
              <a:lnSpc>
                <a:spcPct val="130000"/>
              </a:lnSpc>
              <a:spcBef>
                <a:spcPts val="0"/>
              </a:spcBef>
              <a:spcAft>
                <a:spcPts val="0"/>
              </a:spcAft>
            </a:pPr>
            <a:r>
              <a:rPr sz="1100" b="0" i="0">
                <a:solidFill>
                  <a:srgbClr val="5A6068"/>
                </a:solidFill>
                <a:latin typeface="Calibri"/>
              </a:rPr>
              <a:t>The ESS × subnational-HDI regional analysis is out of the commentary. It is Europe-only across 16 countries, its coverage is uneven (Italy matches 30% of respondents to a region), and it is specification-sensitive in a way that needs room to examine: education’s median regional correlation changes sign between two defensible aggregations, and the health-versus-trust ordering swaps under the same choice. Those are interesting problems given a robustness section and liabilities without one. The code, figures and processed files all stay in the repository.</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SUBNATIONAL SUB-INDICES</a:t>
            </a:r>
          </a:p>
          <a:p>
            <a:pPr>
              <a:lnSpc>
                <a:spcPct val="130000"/>
              </a:lnSpc>
              <a:spcBef>
                <a:spcPts val="0"/>
              </a:spcBef>
              <a:spcAft>
                <a:spcPts val="0"/>
              </a:spcAft>
            </a:pPr>
            <a:r>
              <a:rPr sz="1100" b="0" i="0">
                <a:solidFill>
                  <a:srgbClr val="5A6068"/>
                </a:solidFill>
                <a:latin typeface="Calibri"/>
              </a:rPr>
              <a:t>The per-domain GDL exports are in and the analysis stands: within countries the external health index leads education and income (+0.34 vs +0.06 and +0.12), so the ranking flip does not rest on self-report. It travels with the within-country paper rather than this one. GDL’s DHS-based Education &amp; Work and Health datasets were also examined: they cover only 6 ESS countries and cannot serve the European design.</a:t>
            </a:r>
          </a:p>
        </p:txBody>
      </p:sp>
      <p:sp>
        <p:nvSpPr>
          <p:cNvPr id="13" name="Rectangle 12"/>
          <p:cNvSpPr/>
          <p:nvPr/>
        </p:nvSpPr>
        <p:spPr>
          <a:xfrm>
            <a:off x="8152180"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2180"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against SDG, domain by domain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Education is the HDI's strongest domain and the SDG framework's weakest, unless SDG4 is split into access versus the rest. Absolute levels are not comparable across frameworks; the within-framework rankings are.</a:t>
            </a:r>
          </a:p>
        </p:txBody>
      </p:sp>
      <p:pic>
        <p:nvPicPr>
          <p:cNvPr id="5" name="Picture 4" descr="hdi_vs_sdg_frameworks.png"/>
          <p:cNvPicPr>
            <a:picLocks noChangeAspect="1"/>
          </p:cNvPicPr>
          <p:nvPr/>
        </p:nvPicPr>
        <p:blipFill>
          <a:blip r:embed="rId2"/>
          <a:stretch>
            <a:fillRect/>
          </a:stretch>
        </p:blipFill>
        <p:spPr>
          <a:xfrm>
            <a:off x="1492967" y="1965960"/>
            <a:ext cx="9205761"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ESS-measured schooling against WHR happiness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Country-aggregated ESS years of schooling predicts WHR happiness at R² = 0.308, against 0.161 for the HDI's own schooling series on the same cells — an independently measured education variable roughly doubles it.</a:t>
            </a:r>
          </a:p>
        </p:txBody>
      </p:sp>
      <p:pic>
        <p:nvPicPr>
          <p:cNvPr id="5" name="Picture 4" descr="ess_triangulation.png"/>
          <p:cNvPicPr>
            <a:picLocks noChangeAspect="1"/>
          </p:cNvPicPr>
          <p:nvPr/>
        </p:nvPicPr>
        <p:blipFill>
          <a:blip r:embed="rId2"/>
          <a:stretch>
            <a:fillRect/>
          </a:stretch>
        </p:blipFill>
        <p:spPr>
          <a:xfrm>
            <a:off x="566928" y="1965960"/>
            <a:ext cx="11057839" cy="3026903"/>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