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on education and health, which each track lived experience once measured somewhere they still move, and on what changes when the question moves inside countries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15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150"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then asks what the result actually raises: which parts of development track lived experience at all?</a:t>
            </a:r>
          </a:p>
          <a:p>
            <a:pPr>
              <a:lnSpc>
                <a:spcPct val="134000"/>
              </a:lnSpc>
              <a:spcBef>
                <a:spcPts val="0"/>
              </a:spcBef>
              <a:spcAft>
                <a:spcPts val="1200"/>
              </a:spcAft>
            </a:pPr>
            <a:r>
              <a:rPr sz="1150" b="0" i="0">
                <a:solidFill>
                  <a:srgbClr val="5A6068"/>
                </a:solidFill>
                <a:latin typeface="Calibri"/>
              </a:rPr>
              <a:t>Where it lands is a disconnect rather than an indictment. These frameworks were built to track development and they do. But the components that look most consequential for how individuals experience their lives are the ones development measurement is currently least arranged to see.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Education, health, and the blind spots.</a:t>
            </a:r>
          </a:p>
          <a:p>
            <a:pPr>
              <a:lnSpc>
                <a:spcPct val="125000"/>
              </a:lnSpc>
              <a:spcBef>
                <a:spcPts val="0"/>
              </a:spcBef>
              <a:spcAft>
                <a:spcPts val="0"/>
              </a:spcAft>
            </a:pPr>
            <a:r>
              <a:rPr sz="1100" b="0" i="0">
                <a:solidFill>
                  <a:srgbClr val="5A6068"/>
                </a:solidFill>
                <a:latin typeface="Calibri"/>
              </a:rPr>
              <a:t>Education's rank swings on construct, health's on saturation, and the whole ranking turns over again once the question moves from between countries to inside them.</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points to a disconnect worth naming.</a:t>
            </a:r>
          </a:p>
          <a:p>
            <a:pPr>
              <a:lnSpc>
                <a:spcPct val="125000"/>
              </a:lnSpc>
              <a:spcBef>
                <a:spcPts val="0"/>
              </a:spcBef>
              <a:spcAft>
                <a:spcPts val="0"/>
              </a:spcAft>
            </a:pPr>
            <a:r>
              <a:rPr sz="1100" b="0" i="0">
                <a:solidFill>
                  <a:srgbClr val="5A6068"/>
                </a:solidFill>
                <a:latin typeface="Calibri"/>
              </a:rPr>
              <a:t>Not that these frameworks should stay away from wellbeing, but that the components that track lived experience are ones they are not currently arranged to see.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0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health, and what changes when you change the question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00" b="0" i="1">
                <a:solidFill>
                  <a:srgbClr val="9AA4B0"/>
                </a:solidFill>
                <a:latin typeface="Georgia"/>
              </a:rPr>
              <a:t>Two results and a discussion. Education leads the HDI and the access construct of SDG4 and is the smallest effect anywhere. Health leads the SDG framework and the individual data and is weak in exactly one place, for a reason we can name. Social trust leads wherever it is measured, which is almost nowhere. Every disagreement between the frameworks turns out to be about operationalisation — and the ranking changes again, in a consistent direction, when the question moves from between countries to inside them.</a:t>
            </a:r>
          </a:p>
        </p:txBody>
      </p:sp>
      <p:sp>
        <p:nvSpPr>
          <p:cNvPr id="7" name="TextBox 6"/>
          <p:cNvSpPr txBox="1"/>
          <p:nvPr/>
        </p:nvSpPr>
        <p:spPr>
          <a:xfrm>
            <a:off x="566928"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40.7% → 8 of 16</a:t>
            </a:r>
          </a:p>
          <a:p>
            <a:pPr>
              <a:lnSpc>
                <a:spcPct val="120000"/>
              </a:lnSpc>
              <a:spcBef>
                <a:spcPts val="0"/>
              </a:spcBef>
              <a:spcAft>
                <a:spcPts val="0"/>
              </a:spcAft>
            </a:pPr>
            <a:r>
              <a:rPr sz="1000" b="0" i="0">
                <a:solidFill>
                  <a:srgbClr val="8A94A0"/>
                </a:solidFill>
                <a:latin typeface="Calibri"/>
              </a:rPr>
              <a:t>education: leads the HDI between countries, inconsistent inside them</a:t>
            </a:r>
          </a:p>
        </p:txBody>
      </p:sp>
      <p:sp>
        <p:nvSpPr>
          <p:cNvPr id="8" name="TextBox 7"/>
          <p:cNvSpPr txBox="1"/>
          <p:nvPr/>
        </p:nvSpPr>
        <p:spPr>
          <a:xfrm>
            <a:off x="339996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alone — third of 17 goals if it were one</a:t>
            </a:r>
          </a:p>
        </p:txBody>
      </p:sp>
      <p:sp>
        <p:nvSpPr>
          <p:cNvPr id="9" name="TextBox 8"/>
          <p:cNvSpPr txBox="1"/>
          <p:nvPr/>
        </p:nvSpPr>
        <p:spPr>
          <a:xfrm>
            <a:off x="623300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19.9% → +0.51</a:t>
            </a:r>
          </a:p>
          <a:p>
            <a:pPr>
              <a:lnSpc>
                <a:spcPct val="120000"/>
              </a:lnSpc>
              <a:spcBef>
                <a:spcPts val="0"/>
              </a:spcBef>
              <a:spcAft>
                <a:spcPts val="0"/>
              </a:spcAft>
            </a:pPr>
            <a:r>
              <a:rPr sz="1000" b="0" i="0">
                <a:solidFill>
                  <a:srgbClr val="8A94A0"/>
                </a:solidFill>
                <a:latin typeface="Calibri"/>
              </a:rPr>
              <a:t>health: last of the HDI's five, first inside countries</a:t>
            </a:r>
          </a:p>
        </p:txBody>
      </p:sp>
      <p:sp>
        <p:nvSpPr>
          <p:cNvPr id="10" name="TextBox 9"/>
          <p:cNvSpPr txBox="1"/>
          <p:nvPr/>
        </p:nvSpPr>
        <p:spPr>
          <a:xfrm>
            <a:off x="906604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 of 16</a:t>
            </a:r>
          </a:p>
          <a:p>
            <a:pPr>
              <a:lnSpc>
                <a:spcPct val="120000"/>
              </a:lnSpc>
              <a:spcBef>
                <a:spcPts val="0"/>
              </a:spcBef>
              <a:spcAft>
                <a:spcPts val="0"/>
              </a:spcAft>
            </a:pPr>
            <a:r>
              <a:rPr sz="1000" b="0" i="0">
                <a:solidFill>
                  <a:srgbClr val="8A94A0"/>
                </a:solidFill>
                <a:latin typeface="Calibri"/>
              </a:rPr>
              <a:t>SDG trust country-series testable at all, not 1 of 163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Benjamini–Hochberg under the complete null controls the error rate at the same α whatever the family size, so the SDG lead is genuine power bought with breadth and should be conceded as such.</a:t>
            </a:r>
          </a:p>
          <a:p>
            <a:pPr>
              <a:lnSpc>
                <a:spcPct val="132000"/>
              </a:lnSpc>
              <a:spcBef>
                <a:spcPts val="0"/>
              </a:spcBef>
              <a:spcAft>
                <a:spcPts val="1100"/>
              </a:spcAft>
            </a:pPr>
            <a:r>
              <a:rPr sz="90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 better than a random five, but at the top edge of the random range rather than outside it.</a:t>
            </a:r>
          </a:p>
          <a:p>
            <a:pPr>
              <a:lnSpc>
                <a:spcPct val="132000"/>
              </a:lnSpc>
              <a:spcBef>
                <a:spcPts val="0"/>
              </a:spcBef>
              <a:spcAft>
                <a:spcPts val="1100"/>
              </a:spcAft>
            </a:pPr>
            <a:r>
              <a:rPr sz="90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a:t>
            </a:r>
          </a:p>
          <a:p>
            <a:pPr>
              <a:lnSpc>
                <a:spcPct val="132000"/>
              </a:lnSpc>
              <a:spcBef>
                <a:spcPts val="0"/>
              </a:spcBef>
              <a:spcAft>
                <a:spcPts val="1100"/>
              </a:spcAft>
            </a:pPr>
            <a:r>
              <a:rPr sz="900" b="0" i="0">
                <a:solidFill>
                  <a:srgbClr val="5A6068"/>
                </a:solidFill>
                <a:latin typeface="Calibri"/>
              </a:rPr>
              <a:t>That is the frame for what follows. The three results come in the order of how much the frameworks disagree about them: education, where the disagreement is total and entirely about construct; health, where it is large and entirely about saturation; and social trust, where one framework cannot see the domain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It also sets up the puzzle the next three beats resolve: the instrument that ranks health first ranks education twelfth, and the instrument that ranks education first ranks health last.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strongest thing the HDI measures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Mean years of schooling has the highest median R² of the HDI’s five indicators — 0.326, fractionally above the composite’s own 0.322 — and is FDR-significant in 61 of 150 countries, 40.7%, the highest of the four sub-components. Expected years of schooling follows at 34.0%. Income is level with schooling at 40.4%; life expectancy is far behind at 19.9%.</a:t>
            </a:r>
          </a:p>
          <a:p>
            <a:pPr>
              <a:lnSpc>
                <a:spcPct val="132000"/>
              </a:lnSpc>
              <a:spcBef>
                <a:spcPts val="0"/>
              </a:spcBef>
              <a:spcAft>
                <a:spcPts val="1100"/>
              </a:spcAft>
            </a:pPr>
            <a:r>
              <a:rPr sz="1400" b="0" i="0">
                <a:solidFill>
                  <a:srgbClr val="5A6068"/>
                </a:solidFill>
                <a:latin typeface="Calibri"/>
              </a:rPr>
              <a:t>A sub-component beating the composite it belongs to is worth pausing on. The HDI aggregates health, education and income into one number on the assumption that development is a bundle. On this test the bundle adds nothing over its education leg alone — which is the first hint that the index is carried by one of its three domains rather than by their combination.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 the SDG framework its rank depends entirely on which construct you read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00" b="0" i="0">
                <a:solidFill>
                  <a:srgbClr val="5A6068"/>
                </a:solidFill>
                <a:latin typeface="Calibri"/>
              </a:rPr>
              <a:t>Pooled, SDG4 is close to the bottom: 3.3% of country-indicator pairs significant, twelfth of the seventeen goals, with its best single series ranking 100th of 609. Read naively the two frameworks flatly contradict each other about education.</a:t>
            </a:r>
          </a:p>
          <a:p>
            <a:pPr>
              <a:lnSpc>
                <a:spcPct val="132000"/>
              </a:lnSpc>
              <a:spcBef>
                <a:spcPts val="0"/>
              </a:spcBef>
              <a:spcAft>
                <a:spcPts val="1100"/>
              </a:spcAft>
            </a:pPr>
            <a:r>
              <a:rPr sz="1000" b="0" i="0">
                <a:solidFill>
                  <a:srgbClr val="5A6068"/>
                </a:solidFill>
                <a:latin typeface="Calibri"/>
              </a:rPr>
              <a:t>They do not, because SDG4 is not one construct. Eighteen of its 35 official series are equity or parity ratios, seven measure school infrastructure, six measure learning outcomes, one measures financing, one attainment — and only two measure access and participation directly. Split apart, those two reach 12.7%. Placed among the seventeen goals that would rank third, above SDG3 health at 11.5%. Meanwhile learning outcomes sit at 0.9% and parity ratios at 2.5%, and it is the parity ratios — half the goal by series count — that drag the pooled figure down.</a:t>
            </a:r>
          </a:p>
          <a:p>
            <a:pPr>
              <a:lnSpc>
                <a:spcPct val="132000"/>
              </a:lnSpc>
              <a:spcBef>
                <a:spcPts val="0"/>
              </a:spcBef>
              <a:spcAft>
                <a:spcPts val="1100"/>
              </a:spcAft>
            </a:pPr>
            <a:r>
              <a:rPr sz="1000" b="0" i="0">
                <a:solidFill>
                  <a:srgbClr val="5A6068"/>
                </a:solidFill>
                <a:latin typeface="Calibri"/>
              </a:rPr>
              <a:t>So the SDG framework does not disagree with the HDI about education. It agrees with it, on the two series that measure the same thing the HDI measures, and the disagreement is manufactured by pooling six constructs that point in different directions. State the caveat plainly: access and participation is 2 series and 63 country-indicator pairs, a small family, and the 12.7% carries correspondingly wide uncertainty.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at the individual level it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Aggregated to the country level, ESS-measured years of schooling predicts WHR happiness at R² = 0.308 against 0.161 for the HDI’s own schooling series on the same cells, so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tested. Education is the most universal signal and the smallest one — an odd combination, and one the third result explains.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thing the SDG framework measures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Goal 3 reaches 11.5% of country-indicator pairs, fourth of the seventeen goals and first among the goals with broad coverage — the three above it are energy (5 series), industry and infrastructure (23), and hunger and nutrition (53), against Goal 3’s 45. Sixteen of the top 25 series in the whole database are health.</a:t>
            </a:r>
          </a:p>
          <a:p>
            <a:pPr>
              <a:lnSpc>
                <a:spcPct val="132000"/>
              </a:lnSpc>
              <a:spcBef>
                <a:spcPts val="0"/>
              </a:spcBef>
              <a:spcAft>
                <a:spcPts val="1100"/>
              </a:spcAft>
            </a:pPr>
            <a:r>
              <a:rPr sz="1150" b="0" i="0">
                <a:solidFill>
                  <a:srgbClr val="5A6068"/>
                </a:solidFill>
                <a:latin typeface="Calibri"/>
              </a:rPr>
              <a:t>The health series that carry the signal are survival measures: child and neonatal mortality, stunting, safely managed water and sanitation. None is self-reported, which matters for the method check two beats on — this is the one domain where an administrative source and a self-report source can be set against each other.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17 goals by share of country-indicator pairs FDR-significant in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the opposite, and why the HDI is wrong about it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30 of 151 countries, 19.9%, against 40.7% for mean schooling. Read naively the HDI says health is the least important thing about development, and the SDG framework says it is the most important.</a:t>
            </a:r>
          </a:p>
          <a:p>
            <a:pPr>
              <a:lnSpc>
                <a:spcPct val="132000"/>
              </a:lnSpc>
              <a:spcBef>
                <a:spcPts val="0"/>
              </a:spcBef>
              <a:spcAft>
                <a:spcPts val="1100"/>
              </a:spcAft>
            </a:pPr>
            <a:r>
              <a:rPr sz="1400" b="0" i="0">
                <a:solidFill>
                  <a:srgbClr val="5A6068"/>
                </a:solidFill>
                <a:latin typeface="Calibri"/>
              </a:rPr>
              <a:t>The reconciliation is saturation, and it is checkable rather than rhetorical. Life expectancy has run out of variance across the countries where it is tested; the variance that would let it predict anything has largely gone. The SDG series that do carry health’s signal are the ones that still vary enormously — child mortality, stunting — and self-rated health captures morbidity that life expectancy cannot see at all.</a:t>
            </a:r>
          </a:p>
          <a:p>
            <a:pPr>
              <a:lnSpc>
                <a:spcPct val="132000"/>
              </a:lnSpc>
              <a:spcBef>
                <a:spcPts val="0"/>
              </a:spcBef>
              <a:spcAft>
                <a:spcPts val="1100"/>
              </a:spcAft>
            </a:pPr>
            <a:r>
              <a:rPr sz="1400" b="0" i="0">
                <a:solidFill>
                  <a:srgbClr val="5A6068"/>
                </a:solidFill>
                <a:latin typeface="Calibri"/>
              </a:rPr>
              <a:t>This is the same failure mode as education’s, running in the opposite direction. Education’s rank collapses when a framework measures it as parity rather than attainment; health’s collapses when a framework measures it with a variable that has no room left to move. Neither is a fact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leads the individual data too, and it is the one domain that passes the method check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 the ESS, self-rated health is significant in 36 of 36 countries with a median R² of 0.091 — roughly nine times education’s 0.0098, and the largest effect of any domain tested anywhere in this commentary.</a:t>
            </a:r>
          </a:p>
          <a:p>
            <a:pPr>
              <a:lnSpc>
                <a:spcPct val="132000"/>
              </a:lnSpc>
              <a:spcBef>
                <a:spcPts val="0"/>
              </a:spcBef>
              <a:spcAft>
                <a:spcPts val="1100"/>
              </a:spcAft>
            </a:pPr>
            <a:r>
              <a:rPr sz="1100" b="0" i="0">
                <a:solidFill>
                  <a:srgbClr val="5A6068"/>
                </a:solidFill>
                <a:latin typeface="Calibri"/>
              </a:rPr>
              <a:t>Self-rated health is reported by the same respondent, in the same survey, as life satisfaction, so shared method variance is the first objection a reader will raise. Health is the one domain that can answer it: the UN SDG database is administrative and shares no method with any wellbeing instrument. Restricted to high-income countries — the same development stratum the ESS covers — the SDG data puts health at 11.2% of pairs against education’s 1.2%, the same ordering the ESS gives from entirely different measurement.</a:t>
            </a:r>
          </a:p>
          <a:p>
            <a:pPr>
              <a:lnSpc>
                <a:spcPct val="132000"/>
              </a:lnSpc>
              <a:spcBef>
                <a:spcPts val="0"/>
              </a:spcBef>
              <a:spcAft>
                <a:spcPts val="1100"/>
              </a:spcAft>
            </a:pPr>
            <a:r>
              <a:rPr sz="1100" b="0" i="0">
                <a:solidFill>
                  <a:srgbClr val="5A6068"/>
                </a:solidFill>
                <a:latin typeface="Calibri"/>
              </a:rPr>
              <a:t>The regional test in the next beat adds a second external check: GDL’s externally measured health index leads its education and income indices within countries too. Health therefore holds under administrative measurement at both the national and the regional scale, which is more than can be said for either of the other two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an administrative source and a self-report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inside one instrument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rather than through four separate literatures. Health leads at every level of aggregation; education is significant nearly everywhere and small everywhere; trust sits between them.</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a composite index is expected to win — it proxies every domain at once. It falls to fourth once you look inside countries, and that fall is the subject of the next beat.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LEVELS, DIFFERENCES, AND INSIDE COUNTRIES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specifications, and the ranking changes twice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Three tests run through this commentary and the reader has been left to join them up. They are not three attempts at one question. Levels asks whether a country with more of something is happier. Differences asks whether a country that gains it gets happier — the collapse of Act I. Inside one country, across its regions asks whether the places with more of it are the better places to live, holding national institutions, history and policy fixed.</a:t>
            </a:r>
          </a:p>
          <a:p>
            <a:pPr>
              <a:lnSpc>
                <a:spcPct val="132000"/>
              </a:lnSpc>
              <a:spcBef>
                <a:spcPts val="0"/>
              </a:spcBef>
              <a:spcAft>
                <a:spcPts val="1100"/>
              </a:spcAft>
            </a:pPr>
            <a:r>
              <a:rPr sz="950" b="0" i="0">
                <a:solidFill>
                  <a:srgbClr val="5A6068"/>
                </a:solidFill>
                <a:latin typeface="Calibri"/>
              </a:rPr>
              <a:t>Education leads the first and all but vanishes in the third: 40.7% of countries, then no consistent regional signal at all — 8 of 16 countries positive, a median between −0.08 and +0.13 depending on how region values are aggregated, and the significant countries pointing both ways. Health and trust do the reverse — health last of the HDI’s five between countries, first inside them at +0.51; trust unmeasured between, second inside at +0.49. The middle panel flattens everything: nothing clears 3%.</a:t>
            </a:r>
          </a:p>
          <a:p>
            <a:pPr>
              <a:lnSpc>
                <a:spcPct val="132000"/>
              </a:lnSpc>
              <a:spcBef>
                <a:spcPts val="0"/>
              </a:spcBef>
              <a:spcAft>
                <a:spcPts val="1100"/>
              </a:spcAft>
            </a:pPr>
            <a:r>
              <a:rPr sz="950" b="0" i="0">
                <a:solidFill>
                  <a:srgbClr val="5A6068"/>
                </a:solidFill>
                <a:latin typeface="Calibri"/>
              </a:rPr>
              <a:t>The direction of that shift is the finding. What predicts where wellbeing is high is structural — schooling and income, which between countries proxy the whole development bundle at once. What predicts it inside a country is experiential: health and trust. Education’s combination of near-universal significance and tiny effect is exactly what a structural variable looks like once the structure is held fixed.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L1_three_specifications.png"/>
          <p:cNvPicPr>
            <a:picLocks noChangeAspect="1"/>
          </p:cNvPicPr>
          <p:nvPr/>
        </p:nvPicPr>
        <p:blipFill>
          <a:blip r:embed="rId2"/>
          <a:stretch>
            <a:fillRect/>
          </a:stretch>
        </p:blipFill>
        <p:spPr>
          <a:xfrm>
            <a:off x="5120640" y="1812798"/>
            <a:ext cx="6537960" cy="27660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Panels (a) and (b) are the same HDI indicators on the same 150–151 countries, so the collapse between them is exact. Panel (c) is a different instrument at a different scale — 16 ESS countries with ≥6 matched regions — so it is read alongside (a) and (b), not subtracted from them. Within it, external GDL sub-indices are drawn separately from same-survey self-reports, since the shared-method objection applies only to the latter; health leads on both.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interesting case, and the one the measurement apparatus handles worst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Trust is not a headline result here and should not be presented as one — it rests on a single instrument with a live shared-method caveat. It is in the paper because the reason it cannot be a headline is itself the commentary’s subject.</a:t>
            </a:r>
          </a:p>
          <a:p>
            <a:pPr>
              <a:lnSpc>
                <a:spcPct val="132000"/>
              </a:lnSpc>
              <a:spcBef>
                <a:spcPts val="0"/>
              </a:spcBef>
              <a:spcAft>
                <a:spcPts val="1100"/>
              </a:spcAft>
            </a:pPr>
            <a:r>
              <a:rPr sz="1400" b="0" i="0">
                <a:solidFill>
                  <a:srgbClr val="5A6068"/>
                </a:solidFill>
                <a:latin typeface="Calibri"/>
              </a:rPr>
              <a:t>Where it is measured it performs: significant in 34 of 36 ESS countries individually, +0.49 within countries across regions, second only to health on both and above education on both. Neither the HDI nor the subnational HDI measures it at all.</a:t>
            </a:r>
          </a:p>
          <a:p>
            <a:pPr>
              <a:lnSpc>
                <a:spcPct val="132000"/>
              </a:lnSpc>
              <a:spcBef>
                <a:spcPts val="0"/>
              </a:spcBef>
              <a:spcAft>
                <a:spcPts val="1100"/>
              </a:spcAft>
            </a:pPr>
            <a:r>
              <a:rPr sz="1400" b="0" i="0">
                <a:solidFill>
                  <a:srgbClr val="5A6068"/>
                </a:solidFill>
                <a:latin typeface="Calibri"/>
              </a:rPr>
              <a:t>The SDG framework appears to: 13 trust- and satisfaction-adjacent series, mostly Goal 16 — satisfaction with public services, belief that decision-making is inclusive, bribery prevalence. But their median coverage is one year per country-series against six database-wide. The design needs at least four years; 147 of the 163 country-series fall short and are never computed at all. Of the 16 that can be run, 1 is significant.</a:t>
            </a:r>
          </a:p>
          <a:p>
            <a:pPr>
              <a:lnSpc>
                <a:spcPct val="132000"/>
              </a:lnSpc>
              <a:spcBef>
                <a:spcPts val="0"/>
              </a:spcBef>
              <a:spcAft>
                <a:spcPts val="1100"/>
              </a:spcAft>
            </a:pPr>
            <a:r>
              <a:rPr sz="1400" b="0" i="0">
                <a:solidFill>
                  <a:srgbClr val="5A6068"/>
                </a:solidFill>
                <a:latin typeface="Calibri"/>
              </a:rPr>
              <a:t>Report that as “1 of 16 testable”, never “1 of 163”. The latter reads as a null when it is overwhelmingly a coverage gap — and reporting a coverage gap as a null would repeat the exact error this commentary accuses the frameworks of making.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Tested the only way its coverage allows, and it still does not become a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75" b="0" i="0">
                <a:solidFill>
                  <a:srgbClr val="5A6068"/>
                </a:solidFill>
                <a:latin typeface="Calibri"/>
              </a:rPr>
              <a:t>One year per country is useless longitudinally and perfectly usable cross-sectionally, so we pulled the raw values from the UN SDG database and ran the series against the ladder across countries. Nine of the 13 clear a 12-country minimum and four are significant: bribery paid by individuals (−0.55) and firms (−0.51), inclusive decision-making (−0.42), satisfaction with healthcare (+0.33).</a:t>
            </a:r>
          </a:p>
          <a:p>
            <a:pPr>
              <a:lnSpc>
                <a:spcPct val="132000"/>
              </a:lnSpc>
              <a:spcBef>
                <a:spcPts val="0"/>
              </a:spcBef>
              <a:spcAft>
                <a:spcPts val="1100"/>
              </a:spcAft>
            </a:pPr>
            <a:r>
              <a:rPr sz="1075" b="0" i="0">
                <a:solidFill>
                  <a:srgbClr val="5A6068"/>
                </a:solidFill>
                <a:latin typeface="Calibri"/>
              </a:rPr>
              <a:t>Three things stop that being a rescue. Every one of the four is weaker than what the frameworks already carry — on the same 134 countries the HDI and its components sit at |r| 0.71–0.83. The broadest series, satisfaction with healthcare, is Gallup World Poll, the same survey that produces the ladder. And none of the 13 measures interpersonal trust: they measure institutional confidence, a different construct.</a:t>
            </a:r>
          </a:p>
          <a:p>
            <a:pPr>
              <a:lnSpc>
                <a:spcPct val="132000"/>
              </a:lnSpc>
              <a:spcBef>
                <a:spcPts val="0"/>
              </a:spcBef>
              <a:spcAft>
                <a:spcPts val="1100"/>
              </a:spcAft>
            </a:pPr>
            <a:r>
              <a:rPr sz="1075" b="0" i="0">
                <a:solidFill>
                  <a:srgbClr val="5A6068"/>
                </a:solidFill>
                <a:latin typeface="Calibri"/>
              </a:rPr>
              <a:t>Income control kills all nine — but it also kills the HDI (+0.82 raw, +0.09 net). No cross-section of countries separates anything from income, which is why the levels-and-differences design exists, and the panel says so to stop the null being read as trust-specific.</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Nine of the 13 SDG trust- and satisfaction-adjacent series, one observation per country, against the WHR Cantril ladder. Raw values pulled from the UN SDG Global Database API.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three signatures. Education leads the HDI and the access construct of SDG4, is near-universal at the individual level, and is the smallest effect anywhere — a structural variable behaving exactly as one should. Health leads the SDG framework, the individual data and the regional data, and is weak in precisely one place, the HDI, for a reason we can name. Trust leads nothing it is not the only candidate for, and is invisible to every development framework.</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 which construct, which variable, which specification — which is why the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Education leads once it is measured as attainment rather than parity; health leads once it is measured somewhere it still varies; trust leads wherever it is measured at all, which is almost nowhere. And the ranking turns over a second time when the question moves inside countries. The contribution is not a ranking of domains but the demonstration that the ranking depends on construct, on variable, and on specification — none of which the frameworks chose with wellbeing in mind, because that is not what they were built for. Which is what makes the third act a question about fit rather than a charge of failure.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may imply for how development is measured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00" b="0" i="1">
                <a:solidFill>
                  <a:srgbClr val="9AA4B0"/>
                </a:solidFill>
                <a:latin typeface="Georgia"/>
              </a:rPr>
              <a:t>These are implications, not recommendations. The frameworks were not built to track wellbeing and it is no criticism of them that they do not; measured against their own purposes they work. What the three results describe is a disconnect — between what development measurement currently captures and what turns out to track individual lived experience. If wellbeing is to be part of what these frameworks are for, education, health and social trust each say something specific about what capturing it would take.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8 of 16 vs 12 of 16</a:t>
            </a:r>
          </a:p>
          <a:p>
            <a:pPr>
              <a:lnSpc>
                <a:spcPct val="120000"/>
              </a:lnSpc>
              <a:spcBef>
                <a:spcPts val="0"/>
              </a:spcBef>
              <a:spcAft>
                <a:spcPts val="0"/>
              </a:spcAft>
            </a:pPr>
            <a:r>
              <a:rPr sz="1000" b="0" i="0">
                <a:solidFill>
                  <a:srgbClr val="8A94A0"/>
                </a:solidFill>
                <a:latin typeface="Calibri"/>
              </a:rPr>
              <a:t>countries where education vs health tracks wellbeing regionally</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75"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875"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Education falls with development, not with health and trust — and further: its correlations are positive in only 8 of 16 countries, and the three that reach significance point both ways (Austria −0.81, France +0.50, the Netherlands +0.60). The World Happiness Report cannot see any of this — it has no subnational values. It is the specific thing the ESS adds.</a:t>
            </a:r>
          </a:p>
          <a:p>
            <a:pPr>
              <a:lnSpc>
                <a:spcPct val="132000"/>
              </a:lnSpc>
              <a:spcBef>
                <a:spcPts val="0"/>
              </a:spcBef>
              <a:spcAft>
                <a:spcPts val="1100"/>
              </a:spcAft>
            </a:pPr>
            <a:r>
              <a:rPr sz="875" b="0" i="0">
                <a:solidFill>
                  <a:srgbClr val="5A6068"/>
                </a:solidFill>
                <a:latin typeface="Calibri"/>
              </a:rPr>
              <a:t>This is Act II's third panel at full detail: the domains that lead between countries are the structural ones, and they are not the domains that lead inside them.</a:t>
            </a:r>
          </a:p>
          <a:p>
            <a:pPr>
              <a:lnSpc>
                <a:spcPct val="132000"/>
              </a:lnSpc>
              <a:spcBef>
                <a:spcPts val="0"/>
              </a:spcBef>
              <a:spcAft>
                <a:spcPts val="1100"/>
              </a:spcAft>
            </a:pPr>
            <a:r>
              <a:rPr sz="875" b="0" i="0">
                <a:solidFill>
                  <a:srgbClr val="5A6068"/>
                </a:solidFill>
                <a:latin typeface="Calibri"/>
              </a:rPr>
              <a:t>Two cautions. The health-versus-trust ordering is not stable — aggregating region means across waves rather than within them reverses it (trust +0.57, health +0.50). What is stable is that both sit near +0.5 while development and education sit at zero. And coverage varies sharply: Italy matches 30% of respondents to a region, Sweden 57%, Croatia 69%, against 91–100% elsewhere. Dropping those three, or regions built on under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47125"/>
            <a:ext cx="6537960" cy="329740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Stating it precisely, and stating what it is not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 — and inside countries the domains that lead between them stop leading.</a:t>
            </a:r>
          </a:p>
          <a:p>
            <a:pPr>
              <a:lnSpc>
                <a:spcPct val="132000"/>
              </a:lnSpc>
              <a:spcBef>
                <a:spcPts val="0"/>
              </a:spcBef>
              <a:spcAft>
                <a:spcPts val="1100"/>
              </a:spcAft>
            </a:pPr>
            <a:r>
              <a:rPr sz="1350" b="0" i="0">
                <a:solidFill>
                  <a:srgbClr val="5A6068"/>
                </a:solidFill>
                <a:latin typeface="Calibri"/>
              </a:rPr>
              <a:t>It is worth being explicit about what that is not. It is not an argument that development frameworks should be kept away from wellbeing, or that they have failed. The HDI and the SDGs were built to track development — capability, deprivation, the 2030 Agenda's negotiated priorities — and on those terms they work. Nothing here says otherwise.</a:t>
            </a:r>
          </a:p>
          <a:p>
            <a:pPr>
              <a:lnSpc>
                <a:spcPct val="132000"/>
              </a:lnSpc>
              <a:spcBef>
                <a:spcPts val="0"/>
              </a:spcBef>
              <a:spcAft>
                <a:spcPts val="1100"/>
              </a:spcAft>
            </a:pPr>
            <a:r>
              <a:rPr sz="1350" b="0" i="0">
                <a:solidFill>
                  <a:srgbClr val="5A6068"/>
                </a:solidFill>
                <a:latin typeface="Calibri"/>
              </a:rPr>
              <a:t>What the results describe is a disconnect between two things that are often assumed to move together: what these frameworks currently capture, and what tracks how individuals experience their lives. That assumption is reasonable and mostly untested. Tested, it holds between countries and weakens sharply everywhere else.</a:t>
            </a:r>
          </a:p>
          <a:p>
            <a:pPr>
              <a:lnSpc>
                <a:spcPct val="132000"/>
              </a:lnSpc>
              <a:spcBef>
                <a:spcPts val="0"/>
              </a:spcBef>
              <a:spcAft>
                <a:spcPts val="1100"/>
              </a:spcAft>
            </a:pPr>
            <a:r>
              <a:rPr sz="1350" b="0" i="0">
                <a:solidFill>
                  <a:srgbClr val="5A6068"/>
                </a:solidFill>
                <a:latin typeface="Calibri"/>
              </a:rPr>
              <a:t>So the useful question is not whether development matters. It is which components of it track lived experience, and whether the frameworks are currently in a position to see them. The next three beats take the three results in turn.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Which education construct a framework counts turns out to matter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 indicator architecture built around measured proficiency. That shift has good reasons behind it that have nothing to do with wellbeing, and this commentary does not dispute them.</a:t>
            </a:r>
          </a:p>
          <a:p>
            <a:pPr>
              <a:lnSpc>
                <a:spcPct val="132000"/>
              </a:lnSpc>
              <a:spcBef>
                <a:spcPts val="0"/>
              </a:spcBef>
              <a:spcAft>
                <a:spcPts val="1100"/>
              </a:spcAft>
            </a:pPr>
            <a:r>
              <a:rPr sz="1400" b="0" i="0">
                <a:solidFill>
                  <a:srgbClr val="5A6068"/>
                </a:solidFill>
                <a:latin typeface="Calibri"/>
              </a:rPr>
              <a:t>It does observe that the wellbeing signal sits elsewhere. Attainment and access carry it — 12.7% for SDG4 access, 40.7% and 34.0% for the HDI's schooling components, 32 of 36 countries at the individual level — while measured learning outcomes sit at 0.9% and parity ratios at 2.5%. A framework that reads SDG4 pooled will conclude education barely matters for wellbeing; one that reads the access series will rank it third of seventeen goals. Same data, same countries.</a:t>
            </a:r>
          </a:p>
          <a:p>
            <a:pPr>
              <a:lnSpc>
                <a:spcPct val="132000"/>
              </a:lnSpc>
              <a:spcBef>
                <a:spcPts val="0"/>
              </a:spcBef>
              <a:spcAft>
                <a:spcPts val="1100"/>
              </a:spcAft>
            </a:pPr>
            <a:r>
              <a:rPr sz="1400" b="0" i="0">
                <a:solidFill>
                  <a:srgbClr val="5A6068"/>
                </a:solidFill>
                <a:latin typeface="Calibri"/>
              </a:rPr>
              <a:t>Two cautions travel with this and it is weaker without them. Education is the most consistent signal and the smallest one. And it is a between-country signal: inside countries it has no consistent signal at all, positive in 8 of 16 and negative in 8. So the implication is about what a global monitoring framework counts, not a claim that moving one region's schooling moves its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domain can disappear from a framework by being measured where it has stopped moving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five against wellbeing. Health is simultaneously the strongest domain in the SDG database and in the individual data. The gap between those two facts is not substantive; it is that life expectancy has largely stopped varying across the countries where it is tested.</a:t>
            </a:r>
          </a:p>
          <a:p>
            <a:pPr>
              <a:lnSpc>
                <a:spcPct val="132000"/>
              </a:lnSpc>
              <a:spcBef>
                <a:spcPts val="0"/>
              </a:spcBef>
              <a:spcAft>
                <a:spcPts val="1100"/>
              </a:spcAft>
            </a:pPr>
            <a:r>
              <a:rPr sz="1400" b="0" i="0">
                <a:solidFill>
                  <a:srgbClr val="5A6068"/>
                </a:solidFill>
                <a:latin typeface="Calibri"/>
              </a:rPr>
              <a:t>What still carries health's signal is survival at the margin — child, infant and neonatal mortality, stunting, sanitation, safe water — and, in richer countries, self-rated health, which picks up morbidity and functional limitation that life expectancy cannot see. Both are already collected. The implication is about which of them a framework reads as its health signal in a high-income setting, not about adding a new instrument.</a:t>
            </a:r>
          </a:p>
          <a:p>
            <a:pPr>
              <a:lnSpc>
                <a:spcPct val="132000"/>
              </a:lnSpc>
              <a:spcBef>
                <a:spcPts val="0"/>
              </a:spcBef>
              <a:spcAft>
                <a:spcPts val="1100"/>
              </a:spcAft>
            </a:pPr>
            <a:r>
              <a:rPr sz="1400" b="0" i="0">
                <a:solidFill>
                  <a:srgbClr val="5A6068"/>
                </a:solidFill>
                <a:latin typeface="Calibri"/>
              </a:rPr>
              <a:t>Health is also where the scale point runs the other way from education's: weak between countries and strong inside them. A subnational health measure is doing work a national one cannot, which suggests disaggregation matters here as much as indicator choice.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component that looks important, and that no framework is currently positioned to check</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at or near the top of every test the ESS can run — 34 of 36 countries, +0.49 within countries — and no development framework can currently check it. The HDI and subnational HDI do not measure the construct. The SDG framework's 13 satisfaction and integrity series average one observation per country, which supports no longitudinal design.</a:t>
            </a:r>
          </a:p>
          <a:p>
            <a:pPr>
              <a:lnSpc>
                <a:spcPct val="132000"/>
              </a:lnSpc>
              <a:spcBef>
                <a:spcPts val="0"/>
              </a:spcBef>
              <a:spcAft>
                <a:spcPts val="1100"/>
              </a:spcAft>
            </a:pPr>
            <a:r>
              <a:rPr sz="1400" b="0" i="0">
                <a:solidFill>
                  <a:srgbClr val="5A6068"/>
                </a:solidFill>
                <a:latin typeface="Calibri"/>
              </a:rPr>
              <a:t>We did not stop at asserting that. Act II runs those series the only way their coverage permits, across countries rather than years: 9 are testable, 4 significant, and all four land below the HDI's own components on the same countries. So the gap is a real gap, established rather than assumed.</a:t>
            </a:r>
          </a:p>
          <a:p>
            <a:pPr>
              <a:lnSpc>
                <a:spcPct val="132000"/>
              </a:lnSpc>
              <a:spcBef>
                <a:spcPts val="0"/>
              </a:spcBef>
              <a:spcAft>
                <a:spcPts val="1100"/>
              </a:spcAft>
            </a:pPr>
            <a:r>
              <a:rPr sz="1400" b="0" i="0">
                <a:solidFill>
                  <a:srgbClr val="5A6068"/>
                </a:solidFill>
                <a:latin typeface="Calibri"/>
              </a:rPr>
              <a:t>The implication is the most tentative of the three, and should be presented that way. Trust rests on one instrument, in Europe, with a live shared-method caveat. What can be said is narrow and still useful: a component that performs this well wherever it is measured is currently invisible to development measurement, and it is invisible for reasons of coverage rather than because it was weighed and found wanting. A repeated generalised-trust item — already standard in the ESS, the World Values Survey and several national statistical series — would be enough to find out.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IT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Development frameworks may need to work harder at capturing what shapes lived experience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conclusion, and it is deliberately exploratory. Three components look consequential for how individuals experience their lives — education, health, social trust — and each is currently captured in a way that makes it hard for a development framework to see. Education is pooled with constructs that point the other way. Health is read through a variable that has largely stopped moving. Social trust is not measured with the coverage any longitudinal design requires.</a:t>
            </a:r>
          </a:p>
          <a:p>
            <a:pPr>
              <a:lnSpc>
                <a:spcPct val="132000"/>
              </a:lnSpc>
              <a:spcBef>
                <a:spcPts val="0"/>
              </a:spcBef>
              <a:spcAft>
                <a:spcPts val="1100"/>
              </a:spcAft>
            </a:pPr>
            <a:r>
              <a:rPr sz="1400" b="0" i="0">
                <a:solidFill>
                  <a:srgbClr val="5A6068"/>
                </a:solidFill>
                <a:latin typeface="Calibri"/>
              </a:rPr>
              <a:t>None of that is a demand that these frameworks become wellbeing instruments. It is the narrower observation that if wellbeing is to inform what development measurement counts — and the post-2030 conversation suggests it may — then the first question is not which domain to prioritise but whether each is being measured somewhere it can still move. On the evidence here, for at least two of the three, it is not.</a:t>
            </a:r>
          </a:p>
          <a:p>
            <a:pPr>
              <a:lnSpc>
                <a:spcPct val="132000"/>
              </a:lnSpc>
              <a:spcBef>
                <a:spcPts val="0"/>
              </a:spcBef>
              <a:spcAft>
                <a:spcPts val="1100"/>
              </a:spcAft>
            </a:pPr>
            <a:r>
              <a:rPr sz="1400" b="0" i="0">
                <a:solidFill>
                  <a:srgbClr val="5A6068"/>
                </a:solidFill>
                <a:latin typeface="Calibri"/>
              </a:rPr>
              <a:t>The honest form of the ask is a question rather than a prescription: what would a development framework look like if the components that track individual lived experience were among the things it was built to capture? A commentary cannot answer that. It can show that the question is not rhetorical, and put the evidence on the record so the field can take it up.</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education as the positive finding, use the generalised collapse as the backdrop that makes it surprising, and close on the disconnect rather than on a list of fixes. That ordering makes Act I load-bearing without making it the story, and it keeps the paper on the ground it can actually defend — that these components look like they matter for lived experience, and that development measurement is not currently arranged to see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6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education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HOW HARD TO PUSH THE CONCLUSION</a:t>
            </a:r>
          </a:p>
          <a:p>
            <a:pPr>
              <a:lnSpc>
                <a:spcPct val="130000"/>
              </a:lnSpc>
              <a:spcBef>
                <a:spcPts val="0"/>
              </a:spcBef>
              <a:spcAft>
                <a:spcPts val="0"/>
              </a:spcAft>
            </a:pPr>
            <a:r>
              <a:rPr sz="1100" b="0" i="0">
                <a:solidFill>
                  <a:srgbClr val="5A6068"/>
                </a:solidFill>
                <a:latin typeface="Calibri"/>
              </a:rPr>
              <a:t>Act III now lands on a disconnect and an exploratory ask rather than a list of fixes: these components look like they matter for lived experience, and development measurement is not currently arranged to see them. Is that the right altitude for the venue, or should the health and education implications be sharpened into named recommendations? The evidence supports either; the framing does not change the analysis.</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2748097" y="1965960"/>
            <a:ext cx="6695500" cy="448056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118073" y="1965960"/>
            <a:ext cx="5955549"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